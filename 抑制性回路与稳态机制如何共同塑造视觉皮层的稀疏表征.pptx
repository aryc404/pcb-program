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s/modernComment1.xml" ContentType="application/vnd.ms-powerpoint.comments+xml"/>
  <Override PartName="/ppt/media/image1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58" r:id="rId5"/>
    <p:sldId id="260" r:id="rId6"/>
    <p:sldId id="285" r:id="rId7"/>
    <p:sldId id="263" r:id="rId8"/>
    <p:sldId id="262" r:id="rId9"/>
    <p:sldId id="261" r:id="rId10"/>
    <p:sldId id="296" r:id="rId11"/>
    <p:sldId id="265" r:id="rId12"/>
    <p:sldId id="266" r:id="rId13"/>
    <p:sldId id="287" r:id="rId14"/>
    <p:sldId id="288" r:id="rId15"/>
    <p:sldId id="289" r:id="rId16"/>
    <p:sldId id="290" r:id="rId17"/>
    <p:sldId id="267" r:id="rId18"/>
    <p:sldId id="269" r:id="rId19"/>
    <p:sldId id="270" r:id="rId20"/>
    <p:sldId id="271" r:id="rId21"/>
    <p:sldId id="294" r:id="rId22"/>
    <p:sldId id="295" r:id="rId23"/>
    <p:sldId id="297" r:id="rId24"/>
    <p:sldId id="298" r:id="rId25"/>
    <p:sldId id="272" r:id="rId26"/>
    <p:sldId id="299" r:id="rId27"/>
    <p:sldId id="300" r:id="rId28"/>
    <p:sldId id="301" r:id="rId29"/>
    <p:sldId id="302" r:id="rId30"/>
    <p:sldId id="268" r:id="rId31"/>
    <p:sldId id="284" r:id="rId32"/>
  </p:sldIdLst>
  <p:sldSz cx="12192000" cy="6858000"/>
  <p:notesSz cx="6858000" cy="9144000"/>
  <p:custDataLst>
    <p:tags r:id="rId3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26" userDrawn="1">
          <p15:clr>
            <a:srgbClr val="A4A3A4"/>
          </p15:clr>
        </p15:guide>
        <p15:guide id="2" pos="375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A5DB69D-1006-C652-94B4-95A394C96F10}" name="Henry Zhong" initials="HZ" userId="82437bb03144d23a"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C0FC1E4-99A9-456B-8952-B26E4E55A0BA}" styleName="表样式 1 25">
    <a:wholeTbl>
      <a:tcTxStyle>
        <a:fontRef idx="none">
          <a:srgbClr val="000000"/>
        </a:fontRef>
      </a:tcTxStyle>
      <a:tcStyle>
        <a:tcBdr>
          <a:left>
            <a:ln w="9525" cmpd="sng">
              <a:solidFill>
                <a:schemeClr val="dk1"/>
              </a:solidFill>
              <a:prstDash val="solid"/>
            </a:ln>
          </a:left>
          <a:right>
            <a:ln w="9525" cmpd="sng">
              <a:solidFill>
                <a:schemeClr val="dk1"/>
              </a:solidFill>
              <a:prstDash val="solid"/>
            </a:ln>
          </a:right>
          <a:top>
            <a:ln w="9525" cmpd="sng">
              <a:solidFill>
                <a:schemeClr val="dk1"/>
              </a:solidFill>
              <a:prstDash val="solid"/>
            </a:ln>
          </a:top>
          <a:bottom>
            <a:ln w="9525" cmpd="sng">
              <a:solidFill>
                <a:schemeClr val="dk1"/>
              </a:solidFill>
              <a:prstDash val="solid"/>
            </a:ln>
          </a:bottom>
          <a:insideH>
            <a:ln w="9525" cmpd="sng">
              <a:solidFill>
                <a:schemeClr val="dk1">
                  <a:lumMod val="34000"/>
                  <a:lumOff val="66000"/>
                </a:schemeClr>
              </a:solidFill>
              <a:prstDash val="solid"/>
            </a:ln>
          </a:insideH>
          <a:insideV>
            <a:ln w="9525" cmpd="sng">
              <a:solidFill>
                <a:schemeClr val="dk1">
                  <a:lumMod val="34000"/>
                  <a:lumOff val="66000"/>
                </a:schemeClr>
              </a:solidFill>
              <a:prstDash val="solid"/>
            </a:ln>
          </a:insideV>
        </a:tcBdr>
        <a:fill>
          <a:solidFill>
            <a:srgbClr val="FFFFFF"/>
          </a:solidFill>
        </a:fill>
      </a:tcStyle>
    </a:wholeTbl>
    <a:band2H>
      <a:tcTxStyle>
        <a:fontRef idx="none">
          <a:srgbClr val="08090C"/>
        </a:fontRef>
      </a:tcTxStyle>
      <a:tcStyle>
        <a:tcBdr/>
        <a:fill>
          <a:solidFill>
            <a:schemeClr val="dk1">
              <a:lumMod val="10000"/>
              <a:lumOff val="90000"/>
            </a:schemeClr>
          </a:solidFill>
        </a:fill>
      </a:tcStyle>
    </a:band2H>
    <a:band1V>
      <a:tcStyle>
        <a:tcBdr>
          <a:left>
            <a:ln w="9525" cmpd="sng">
              <a:solidFill>
                <a:schemeClr val="dk1"/>
              </a:solidFill>
              <a:prstDash val="solid"/>
            </a:ln>
          </a:left>
          <a:right>
            <a:ln w="9525" cmpd="sng">
              <a:solidFill>
                <a:schemeClr val="dk1"/>
              </a:solidFill>
              <a:prstDash val="solid"/>
            </a:ln>
          </a:right>
          <a:top>
            <a:ln w="9525" cmpd="sng">
              <a:solidFill>
                <a:schemeClr val="dk1"/>
              </a:solidFill>
              <a:prstDash val="solid"/>
            </a:ln>
          </a:top>
          <a:bottom>
            <a:ln w="9525" cmpd="sng">
              <a:solidFill>
                <a:schemeClr val="dk1"/>
              </a:solidFill>
              <a:prstDash val="solid"/>
            </a:ln>
          </a:bottom>
          <a:insideH>
            <a:ln w="9525" cmpd="sng">
              <a:solidFill>
                <a:schemeClr val="dk1">
                  <a:lumMod val="40000"/>
                  <a:lumOff val="60000"/>
                </a:schemeClr>
              </a:solidFill>
              <a:prstDash val="solid"/>
            </a:ln>
          </a:insideH>
          <a:insideV>
            <a:ln w="9525" cmpd="sng">
              <a:solidFill>
                <a:schemeClr val="dk1">
                  <a:lumMod val="40000"/>
                  <a:lumOff val="60000"/>
                </a:schemeClr>
              </a:solidFill>
              <a:prstDash val="solid"/>
            </a:ln>
          </a:insideV>
        </a:tcBdr>
        <a:fill>
          <a:solidFill>
            <a:schemeClr val="dk1">
              <a:lumMod val="10000"/>
              <a:lumOff val="90000"/>
            </a:schemeClr>
          </a:solidFill>
        </a:fill>
      </a:tcStyle>
    </a:band1V>
    <a:band2V>
      <a:tcStyle>
        <a:tcBdr>
          <a:left>
            <a:ln w="9525" cmpd="sng">
              <a:solidFill>
                <a:schemeClr val="dk1">
                  <a:lumMod val="40000"/>
                  <a:lumOff val="60000"/>
                </a:schemeClr>
              </a:solidFill>
              <a:prstDash val="solid"/>
            </a:ln>
          </a:left>
          <a:right>
            <a:ln w="9525" cmpd="sng">
              <a:solidFill>
                <a:schemeClr val="dk1">
                  <a:lumMod val="40000"/>
                  <a:lumOff val="60000"/>
                </a:schemeClr>
              </a:solidFill>
              <a:prstDash val="solid"/>
            </a:ln>
          </a:right>
          <a:top>
            <a:ln w="9525" cmpd="sng">
              <a:solidFill>
                <a:schemeClr val="dk1"/>
              </a:solidFill>
              <a:prstDash val="solid"/>
            </a:ln>
          </a:top>
          <a:bottom>
            <a:ln w="9525" cmpd="sng">
              <a:solidFill>
                <a:schemeClr val="dk1"/>
              </a:solidFill>
              <a:prstDash val="solid"/>
            </a:ln>
          </a:bottom>
          <a:insideH>
            <a:ln w="9525" cmpd="sng">
              <a:solidFill>
                <a:schemeClr val="dk1">
                  <a:lumMod val="40000"/>
                  <a:lumOff val="60000"/>
                </a:schemeClr>
              </a:solidFill>
              <a:prstDash val="solid"/>
            </a:ln>
          </a:insideH>
          <a:insideV>
            <a:ln>
              <a:noFill/>
            </a:ln>
          </a:insideV>
        </a:tcBdr>
      </a:tcStyle>
    </a:band2V>
    <a:lastCol>
      <a:tcTxStyle b="on">
        <a:fontRef idx="none">
          <a:srgbClr val="08090C"/>
        </a:fontRef>
      </a:tcTxStyle>
      <a:tcStyle>
        <a:tcBdr>
          <a:left>
            <a:ln w="9525" cmpd="sng">
              <a:solidFill>
                <a:schemeClr val="dk1">
                  <a:lumMod val="34000"/>
                  <a:lumOff val="66000"/>
                </a:schemeClr>
              </a:solidFill>
              <a:prstDash val="solid"/>
            </a:ln>
          </a:left>
          <a:right>
            <a:ln w="9525" cmpd="sng">
              <a:solidFill>
                <a:schemeClr val="dk1"/>
              </a:solidFill>
              <a:prstDash val="solid"/>
            </a:ln>
          </a:right>
          <a:top>
            <a:ln w="9525" cmpd="sng">
              <a:solidFill>
                <a:schemeClr val="dk1">
                  <a:lumMod val="34000"/>
                  <a:lumOff val="66000"/>
                </a:schemeClr>
              </a:solidFill>
              <a:prstDash val="solid"/>
            </a:ln>
          </a:top>
          <a:bottom>
            <a:ln w="9525" cmpd="sng">
              <a:solidFill>
                <a:schemeClr val="dk1"/>
              </a:solidFill>
              <a:prstDash val="solid"/>
            </a:ln>
          </a:bottom>
          <a:insideH>
            <a:ln w="9525" cmpd="sng">
              <a:solidFill>
                <a:schemeClr val="dk1">
                  <a:lumMod val="34000"/>
                  <a:lumOff val="66000"/>
                </a:schemeClr>
              </a:solidFill>
              <a:prstDash val="solid"/>
            </a:ln>
          </a:insideH>
          <a:insideV>
            <a:ln>
              <a:noFill/>
            </a:ln>
          </a:insideV>
        </a:tcBdr>
        <a:fill>
          <a:solidFill>
            <a:srgbClr val="FFFFFF"/>
          </a:solidFill>
        </a:fill>
      </a:tcStyle>
    </a:lastCol>
    <a:firstCol>
      <a:tcTxStyle b="on">
        <a:fontRef idx="none">
          <a:srgbClr val="08090C"/>
        </a:fontRef>
      </a:tcTxStyle>
      <a:tcStyle>
        <a:tcBdr>
          <a:left>
            <a:ln w="9525" cmpd="sng">
              <a:solidFill>
                <a:schemeClr val="dk1"/>
              </a:solidFill>
              <a:prstDash val="solid"/>
            </a:ln>
          </a:left>
          <a:right>
            <a:ln w="9525" cmpd="sng">
              <a:solidFill>
                <a:schemeClr val="dk1">
                  <a:lumMod val="34000"/>
                  <a:lumOff val="66000"/>
                </a:schemeClr>
              </a:solidFill>
              <a:prstDash val="solid"/>
            </a:ln>
          </a:right>
          <a:top>
            <a:ln w="9525" cmpd="sng">
              <a:solidFill>
                <a:schemeClr val="dk1">
                  <a:lumMod val="34000"/>
                  <a:lumOff val="66000"/>
                </a:schemeClr>
              </a:solidFill>
              <a:prstDash val="solid"/>
            </a:ln>
          </a:top>
          <a:bottom>
            <a:ln w="9525" cmpd="sng">
              <a:solidFill>
                <a:schemeClr val="dk1"/>
              </a:solidFill>
              <a:prstDash val="solid"/>
            </a:ln>
          </a:bottom>
          <a:insideH>
            <a:ln w="9525" cmpd="sng">
              <a:solidFill>
                <a:schemeClr val="dk1">
                  <a:lumMod val="34000"/>
                  <a:lumOff val="66000"/>
                </a:schemeClr>
              </a:solidFill>
              <a:prstDash val="solid"/>
            </a:ln>
          </a:insideH>
          <a:insideV>
            <a:ln>
              <a:noFill/>
            </a:ln>
          </a:insideV>
        </a:tcBdr>
        <a:fill>
          <a:solidFill>
            <a:srgbClr val="FFFFFF"/>
          </a:solidFill>
        </a:fill>
      </a:tcStyle>
    </a:firstCol>
    <a:lastRow>
      <a:tcTxStyle b="on">
        <a:fontRef idx="none">
          <a:srgbClr val="08090C"/>
        </a:fontRef>
      </a:tcTxStyle>
      <a:tcStyle>
        <a:tcBdr>
          <a:left>
            <a:ln w="9525" cmpd="sng">
              <a:solidFill>
                <a:schemeClr val="dk1"/>
              </a:solidFill>
              <a:prstDash val="solid"/>
            </a:ln>
          </a:left>
          <a:right>
            <a:ln w="9525" cmpd="sng">
              <a:solidFill>
                <a:schemeClr val="dk1"/>
              </a:solidFill>
              <a:prstDash val="solid"/>
            </a:ln>
          </a:right>
          <a:top>
            <a:ln w="9525" cmpd="sng">
              <a:solidFill>
                <a:schemeClr val="dk1"/>
              </a:solidFill>
              <a:prstDash val="solid"/>
            </a:ln>
          </a:top>
          <a:bottom>
            <a:ln w="9525" cmpd="sng">
              <a:solidFill>
                <a:schemeClr val="dk1"/>
              </a:solidFill>
              <a:prstDash val="solid"/>
            </a:ln>
          </a:bottom>
          <a:insideH>
            <a:ln>
              <a:noFill/>
            </a:ln>
          </a:insideH>
          <a:insideV>
            <a:ln>
              <a:noFill/>
            </a:ln>
          </a:insideV>
        </a:tcBdr>
        <a:fill>
          <a:solidFill>
            <a:srgbClr val="FFFFFF"/>
          </a:solidFill>
        </a:fill>
      </a:tcStyle>
    </a:lastRow>
    <a:seCell>
      <a:tcStyle>
        <a:tcBdr>
          <a:left>
            <a:ln>
              <a:noFill/>
            </a:ln>
          </a:left>
          <a:right>
            <a:ln w="9525" cmpd="sng">
              <a:solidFill>
                <a:schemeClr val="dk1"/>
              </a:solidFill>
              <a:prstDash val="solid"/>
            </a:ln>
          </a:right>
          <a:top>
            <a:ln w="9525" cmpd="sng">
              <a:solidFill>
                <a:schemeClr val="dk1"/>
              </a:solidFill>
              <a:prstDash val="solid"/>
            </a:ln>
          </a:top>
          <a:bottom>
            <a:ln w="9525" cmpd="sng">
              <a:solidFill>
                <a:schemeClr val="dk1"/>
              </a:solidFill>
              <a:prstDash val="solid"/>
            </a:ln>
          </a:bottom>
          <a:insideH>
            <a:ln>
              <a:noFill/>
            </a:ln>
          </a:insideH>
          <a:insideV>
            <a:ln>
              <a:noFill/>
            </a:ln>
          </a:insideV>
        </a:tcBdr>
        <a:fill>
          <a:solidFill>
            <a:srgbClr val="FFFFFF"/>
          </a:solidFill>
        </a:fill>
      </a:tcStyle>
    </a:seCell>
    <a:swCell>
      <a:tcTxStyle b="on">
        <a:fontRef idx="none">
          <a:schemeClr val="dk1"/>
        </a:fontRef>
      </a:tcTxStyle>
      <a:tcStyle>
        <a:tcBdr>
          <a:left>
            <a:ln w="9525" cmpd="sng">
              <a:solidFill>
                <a:schemeClr val="dk1"/>
              </a:solidFill>
              <a:prstDash val="solid"/>
            </a:ln>
          </a:left>
          <a:right>
            <a:ln>
              <a:noFill/>
            </a:ln>
          </a:right>
          <a:top>
            <a:ln w="9525" cmpd="sng">
              <a:solidFill>
                <a:schemeClr val="dk1"/>
              </a:solidFill>
              <a:prstDash val="solid"/>
            </a:ln>
          </a:top>
          <a:bottom>
            <a:ln w="9525" cmpd="sng">
              <a:solidFill>
                <a:schemeClr val="dk1"/>
              </a:solidFill>
              <a:prstDash val="solid"/>
            </a:ln>
          </a:bottom>
          <a:insideH>
            <a:ln>
              <a:noFill/>
            </a:ln>
          </a:insideH>
          <a:insideV>
            <a:ln>
              <a:noFill/>
            </a:ln>
          </a:insideV>
        </a:tcBdr>
        <a:fill>
          <a:solidFill>
            <a:srgbClr val="FFFFFF"/>
          </a:solidFill>
        </a:fill>
      </a:tcStyle>
    </a:swCell>
    <a:firstRow>
      <a:tcTxStyle b="on">
        <a:fontRef idx="none">
          <a:srgbClr val="08090C"/>
        </a:fontRef>
      </a:tcTxStyle>
      <a:tcStyle>
        <a:tcBdr>
          <a:left>
            <a:ln w="9525" cmpd="sng">
              <a:solidFill>
                <a:schemeClr val="dk1"/>
              </a:solidFill>
              <a:prstDash val="solid"/>
            </a:ln>
          </a:left>
          <a:right>
            <a:ln w="9525" cmpd="sng">
              <a:solidFill>
                <a:schemeClr val="dk1"/>
              </a:solidFill>
              <a:prstDash val="solid"/>
            </a:ln>
          </a:right>
          <a:top>
            <a:ln w="9525" cmpd="sng">
              <a:solidFill>
                <a:schemeClr val="dk1"/>
              </a:solidFill>
              <a:prstDash val="solid"/>
            </a:ln>
          </a:top>
          <a:bottom>
            <a:ln w="9525" cmpd="sng">
              <a:solidFill>
                <a:schemeClr val="dk1">
                  <a:lumMod val="34000"/>
                  <a:lumOff val="66000"/>
                </a:schemeClr>
              </a:solidFill>
              <a:prstDash val="solid"/>
            </a:ln>
          </a:bottom>
          <a:insideH>
            <a:ln>
              <a:noFill/>
            </a:ln>
          </a:insideH>
          <a:insideV>
            <a:ln w="9525" cmpd="sng">
              <a:solidFill>
                <a:srgbClr val="FFFFFF"/>
              </a:solidFill>
              <a:prstDash val="solid"/>
            </a:ln>
          </a:insideV>
        </a:tcBdr>
        <a:fill>
          <a:solidFill>
            <a:schemeClr val="dk1">
              <a:lumMod val="20000"/>
              <a:lumOff val="80000"/>
            </a:schemeClr>
          </a:solidFill>
        </a:fill>
      </a:tcStyle>
    </a:firstRow>
  </a:tblStyle>
  <a:tblStyle styleId="{3C455645-1ED4-4273-A6CF-CCCE495F3097}" styleName="表样式 1 25">
    <a:wholeTbl>
      <a:tcTxStyle>
        <a:fontRef idx="none">
          <a:srgbClr val="000000"/>
        </a:fontRef>
      </a:tcTxStyle>
      <a:tcStyle>
        <a:tcBdr>
          <a:left>
            <a:ln w="9525" cmpd="sng">
              <a:solidFill>
                <a:schemeClr val="dk1"/>
              </a:solidFill>
              <a:prstDash val="solid"/>
            </a:ln>
          </a:left>
          <a:right>
            <a:ln w="9525" cmpd="sng">
              <a:solidFill>
                <a:schemeClr val="dk1"/>
              </a:solidFill>
              <a:prstDash val="solid"/>
            </a:ln>
          </a:right>
          <a:top>
            <a:ln w="9525" cmpd="sng">
              <a:solidFill>
                <a:schemeClr val="dk1"/>
              </a:solidFill>
              <a:prstDash val="solid"/>
            </a:ln>
          </a:top>
          <a:bottom>
            <a:ln w="9525" cmpd="sng">
              <a:solidFill>
                <a:schemeClr val="dk1"/>
              </a:solidFill>
              <a:prstDash val="solid"/>
            </a:ln>
          </a:bottom>
          <a:insideH>
            <a:ln w="9525" cmpd="sng">
              <a:solidFill>
                <a:schemeClr val="dk1">
                  <a:lumMod val="34000"/>
                  <a:lumOff val="66000"/>
                </a:schemeClr>
              </a:solidFill>
              <a:prstDash val="solid"/>
            </a:ln>
          </a:insideH>
          <a:insideV>
            <a:ln w="9525" cmpd="sng">
              <a:solidFill>
                <a:schemeClr val="dk1">
                  <a:lumMod val="34000"/>
                  <a:lumOff val="66000"/>
                </a:schemeClr>
              </a:solidFill>
              <a:prstDash val="solid"/>
            </a:ln>
          </a:insideV>
        </a:tcBdr>
        <a:fill>
          <a:solidFill>
            <a:srgbClr val="FFFFFF"/>
          </a:solidFill>
        </a:fill>
      </a:tcStyle>
    </a:wholeTbl>
    <a:band2H>
      <a:tcTxStyle>
        <a:fontRef idx="none">
          <a:srgbClr val="08090C"/>
        </a:fontRef>
      </a:tcTxStyle>
      <a:tcStyle>
        <a:tcBdr/>
        <a:fill>
          <a:solidFill>
            <a:schemeClr val="dk1">
              <a:lumMod val="10000"/>
              <a:lumOff val="90000"/>
            </a:schemeClr>
          </a:solidFill>
        </a:fill>
      </a:tcStyle>
    </a:band2H>
    <a:band1V>
      <a:tcStyle>
        <a:tcBdr>
          <a:left>
            <a:ln w="9525" cmpd="sng">
              <a:solidFill>
                <a:schemeClr val="dk1"/>
              </a:solidFill>
              <a:prstDash val="solid"/>
            </a:ln>
          </a:left>
          <a:right>
            <a:ln w="9525" cmpd="sng">
              <a:solidFill>
                <a:schemeClr val="dk1"/>
              </a:solidFill>
              <a:prstDash val="solid"/>
            </a:ln>
          </a:right>
          <a:top>
            <a:ln w="9525" cmpd="sng">
              <a:solidFill>
                <a:schemeClr val="dk1"/>
              </a:solidFill>
              <a:prstDash val="solid"/>
            </a:ln>
          </a:top>
          <a:bottom>
            <a:ln w="9525" cmpd="sng">
              <a:solidFill>
                <a:schemeClr val="dk1"/>
              </a:solidFill>
              <a:prstDash val="solid"/>
            </a:ln>
          </a:bottom>
          <a:insideH>
            <a:ln w="9525" cmpd="sng">
              <a:solidFill>
                <a:schemeClr val="dk1">
                  <a:lumMod val="40000"/>
                  <a:lumOff val="60000"/>
                </a:schemeClr>
              </a:solidFill>
              <a:prstDash val="solid"/>
            </a:ln>
          </a:insideH>
          <a:insideV>
            <a:ln w="9525" cmpd="sng">
              <a:solidFill>
                <a:schemeClr val="dk1">
                  <a:lumMod val="40000"/>
                  <a:lumOff val="60000"/>
                </a:schemeClr>
              </a:solidFill>
              <a:prstDash val="solid"/>
            </a:ln>
          </a:insideV>
        </a:tcBdr>
        <a:fill>
          <a:solidFill>
            <a:schemeClr val="dk1">
              <a:lumMod val="10000"/>
              <a:lumOff val="90000"/>
            </a:schemeClr>
          </a:solidFill>
        </a:fill>
      </a:tcStyle>
    </a:band1V>
    <a:band2V>
      <a:tcStyle>
        <a:tcBdr>
          <a:left>
            <a:ln w="9525" cmpd="sng">
              <a:solidFill>
                <a:schemeClr val="dk1">
                  <a:lumMod val="40000"/>
                  <a:lumOff val="60000"/>
                </a:schemeClr>
              </a:solidFill>
              <a:prstDash val="solid"/>
            </a:ln>
          </a:left>
          <a:right>
            <a:ln w="9525" cmpd="sng">
              <a:solidFill>
                <a:schemeClr val="dk1">
                  <a:lumMod val="40000"/>
                  <a:lumOff val="60000"/>
                </a:schemeClr>
              </a:solidFill>
              <a:prstDash val="solid"/>
            </a:ln>
          </a:right>
          <a:top>
            <a:ln w="9525" cmpd="sng">
              <a:solidFill>
                <a:schemeClr val="dk1"/>
              </a:solidFill>
              <a:prstDash val="solid"/>
            </a:ln>
          </a:top>
          <a:bottom>
            <a:ln w="9525" cmpd="sng">
              <a:solidFill>
                <a:schemeClr val="dk1"/>
              </a:solidFill>
              <a:prstDash val="solid"/>
            </a:ln>
          </a:bottom>
          <a:insideH>
            <a:ln w="9525" cmpd="sng">
              <a:solidFill>
                <a:schemeClr val="dk1">
                  <a:lumMod val="40000"/>
                  <a:lumOff val="60000"/>
                </a:schemeClr>
              </a:solidFill>
              <a:prstDash val="solid"/>
            </a:ln>
          </a:insideH>
          <a:insideV>
            <a:ln>
              <a:noFill/>
            </a:ln>
          </a:insideV>
        </a:tcBdr>
      </a:tcStyle>
    </a:band2V>
    <a:lastCol>
      <a:tcTxStyle b="on">
        <a:fontRef idx="none">
          <a:srgbClr val="08090C"/>
        </a:fontRef>
      </a:tcTxStyle>
      <a:tcStyle>
        <a:tcBdr>
          <a:left>
            <a:ln w="9525" cmpd="sng">
              <a:solidFill>
                <a:schemeClr val="dk1">
                  <a:lumMod val="34000"/>
                  <a:lumOff val="66000"/>
                </a:schemeClr>
              </a:solidFill>
              <a:prstDash val="solid"/>
            </a:ln>
          </a:left>
          <a:right>
            <a:ln w="9525" cmpd="sng">
              <a:solidFill>
                <a:schemeClr val="dk1"/>
              </a:solidFill>
              <a:prstDash val="solid"/>
            </a:ln>
          </a:right>
          <a:top>
            <a:ln w="9525" cmpd="sng">
              <a:solidFill>
                <a:schemeClr val="dk1">
                  <a:lumMod val="34000"/>
                  <a:lumOff val="66000"/>
                </a:schemeClr>
              </a:solidFill>
              <a:prstDash val="solid"/>
            </a:ln>
          </a:top>
          <a:bottom>
            <a:ln w="9525" cmpd="sng">
              <a:solidFill>
                <a:schemeClr val="dk1"/>
              </a:solidFill>
              <a:prstDash val="solid"/>
            </a:ln>
          </a:bottom>
          <a:insideH>
            <a:ln w="9525" cmpd="sng">
              <a:solidFill>
                <a:schemeClr val="dk1">
                  <a:lumMod val="34000"/>
                  <a:lumOff val="66000"/>
                </a:schemeClr>
              </a:solidFill>
              <a:prstDash val="solid"/>
            </a:ln>
          </a:insideH>
          <a:insideV>
            <a:ln>
              <a:noFill/>
            </a:ln>
          </a:insideV>
        </a:tcBdr>
        <a:fill>
          <a:solidFill>
            <a:srgbClr val="FFFFFF"/>
          </a:solidFill>
        </a:fill>
      </a:tcStyle>
    </a:lastCol>
    <a:firstCol>
      <a:tcTxStyle b="on">
        <a:fontRef idx="none">
          <a:srgbClr val="08090C"/>
        </a:fontRef>
      </a:tcTxStyle>
      <a:tcStyle>
        <a:tcBdr>
          <a:left>
            <a:ln w="9525" cmpd="sng">
              <a:solidFill>
                <a:schemeClr val="dk1"/>
              </a:solidFill>
              <a:prstDash val="solid"/>
            </a:ln>
          </a:left>
          <a:right>
            <a:ln w="9525" cmpd="sng">
              <a:solidFill>
                <a:schemeClr val="dk1">
                  <a:lumMod val="34000"/>
                  <a:lumOff val="66000"/>
                </a:schemeClr>
              </a:solidFill>
              <a:prstDash val="solid"/>
            </a:ln>
          </a:right>
          <a:top>
            <a:ln w="9525" cmpd="sng">
              <a:solidFill>
                <a:schemeClr val="dk1">
                  <a:lumMod val="34000"/>
                  <a:lumOff val="66000"/>
                </a:schemeClr>
              </a:solidFill>
              <a:prstDash val="solid"/>
            </a:ln>
          </a:top>
          <a:bottom>
            <a:ln w="9525" cmpd="sng">
              <a:solidFill>
                <a:schemeClr val="dk1"/>
              </a:solidFill>
              <a:prstDash val="solid"/>
            </a:ln>
          </a:bottom>
          <a:insideH>
            <a:ln w="9525" cmpd="sng">
              <a:solidFill>
                <a:schemeClr val="dk1">
                  <a:lumMod val="34000"/>
                  <a:lumOff val="66000"/>
                </a:schemeClr>
              </a:solidFill>
              <a:prstDash val="solid"/>
            </a:ln>
          </a:insideH>
          <a:insideV>
            <a:ln>
              <a:noFill/>
            </a:ln>
          </a:insideV>
        </a:tcBdr>
        <a:fill>
          <a:solidFill>
            <a:srgbClr val="FFFFFF"/>
          </a:solidFill>
        </a:fill>
      </a:tcStyle>
    </a:firstCol>
    <a:lastRow>
      <a:tcTxStyle b="on">
        <a:fontRef idx="none">
          <a:srgbClr val="08090C"/>
        </a:fontRef>
      </a:tcTxStyle>
      <a:tcStyle>
        <a:tcBdr>
          <a:left>
            <a:ln w="9525" cmpd="sng">
              <a:solidFill>
                <a:schemeClr val="dk1"/>
              </a:solidFill>
              <a:prstDash val="solid"/>
            </a:ln>
          </a:left>
          <a:right>
            <a:ln w="9525" cmpd="sng">
              <a:solidFill>
                <a:schemeClr val="dk1"/>
              </a:solidFill>
              <a:prstDash val="solid"/>
            </a:ln>
          </a:right>
          <a:top>
            <a:ln w="9525" cmpd="sng">
              <a:solidFill>
                <a:schemeClr val="dk1"/>
              </a:solidFill>
              <a:prstDash val="solid"/>
            </a:ln>
          </a:top>
          <a:bottom>
            <a:ln w="9525" cmpd="sng">
              <a:solidFill>
                <a:schemeClr val="dk1"/>
              </a:solidFill>
              <a:prstDash val="solid"/>
            </a:ln>
          </a:bottom>
          <a:insideH>
            <a:ln>
              <a:noFill/>
            </a:ln>
          </a:insideH>
          <a:insideV>
            <a:ln>
              <a:noFill/>
            </a:ln>
          </a:insideV>
        </a:tcBdr>
        <a:fill>
          <a:solidFill>
            <a:srgbClr val="FFFFFF"/>
          </a:solidFill>
        </a:fill>
      </a:tcStyle>
    </a:lastRow>
    <a:seCell>
      <a:tcStyle>
        <a:tcBdr>
          <a:left>
            <a:ln>
              <a:noFill/>
            </a:ln>
          </a:left>
          <a:right>
            <a:ln w="9525" cmpd="sng">
              <a:solidFill>
                <a:schemeClr val="dk1"/>
              </a:solidFill>
              <a:prstDash val="solid"/>
            </a:ln>
          </a:right>
          <a:top>
            <a:ln w="9525" cmpd="sng">
              <a:solidFill>
                <a:schemeClr val="dk1"/>
              </a:solidFill>
              <a:prstDash val="solid"/>
            </a:ln>
          </a:top>
          <a:bottom>
            <a:ln w="9525" cmpd="sng">
              <a:solidFill>
                <a:schemeClr val="dk1"/>
              </a:solidFill>
              <a:prstDash val="solid"/>
            </a:ln>
          </a:bottom>
          <a:insideH>
            <a:ln>
              <a:noFill/>
            </a:ln>
          </a:insideH>
          <a:insideV>
            <a:ln>
              <a:noFill/>
            </a:ln>
          </a:insideV>
        </a:tcBdr>
        <a:fill>
          <a:solidFill>
            <a:srgbClr val="FFFFFF"/>
          </a:solidFill>
        </a:fill>
      </a:tcStyle>
    </a:seCell>
    <a:swCell>
      <a:tcTxStyle b="on">
        <a:fontRef idx="none">
          <a:schemeClr val="dk1"/>
        </a:fontRef>
      </a:tcTxStyle>
      <a:tcStyle>
        <a:tcBdr>
          <a:left>
            <a:ln w="9525" cmpd="sng">
              <a:solidFill>
                <a:schemeClr val="dk1"/>
              </a:solidFill>
              <a:prstDash val="solid"/>
            </a:ln>
          </a:left>
          <a:right>
            <a:ln>
              <a:noFill/>
            </a:ln>
          </a:right>
          <a:top>
            <a:ln w="9525" cmpd="sng">
              <a:solidFill>
                <a:schemeClr val="dk1"/>
              </a:solidFill>
              <a:prstDash val="solid"/>
            </a:ln>
          </a:top>
          <a:bottom>
            <a:ln w="9525" cmpd="sng">
              <a:solidFill>
                <a:schemeClr val="dk1"/>
              </a:solidFill>
              <a:prstDash val="solid"/>
            </a:ln>
          </a:bottom>
          <a:insideH>
            <a:ln>
              <a:noFill/>
            </a:ln>
          </a:insideH>
          <a:insideV>
            <a:ln>
              <a:noFill/>
            </a:ln>
          </a:insideV>
        </a:tcBdr>
        <a:fill>
          <a:solidFill>
            <a:srgbClr val="FFFFFF"/>
          </a:solidFill>
        </a:fill>
      </a:tcStyle>
    </a:swCell>
    <a:firstRow>
      <a:tcTxStyle b="on">
        <a:fontRef idx="none">
          <a:srgbClr val="08090C"/>
        </a:fontRef>
      </a:tcTxStyle>
      <a:tcStyle>
        <a:tcBdr>
          <a:left>
            <a:ln w="9525" cmpd="sng">
              <a:solidFill>
                <a:schemeClr val="dk1"/>
              </a:solidFill>
              <a:prstDash val="solid"/>
            </a:ln>
          </a:left>
          <a:right>
            <a:ln w="9525" cmpd="sng">
              <a:solidFill>
                <a:schemeClr val="dk1"/>
              </a:solidFill>
              <a:prstDash val="solid"/>
            </a:ln>
          </a:right>
          <a:top>
            <a:ln w="9525" cmpd="sng">
              <a:solidFill>
                <a:schemeClr val="dk1"/>
              </a:solidFill>
              <a:prstDash val="solid"/>
            </a:ln>
          </a:top>
          <a:bottom>
            <a:ln w="9525" cmpd="sng">
              <a:solidFill>
                <a:schemeClr val="dk1">
                  <a:lumMod val="34000"/>
                  <a:lumOff val="66000"/>
                </a:schemeClr>
              </a:solidFill>
              <a:prstDash val="solid"/>
            </a:ln>
          </a:bottom>
          <a:insideH>
            <a:ln>
              <a:noFill/>
            </a:ln>
          </a:insideH>
          <a:insideV>
            <a:ln w="9525" cmpd="sng">
              <a:solidFill>
                <a:srgbClr val="FFFFFF"/>
              </a:solidFill>
              <a:prstDash val="solid"/>
            </a:ln>
          </a:insideV>
        </a:tcBdr>
        <a:fill>
          <a:solidFill>
            <a:schemeClr val="dk1">
              <a:lumMod val="20000"/>
              <a:lumOff val="8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131" autoAdjust="0"/>
    <p:restoredTop sz="94660"/>
  </p:normalViewPr>
  <p:slideViewPr>
    <p:cSldViewPr snapToGrid="0" showGuides="1">
      <p:cViewPr varScale="1">
        <p:scale>
          <a:sx n="121" d="100"/>
          <a:sy n="121" d="100"/>
        </p:scale>
        <p:origin x="192" y="1288"/>
      </p:cViewPr>
      <p:guideLst>
        <p:guide orient="horz" pos="2226"/>
        <p:guide pos="375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7" Type="http://schemas.openxmlformats.org/officeDocument/2006/relationships/tags" Target="tags/tag30.xml"/><Relationship Id="rId36" Type="http://schemas.microsoft.com/office/2018/10/relationships/authors" Target="authors.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omments/modernComment1.xml><?xml version="1.0" encoding="utf-8"?>
<p188:cmLst xmlns:a="http://schemas.openxmlformats.org/drawingml/2006/main" xmlns:r="http://schemas.openxmlformats.org/officeDocument/2006/relationships" xmlns:p188="http://schemas.microsoft.com/office/powerpoint/2018/8/main">
  <p188:cm id="{EB5EBFA4-A263-0241-B3DE-F4424EBDD89E}" authorId="{AA5DB69D-1006-C652-94B4-95A394C96F10}" created="2026-09-12T22:08:11.576">
    <ac:txMkLst xmlns:ac="http://schemas.microsoft.com/office/drawing/2013/main/command">
      <pc:docMk xmlns:pc="http://schemas.microsoft.com/office/powerpoint/2013/main/command"/>
      <pc:sldMk xmlns:pc="http://schemas.microsoft.com/office/powerpoint/2013/main/command" sldId="258"/>
      <ac:spMk id="5"/>
      <ac:txMk cp="193" len="4">
        <ac:context len="424" hash="2273777031"/>
      </ac:txMk>
    </ac:txMkLst>
    <p188:pos x="4859474" y="1660525"/>
    <p188:txBody>
      <a:bodyPr/>
      <a:lstStyle/>
      <a:p>
        <a:r>
          <a:rPr lang="zh-CN" altLang="en-US"/>
          <a:t>我们使用的都是静态图片作为训练集，从来没有用过运动方向这个特征...</a:t>
        </a:r>
      </a:p>
    </p188:txBody>
  </p188:cm>
  <p188:cm id="{5D8C27B2-C43F-1E49-9CD8-4766F8EF55DA}" authorId="{AA5DB69D-1006-C652-94B4-95A394C96F10}" created="2026-09-12T22:09:08.805">
    <ac:txMkLst xmlns:ac="http://schemas.microsoft.com/office/drawing/2013/main/command">
      <pc:docMk xmlns:pc="http://schemas.microsoft.com/office/powerpoint/2013/main/command"/>
      <pc:sldMk xmlns:pc="http://schemas.microsoft.com/office/powerpoint/2013/main/command" sldId="258"/>
      <ac:spMk id="5"/>
      <ac:txMk cp="295" len="2">
        <ac:context len="424" hash="2273777031"/>
      </ac:txMk>
    </ac:txMkLst>
    <p188:pos x="10389416" y="2212068"/>
    <p188:txBody>
      <a:bodyPr/>
      <a:lstStyle/>
      <a:p>
        <a:r>
          <a:rPr lang="zh-CN" altLang="en-US"/>
          <a:t>口语化严重</a:t>
        </a:r>
      </a:p>
    </p188:txBody>
  </p188:cm>
  <p188:cm id="{517395E5-E3DA-5447-BD15-A778F71CB436}" authorId="{AA5DB69D-1006-C652-94B4-95A394C96F10}" created="2026-09-12T22:11:07.849">
    <ac:txMkLst xmlns:ac="http://schemas.microsoft.com/office/drawing/2013/main/command">
      <pc:docMk xmlns:pc="http://schemas.microsoft.com/office/powerpoint/2013/main/command"/>
      <pc:sldMk xmlns:pc="http://schemas.microsoft.com/office/powerpoint/2013/main/command" sldId="258"/>
      <ac:spMk id="5"/>
      <ac:txMk cp="303" len="49">
        <ac:context len="424" hash="2273777031"/>
      </ac:txMk>
    </ac:txMkLst>
    <p188:pos x="10795816" y="2487839"/>
    <p188:txBody>
      <a:bodyPr/>
      <a:lstStyle/>
      <a:p>
        <a:r>
          <a:rPr lang="zh-CN" altLang="en-US"/>
          <a:t>最好直接翻译这两个指标对应的中文，下个版本的ppt不要再出现中文版了。</a:t>
        </a:r>
      </a:p>
    </p188:txBody>
  </p188:cm>
  <p188:cm id="{44340757-2B35-8549-8E7C-566CC34DE606}" authorId="{AA5DB69D-1006-C652-94B4-95A394C96F10}" created="2026-09-12T22:11:51.107">
    <ac:txMkLst xmlns:ac="http://schemas.microsoft.com/office/drawing/2013/main/command">
      <pc:docMk xmlns:pc="http://schemas.microsoft.com/office/powerpoint/2013/main/command"/>
      <pc:sldMk xmlns:pc="http://schemas.microsoft.com/office/powerpoint/2013/main/command" sldId="258"/>
      <ac:spMk id="5"/>
      <ac:txMk cp="385" len="38">
        <ac:context len="424" hash="2273777031"/>
      </ac:txMk>
    </ac:txMkLst>
    <p188:pos x="10650674" y="3315154"/>
    <p188:txBody>
      <a:bodyPr/>
      <a:lstStyle/>
      <a:p>
        <a:r>
          <a:rPr lang="zh-CN" altLang="en-US"/>
          <a:t>同样，至少PCB分loose和tight两种类型，没有区分开</a:t>
        </a:r>
      </a:p>
    </p188:txBody>
  </p188:cm>
  <p188:cm id="{8C6C6338-9BC2-9A40-92CD-FB5E01360EF8}" authorId="{AA5DB69D-1006-C652-94B4-95A394C96F10}" created="2026-09-12T22:12:28.078">
    <ac:txMkLst xmlns:ac="http://schemas.microsoft.com/office/drawing/2013/main/command">
      <pc:docMk xmlns:pc="http://schemas.microsoft.com/office/powerpoint/2013/main/command"/>
      <pc:sldMk xmlns:pc="http://schemas.microsoft.com/office/powerpoint/2013/main/command" sldId="258"/>
      <ac:spMk id="5"/>
      <ac:txMk cp="219" len="133">
        <ac:context len="424" hash="2273777031"/>
      </ac:txMk>
    </ac:txMkLst>
    <p188:pos x="10795816" y="2212068"/>
    <p188:txBody>
      <a:bodyPr/>
      <a:lstStyle/>
      <a:p>
        <a:r>
          <a:rPr lang="zh-CN" altLang="en-US"/>
          <a:t>可以把后面Sparseness公式移到这一页来</a:t>
        </a:r>
      </a:p>
    </p188:txBody>
  </p188:cm>
  <p188:cm id="{FBA6BF1D-A4BF-894B-9E40-92A3EA570EBF}" authorId="{AA5DB69D-1006-C652-94B4-95A394C96F10}" created="2026-09-12T22:14:50.112">
    <ac:txMkLst xmlns:ac="http://schemas.microsoft.com/office/drawing/2013/main/command">
      <pc:docMk xmlns:pc="http://schemas.microsoft.com/office/powerpoint/2013/main/command"/>
      <pc:sldMk xmlns:pc="http://schemas.microsoft.com/office/powerpoint/2013/main/command" sldId="258"/>
      <ac:spMk id="5"/>
      <ac:txMk cp="170" len="45">
        <ac:context len="424" hash="2273777031"/>
      </ac:txMk>
    </ac:txMkLst>
    <p188:pos x="9025074" y="1384754"/>
    <p188:txBody>
      <a:bodyPr/>
      <a:lstStyle/>
      <a:p>
        <a:r>
          <a:rPr lang="zh-CN" altLang="en-US"/>
          <a:t>缺少文献引用</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en-US"/>
          </a:p>
        </p:txBody>
      </p:sp>
      <p:sp>
        <p:nvSpPr>
          <p:cNvPr id="3" name="备注占位符 2"/>
          <p:cNvSpPr>
            <a:spLocks noGrp="1"/>
          </p:cNvSpPr>
          <p:nvPr>
            <p:ph type="body" idx="1"/>
          </p:nvPr>
        </p:nvSpPr>
        <p:spPr/>
        <p:txBody>
          <a:bodyPr/>
          <a:lstStyle/>
          <a:p>
            <a:endParaRPr lang="zh-CN" altLang="en-US" dirty="0"/>
          </a:p>
        </p:txBody>
      </p:sp>
      <p:sp>
        <p:nvSpPr>
          <p:cNvPr id="4" name="页脚占位符 3"/>
          <p:cNvSpPr>
            <a:spLocks noGrp="1"/>
          </p:cNvSpPr>
          <p:nvPr>
            <p:ph type="ftr" sz="quarter" idx="4"/>
          </p:nvPr>
        </p:nvSpPr>
        <p:spPr/>
        <p:txBody>
          <a:bodyPr/>
          <a:lstStyle/>
          <a:p>
            <a:endParaRPr lang="zh-CN" altLang="en-US"/>
          </a:p>
        </p:txBody>
      </p:sp>
      <p:sp>
        <p:nvSpPr>
          <p:cNvPr id="5" name="灯片编号占位符 4"/>
          <p:cNvSpPr>
            <a:spLocks noGrp="1"/>
          </p:cNvSpPr>
          <p:nvPr>
            <p:ph type="sldNum" sz="quarter" idx="5"/>
          </p:nvPr>
        </p:nvSpPr>
        <p:spPr/>
        <p:txBody>
          <a:bodyPr/>
          <a:lstStyle/>
          <a:p>
            <a:fld id="{DE245225-B11E-4FB1-9716-B66CB1C63F7C}"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18/10/relationships/comments" Target="../comments/modernComment1.xml"/><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6.xml"/><Relationship Id="rId7" Type="http://schemas.openxmlformats.org/officeDocument/2006/relationships/image" Target="../media/image2.png"/><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3" Type="http://schemas.openxmlformats.org/officeDocument/2006/relationships/notesSlide" Target="../notesSlides/notesSlide2.xml"/><Relationship Id="rId12" Type="http://schemas.openxmlformats.org/officeDocument/2006/relationships/slideLayout" Target="../slideLayouts/slideLayout2.xml"/><Relationship Id="rId11" Type="http://schemas.openxmlformats.org/officeDocument/2006/relationships/image" Target="../media/image5.png"/><Relationship Id="rId10" Type="http://schemas.openxmlformats.org/officeDocument/2006/relationships/image" Target="../media/image4.pn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9" Type="http://schemas.openxmlformats.org/officeDocument/2006/relationships/tags" Target="../tags/tag12.xml"/><Relationship Id="rId8" Type="http://schemas.openxmlformats.org/officeDocument/2006/relationships/tags" Target="../tags/tag11.xml"/><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tags" Target="../tags/tag10.xml"/><Relationship Id="rId4" Type="http://schemas.openxmlformats.org/officeDocument/2006/relationships/tags" Target="../tags/tag9.xml"/><Relationship Id="rId3" Type="http://schemas.openxmlformats.org/officeDocument/2006/relationships/tags" Target="../tags/tag8.xml"/><Relationship Id="rId2" Type="http://schemas.openxmlformats.org/officeDocument/2006/relationships/tags" Target="../tags/tag7.xml"/><Relationship Id="rId16" Type="http://schemas.openxmlformats.org/officeDocument/2006/relationships/notesSlide" Target="../notesSlides/notesSlide3.xml"/><Relationship Id="rId15" Type="http://schemas.openxmlformats.org/officeDocument/2006/relationships/slideLayout" Target="../slideLayouts/slideLayout2.xml"/><Relationship Id="rId14" Type="http://schemas.openxmlformats.org/officeDocument/2006/relationships/image" Target="../media/image9.png"/><Relationship Id="rId13" Type="http://schemas.openxmlformats.org/officeDocument/2006/relationships/tags" Target="../tags/tag15.xml"/><Relationship Id="rId12" Type="http://schemas.openxmlformats.org/officeDocument/2006/relationships/tags" Target="../tags/tag14.xml"/><Relationship Id="rId11" Type="http://schemas.openxmlformats.org/officeDocument/2006/relationships/image" Target="../media/image8.png"/><Relationship Id="rId10" Type="http://schemas.openxmlformats.org/officeDocument/2006/relationships/tags" Target="../tags/tag13.xml"/><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9" Type="http://schemas.openxmlformats.org/officeDocument/2006/relationships/tags" Target="../tags/tag21.xml"/><Relationship Id="rId8" Type="http://schemas.openxmlformats.org/officeDocument/2006/relationships/tags" Target="../tags/tag20.xml"/><Relationship Id="rId7" Type="http://schemas.openxmlformats.org/officeDocument/2006/relationships/image" Target="../media/image11.png"/><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image" Target="../media/image1.jpeg"/><Relationship Id="rId10" Type="http://schemas.openxmlformats.org/officeDocument/2006/relationships/slideLayout" Target="../slideLayouts/slideLayout2.xml"/><Relationship Id="rId1"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7.xml"/><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2.xml"/><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7.xml"/><Relationship Id="rId2" Type="http://schemas.openxmlformats.org/officeDocument/2006/relationships/image" Target="../media/image18.png"/><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7.xml"/><Relationship Id="rId4" Type="http://schemas.openxmlformats.org/officeDocument/2006/relationships/image" Target="../media/image25.png"/><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1.jpe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7.xml"/><Relationship Id="rId2" Type="http://schemas.openxmlformats.org/officeDocument/2006/relationships/image" Target="../media/image26.png"/><Relationship Id="rId1" Type="http://schemas.openxmlformats.org/officeDocument/2006/relationships/image" Target="../media/image1.jpeg"/></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9.png"/><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1.jpeg"/></Relationships>
</file>

<file path=ppt/slides/_rels/slide16.xml.rels><?xml version="1.0" encoding="UTF-8" standalone="yes"?>
<Relationships xmlns="http://schemas.openxmlformats.org/package/2006/relationships"><Relationship Id="rId9" Type="http://schemas.openxmlformats.org/officeDocument/2006/relationships/image" Target="../media/image31.png"/><Relationship Id="rId8" Type="http://schemas.openxmlformats.org/officeDocument/2006/relationships/image" Target="../media/image30.png"/><Relationship Id="rId7" Type="http://schemas.openxmlformats.org/officeDocument/2006/relationships/tags" Target="../tags/tag28.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 Id="rId3" Type="http://schemas.openxmlformats.org/officeDocument/2006/relationships/tags" Target="../tags/tag24.xml"/><Relationship Id="rId2" Type="http://schemas.openxmlformats.org/officeDocument/2006/relationships/tags" Target="../tags/tag23.xml"/><Relationship Id="rId12" Type="http://schemas.openxmlformats.org/officeDocument/2006/relationships/slideLayout" Target="../slideLayouts/slideLayout2.xml"/><Relationship Id="rId11" Type="http://schemas.openxmlformats.org/officeDocument/2006/relationships/image" Target="../media/image33.png"/><Relationship Id="rId10" Type="http://schemas.openxmlformats.org/officeDocument/2006/relationships/image" Target="../media/image32.png"/><Relationship Id="rId1" Type="http://schemas.openxmlformats.org/officeDocument/2006/relationships/image" Target="../media/image1.jpe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9.xml"/><Relationship Id="rId1" Type="http://schemas.openxmlformats.org/officeDocument/2006/relationships/image" Target="../media/image1.jpeg"/></Relationships>
</file>

<file path=ppt/slides/_rels/slide18.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2.xml"/><Relationship Id="rId4" Type="http://schemas.openxmlformats.org/officeDocument/2006/relationships/image" Target="../media/image36.png"/><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image" Target="../media/image1.jpeg"/></Relationships>
</file>

<file path=ppt/slides/_rels/slide19.xml.rels><?xml version="1.0" encoding="UTF-8" standalone="yes"?>
<Relationships xmlns="http://schemas.openxmlformats.org/package/2006/relationships"><Relationship Id="rId9" Type="http://schemas.openxmlformats.org/officeDocument/2006/relationships/notesSlide" Target="../notesSlides/notesSlide10.xml"/><Relationship Id="rId8" Type="http://schemas.openxmlformats.org/officeDocument/2006/relationships/slideLayout" Target="../slideLayouts/slideLayout7.xml"/><Relationship Id="rId7" Type="http://schemas.openxmlformats.org/officeDocument/2006/relationships/image" Target="../media/image42.png"/><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 Id="rId3" Type="http://schemas.openxmlformats.org/officeDocument/2006/relationships/image" Target="../media/image38.png"/><Relationship Id="rId2" Type="http://schemas.openxmlformats.org/officeDocument/2006/relationships/image" Target="../media/image1.jpeg"/><Relationship Id="rId1" Type="http://schemas.openxmlformats.org/officeDocument/2006/relationships/image" Target="../media/image37.png"/></Relationships>
</file>

<file path=ppt/slides/_rels/slide20.xml.rels><?xml version="1.0" encoding="UTF-8" standalone="yes"?>
<Relationships xmlns="http://schemas.openxmlformats.org/package/2006/relationships"><Relationship Id="rId9" Type="http://schemas.openxmlformats.org/officeDocument/2006/relationships/image" Target="../media/image50.png"/><Relationship Id="rId8" Type="http://schemas.openxmlformats.org/officeDocument/2006/relationships/image" Target="../media/image49.png"/><Relationship Id="rId7" Type="http://schemas.openxmlformats.org/officeDocument/2006/relationships/image" Target="../media/image48.png"/><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 Id="rId3" Type="http://schemas.openxmlformats.org/officeDocument/2006/relationships/image" Target="../media/image44.png"/><Relationship Id="rId2" Type="http://schemas.openxmlformats.org/officeDocument/2006/relationships/image" Target="../media/image43.png"/><Relationship Id="rId11" Type="http://schemas.openxmlformats.org/officeDocument/2006/relationships/notesSlide" Target="../notesSlides/notesSlide11.xml"/><Relationship Id="rId10" Type="http://schemas.openxmlformats.org/officeDocument/2006/relationships/slideLayout" Target="../slideLayouts/slideLayout7.xml"/><Relationship Id="rId1" Type="http://schemas.openxmlformats.org/officeDocument/2006/relationships/image" Target="../media/image1.jpeg"/></Relationships>
</file>

<file path=ppt/slides/_rels/slide21.xml.rels><?xml version="1.0" encoding="UTF-8" standalone="yes"?>
<Relationships xmlns="http://schemas.openxmlformats.org/package/2006/relationships"><Relationship Id="rId7" Type="http://schemas.openxmlformats.org/officeDocument/2006/relationships/notesSlide" Target="../notesSlides/notesSlide12.xml"/><Relationship Id="rId6" Type="http://schemas.openxmlformats.org/officeDocument/2006/relationships/slideLayout" Target="../slideLayouts/slideLayout7.xml"/><Relationship Id="rId5" Type="http://schemas.openxmlformats.org/officeDocument/2006/relationships/image" Target="../media/image54.png"/><Relationship Id="rId4" Type="http://schemas.openxmlformats.org/officeDocument/2006/relationships/image" Target="../media/image53.png"/><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image" Target="../media/image1.jpeg"/></Relationships>
</file>

<file path=ppt/slides/_rels/slide22.xml.rels><?xml version="1.0" encoding="UTF-8" standalone="yes"?>
<Relationships xmlns="http://schemas.openxmlformats.org/package/2006/relationships"><Relationship Id="rId7" Type="http://schemas.openxmlformats.org/officeDocument/2006/relationships/notesSlide" Target="../notesSlides/notesSlide13.xml"/><Relationship Id="rId6" Type="http://schemas.openxmlformats.org/officeDocument/2006/relationships/slideLayout" Target="../slideLayouts/slideLayout7.xml"/><Relationship Id="rId5" Type="http://schemas.openxmlformats.org/officeDocument/2006/relationships/image" Target="../media/image58.png"/><Relationship Id="rId4" Type="http://schemas.openxmlformats.org/officeDocument/2006/relationships/image" Target="../media/image57.png"/><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image" Target="../media/image1.jpeg"/></Relationships>
</file>

<file path=ppt/slides/_rels/slide23.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2.xml"/><Relationship Id="rId4" Type="http://schemas.openxmlformats.org/officeDocument/2006/relationships/image" Target="../media/image61.png"/><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image" Target="../media/image1.jpeg"/></Relationships>
</file>

<file path=ppt/slides/_rels/slide24.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7.xml"/><Relationship Id="rId4" Type="http://schemas.openxmlformats.org/officeDocument/2006/relationships/image" Target="../media/image63.png"/><Relationship Id="rId3" Type="http://schemas.openxmlformats.org/officeDocument/2006/relationships/image" Target="../media/image62.png"/><Relationship Id="rId2" Type="http://schemas.openxmlformats.org/officeDocument/2006/relationships/image" Target="../media/image38.png"/><Relationship Id="rId1" Type="http://schemas.openxmlformats.org/officeDocument/2006/relationships/image" Target="../media/image1.jpeg"/></Relationships>
</file>

<file path=ppt/slides/_rels/slide25.xml.rels><?xml version="1.0" encoding="UTF-8" standalone="yes"?>
<Relationships xmlns="http://schemas.openxmlformats.org/package/2006/relationships"><Relationship Id="rId9" Type="http://schemas.openxmlformats.org/officeDocument/2006/relationships/notesSlide" Target="../notesSlides/notesSlide16.xml"/><Relationship Id="rId8" Type="http://schemas.openxmlformats.org/officeDocument/2006/relationships/slideLayout" Target="../slideLayouts/slideLayout7.xml"/><Relationship Id="rId7" Type="http://schemas.openxmlformats.org/officeDocument/2006/relationships/image" Target="../media/image67.png"/><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image" Target="../media/image1.jpeg"/></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7.xml"/><Relationship Id="rId3" Type="http://schemas.openxmlformats.org/officeDocument/2006/relationships/image" Target="../media/image68.png"/><Relationship Id="rId2" Type="http://schemas.openxmlformats.org/officeDocument/2006/relationships/image" Target="../media/image51.png"/><Relationship Id="rId1" Type="http://schemas.openxmlformats.org/officeDocument/2006/relationships/image" Target="../media/image1.jpeg"/></Relationships>
</file>

<file path=ppt/slides/_rels/slide27.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7.xml"/><Relationship Id="rId3" Type="http://schemas.openxmlformats.org/officeDocument/2006/relationships/image" Target="../media/image69.png"/><Relationship Id="rId2" Type="http://schemas.openxmlformats.org/officeDocument/2006/relationships/image" Target="../media/image55.png"/><Relationship Id="rId1" Type="http://schemas.openxmlformats.org/officeDocument/2006/relationships/image" Target="../media/image1.jpe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871863" y="2911501"/>
            <a:ext cx="10448290" cy="590155"/>
          </a:xfrm>
        </p:spPr>
        <p:txBody>
          <a:bodyPr>
            <a:noAutofit/>
          </a:bodyPr>
          <a:lstStyle/>
          <a:p>
            <a:pPr algn="ctr">
              <a:buClrTx/>
              <a:buSzTx/>
              <a:buFontTx/>
            </a:pPr>
            <a:r>
              <a:rPr lang="zh-CN" altLang="en-US" sz="3200" b="1" dirty="0">
                <a:solidFill>
                  <a:schemeClr val="accent1"/>
                </a:solidFill>
                <a:latin typeface="Arial" panose="020B0604020202020204" pitchFamily="34" charset="0"/>
                <a:cs typeface="Arial" panose="020B0604020202020204" pitchFamily="34" charset="0"/>
              </a:rPr>
              <a:t>抑制性回路与稳态机制如何共同塑造视觉皮层的稀疏表征</a:t>
            </a:r>
            <a:endParaRPr lang="zh-CN" altLang="en-US" sz="3200" b="1" dirty="0">
              <a:solidFill>
                <a:schemeClr val="accent1"/>
              </a:solidFill>
              <a:latin typeface="Arial" panose="020B0604020202020204" pitchFamily="34" charset="0"/>
              <a:cs typeface="Arial" panose="020B0604020202020204" pitchFamily="34" charset="0"/>
            </a:endParaRPr>
          </a:p>
        </p:txBody>
      </p:sp>
      <p:sp>
        <p:nvSpPr>
          <p:cNvPr id="3" name="副标题 2"/>
          <p:cNvSpPr>
            <a:spLocks noGrp="1"/>
          </p:cNvSpPr>
          <p:nvPr>
            <p:ph type="subTitle" idx="1"/>
          </p:nvPr>
        </p:nvSpPr>
        <p:spPr>
          <a:xfrm>
            <a:off x="1329086" y="3989629"/>
            <a:ext cx="9533827" cy="1318962"/>
          </a:xfrm>
        </p:spPr>
        <p:txBody>
          <a:bodyPr>
            <a:noAutofit/>
          </a:bodyPr>
          <a:lstStyle/>
          <a:p>
            <a:pPr>
              <a:lnSpc>
                <a:spcPct val="100000"/>
              </a:lnSpc>
            </a:pPr>
            <a:r>
              <a:rPr lang="zh-CN" altLang="en-US" sz="2000" dirty="0">
                <a:latin typeface="Arial" panose="020B0604020202020204" pitchFamily="34" charset="0"/>
                <a:cs typeface="Arial" panose="020B0604020202020204" pitchFamily="34" charset="0"/>
              </a:rPr>
              <a:t>汇报人</a:t>
            </a:r>
            <a:r>
              <a:rPr lang="en-US" altLang="zh-CN" sz="2000" dirty="0">
                <a:latin typeface="Arial" panose="020B0604020202020204" pitchFamily="34" charset="0"/>
                <a:cs typeface="Arial" panose="020B0604020202020204" pitchFamily="34" charset="0"/>
              </a:rPr>
              <a:t>:</a:t>
            </a:r>
            <a:r>
              <a:rPr lang="zh-CN" altLang="en-US" sz="2000" dirty="0">
                <a:latin typeface="Arial" panose="020B0604020202020204" pitchFamily="34" charset="0"/>
                <a:cs typeface="Arial" panose="020B0604020202020204" pitchFamily="34" charset="0"/>
              </a:rPr>
              <a:t> 吉毅诚</a:t>
            </a:r>
            <a:endParaRPr lang="en-US" altLang="zh-CN" sz="2000" dirty="0">
              <a:latin typeface="Arial" panose="020B0604020202020204" pitchFamily="34" charset="0"/>
              <a:cs typeface="Arial" panose="020B0604020202020204" pitchFamily="34" charset="0"/>
            </a:endParaRPr>
          </a:p>
          <a:p>
            <a:pPr>
              <a:lnSpc>
                <a:spcPct val="100000"/>
              </a:lnSpc>
            </a:pPr>
            <a:r>
              <a:rPr lang="zh-CN" altLang="en-US" sz="2000" dirty="0">
                <a:latin typeface="Arial" panose="020B0604020202020204" pitchFamily="34" charset="0"/>
                <a:cs typeface="Arial" panose="020B0604020202020204" pitchFamily="34" charset="0"/>
              </a:rPr>
              <a:t>日期：</a:t>
            </a:r>
            <a:r>
              <a:rPr lang="en-US" altLang="zh-CN" sz="2000" dirty="0">
                <a:latin typeface="Arial" panose="020B0604020202020204" pitchFamily="34" charset="0"/>
                <a:cs typeface="Arial" panose="020B0604020202020204" pitchFamily="34" charset="0"/>
              </a:rPr>
              <a:t>2026</a:t>
            </a:r>
            <a:r>
              <a:rPr lang="zh-CN" altLang="en-US" sz="2000" dirty="0">
                <a:latin typeface="Arial" panose="020B0604020202020204" pitchFamily="34" charset="0"/>
                <a:cs typeface="Arial" panose="020B0604020202020204" pitchFamily="34" charset="0"/>
              </a:rPr>
              <a:t>年</a:t>
            </a:r>
            <a:r>
              <a:rPr lang="en-US" altLang="zh-CN" sz="2000" dirty="0">
                <a:latin typeface="Arial" panose="020B0604020202020204" pitchFamily="34" charset="0"/>
                <a:cs typeface="Arial" panose="020B0604020202020204" pitchFamily="34" charset="0"/>
              </a:rPr>
              <a:t>xx</a:t>
            </a:r>
            <a:r>
              <a:rPr lang="zh-CN" altLang="en-US" sz="2000" dirty="0">
                <a:latin typeface="Arial" panose="020B0604020202020204" pitchFamily="34" charset="0"/>
                <a:cs typeface="Arial" panose="020B0604020202020204" pitchFamily="34" charset="0"/>
              </a:rPr>
              <a:t>月</a:t>
            </a:r>
            <a:r>
              <a:rPr lang="en-US" altLang="zh-CN" sz="2000" dirty="0">
                <a:latin typeface="Arial" panose="020B0604020202020204" pitchFamily="34" charset="0"/>
                <a:cs typeface="Arial" panose="020B0604020202020204" pitchFamily="34" charset="0"/>
              </a:rPr>
              <a:t>xx</a:t>
            </a:r>
            <a:r>
              <a:rPr lang="zh-CN" altLang="en-US" sz="2000" dirty="0">
                <a:latin typeface="Arial" panose="020B0604020202020204" pitchFamily="34" charset="0"/>
                <a:cs typeface="Arial" panose="020B0604020202020204" pitchFamily="34" charset="0"/>
              </a:rPr>
              <a:t>日</a:t>
            </a:r>
            <a:endParaRPr lang="zh-CN" altLang="en-US" sz="2000" dirty="0">
              <a:latin typeface="Arial" panose="020B0604020202020204" pitchFamily="34" charset="0"/>
              <a:cs typeface="Arial" panose="020B0604020202020204" pitchFamily="34" charset="0"/>
            </a:endParaRPr>
          </a:p>
          <a:p>
            <a:pPr>
              <a:lnSpc>
                <a:spcPct val="100000"/>
              </a:lnSpc>
            </a:pPr>
            <a:r>
              <a:rPr lang="zh-CN" altLang="en-US" sz="2000" dirty="0">
                <a:latin typeface="Arial" panose="020B0604020202020204" pitchFamily="34" charset="0"/>
                <a:cs typeface="Arial" panose="020B0604020202020204" pitchFamily="34" charset="0"/>
              </a:rPr>
              <a:t>指导老师：钟海鑫，王毅泓</a:t>
            </a:r>
            <a:endParaRPr lang="zh-CN" altLang="en-US" sz="2000" dirty="0">
              <a:latin typeface="Arial" panose="020B0604020202020204" pitchFamily="34" charset="0"/>
              <a:cs typeface="Arial" panose="020B0604020202020204" pitchFamily="34" charset="0"/>
            </a:endParaRPr>
          </a:p>
        </p:txBody>
      </p:sp>
      <p:sp>
        <p:nvSpPr>
          <p:cNvPr id="6" name="灯片编号占位符 4"/>
          <p:cNvSpPr>
            <a:spLocks noGrp="1"/>
          </p:cNvSpPr>
          <p:nvPr>
            <p:ph type="sldNum" sz="quarter" idx="12"/>
          </p:nvPr>
        </p:nvSpPr>
        <p:spPr>
          <a:xfrm>
            <a:off x="9184203" y="6389999"/>
            <a:ext cx="2743200" cy="365125"/>
          </a:xfrm>
        </p:spPr>
        <p:txBody>
          <a:bodyPr/>
          <a:lstStyle/>
          <a:p>
            <a:fld id="{AF201765-28EA-41EE-8360-4DCDA7AD8B0A}"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advTm="4974"/>
    </mc:Choice>
    <mc:Fallback>
      <p:transition spd="slow" advTm="4974"/>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p:nvPr/>
        </p:nvPicPr>
        <p:blipFill>
          <a:blip r:embed="rId1"/>
          <a:stretch>
            <a:fillRect/>
          </a:stretch>
        </p:blipFill>
        <p:spPr>
          <a:xfrm>
            <a:off x="10922000" y="0"/>
            <a:ext cx="1270000" cy="1270000"/>
          </a:xfrm>
          <a:prstGeom prst="rect">
            <a:avLst/>
          </a:prstGeom>
        </p:spPr>
      </p:pic>
      <p:sp>
        <p:nvSpPr>
          <p:cNvPr id="16" name="标题 1"/>
          <p:cNvSpPr txBox="1"/>
          <p:nvPr/>
        </p:nvSpPr>
        <p:spPr>
          <a:xfrm>
            <a:off x="351155" y="342900"/>
            <a:ext cx="8521700" cy="43434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2400" b="1" dirty="0">
                <a:latin typeface="微软雅黑" panose="020B0503020204020204" charset="-122"/>
                <a:ea typeface="微软雅黑" panose="020B0503020204020204" charset="-122"/>
                <a:cs typeface="Arial" panose="020B0604020202020204" pitchFamily="34" charset="0"/>
                <a:sym typeface="+mn-ea"/>
              </a:rPr>
              <a:t>初级视觉皮层网络如何在自然图像输入下形成稳定有效的表征</a:t>
            </a:r>
            <a:endParaRPr lang="zh-CN" altLang="en-US" sz="2400" b="1" dirty="0">
              <a:latin typeface="微软雅黑" panose="020B0503020204020204" charset="-122"/>
              <a:ea typeface="微软雅黑" panose="020B0503020204020204" charset="-122"/>
              <a:cs typeface="Arial" panose="020B0604020202020204" pitchFamily="34" charset="0"/>
            </a:endParaRPr>
          </a:p>
        </p:txBody>
      </p:sp>
      <p:sp>
        <p:nvSpPr>
          <p:cNvPr id="5" name="文本框 4"/>
          <p:cNvSpPr txBox="1"/>
          <p:nvPr/>
        </p:nvSpPr>
        <p:spPr>
          <a:xfrm>
            <a:off x="351155" y="1270000"/>
            <a:ext cx="10841990" cy="3693319"/>
          </a:xfrm>
          <a:prstGeom prst="rect">
            <a:avLst/>
          </a:prstGeom>
          <a:noFill/>
        </p:spPr>
        <p:txBody>
          <a:bodyPr wrap="square" rtlCol="0">
            <a:spAutoFit/>
          </a:bodyPr>
          <a:lstStyle/>
          <a:p>
            <a:pPr indent="457200"/>
            <a:r>
              <a:rPr lang="zh-CN" altLang="en-US" dirty="0">
                <a:sym typeface="+mn-ea"/>
              </a:rPr>
              <a:t>自然图像并非相互独立的随机像素集合，其具有显著空间相关性和高阶统计结构（</a:t>
            </a:r>
            <a:r>
              <a:rPr lang="en-US" altLang="zh-CN" dirty="0">
                <a:sym typeface="+mn-ea"/>
              </a:rPr>
              <a:t>Ruderman &amp; Bialek, 1994, Phys. Rev. Lett.)</a:t>
            </a:r>
            <a:r>
              <a:rPr lang="zh-CN" altLang="en-US" dirty="0">
                <a:sym typeface="+mn-ea"/>
              </a:rPr>
              <a:t>。初级视觉皮层（</a:t>
            </a:r>
            <a:r>
              <a:rPr lang="en-US" altLang="zh-CN" dirty="0">
                <a:sym typeface="+mn-ea"/>
              </a:rPr>
              <a:t>primary</a:t>
            </a:r>
            <a:r>
              <a:rPr lang="zh-CN" altLang="en-US" dirty="0">
                <a:sym typeface="+mn-ea"/>
              </a:rPr>
              <a:t> </a:t>
            </a:r>
            <a:r>
              <a:rPr lang="en-US" altLang="zh-CN" dirty="0">
                <a:sym typeface="+mn-ea"/>
              </a:rPr>
              <a:t>visual</a:t>
            </a:r>
            <a:r>
              <a:rPr lang="zh-CN" altLang="en-US" dirty="0">
                <a:sym typeface="+mn-ea"/>
              </a:rPr>
              <a:t> </a:t>
            </a:r>
            <a:r>
              <a:rPr lang="en-US" altLang="zh-CN" dirty="0">
                <a:sym typeface="+mn-ea"/>
              </a:rPr>
              <a:t>cortex,</a:t>
            </a:r>
            <a:r>
              <a:rPr lang="zh-CN" altLang="en-US" dirty="0">
                <a:sym typeface="+mn-ea"/>
              </a:rPr>
              <a:t> </a:t>
            </a:r>
            <a:r>
              <a:rPr lang="en-US" altLang="zh-CN" dirty="0">
                <a:sym typeface="+mn-ea"/>
              </a:rPr>
              <a:t>V1</a:t>
            </a:r>
            <a:r>
              <a:rPr lang="zh-CN" altLang="en-US" dirty="0">
                <a:sym typeface="+mn-ea"/>
              </a:rPr>
              <a:t>）网络依赖自然图像性质自发形成</a:t>
            </a:r>
            <a:r>
              <a:rPr lang="zh-CN" altLang="en-US" b="1" dirty="0"/>
              <a:t>稳定有效的神经表征。</a:t>
            </a:r>
            <a:r>
              <a:rPr lang="zh-CN" altLang="en-US" dirty="0"/>
              <a:t>本研究关注的信息表征与网络稳定性问题，我们重点考察以下三个方面：</a:t>
            </a:r>
            <a:endParaRPr lang="en-US" altLang="zh-CN" dirty="0"/>
          </a:p>
          <a:p>
            <a:endParaRPr lang="en-US" altLang="zh-CN" dirty="0"/>
          </a:p>
          <a:p>
            <a:endParaRPr lang="zh-CN" altLang="en-US" dirty="0"/>
          </a:p>
          <a:p>
            <a:r>
              <a:rPr lang="en-US" altLang="zh-CN" dirty="0"/>
              <a:t>·</a:t>
            </a:r>
            <a:r>
              <a:rPr lang="zh-CN" altLang="en-US" dirty="0"/>
              <a:t> </a:t>
            </a:r>
            <a:r>
              <a:rPr lang="zh-CN" altLang="en-US" b="1" dirty="0">
                <a:solidFill>
                  <a:srgbClr val="FF0000"/>
                </a:solidFill>
              </a:rPr>
              <a:t>朝向选择性</a:t>
            </a:r>
            <a:r>
              <a:rPr lang="en-US" altLang="zh-CN" dirty="0"/>
              <a:t>:   V1</a:t>
            </a:r>
            <a:r>
              <a:rPr lang="zh-CN" altLang="en-US" dirty="0"/>
              <a:t>神经元对特定朝向、</a:t>
            </a:r>
            <a:r>
              <a:rPr lang="zh-CN" altLang="en-US" strike="sngStrike" dirty="0"/>
              <a:t>运动方向或</a:t>
            </a:r>
            <a:r>
              <a:rPr lang="zh-CN" altLang="en-US" dirty="0"/>
              <a:t>空间频率的视觉特征表现出选择性响应</a:t>
            </a:r>
            <a:endParaRPr lang="zh-CN" altLang="en-US" dirty="0"/>
          </a:p>
          <a:p>
            <a:endParaRPr lang="zh-CN" altLang="en-US" dirty="0"/>
          </a:p>
          <a:p>
            <a:r>
              <a:rPr lang="en-US" altLang="zh-CN" dirty="0"/>
              <a:t>· </a:t>
            </a:r>
            <a:r>
              <a:rPr lang="zh-CN" altLang="en-US" b="1" dirty="0">
                <a:solidFill>
                  <a:srgbClr val="FF0000"/>
                </a:solidFill>
              </a:rPr>
              <a:t>响应稀疏性</a:t>
            </a:r>
            <a:r>
              <a:rPr lang="zh-CN" altLang="en-US" dirty="0"/>
              <a:t>：分为群体稀疏性</a:t>
            </a:r>
            <a:r>
              <a:rPr lang="en-US" altLang="zh-CN" dirty="0"/>
              <a:t>(Population sparseness,</a:t>
            </a:r>
            <a:r>
              <a:rPr lang="zh-CN" altLang="en-US" dirty="0"/>
              <a:t> </a:t>
            </a:r>
            <a:r>
              <a:rPr lang="en-US" altLang="zh-CN" dirty="0"/>
              <a:t>PS)</a:t>
            </a:r>
            <a:r>
              <a:rPr lang="zh-CN" altLang="en-US" dirty="0"/>
              <a:t>与时间稀疏性</a:t>
            </a:r>
            <a:r>
              <a:rPr lang="en-US" altLang="zh-CN" dirty="0"/>
              <a:t>(Lifetime sparseness,</a:t>
            </a:r>
            <a:r>
              <a:rPr lang="zh-CN" altLang="en-US" dirty="0"/>
              <a:t> </a:t>
            </a:r>
            <a:r>
              <a:rPr lang="en-US" altLang="zh-CN" dirty="0"/>
              <a:t>LS)</a:t>
            </a:r>
            <a:r>
              <a:rPr lang="zh-CN" altLang="en-US" dirty="0"/>
              <a:t>，分别指代面对一个刺激时，神经元群体中只有少数神经元产生较强响应</a:t>
            </a:r>
            <a:r>
              <a:rPr lang="en-US" altLang="zh-CN" dirty="0"/>
              <a:t> </a:t>
            </a:r>
            <a:r>
              <a:rPr lang="zh-CN" altLang="en-US" dirty="0"/>
              <a:t>及</a:t>
            </a:r>
            <a:r>
              <a:rPr lang="en-US" altLang="zh-CN" dirty="0"/>
              <a:t> </a:t>
            </a:r>
            <a:r>
              <a:rPr lang="zh-CN" altLang="en-US" dirty="0"/>
              <a:t>对于一组刺激，单个神经元只对其中少数刺激产生较强响应。</a:t>
            </a:r>
            <a:endParaRPr lang="zh-CN" altLang="en-US" dirty="0"/>
          </a:p>
          <a:p>
            <a:endParaRPr lang="en-US" altLang="zh-CN" dirty="0"/>
          </a:p>
          <a:p>
            <a:r>
              <a:rPr lang="en-US" altLang="zh-CN" dirty="0"/>
              <a:t>· </a:t>
            </a:r>
            <a:r>
              <a:rPr lang="zh-CN" altLang="en-US" b="1" dirty="0">
                <a:solidFill>
                  <a:srgbClr val="FF0000"/>
                </a:solidFill>
                <a:latin typeface="微软雅黑" panose="020B0503020204020204" charset="-122"/>
                <a:ea typeface="微软雅黑" panose="020B0503020204020204" charset="-122"/>
                <a:cs typeface="Arial" panose="020B0604020202020204" pitchFamily="34" charset="0"/>
                <a:sym typeface="+mn-ea"/>
              </a:rPr>
              <a:t>兴奋</a:t>
            </a:r>
            <a:r>
              <a:rPr lang="en-US" altLang="zh-CN" b="1" dirty="0">
                <a:solidFill>
                  <a:srgbClr val="FF0000"/>
                </a:solidFill>
                <a:latin typeface="微软雅黑" panose="020B0503020204020204" charset="-122"/>
                <a:ea typeface="微软雅黑" panose="020B0503020204020204" charset="-122"/>
                <a:cs typeface="Arial" panose="020B0604020202020204" pitchFamily="34" charset="0"/>
                <a:sym typeface="+mn-ea"/>
              </a:rPr>
              <a:t>-</a:t>
            </a:r>
            <a:r>
              <a:rPr lang="zh-CN" altLang="en-US" b="1" dirty="0">
                <a:solidFill>
                  <a:srgbClr val="FF0000"/>
                </a:solidFill>
                <a:latin typeface="微软雅黑" panose="020B0503020204020204" charset="-122"/>
                <a:ea typeface="微软雅黑" panose="020B0503020204020204" charset="-122"/>
                <a:cs typeface="Arial" panose="020B0604020202020204" pitchFamily="34" charset="0"/>
                <a:sym typeface="+mn-ea"/>
              </a:rPr>
              <a:t>抑制平衡</a:t>
            </a:r>
            <a:r>
              <a:rPr lang="en-US" altLang="zh-CN" b="1" dirty="0">
                <a:solidFill>
                  <a:srgbClr val="FF0000"/>
                </a:solidFill>
                <a:latin typeface="微软雅黑" panose="020B0503020204020204" charset="-122"/>
                <a:ea typeface="微软雅黑" panose="020B0503020204020204" charset="-122"/>
                <a:cs typeface="Arial" panose="020B0604020202020204" pitchFamily="34" charset="0"/>
                <a:sym typeface="+mn-ea"/>
              </a:rPr>
              <a:t>(E/I balance)</a:t>
            </a:r>
            <a:r>
              <a:rPr lang="zh-CN" altLang="en-US" dirty="0">
                <a:latin typeface="微软雅黑" panose="020B0503020204020204" charset="-122"/>
                <a:ea typeface="微软雅黑" panose="020B0503020204020204" charset="-122"/>
                <a:cs typeface="Arial" panose="020B0604020202020204" pitchFamily="34" charset="0"/>
                <a:sym typeface="+mn-ea"/>
              </a:rPr>
              <a:t>：在神经元尺度上，兴奋性和抑制性输入在强度与时间上相互关联，共同约束神经元的净输入和放电响应。</a:t>
            </a:r>
            <a:endParaRPr lang="zh-CN" altLang="en-US" dirty="0">
              <a:latin typeface="微软雅黑" panose="020B0503020204020204" charset="-122"/>
              <a:ea typeface="微软雅黑" panose="020B0503020204020204" charset="-122"/>
              <a:cs typeface="Arial" panose="020B0604020202020204" pitchFamily="34" charset="0"/>
              <a:sym typeface="+mn-ea"/>
            </a:endParaRPr>
          </a:p>
        </p:txBody>
      </p:sp>
      <p:sp>
        <p:nvSpPr>
          <p:cNvPr id="6" name="文本框 5"/>
          <p:cNvSpPr txBox="1"/>
          <p:nvPr/>
        </p:nvSpPr>
        <p:spPr>
          <a:xfrm>
            <a:off x="633720" y="5456079"/>
            <a:ext cx="10559425" cy="646331"/>
          </a:xfrm>
          <a:prstGeom prst="rect">
            <a:avLst/>
          </a:prstGeom>
          <a:noFill/>
        </p:spPr>
        <p:txBody>
          <a:bodyPr wrap="square" rtlCol="0">
            <a:spAutoFit/>
          </a:bodyPr>
          <a:lstStyle/>
          <a:p>
            <a:pPr algn="ctr"/>
            <a:r>
              <a:rPr lang="zh-CN" altLang="en-US" b="1" dirty="0"/>
              <a:t>科学问题：</a:t>
            </a:r>
            <a:r>
              <a:rPr lang="zh-CN" altLang="en-US" dirty="0"/>
              <a:t>在</a:t>
            </a:r>
            <a:r>
              <a:rPr lang="en-US" altLang="zh-CN" dirty="0"/>
              <a:t>V1</a:t>
            </a:r>
            <a:r>
              <a:rPr lang="zh-CN" altLang="en-US" dirty="0"/>
              <a:t>网络模型中，</a:t>
            </a:r>
            <a:r>
              <a:rPr lang="zh-CN" altLang="en-US" b="1" dirty="0"/>
              <a:t>抑制性回路</a:t>
            </a:r>
            <a:r>
              <a:rPr lang="zh-CN" altLang="en-US" dirty="0"/>
              <a:t>以及</a:t>
            </a:r>
            <a:r>
              <a:rPr lang="zh-CN" altLang="en-US" b="1" dirty="0"/>
              <a:t>稳态调节机制</a:t>
            </a:r>
            <a:r>
              <a:rPr lang="zh-CN" altLang="en-US" dirty="0"/>
              <a:t>如何协同使得朝向选择、稀疏编码与网络稳定性在网络发育中自发产生？</a:t>
            </a:r>
            <a:endParaRPr lang="zh-CN" altLang="en-US"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p:nvPr/>
        </p:nvPicPr>
        <p:blipFill>
          <a:blip r:embed="rId1"/>
          <a:stretch>
            <a:fillRect/>
          </a:stretch>
        </p:blipFill>
        <p:spPr>
          <a:xfrm>
            <a:off x="10922000" y="151765"/>
            <a:ext cx="1270000" cy="1270000"/>
          </a:xfrm>
          <a:prstGeom prst="rect">
            <a:avLst/>
          </a:prstGeom>
        </p:spPr>
      </p:pic>
      <p:sp>
        <p:nvSpPr>
          <p:cNvPr id="16" name="标题 1"/>
          <p:cNvSpPr txBox="1"/>
          <p:nvPr/>
        </p:nvSpPr>
        <p:spPr>
          <a:xfrm>
            <a:off x="186690" y="225425"/>
            <a:ext cx="6703060" cy="46609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2400" b="1" dirty="0">
                <a:latin typeface="微软雅黑" panose="020B0503020204020204" charset="-122"/>
                <a:ea typeface="微软雅黑" panose="020B0503020204020204" charset="-122"/>
                <a:cs typeface="Arial" panose="020B0604020202020204" pitchFamily="34" charset="0"/>
              </a:rPr>
              <a:t>从高效编码假说到可实现的</a:t>
            </a:r>
            <a:r>
              <a:rPr lang="en-US" altLang="zh-CN" sz="2400" b="1" dirty="0">
                <a:latin typeface="微软雅黑" panose="020B0503020204020204" charset="-122"/>
                <a:ea typeface="微软雅黑" panose="020B0503020204020204" charset="-122"/>
                <a:cs typeface="Arial" panose="020B0604020202020204" pitchFamily="34" charset="0"/>
              </a:rPr>
              <a:t>V1</a:t>
            </a:r>
            <a:r>
              <a:rPr lang="zh-CN" altLang="en-US" sz="2400" b="1" dirty="0">
                <a:latin typeface="微软雅黑" panose="020B0503020204020204" charset="-122"/>
                <a:ea typeface="微软雅黑" panose="020B0503020204020204" charset="-122"/>
                <a:cs typeface="Arial" panose="020B0604020202020204" pitchFamily="34" charset="0"/>
              </a:rPr>
              <a:t>网络模型发展脉络</a:t>
            </a:r>
            <a:endParaRPr lang="zh-CN" altLang="en-US" sz="2400" b="1" dirty="0">
              <a:latin typeface="微软雅黑" panose="020B0503020204020204" charset="-122"/>
              <a:ea typeface="微软雅黑" panose="020B0503020204020204" charset="-122"/>
              <a:cs typeface="Arial" panose="020B0604020202020204" pitchFamily="34" charset="0"/>
            </a:endParaRPr>
          </a:p>
        </p:txBody>
      </p:sp>
      <p:cxnSp>
        <p:nvCxnSpPr>
          <p:cNvPr id="28" name="直接箭头连接符 27"/>
          <p:cNvCxnSpPr/>
          <p:nvPr>
            <p:custDataLst>
              <p:tags r:id="rId2"/>
            </p:custDataLst>
          </p:nvPr>
        </p:nvCxnSpPr>
        <p:spPr>
          <a:xfrm flipV="1">
            <a:off x="1330325" y="2911343"/>
            <a:ext cx="9232050" cy="27002"/>
          </a:xfrm>
          <a:prstGeom prst="straightConnector1">
            <a:avLst/>
          </a:prstGeom>
          <a:ln w="19050">
            <a:solidFill>
              <a:srgbClr val="000000"/>
            </a:solidFill>
            <a:prstDash val="solid"/>
          </a:ln>
        </p:spPr>
      </p:cxnSp>
      <p:sp>
        <p:nvSpPr>
          <p:cNvPr id="11" name="椭圆 10"/>
          <p:cNvSpPr>
            <a:spLocks noGrp="1"/>
          </p:cNvSpPr>
          <p:nvPr>
            <p:custDataLst>
              <p:tags r:id="rId3"/>
            </p:custDataLst>
          </p:nvPr>
        </p:nvSpPr>
        <p:spPr>
          <a:xfrm>
            <a:off x="2565400" y="2836273"/>
            <a:ext cx="171450" cy="171450"/>
          </a:xfrm>
          <a:prstGeom prst="ellipse">
            <a:avLst/>
          </a:prstGeom>
          <a:solidFill>
            <a:srgbClr val="000000"/>
          </a:solidFill>
          <a:ln w="0">
            <a:noFill/>
            <a:prstDash val="solid"/>
          </a:ln>
        </p:spPr>
        <p:txBody>
          <a:bodyPr/>
          <a:lstStyle/>
          <a:p>
            <a:endParaRPr lang="en-US"/>
          </a:p>
        </p:txBody>
      </p:sp>
      <p:sp>
        <p:nvSpPr>
          <p:cNvPr id="3" name="文本框 2"/>
          <p:cNvSpPr txBox="1"/>
          <p:nvPr/>
        </p:nvSpPr>
        <p:spPr>
          <a:xfrm>
            <a:off x="1802447" y="936671"/>
            <a:ext cx="1577658" cy="1896196"/>
          </a:xfrm>
          <a:prstGeom prst="rect">
            <a:avLst/>
          </a:prstGeom>
          <a:noFill/>
        </p:spPr>
        <p:txBody>
          <a:bodyPr wrap="square" rtlCol="0">
            <a:noAutofit/>
          </a:bodyPr>
          <a:lstStyle/>
          <a:p>
            <a:pPr algn="ctr"/>
            <a:r>
              <a:rPr lang="en-US" altLang="zh-CN" b="1" dirty="0"/>
              <a:t>1954</a:t>
            </a:r>
            <a:br>
              <a:rPr lang="en-US" altLang="zh-CN" dirty="0"/>
            </a:br>
            <a:r>
              <a:rPr lang="en-US" altLang="zh-CN" b="1" dirty="0" err="1">
                <a:sym typeface="+mn-ea"/>
              </a:rPr>
              <a:t>Attneave</a:t>
            </a:r>
            <a:endParaRPr lang="en-US" altLang="zh-CN" b="1" dirty="0">
              <a:sym typeface="+mn-ea"/>
            </a:endParaRPr>
          </a:p>
          <a:p>
            <a:pPr algn="ctr"/>
            <a:endParaRPr lang="en-US" altLang="zh-CN" dirty="0"/>
          </a:p>
          <a:p>
            <a:pPr algn="ctr"/>
            <a:r>
              <a:rPr lang="zh-CN" altLang="en-US" sz="1200" dirty="0"/>
              <a:t>指出视觉输入具有</a:t>
            </a:r>
            <a:r>
              <a:rPr lang="zh-CN" altLang="en-US" sz="1200" b="1" dirty="0">
                <a:solidFill>
                  <a:schemeClr val="accent1"/>
                </a:solidFill>
              </a:rPr>
              <a:t>可预测的空间冗余</a:t>
            </a:r>
            <a:r>
              <a:rPr lang="zh-CN" altLang="en-US" sz="1200" dirty="0"/>
              <a:t>，并以物体轮廓为例，提出视觉系统可能通过减少冗余实现</a:t>
            </a:r>
            <a:r>
              <a:rPr lang="zh-CN" altLang="en-US" sz="1200" b="1" dirty="0">
                <a:solidFill>
                  <a:schemeClr val="accent1"/>
                </a:solidFill>
              </a:rPr>
              <a:t>高效编码。</a:t>
            </a:r>
            <a:br>
              <a:rPr lang="zh-CN" altLang="en-US" sz="1200" b="1" dirty="0">
                <a:solidFill>
                  <a:schemeClr val="accent1"/>
                </a:solidFill>
              </a:rPr>
            </a:br>
            <a:endParaRPr lang="en-US" altLang="zh-CN" dirty="0"/>
          </a:p>
        </p:txBody>
      </p:sp>
      <p:sp>
        <p:nvSpPr>
          <p:cNvPr id="10" name="椭圆 9"/>
          <p:cNvSpPr>
            <a:spLocks noGrp="1"/>
          </p:cNvSpPr>
          <p:nvPr>
            <p:custDataLst>
              <p:tags r:id="rId4"/>
            </p:custDataLst>
          </p:nvPr>
        </p:nvSpPr>
        <p:spPr>
          <a:xfrm>
            <a:off x="4377055" y="2836273"/>
            <a:ext cx="171450" cy="171450"/>
          </a:xfrm>
          <a:prstGeom prst="ellipse">
            <a:avLst/>
          </a:prstGeom>
          <a:solidFill>
            <a:srgbClr val="000000"/>
          </a:solidFill>
          <a:ln w="0">
            <a:noFill/>
            <a:prstDash val="solid"/>
          </a:ln>
        </p:spPr>
        <p:txBody>
          <a:bodyPr/>
          <a:lstStyle/>
          <a:p>
            <a:endParaRPr lang="en-US"/>
          </a:p>
        </p:txBody>
      </p:sp>
      <p:sp>
        <p:nvSpPr>
          <p:cNvPr id="2" name="文本框 1"/>
          <p:cNvSpPr txBox="1"/>
          <p:nvPr/>
        </p:nvSpPr>
        <p:spPr>
          <a:xfrm>
            <a:off x="5550535" y="1328420"/>
            <a:ext cx="1932305" cy="1088390"/>
          </a:xfrm>
          <a:prstGeom prst="rect">
            <a:avLst/>
          </a:prstGeom>
          <a:noFill/>
        </p:spPr>
        <p:txBody>
          <a:bodyPr wrap="square" rtlCol="0">
            <a:noAutofit/>
          </a:bodyPr>
          <a:lstStyle/>
          <a:p>
            <a:pPr algn="ctr"/>
            <a:r>
              <a:rPr lang="zh-CN" altLang="en-US" sz="1200" dirty="0">
                <a:sym typeface="+mn-ea"/>
              </a:rPr>
              <a:t>通过阻断猫</a:t>
            </a:r>
            <a:r>
              <a:rPr lang="en-US" altLang="zh-CN" sz="1200" dirty="0">
                <a:sym typeface="+mn-ea"/>
              </a:rPr>
              <a:t>V1</a:t>
            </a:r>
            <a:r>
              <a:rPr lang="zh-CN" altLang="en-US" sz="1200" dirty="0">
                <a:sym typeface="+mn-ea"/>
              </a:rPr>
              <a:t>中</a:t>
            </a:r>
            <a:r>
              <a:rPr lang="zh-CN" altLang="en-US" sz="1200" dirty="0">
                <a:sym typeface="+mn-ea"/>
              </a:rPr>
              <a:t>的抑制，发现感受野的</a:t>
            </a:r>
            <a:r>
              <a:rPr lang="en-US" altLang="zh-CN" sz="1200" dirty="0">
                <a:sym typeface="+mn-ea"/>
              </a:rPr>
              <a:t>ON/OFF</a:t>
            </a:r>
            <a:r>
              <a:rPr lang="zh-CN" altLang="en-US" sz="1200" dirty="0">
                <a:sym typeface="+mn-ea"/>
              </a:rPr>
              <a:t>亚区结构发生改变，</a:t>
            </a:r>
            <a:r>
              <a:rPr lang="zh-CN" altLang="en-US" sz="1200" dirty="0">
                <a:sym typeface="+mn-ea"/>
              </a:rPr>
              <a:t>同时部分神经元的朝向选择性降低，</a:t>
            </a:r>
            <a:endParaRPr lang="zh-CN" altLang="en-US" sz="1200" dirty="0">
              <a:sym typeface="+mn-ea"/>
            </a:endParaRPr>
          </a:p>
          <a:p>
            <a:pPr algn="ctr"/>
            <a:r>
              <a:rPr lang="zh-CN" altLang="en-US" sz="1200" dirty="0">
                <a:sym typeface="+mn-ea"/>
              </a:rPr>
              <a:t>为皮层中的抑制参与</a:t>
            </a:r>
            <a:r>
              <a:rPr lang="zh-CN" altLang="en-US" sz="1200" b="1" dirty="0">
                <a:solidFill>
                  <a:schemeClr val="accent1"/>
                </a:solidFill>
                <a:sym typeface="+mn-ea"/>
              </a:rPr>
              <a:t>调节感受野结构</a:t>
            </a:r>
            <a:r>
              <a:rPr lang="zh-CN" altLang="en-US" sz="1200" dirty="0">
                <a:sym typeface="+mn-ea"/>
              </a:rPr>
              <a:t>和</a:t>
            </a:r>
            <a:r>
              <a:rPr lang="zh-CN" altLang="en-US" sz="1200" b="1" dirty="0">
                <a:solidFill>
                  <a:schemeClr val="accent1"/>
                </a:solidFill>
                <a:sym typeface="+mn-ea"/>
              </a:rPr>
              <a:t>朝向选择性</a:t>
            </a:r>
            <a:r>
              <a:rPr lang="zh-CN" altLang="en-US" sz="1200" dirty="0">
                <a:sym typeface="+mn-ea"/>
              </a:rPr>
              <a:t>提供了直接实验证据。</a:t>
            </a:r>
            <a:endParaRPr lang="zh-CN" altLang="en-US" sz="1200" dirty="0">
              <a:sym typeface="+mn-ea"/>
            </a:endParaRPr>
          </a:p>
          <a:p>
            <a:pPr algn="ctr"/>
            <a:endParaRPr lang="zh-CN" altLang="en-US" sz="1200" dirty="0">
              <a:sym typeface="+mn-ea"/>
            </a:endParaRPr>
          </a:p>
          <a:p>
            <a:pPr algn="ctr"/>
            <a:br>
              <a:rPr lang="en-US" altLang="zh-CN" dirty="0"/>
            </a:br>
            <a:endParaRPr lang="en-US" altLang="zh-CN" dirty="0"/>
          </a:p>
        </p:txBody>
      </p:sp>
      <p:sp>
        <p:nvSpPr>
          <p:cNvPr id="5" name="文本框 4"/>
          <p:cNvSpPr txBox="1"/>
          <p:nvPr/>
        </p:nvSpPr>
        <p:spPr>
          <a:xfrm>
            <a:off x="104775" y="2297841"/>
            <a:ext cx="1225550" cy="483235"/>
          </a:xfrm>
          <a:prstGeom prst="rect">
            <a:avLst/>
          </a:prstGeom>
          <a:noFill/>
        </p:spPr>
        <p:txBody>
          <a:bodyPr wrap="square" rtlCol="0">
            <a:noAutofit/>
          </a:bodyPr>
          <a:lstStyle/>
          <a:p>
            <a:r>
              <a:rPr lang="zh-CN" altLang="en-US" b="1">
                <a:solidFill>
                  <a:srgbClr val="FF0000"/>
                </a:solidFill>
              </a:rPr>
              <a:t>主要贡献</a:t>
            </a:r>
            <a:endParaRPr lang="zh-CN" altLang="en-US" b="1">
              <a:solidFill>
                <a:srgbClr val="FF0000"/>
              </a:solidFill>
            </a:endParaRPr>
          </a:p>
        </p:txBody>
      </p:sp>
      <p:sp>
        <p:nvSpPr>
          <p:cNvPr id="6" name="文本框 5"/>
          <p:cNvSpPr txBox="1"/>
          <p:nvPr/>
        </p:nvSpPr>
        <p:spPr>
          <a:xfrm>
            <a:off x="104775" y="3250976"/>
            <a:ext cx="1225550" cy="483235"/>
          </a:xfrm>
          <a:prstGeom prst="rect">
            <a:avLst/>
          </a:prstGeom>
          <a:noFill/>
        </p:spPr>
        <p:txBody>
          <a:bodyPr wrap="square" rtlCol="0">
            <a:noAutofit/>
          </a:bodyPr>
          <a:lstStyle/>
          <a:p>
            <a:r>
              <a:rPr lang="zh-CN" altLang="en-US" b="1" dirty="0">
                <a:solidFill>
                  <a:srgbClr val="FF0000"/>
                </a:solidFill>
              </a:rPr>
              <a:t>遗留问题</a:t>
            </a:r>
            <a:endParaRPr lang="zh-CN" altLang="en-US" b="1" dirty="0">
              <a:solidFill>
                <a:srgbClr val="FF0000"/>
              </a:solidFill>
            </a:endParaRPr>
          </a:p>
        </p:txBody>
      </p:sp>
      <p:sp>
        <p:nvSpPr>
          <p:cNvPr id="7" name="文本框 6"/>
          <p:cNvSpPr txBox="1"/>
          <p:nvPr/>
        </p:nvSpPr>
        <p:spPr>
          <a:xfrm>
            <a:off x="7600315" y="718820"/>
            <a:ext cx="1741170" cy="742315"/>
          </a:xfrm>
          <a:prstGeom prst="rect">
            <a:avLst/>
          </a:prstGeom>
          <a:noFill/>
        </p:spPr>
        <p:txBody>
          <a:bodyPr wrap="square" rtlCol="0">
            <a:noAutofit/>
          </a:bodyPr>
          <a:lstStyle/>
          <a:p>
            <a:pPr algn="ctr"/>
            <a:r>
              <a:rPr lang="en-US" altLang="zh-CN" b="1" dirty="0"/>
              <a:t>1989</a:t>
            </a:r>
            <a:br>
              <a:rPr lang="en-US" altLang="zh-CN" dirty="0"/>
            </a:br>
            <a:r>
              <a:rPr lang="en-US" altLang="zh-CN" b="1" dirty="0" err="1"/>
              <a:t>Barlow&amp;F</a:t>
            </a:r>
            <a:r>
              <a:rPr lang="en-US" altLang="en-US" b="1" dirty="0" err="1"/>
              <a:t>ö</a:t>
            </a:r>
            <a:r>
              <a:rPr lang="en-US" altLang="zh-CN" b="1" dirty="0" err="1"/>
              <a:t>ldi</a:t>
            </a:r>
            <a:r>
              <a:rPr lang="en-US" altLang="en-US" b="1" dirty="0" err="1"/>
              <a:t>á</a:t>
            </a:r>
            <a:r>
              <a:rPr lang="en-US" altLang="zh-CN" b="1" dirty="0" err="1"/>
              <a:t>k</a:t>
            </a:r>
            <a:endParaRPr lang="en-US" altLang="zh-CN" b="1" dirty="0" err="1"/>
          </a:p>
          <a:p>
            <a:pPr algn="ctr"/>
            <a:endParaRPr lang="zh-CN" altLang="en-US" sz="1200" dirty="0">
              <a:sym typeface="+mn-ea"/>
            </a:endParaRPr>
          </a:p>
          <a:p>
            <a:pPr algn="ctr"/>
            <a:endParaRPr lang="zh-CN" altLang="en-US" sz="1200" dirty="0">
              <a:sym typeface="+mn-ea"/>
            </a:endParaRPr>
          </a:p>
        </p:txBody>
      </p:sp>
      <p:sp>
        <p:nvSpPr>
          <p:cNvPr id="8" name="椭圆 7"/>
          <p:cNvSpPr>
            <a:spLocks noGrp="1"/>
          </p:cNvSpPr>
          <p:nvPr>
            <p:custDataLst>
              <p:tags r:id="rId5"/>
            </p:custDataLst>
          </p:nvPr>
        </p:nvSpPr>
        <p:spPr>
          <a:xfrm>
            <a:off x="8338820" y="2836273"/>
            <a:ext cx="171450" cy="171450"/>
          </a:xfrm>
          <a:prstGeom prst="ellipse">
            <a:avLst/>
          </a:prstGeom>
          <a:solidFill>
            <a:srgbClr val="000000"/>
          </a:solidFill>
          <a:ln w="0">
            <a:noFill/>
            <a:prstDash val="solid"/>
          </a:ln>
        </p:spPr>
        <p:txBody>
          <a:bodyPr/>
          <a:lstStyle/>
          <a:p>
            <a:pPr algn="ctr"/>
            <a:endParaRPr lang="zh-CN" altLang="en-US"/>
          </a:p>
        </p:txBody>
      </p:sp>
      <p:sp>
        <p:nvSpPr>
          <p:cNvPr id="9" name="椭圆 8"/>
          <p:cNvSpPr>
            <a:spLocks noGrp="1"/>
          </p:cNvSpPr>
          <p:nvPr>
            <p:custDataLst>
              <p:tags r:id="rId6"/>
            </p:custDataLst>
          </p:nvPr>
        </p:nvSpPr>
        <p:spPr>
          <a:xfrm>
            <a:off x="6442710" y="2836273"/>
            <a:ext cx="171450" cy="171450"/>
          </a:xfrm>
          <a:prstGeom prst="ellipse">
            <a:avLst/>
          </a:prstGeom>
          <a:solidFill>
            <a:srgbClr val="000000"/>
          </a:solidFill>
          <a:ln w="0">
            <a:noFill/>
            <a:prstDash val="solid"/>
          </a:ln>
        </p:spPr>
        <p:txBody>
          <a:bodyPr/>
          <a:lstStyle/>
          <a:p>
            <a:pPr algn="ctr"/>
            <a:endParaRPr lang="zh-CN" altLang="en-US"/>
          </a:p>
        </p:txBody>
      </p:sp>
      <p:pic>
        <p:nvPicPr>
          <p:cNvPr id="13" name="图片 12"/>
          <p:cNvPicPr>
            <a:picLocks noChangeAspect="1"/>
          </p:cNvPicPr>
          <p:nvPr/>
        </p:nvPicPr>
        <p:blipFill>
          <a:blip r:embed="rId7"/>
          <a:stretch>
            <a:fillRect/>
          </a:stretch>
        </p:blipFill>
        <p:spPr>
          <a:xfrm>
            <a:off x="1515678" y="4577310"/>
            <a:ext cx="2260600" cy="1117600"/>
          </a:xfrm>
          <a:prstGeom prst="rect">
            <a:avLst/>
          </a:prstGeom>
        </p:spPr>
      </p:pic>
      <p:sp>
        <p:nvSpPr>
          <p:cNvPr id="15" name="文本框 14"/>
          <p:cNvSpPr txBox="1"/>
          <p:nvPr/>
        </p:nvSpPr>
        <p:spPr>
          <a:xfrm>
            <a:off x="1882073" y="5791708"/>
            <a:ext cx="1562100" cy="835660"/>
          </a:xfrm>
          <a:prstGeom prst="rect">
            <a:avLst/>
          </a:prstGeom>
          <a:noFill/>
        </p:spPr>
        <p:txBody>
          <a:bodyPr wrap="square" rtlCol="0">
            <a:noAutofit/>
          </a:bodyPr>
          <a:lstStyle/>
          <a:p>
            <a:r>
              <a:rPr lang="zh-CN" altLang="en-US" sz="1200" dirty="0"/>
              <a:t>以保留物体关键轮廓</a:t>
            </a:r>
            <a:r>
              <a:rPr lang="en-US" altLang="zh-CN" sz="1200" dirty="0"/>
              <a:t>(</a:t>
            </a:r>
            <a:r>
              <a:rPr lang="zh-CN" altLang="en-US" sz="1200" dirty="0"/>
              <a:t>最大曲率点</a:t>
            </a:r>
            <a:r>
              <a:rPr lang="en-US" altLang="zh-CN" sz="1200" dirty="0"/>
              <a:t>)</a:t>
            </a:r>
            <a:r>
              <a:rPr lang="zh-CN" altLang="en-US" sz="1200" dirty="0"/>
              <a:t>为例，说明视觉系统可通过去除统计冗余实现高效编码。</a:t>
            </a:r>
            <a:endParaRPr lang="zh-CN" altLang="en-US" sz="1200" dirty="0"/>
          </a:p>
        </p:txBody>
      </p:sp>
      <p:sp>
        <p:nvSpPr>
          <p:cNvPr id="22" name="文本框 2"/>
          <p:cNvSpPr txBox="1"/>
          <p:nvPr/>
        </p:nvSpPr>
        <p:spPr>
          <a:xfrm>
            <a:off x="1894205" y="3083836"/>
            <a:ext cx="1485900" cy="1218652"/>
          </a:xfrm>
          <a:prstGeom prst="rect">
            <a:avLst/>
          </a:prstGeom>
          <a:noFill/>
        </p:spPr>
        <p:txBody>
          <a:bodyPr wrap="square" rtlCol="0">
            <a:noAutofit/>
          </a:bodyPr>
          <a:lstStyle/>
          <a:p>
            <a:pPr algn="ctr"/>
            <a:r>
              <a:rPr lang="zh-CN" altLang="en-US" sz="1200" dirty="0"/>
              <a:t>尚未说明神经回路如何提取这些统计规律，以及如何通过学习形成相应表征</a:t>
            </a:r>
            <a:endParaRPr lang="zh-CN" altLang="en-US" sz="1200" dirty="0"/>
          </a:p>
          <a:p>
            <a:pPr algn="ctr"/>
            <a:r>
              <a:rPr lang="en-US" altLang="zh-CN" sz="1200" dirty="0"/>
              <a:t>(</a:t>
            </a:r>
            <a:r>
              <a:rPr lang="en-US" altLang="zh-CN" sz="1200" dirty="0" err="1"/>
              <a:t>Attneave</a:t>
            </a:r>
            <a:r>
              <a:rPr lang="en-US" altLang="zh-CN" sz="1200" dirty="0"/>
              <a:t>, 1954, Psychol. Rev.)</a:t>
            </a:r>
            <a:endParaRPr lang="en-US" altLang="zh-CN" sz="1200" dirty="0"/>
          </a:p>
          <a:p>
            <a:pPr algn="ctr"/>
            <a:endParaRPr lang="en-US" altLang="zh-CN" sz="1200" dirty="0"/>
          </a:p>
          <a:p>
            <a:pPr algn="ctr"/>
            <a:endParaRPr lang="en-US" altLang="zh-CN" sz="1200" dirty="0"/>
          </a:p>
          <a:p>
            <a:pPr algn="ctr"/>
            <a:endParaRPr lang="en-US" altLang="zh-CN" sz="1200" dirty="0"/>
          </a:p>
          <a:p>
            <a:pPr algn="ctr"/>
            <a:br>
              <a:rPr lang="en-US" altLang="zh-CN" dirty="0"/>
            </a:br>
            <a:endParaRPr lang="en-US" altLang="zh-CN" dirty="0"/>
          </a:p>
        </p:txBody>
      </p:sp>
      <p:sp>
        <p:nvSpPr>
          <p:cNvPr id="23" name="文本框 2"/>
          <p:cNvSpPr txBox="1"/>
          <p:nvPr/>
        </p:nvSpPr>
        <p:spPr>
          <a:xfrm>
            <a:off x="3444172" y="936671"/>
            <a:ext cx="2042227" cy="1896196"/>
          </a:xfrm>
          <a:prstGeom prst="rect">
            <a:avLst/>
          </a:prstGeom>
          <a:noFill/>
        </p:spPr>
        <p:txBody>
          <a:bodyPr wrap="square" rtlCol="0">
            <a:noAutofit/>
          </a:bodyPr>
          <a:lstStyle/>
          <a:p>
            <a:pPr algn="ctr"/>
            <a:r>
              <a:rPr lang="en-US" altLang="zh-CN" b="1" dirty="0"/>
              <a:t>1961</a:t>
            </a:r>
            <a:br>
              <a:rPr lang="en-US" altLang="zh-CN" dirty="0"/>
            </a:br>
            <a:r>
              <a:rPr lang="en-US" altLang="zh-CN" b="1" dirty="0">
                <a:sym typeface="+mn-ea"/>
              </a:rPr>
              <a:t>Barlow</a:t>
            </a:r>
            <a:endParaRPr lang="en-US" altLang="zh-CN" b="1" dirty="0">
              <a:sym typeface="+mn-ea"/>
            </a:endParaRPr>
          </a:p>
          <a:p>
            <a:pPr algn="ctr"/>
            <a:endParaRPr lang="en-US" altLang="zh-CN" dirty="0"/>
          </a:p>
          <a:p>
            <a:pPr algn="ctr"/>
            <a:r>
              <a:rPr lang="zh-CN" altLang="en-US" sz="1200" dirty="0"/>
              <a:t>基于猫</a:t>
            </a:r>
            <a:r>
              <a:rPr lang="en-US" altLang="zh-CN" sz="1200" dirty="0"/>
              <a:t>LGN</a:t>
            </a:r>
            <a:r>
              <a:rPr lang="zh-CN" altLang="en-US" sz="1200" dirty="0"/>
              <a:t>中心</a:t>
            </a:r>
            <a:r>
              <a:rPr lang="en-US" altLang="zh-CN" sz="1200" dirty="0"/>
              <a:t>-</a:t>
            </a:r>
            <a:r>
              <a:rPr lang="zh-CN" altLang="en-US" sz="1200" dirty="0"/>
              <a:t>周围感受野的电生理实验（</a:t>
            </a:r>
            <a:r>
              <a:rPr lang="en-US" sz="1200" dirty="0"/>
              <a:t>Barlow, </a:t>
            </a:r>
            <a:r>
              <a:rPr lang="en-US" sz="1200" dirty="0" err="1"/>
              <a:t>FitzHugh</a:t>
            </a:r>
            <a:r>
              <a:rPr lang="en-US" sz="1200" dirty="0"/>
              <a:t> &amp; Kuffler (1957)</a:t>
            </a:r>
            <a:r>
              <a:rPr lang="zh-CN" altLang="en-US" sz="1200" dirty="0"/>
              <a:t>），进一步提出视觉系统通过</a:t>
            </a:r>
            <a:r>
              <a:rPr lang="zh-CN" altLang="en-US" sz="1200" b="1" dirty="0">
                <a:solidFill>
                  <a:schemeClr val="accent1"/>
                </a:solidFill>
              </a:rPr>
              <a:t>减少冗余</a:t>
            </a:r>
            <a:r>
              <a:rPr lang="zh-CN" altLang="en-US" sz="1200" dirty="0"/>
              <a:t>来提高神经编码效率</a:t>
            </a:r>
            <a:endParaRPr lang="en-US" altLang="zh-CN" sz="1200" dirty="0"/>
          </a:p>
          <a:p>
            <a:pPr algn="ctr"/>
            <a:endParaRPr lang="en-US" altLang="zh-CN" sz="1200" dirty="0"/>
          </a:p>
          <a:p>
            <a:pPr algn="ctr"/>
            <a:endParaRPr lang="en-US" altLang="zh-CN" sz="1200" dirty="0"/>
          </a:p>
          <a:p>
            <a:pPr algn="ctr"/>
            <a:br>
              <a:rPr lang="en-US" altLang="zh-CN" dirty="0"/>
            </a:br>
            <a:endParaRPr lang="en-US" altLang="zh-CN" dirty="0"/>
          </a:p>
        </p:txBody>
      </p:sp>
      <p:sp>
        <p:nvSpPr>
          <p:cNvPr id="24" name="文本框 2"/>
          <p:cNvSpPr txBox="1"/>
          <p:nvPr/>
        </p:nvSpPr>
        <p:spPr>
          <a:xfrm>
            <a:off x="3592512" y="3082793"/>
            <a:ext cx="1740535" cy="1287643"/>
          </a:xfrm>
          <a:prstGeom prst="rect">
            <a:avLst/>
          </a:prstGeom>
          <a:noFill/>
        </p:spPr>
        <p:txBody>
          <a:bodyPr wrap="square" rtlCol="0">
            <a:noAutofit/>
          </a:bodyPr>
          <a:lstStyle/>
          <a:p>
            <a:pPr algn="ctr"/>
            <a:r>
              <a:rPr lang="zh-CN" altLang="en-US" sz="1200" dirty="0"/>
              <a:t>未解释这种高效编码如何通过神经回路和可塑性学习在皮层中的形成</a:t>
            </a:r>
            <a:endParaRPr lang="en-US" altLang="zh-CN" sz="1200" dirty="0"/>
          </a:p>
          <a:p>
            <a:pPr algn="ctr"/>
            <a:r>
              <a:rPr lang="en-US" altLang="zh-CN" sz="1200" dirty="0"/>
              <a:t>(Barlow, 1961,</a:t>
            </a:r>
            <a:r>
              <a:rPr lang="zh-CN" altLang="en-US" sz="1200" dirty="0"/>
              <a:t> </a:t>
            </a:r>
            <a:r>
              <a:rPr lang="en-US" altLang="zh-CN" sz="1200" dirty="0"/>
              <a:t>Sensory Communication)</a:t>
            </a:r>
            <a:endParaRPr lang="en-US" altLang="zh-CN" sz="1200" dirty="0"/>
          </a:p>
          <a:p>
            <a:pPr algn="ctr"/>
            <a:endParaRPr lang="en-US" altLang="zh-CN" sz="1200" dirty="0"/>
          </a:p>
          <a:p>
            <a:pPr algn="ctr"/>
            <a:endParaRPr lang="en-US" altLang="zh-CN" sz="1200" dirty="0"/>
          </a:p>
          <a:p>
            <a:pPr algn="ctr"/>
            <a:endParaRPr lang="en-US" altLang="zh-CN" sz="1200" dirty="0"/>
          </a:p>
          <a:p>
            <a:pPr algn="ctr"/>
            <a:br>
              <a:rPr lang="en-US" altLang="zh-CN" dirty="0"/>
            </a:br>
            <a:endParaRPr lang="en-US" altLang="zh-CN" dirty="0"/>
          </a:p>
        </p:txBody>
      </p:sp>
      <p:sp>
        <p:nvSpPr>
          <p:cNvPr id="25" name="文本框 2"/>
          <p:cNvSpPr txBox="1"/>
          <p:nvPr/>
        </p:nvSpPr>
        <p:spPr>
          <a:xfrm>
            <a:off x="5781040" y="3053393"/>
            <a:ext cx="1616375" cy="1117600"/>
          </a:xfrm>
          <a:prstGeom prst="rect">
            <a:avLst/>
          </a:prstGeom>
          <a:noFill/>
        </p:spPr>
        <p:txBody>
          <a:bodyPr wrap="square" rtlCol="0">
            <a:noAutofit/>
          </a:bodyPr>
          <a:lstStyle/>
          <a:p>
            <a:pPr algn="ctr"/>
            <a:r>
              <a:rPr lang="zh-CN" altLang="en-US" sz="1200" dirty="0"/>
              <a:t>该研究说明抑制会影响感受野的响应特征，但尚未解释抑制在感受野学习形成过程中的作用。</a:t>
            </a:r>
            <a:endParaRPr lang="zh-CN" altLang="en-US" sz="1200" dirty="0"/>
          </a:p>
          <a:p>
            <a:pPr algn="ctr"/>
            <a:r>
              <a:rPr lang="en-US" altLang="zh-CN" sz="1200" dirty="0"/>
              <a:t>(Sillito, 1975, J. Physiol.)</a:t>
            </a:r>
            <a:endParaRPr lang="en-US" altLang="zh-CN" sz="1200" dirty="0"/>
          </a:p>
        </p:txBody>
      </p:sp>
      <p:sp>
        <p:nvSpPr>
          <p:cNvPr id="26" name="文本框 2"/>
          <p:cNvSpPr txBox="1"/>
          <p:nvPr/>
        </p:nvSpPr>
        <p:spPr>
          <a:xfrm>
            <a:off x="7616190" y="3053080"/>
            <a:ext cx="1644650" cy="1117600"/>
          </a:xfrm>
          <a:prstGeom prst="rect">
            <a:avLst/>
          </a:prstGeom>
          <a:noFill/>
        </p:spPr>
        <p:txBody>
          <a:bodyPr wrap="square" rtlCol="0">
            <a:noAutofit/>
          </a:bodyPr>
          <a:lstStyle/>
          <a:p>
            <a:pPr algn="ctr"/>
            <a:r>
              <a:rPr lang="zh-CN" altLang="en-US" sz="1200" dirty="0">
                <a:sym typeface="+mn-ea"/>
              </a:rPr>
              <a:t>未解释真实皮层中的</a:t>
            </a:r>
            <a:r>
              <a:rPr lang="en-US" altLang="zh-CN" sz="1200" dirty="0">
                <a:sym typeface="+mn-ea"/>
              </a:rPr>
              <a:t>E、I</a:t>
            </a:r>
            <a:r>
              <a:rPr lang="zh-CN" altLang="en-US" sz="1200" dirty="0">
                <a:sym typeface="+mn-ea"/>
              </a:rPr>
              <a:t>神经元如何通过具体回路实现这一过程</a:t>
            </a:r>
            <a:endParaRPr lang="zh-CN" altLang="en-US" sz="1200" dirty="0">
              <a:sym typeface="+mn-ea"/>
            </a:endParaRPr>
          </a:p>
          <a:p>
            <a:pPr algn="ctr"/>
            <a:r>
              <a:rPr lang="en-US" altLang="zh-CN" sz="1200" dirty="0">
                <a:sym typeface="+mn-ea"/>
              </a:rPr>
              <a:t>(Barlow &amp; F</a:t>
            </a:r>
            <a:r>
              <a:rPr lang="en-US" altLang="en-US" sz="1200" dirty="0">
                <a:sym typeface="+mn-ea"/>
              </a:rPr>
              <a:t>ö</a:t>
            </a:r>
            <a:r>
              <a:rPr lang="en-US" altLang="zh-CN" sz="1200" dirty="0">
                <a:sym typeface="+mn-ea"/>
              </a:rPr>
              <a:t>ldi</a:t>
            </a:r>
            <a:r>
              <a:rPr lang="en-US" altLang="en-US" sz="1200" dirty="0">
                <a:sym typeface="+mn-ea"/>
              </a:rPr>
              <a:t>á</a:t>
            </a:r>
            <a:r>
              <a:rPr lang="en-US" altLang="zh-CN" sz="1200" dirty="0">
                <a:sym typeface="+mn-ea"/>
              </a:rPr>
              <a:t>k, 1989, The Computing Neuron)</a:t>
            </a:r>
            <a:endParaRPr lang="en-US" altLang="zh-CN" sz="1200" dirty="0">
              <a:sym typeface="+mn-ea"/>
            </a:endParaRPr>
          </a:p>
        </p:txBody>
      </p:sp>
      <p:sp>
        <p:nvSpPr>
          <p:cNvPr id="32" name="椭圆 7"/>
          <p:cNvSpPr>
            <a:spLocks noGrp="1"/>
          </p:cNvSpPr>
          <p:nvPr>
            <p:custDataLst>
              <p:tags r:id="rId8"/>
            </p:custDataLst>
          </p:nvPr>
        </p:nvSpPr>
        <p:spPr>
          <a:xfrm>
            <a:off x="10452101" y="2836273"/>
            <a:ext cx="171450" cy="171450"/>
          </a:xfrm>
          <a:prstGeom prst="ellipse">
            <a:avLst/>
          </a:prstGeom>
          <a:solidFill>
            <a:srgbClr val="000000"/>
          </a:solidFill>
          <a:ln w="0">
            <a:noFill/>
            <a:prstDash val="solid"/>
          </a:ln>
        </p:spPr>
        <p:txBody>
          <a:bodyPr/>
          <a:lstStyle/>
          <a:p>
            <a:pPr algn="ctr"/>
            <a:endParaRPr lang="zh-CN" altLang="en-US"/>
          </a:p>
        </p:txBody>
      </p:sp>
      <p:sp>
        <p:nvSpPr>
          <p:cNvPr id="34" name="文本框 1"/>
          <p:cNvSpPr txBox="1"/>
          <p:nvPr/>
        </p:nvSpPr>
        <p:spPr>
          <a:xfrm>
            <a:off x="5372853" y="722462"/>
            <a:ext cx="2085422" cy="699396"/>
          </a:xfrm>
          <a:prstGeom prst="rect">
            <a:avLst/>
          </a:prstGeom>
          <a:noFill/>
        </p:spPr>
        <p:txBody>
          <a:bodyPr wrap="square" rtlCol="0">
            <a:noAutofit/>
          </a:bodyPr>
          <a:lstStyle/>
          <a:p>
            <a:pPr algn="ctr"/>
            <a:r>
              <a:rPr lang="en-US" altLang="zh-CN" b="1" dirty="0"/>
              <a:t>1975</a:t>
            </a:r>
            <a:br>
              <a:rPr lang="en-US" altLang="zh-CN" dirty="0"/>
            </a:br>
            <a:r>
              <a:rPr lang="en-US" altLang="zh-CN" b="1" dirty="0" err="1"/>
              <a:t>Sillito</a:t>
            </a:r>
            <a:br>
              <a:rPr lang="en-US" altLang="zh-CN" dirty="0"/>
            </a:br>
            <a:endParaRPr lang="en-US" altLang="zh-CN" dirty="0"/>
          </a:p>
        </p:txBody>
      </p:sp>
      <p:pic>
        <p:nvPicPr>
          <p:cNvPr id="27" name="图片 26" descr="03_1975_Sillito_Fig3ab_抑制阻断与朝向调谐"/>
          <p:cNvPicPr>
            <a:picLocks noChangeAspect="1"/>
          </p:cNvPicPr>
          <p:nvPr/>
        </p:nvPicPr>
        <p:blipFill>
          <a:blip r:embed="rId9"/>
          <a:stretch>
            <a:fillRect/>
          </a:stretch>
        </p:blipFill>
        <p:spPr>
          <a:xfrm>
            <a:off x="4107815" y="4215765"/>
            <a:ext cx="2626360" cy="1583690"/>
          </a:xfrm>
          <a:prstGeom prst="rect">
            <a:avLst/>
          </a:prstGeom>
        </p:spPr>
      </p:pic>
      <p:sp>
        <p:nvSpPr>
          <p:cNvPr id="29" name="文本框 28"/>
          <p:cNvSpPr txBox="1"/>
          <p:nvPr/>
        </p:nvSpPr>
        <p:spPr>
          <a:xfrm>
            <a:off x="3444240" y="5740400"/>
            <a:ext cx="3952875" cy="1106805"/>
          </a:xfrm>
          <a:prstGeom prst="rect">
            <a:avLst/>
          </a:prstGeom>
          <a:noFill/>
        </p:spPr>
        <p:txBody>
          <a:bodyPr wrap="square" rtlCol="0">
            <a:spAutoFit/>
          </a:bodyPr>
          <a:p>
            <a:pPr algn="ctr"/>
            <a:r>
              <a:rPr lang="zh-CN" altLang="en-US" sz="1100"/>
              <a:t>图</a:t>
            </a:r>
            <a:r>
              <a:rPr lang="en-US" altLang="zh-CN" sz="1100"/>
              <a:t>a、b</a:t>
            </a:r>
            <a:r>
              <a:rPr lang="zh-CN" altLang="en-US" sz="1100"/>
              <a:t>展示两个猫</a:t>
            </a:r>
            <a:r>
              <a:rPr lang="en-US" altLang="zh-CN" sz="1100"/>
              <a:t>V1</a:t>
            </a:r>
            <a:r>
              <a:rPr lang="zh-CN" altLang="en-US" sz="1100"/>
              <a:t>简单细胞在正常状态（实线空心点）和阻断抑制后（虚线实心点）的朝向调谐曲线。</a:t>
            </a:r>
            <a:endParaRPr lang="zh-CN" altLang="en-US" sz="1100"/>
          </a:p>
          <a:p>
            <a:pPr algn="ctr"/>
            <a:r>
              <a:rPr lang="zh-CN" altLang="en-US" sz="1100"/>
              <a:t>阻断后，</a:t>
            </a:r>
            <a:r>
              <a:rPr lang="en-US" altLang="zh-CN" sz="1100"/>
              <a:t>a</a:t>
            </a:r>
            <a:r>
              <a:rPr lang="zh-CN" altLang="en-US" sz="1100"/>
              <a:t>的最佳朝向响应基本不变，但非最佳朝向响应增强，调谐曲线明显变宽；</a:t>
            </a:r>
            <a:r>
              <a:rPr lang="en-US" altLang="zh-CN" sz="1100"/>
              <a:t>b</a:t>
            </a:r>
            <a:r>
              <a:rPr lang="zh-CN" altLang="en-US" sz="1100"/>
              <a:t>的响应则整体增强，并伴随调谐变宽。</a:t>
            </a:r>
            <a:endParaRPr lang="zh-CN" altLang="en-US" sz="1100"/>
          </a:p>
          <a:p>
            <a:pPr algn="ctr"/>
            <a:r>
              <a:rPr lang="zh-CN" altLang="en-US" sz="1100"/>
              <a:t>这些结果表明，抑制性</a:t>
            </a:r>
            <a:r>
              <a:rPr lang="zh-CN" altLang="en-US" sz="1100"/>
              <a:t>神经元既能限制放电强度，也有助于维持朝向选择性。</a:t>
            </a:r>
            <a:endParaRPr lang="zh-CN" altLang="en-US" sz="1100"/>
          </a:p>
        </p:txBody>
      </p:sp>
      <p:sp>
        <p:nvSpPr>
          <p:cNvPr id="30" name="文本框 29"/>
          <p:cNvSpPr txBox="1"/>
          <p:nvPr/>
        </p:nvSpPr>
        <p:spPr>
          <a:xfrm>
            <a:off x="7475855" y="1343025"/>
            <a:ext cx="2065655" cy="1568450"/>
          </a:xfrm>
          <a:prstGeom prst="rect">
            <a:avLst/>
          </a:prstGeom>
          <a:noFill/>
        </p:spPr>
        <p:txBody>
          <a:bodyPr wrap="square" rtlCol="0">
            <a:spAutoFit/>
          </a:bodyPr>
          <a:p>
            <a:pPr algn="ctr"/>
            <a:r>
              <a:rPr lang="zh-CN" altLang="en-US" sz="1200" dirty="0"/>
              <a:t>提出局部反</a:t>
            </a:r>
            <a:r>
              <a:rPr lang="en-US" altLang="zh-CN" sz="1200" dirty="0"/>
              <a:t>Hebb</a:t>
            </a:r>
            <a:r>
              <a:rPr lang="zh-CN" altLang="en-US" sz="1200" dirty="0"/>
              <a:t>学习机制：当两个神经元的输出呈现正相关时，则逐渐增强它们之间的抑制</a:t>
            </a:r>
            <a:r>
              <a:rPr lang="zh-CN" altLang="en-US" sz="1200" dirty="0"/>
              <a:t>连接，从而降低群体响应相关性。</a:t>
            </a:r>
            <a:endParaRPr lang="zh-CN" altLang="en-US" sz="1200" dirty="0"/>
          </a:p>
          <a:p>
            <a:pPr algn="ctr">
              <a:buClrTx/>
              <a:buSzTx/>
              <a:buFontTx/>
            </a:pPr>
            <a:r>
              <a:rPr lang="zh-CN" altLang="en-US" sz="1200" dirty="0"/>
              <a:t>首次提出了神经元之间的响应冗余如何</a:t>
            </a:r>
            <a:r>
              <a:rPr lang="zh-CN" altLang="en-US" sz="1200" b="1" dirty="0">
                <a:solidFill>
                  <a:schemeClr val="accent1"/>
                </a:solidFill>
              </a:rPr>
              <a:t>通过可塑性</a:t>
            </a:r>
            <a:r>
              <a:rPr lang="zh-CN" altLang="en-US" sz="1200" b="1" dirty="0">
                <a:solidFill>
                  <a:schemeClr val="accent1"/>
                </a:solidFill>
              </a:rPr>
              <a:t>规则减少</a:t>
            </a:r>
            <a:endParaRPr lang="zh-CN" altLang="en-US" sz="1200" b="1" dirty="0">
              <a:solidFill>
                <a:schemeClr val="accent1"/>
              </a:solidFill>
            </a:endParaRPr>
          </a:p>
        </p:txBody>
      </p:sp>
      <p:sp>
        <p:nvSpPr>
          <p:cNvPr id="36" name="文本框 1"/>
          <p:cNvSpPr txBox="1"/>
          <p:nvPr/>
        </p:nvSpPr>
        <p:spPr>
          <a:xfrm>
            <a:off x="9559290" y="762000"/>
            <a:ext cx="1969770" cy="699135"/>
          </a:xfrm>
          <a:prstGeom prst="rect">
            <a:avLst/>
          </a:prstGeom>
          <a:noFill/>
        </p:spPr>
        <p:txBody>
          <a:bodyPr wrap="square" rtlCol="0">
            <a:noAutofit/>
          </a:bodyPr>
          <a:lstStyle/>
          <a:p>
            <a:pPr algn="ctr"/>
            <a:r>
              <a:rPr lang="en-US" altLang="zh-CN" b="1" dirty="0"/>
              <a:t>1996</a:t>
            </a:r>
            <a:br>
              <a:rPr lang="en-US" altLang="zh-CN" dirty="0"/>
            </a:br>
            <a:r>
              <a:rPr lang="en-US" altLang="zh-CN" b="1" dirty="0" err="1"/>
              <a:t>Olshausen</a:t>
            </a:r>
            <a:r>
              <a:rPr lang="en-US" altLang="zh-CN" b="1" dirty="0"/>
              <a:t> </a:t>
            </a:r>
            <a:endParaRPr lang="en-US" altLang="zh-CN" b="1" dirty="0"/>
          </a:p>
          <a:p>
            <a:pPr algn="ctr"/>
            <a:r>
              <a:rPr lang="en-US" altLang="zh-CN" b="1" dirty="0"/>
              <a:t>&amp; Field</a:t>
            </a:r>
            <a:br>
              <a:rPr lang="en-US" altLang="zh-CN" dirty="0"/>
            </a:br>
            <a:endParaRPr lang="en-US" altLang="zh-CN" dirty="0"/>
          </a:p>
        </p:txBody>
      </p:sp>
      <p:sp>
        <p:nvSpPr>
          <p:cNvPr id="37" name="文本框 36"/>
          <p:cNvSpPr txBox="1"/>
          <p:nvPr/>
        </p:nvSpPr>
        <p:spPr>
          <a:xfrm>
            <a:off x="9721850" y="1705982"/>
            <a:ext cx="1577658" cy="1088150"/>
          </a:xfrm>
          <a:prstGeom prst="rect">
            <a:avLst/>
          </a:prstGeom>
          <a:noFill/>
        </p:spPr>
        <p:txBody>
          <a:bodyPr wrap="square" rtlCol="0">
            <a:noAutofit/>
          </a:bodyPr>
          <a:lstStyle/>
          <a:p>
            <a:pPr algn="ctr"/>
            <a:r>
              <a:rPr lang="zh-CN" altLang="en-US" sz="1200" dirty="0">
                <a:sym typeface="+mn-ea"/>
              </a:rPr>
              <a:t>对自然图像进行稀疏编码约束，可自发产生具有带通特性的</a:t>
            </a:r>
            <a:endParaRPr lang="zh-CN" altLang="en-US" sz="1200" dirty="0">
              <a:sym typeface="+mn-ea"/>
            </a:endParaRPr>
          </a:p>
          <a:p>
            <a:pPr algn="ctr"/>
            <a:r>
              <a:rPr lang="zh-CN" altLang="en-US" sz="1200" b="1" dirty="0">
                <a:solidFill>
                  <a:schemeClr val="accent1"/>
                </a:solidFill>
                <a:sym typeface="+mn-ea"/>
              </a:rPr>
              <a:t>朝向选择</a:t>
            </a:r>
            <a:r>
              <a:rPr lang="zh-CN" altLang="en-US" sz="1200" dirty="0">
                <a:sym typeface="+mn-ea"/>
              </a:rPr>
              <a:t>的V1 Gabor型感受野</a:t>
            </a:r>
            <a:endParaRPr lang="zh-CN" altLang="en-US" sz="1200" dirty="0">
              <a:sym typeface="+mn-ea"/>
            </a:endParaRPr>
          </a:p>
          <a:p>
            <a:pPr algn="ctr"/>
            <a:endParaRPr lang="zh-CN" altLang="en-US" sz="1200" dirty="0">
              <a:sym typeface="+mn-ea"/>
            </a:endParaRPr>
          </a:p>
          <a:p>
            <a:pPr algn="ctr"/>
            <a:endParaRPr lang="zh-CN" altLang="en-US" sz="1200" dirty="0">
              <a:sym typeface="+mn-ea"/>
            </a:endParaRPr>
          </a:p>
          <a:p>
            <a:pPr algn="ctr"/>
            <a:br>
              <a:rPr lang="en-US" altLang="zh-CN" dirty="0"/>
            </a:br>
            <a:endParaRPr lang="en-US" altLang="zh-CN" dirty="0"/>
          </a:p>
        </p:txBody>
      </p:sp>
      <p:sp>
        <p:nvSpPr>
          <p:cNvPr id="38" name="文本框 2"/>
          <p:cNvSpPr txBox="1"/>
          <p:nvPr/>
        </p:nvSpPr>
        <p:spPr>
          <a:xfrm>
            <a:off x="9721850" y="3103558"/>
            <a:ext cx="1616375" cy="1117600"/>
          </a:xfrm>
          <a:prstGeom prst="rect">
            <a:avLst/>
          </a:prstGeom>
          <a:noFill/>
        </p:spPr>
        <p:txBody>
          <a:bodyPr wrap="square" rtlCol="0">
            <a:noAutofit/>
          </a:bodyPr>
          <a:lstStyle/>
          <a:p>
            <a:pPr algn="ctr"/>
            <a:r>
              <a:rPr lang="zh-CN" altLang="en-US" sz="1200" dirty="0"/>
              <a:t>模型主要在优化层面实现，尚未明确如何由真实神</a:t>
            </a:r>
            <a:r>
              <a:rPr lang="ja-JP" altLang="en-US" sz="1200"/>
              <a:t>经</a:t>
            </a:r>
            <a:r>
              <a:rPr lang="zh-CN" altLang="en-US" sz="1200" dirty="0"/>
              <a:t>元、可塑性和</a:t>
            </a:r>
            <a:r>
              <a:rPr lang="en-US" altLang="zh-CN" sz="1200" dirty="0"/>
              <a:t>E/I</a:t>
            </a:r>
            <a:r>
              <a:rPr lang="zh-CN" altLang="en-US" sz="1200" dirty="0"/>
              <a:t>回路实现</a:t>
            </a:r>
            <a:endParaRPr lang="ja-JP" altLang="en-US" sz="1200"/>
          </a:p>
          <a:p>
            <a:pPr algn="ctr"/>
            <a:r>
              <a:rPr lang="en-US" altLang="ja-JP" sz="1200" dirty="0"/>
              <a:t>(</a:t>
            </a:r>
            <a:r>
              <a:rPr lang="en-US" altLang="zh-CN" sz="1200" dirty="0" err="1"/>
              <a:t>Olshausen</a:t>
            </a:r>
            <a:r>
              <a:rPr lang="en-US" altLang="zh-CN" sz="1200" dirty="0"/>
              <a:t> &amp; Field, 1996, Nature)</a:t>
            </a:r>
            <a:endParaRPr lang="en-US" altLang="zh-CN" sz="1200" dirty="0"/>
          </a:p>
        </p:txBody>
      </p:sp>
      <p:pic>
        <p:nvPicPr>
          <p:cNvPr id="39" name="图片 38"/>
          <p:cNvPicPr/>
          <p:nvPr/>
        </p:nvPicPr>
        <p:blipFill>
          <a:blip r:embed="rId10"/>
          <a:srcRect l="4934" t="2083"/>
          <a:stretch>
            <a:fillRect/>
          </a:stretch>
        </p:blipFill>
        <p:spPr>
          <a:xfrm>
            <a:off x="9788776" y="4259532"/>
            <a:ext cx="1740535" cy="1610360"/>
          </a:xfrm>
          <a:prstGeom prst="rect">
            <a:avLst/>
          </a:prstGeom>
        </p:spPr>
      </p:pic>
      <p:sp>
        <p:nvSpPr>
          <p:cNvPr id="40" name="文本框 39"/>
          <p:cNvSpPr txBox="1"/>
          <p:nvPr/>
        </p:nvSpPr>
        <p:spPr>
          <a:xfrm>
            <a:off x="9721533" y="6015220"/>
            <a:ext cx="2052320" cy="587375"/>
          </a:xfrm>
          <a:prstGeom prst="rect">
            <a:avLst/>
          </a:prstGeom>
        </p:spPr>
        <p:txBody>
          <a:bodyPr>
            <a:noAutofit/>
          </a:bodyPr>
          <a:lstStyle/>
          <a:p>
            <a:r>
              <a:rPr lang="zh-CN" altLang="en-US" sz="1200" dirty="0"/>
              <a:t>自然图像的稀疏编码能够自发学习出类似</a:t>
            </a:r>
            <a:r>
              <a:rPr lang="en-US" altLang="zh-CN" sz="1200" dirty="0"/>
              <a:t>V1</a:t>
            </a:r>
            <a:r>
              <a:rPr lang="zh-CN" altLang="en-US" sz="1200" dirty="0"/>
              <a:t>简单细胞的局部方向选择性感受野。</a:t>
            </a:r>
            <a:endParaRPr lang="zh-CN" altLang="en-US" sz="1200" dirty="0"/>
          </a:p>
        </p:txBody>
      </p:sp>
      <p:pic>
        <p:nvPicPr>
          <p:cNvPr id="41" name="图片 40"/>
          <p:cNvPicPr>
            <a:picLocks noChangeAspect="1"/>
          </p:cNvPicPr>
          <p:nvPr/>
        </p:nvPicPr>
        <p:blipFill>
          <a:blip r:embed="rId11"/>
          <a:stretch>
            <a:fillRect/>
          </a:stretch>
        </p:blipFill>
        <p:spPr>
          <a:xfrm>
            <a:off x="7065645" y="4210685"/>
            <a:ext cx="2565400" cy="1489710"/>
          </a:xfrm>
          <a:prstGeom prst="rect">
            <a:avLst/>
          </a:prstGeom>
        </p:spPr>
      </p:pic>
      <p:sp>
        <p:nvSpPr>
          <p:cNvPr id="42" name="文本框 41"/>
          <p:cNvSpPr txBox="1"/>
          <p:nvPr/>
        </p:nvSpPr>
        <p:spPr>
          <a:xfrm>
            <a:off x="7356475" y="5740400"/>
            <a:ext cx="2224405" cy="1014730"/>
          </a:xfrm>
          <a:prstGeom prst="rect">
            <a:avLst/>
          </a:prstGeom>
        </p:spPr>
        <p:txBody>
          <a:bodyPr wrap="square">
            <a:spAutoFit/>
          </a:bodyPr>
          <a:p>
            <a:pPr algn="ctr"/>
            <a:r>
              <a:rPr lang="zh-CN" altLang="en-US" sz="1000"/>
              <a:t>在相同相关</a:t>
            </a:r>
            <a:r>
              <a:rPr lang="zh-CN" altLang="en-US" sz="1000"/>
              <a:t>的输入下，训练前（</a:t>
            </a:r>
            <a:r>
              <a:rPr lang="en-US" altLang="zh-CN" sz="1000"/>
              <a:t>A</a:t>
            </a:r>
            <a:r>
              <a:rPr lang="zh-CN" altLang="en-US" sz="1000"/>
              <a:t>）两个表征单元的输出高度正相关，散点沿斜向集中。训练后（</a:t>
            </a:r>
            <a:r>
              <a:rPr lang="en-US" altLang="zh-CN" sz="1000"/>
              <a:t>B</a:t>
            </a:r>
            <a:r>
              <a:rPr lang="zh-CN" altLang="en-US" sz="1000"/>
              <a:t>），输出散点更加分散，说明网络通过学习调整反馈连接，在不改变输入的情况下实现了输出去相关。</a:t>
            </a:r>
            <a:endParaRPr lang="zh-CN" altLang="en-US" sz="1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p:nvPr/>
        </p:nvPicPr>
        <p:blipFill>
          <a:blip r:embed="rId1"/>
          <a:stretch>
            <a:fillRect/>
          </a:stretch>
        </p:blipFill>
        <p:spPr>
          <a:xfrm>
            <a:off x="10922000" y="0"/>
            <a:ext cx="1270000" cy="1270000"/>
          </a:xfrm>
          <a:prstGeom prst="rect">
            <a:avLst/>
          </a:prstGeom>
        </p:spPr>
      </p:pic>
      <p:sp>
        <p:nvSpPr>
          <p:cNvPr id="16" name="标题 1"/>
          <p:cNvSpPr txBox="1"/>
          <p:nvPr/>
        </p:nvSpPr>
        <p:spPr>
          <a:xfrm>
            <a:off x="186690" y="225425"/>
            <a:ext cx="6703060" cy="46609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2400" b="1" dirty="0">
                <a:latin typeface="微软雅黑" panose="020B0503020204020204" charset="-122"/>
                <a:ea typeface="微软雅黑" panose="020B0503020204020204" charset="-122"/>
                <a:cs typeface="Arial" panose="020B0604020202020204" pitchFamily="34" charset="0"/>
              </a:rPr>
              <a:t>从高效编码假说到可实现的</a:t>
            </a:r>
            <a:r>
              <a:rPr lang="en-US" altLang="zh-CN" sz="2400" b="1" dirty="0">
                <a:latin typeface="微软雅黑" panose="020B0503020204020204" charset="-122"/>
                <a:ea typeface="微软雅黑" panose="020B0503020204020204" charset="-122"/>
                <a:cs typeface="Arial" panose="020B0604020202020204" pitchFamily="34" charset="0"/>
              </a:rPr>
              <a:t>V1</a:t>
            </a:r>
            <a:r>
              <a:rPr lang="zh-CN" altLang="en-US" sz="2400" b="1" dirty="0">
                <a:latin typeface="微软雅黑" panose="020B0503020204020204" charset="-122"/>
                <a:ea typeface="微软雅黑" panose="020B0503020204020204" charset="-122"/>
                <a:cs typeface="Arial" panose="020B0604020202020204" pitchFamily="34" charset="0"/>
              </a:rPr>
              <a:t>网络模型发展脉络</a:t>
            </a:r>
            <a:endParaRPr lang="zh-CN" altLang="en-US" sz="2400" b="1" dirty="0">
              <a:latin typeface="微软雅黑" panose="020B0503020204020204" charset="-122"/>
              <a:ea typeface="微软雅黑" panose="020B0503020204020204" charset="-122"/>
              <a:cs typeface="Arial" panose="020B0604020202020204" pitchFamily="34" charset="0"/>
            </a:endParaRPr>
          </a:p>
        </p:txBody>
      </p:sp>
      <p:cxnSp>
        <p:nvCxnSpPr>
          <p:cNvPr id="28" name="直接箭头连接符 27"/>
          <p:cNvCxnSpPr/>
          <p:nvPr>
            <p:custDataLst>
              <p:tags r:id="rId2"/>
            </p:custDataLst>
          </p:nvPr>
        </p:nvCxnSpPr>
        <p:spPr>
          <a:xfrm flipV="1">
            <a:off x="1330325" y="2911343"/>
            <a:ext cx="9232050" cy="27002"/>
          </a:xfrm>
          <a:prstGeom prst="straightConnector1">
            <a:avLst/>
          </a:prstGeom>
          <a:ln w="19050">
            <a:solidFill>
              <a:srgbClr val="000000"/>
            </a:solidFill>
            <a:prstDash val="solid"/>
          </a:ln>
        </p:spPr>
      </p:cxnSp>
      <p:sp>
        <p:nvSpPr>
          <p:cNvPr id="11" name="椭圆 10"/>
          <p:cNvSpPr>
            <a:spLocks noGrp="1"/>
          </p:cNvSpPr>
          <p:nvPr>
            <p:custDataLst>
              <p:tags r:id="rId3"/>
            </p:custDataLst>
          </p:nvPr>
        </p:nvSpPr>
        <p:spPr>
          <a:xfrm>
            <a:off x="2565400" y="2836273"/>
            <a:ext cx="171450" cy="171450"/>
          </a:xfrm>
          <a:prstGeom prst="ellipse">
            <a:avLst/>
          </a:prstGeom>
          <a:solidFill>
            <a:srgbClr val="000000"/>
          </a:solidFill>
          <a:ln w="0">
            <a:noFill/>
            <a:prstDash val="solid"/>
          </a:ln>
        </p:spPr>
        <p:txBody>
          <a:bodyPr/>
          <a:lstStyle/>
          <a:p>
            <a:endParaRPr lang="en-US"/>
          </a:p>
        </p:txBody>
      </p:sp>
      <p:sp>
        <p:nvSpPr>
          <p:cNvPr id="10" name="椭圆 9"/>
          <p:cNvSpPr>
            <a:spLocks noGrp="1"/>
          </p:cNvSpPr>
          <p:nvPr>
            <p:custDataLst>
              <p:tags r:id="rId4"/>
            </p:custDataLst>
          </p:nvPr>
        </p:nvSpPr>
        <p:spPr>
          <a:xfrm>
            <a:off x="4758690" y="2841988"/>
            <a:ext cx="171450" cy="171450"/>
          </a:xfrm>
          <a:prstGeom prst="ellipse">
            <a:avLst/>
          </a:prstGeom>
          <a:solidFill>
            <a:srgbClr val="000000"/>
          </a:solidFill>
          <a:ln w="0">
            <a:noFill/>
            <a:prstDash val="solid"/>
          </a:ln>
        </p:spPr>
        <p:txBody>
          <a:bodyPr/>
          <a:lstStyle/>
          <a:p>
            <a:endParaRPr lang="en-US"/>
          </a:p>
        </p:txBody>
      </p:sp>
      <p:sp>
        <p:nvSpPr>
          <p:cNvPr id="5" name="文本框 4"/>
          <p:cNvSpPr txBox="1"/>
          <p:nvPr/>
        </p:nvSpPr>
        <p:spPr>
          <a:xfrm>
            <a:off x="104775" y="2297841"/>
            <a:ext cx="1225550" cy="483235"/>
          </a:xfrm>
          <a:prstGeom prst="rect">
            <a:avLst/>
          </a:prstGeom>
          <a:noFill/>
        </p:spPr>
        <p:txBody>
          <a:bodyPr wrap="square" rtlCol="0">
            <a:noAutofit/>
          </a:bodyPr>
          <a:lstStyle/>
          <a:p>
            <a:r>
              <a:rPr lang="zh-CN" altLang="en-US" b="1">
                <a:solidFill>
                  <a:srgbClr val="FF0000"/>
                </a:solidFill>
              </a:rPr>
              <a:t>主要贡献</a:t>
            </a:r>
            <a:endParaRPr lang="zh-CN" altLang="en-US" b="1">
              <a:solidFill>
                <a:srgbClr val="FF0000"/>
              </a:solidFill>
            </a:endParaRPr>
          </a:p>
        </p:txBody>
      </p:sp>
      <p:sp>
        <p:nvSpPr>
          <p:cNvPr id="6" name="文本框 5"/>
          <p:cNvSpPr txBox="1"/>
          <p:nvPr/>
        </p:nvSpPr>
        <p:spPr>
          <a:xfrm>
            <a:off x="104775" y="3250976"/>
            <a:ext cx="1225550" cy="483235"/>
          </a:xfrm>
          <a:prstGeom prst="rect">
            <a:avLst/>
          </a:prstGeom>
          <a:noFill/>
        </p:spPr>
        <p:txBody>
          <a:bodyPr wrap="square" rtlCol="0">
            <a:noAutofit/>
          </a:bodyPr>
          <a:lstStyle/>
          <a:p>
            <a:r>
              <a:rPr lang="zh-CN" altLang="en-US" b="1" dirty="0">
                <a:solidFill>
                  <a:srgbClr val="FF0000"/>
                </a:solidFill>
              </a:rPr>
              <a:t>遗留问题</a:t>
            </a:r>
            <a:endParaRPr lang="zh-CN" altLang="en-US" b="1" dirty="0">
              <a:solidFill>
                <a:srgbClr val="FF0000"/>
              </a:solidFill>
            </a:endParaRPr>
          </a:p>
        </p:txBody>
      </p:sp>
      <p:sp>
        <p:nvSpPr>
          <p:cNvPr id="7" name="文本框 6"/>
          <p:cNvSpPr txBox="1"/>
          <p:nvPr/>
        </p:nvSpPr>
        <p:spPr>
          <a:xfrm>
            <a:off x="1780589" y="953341"/>
            <a:ext cx="1741071" cy="1843169"/>
          </a:xfrm>
          <a:prstGeom prst="rect">
            <a:avLst/>
          </a:prstGeom>
          <a:noFill/>
        </p:spPr>
        <p:txBody>
          <a:bodyPr wrap="square" rtlCol="0">
            <a:noAutofit/>
          </a:bodyPr>
          <a:lstStyle/>
          <a:p>
            <a:pPr algn="ctr"/>
            <a:r>
              <a:rPr lang="en-US" altLang="zh-CN" b="1" dirty="0"/>
              <a:t>1996</a:t>
            </a:r>
            <a:br>
              <a:rPr lang="en-US" altLang="zh-CN" dirty="0"/>
            </a:br>
            <a:r>
              <a:rPr lang="en-US" altLang="zh-CN" b="1" dirty="0" err="1"/>
              <a:t>Vreeswijk</a:t>
            </a:r>
            <a:r>
              <a:rPr lang="en-US" altLang="zh-CN" b="1" dirty="0"/>
              <a:t> &amp; </a:t>
            </a:r>
            <a:r>
              <a:rPr lang="en-US" altLang="zh-CN" b="1" dirty="0" err="1"/>
              <a:t>Sompolinsky</a:t>
            </a:r>
            <a:endParaRPr lang="en-US" altLang="zh-CN" b="1" dirty="0"/>
          </a:p>
          <a:p>
            <a:pPr algn="ctr">
              <a:buClrTx/>
              <a:buSzTx/>
              <a:buFontTx/>
            </a:pPr>
            <a:r>
              <a:rPr lang="zh-CN" altLang="en-US" sz="1200" dirty="0"/>
              <a:t>提出神经元在强兴奋抑制输入时的</a:t>
            </a:r>
            <a:r>
              <a:rPr lang="zh-CN" altLang="en-US" sz="1200" b="1" dirty="0">
                <a:solidFill>
                  <a:schemeClr val="accent1"/>
                </a:solidFill>
              </a:rPr>
              <a:t>动态平衡机制</a:t>
            </a:r>
            <a:r>
              <a:rPr lang="zh-CN" altLang="en-US" sz="1200" dirty="0"/>
              <a:t>，使得强耦合网络可维持稳定、非同步的、不规则的网络活动</a:t>
            </a:r>
            <a:endParaRPr lang="zh-CN" altLang="en-US" sz="1200" dirty="0"/>
          </a:p>
          <a:p>
            <a:pPr algn="ctr"/>
            <a:endParaRPr lang="zh-CN" altLang="en-US" sz="1200" dirty="0">
              <a:sym typeface="+mn-ea"/>
            </a:endParaRPr>
          </a:p>
          <a:p>
            <a:pPr algn="ctr"/>
            <a:endParaRPr lang="zh-CN" altLang="en-US" sz="1200" dirty="0">
              <a:sym typeface="+mn-ea"/>
            </a:endParaRPr>
          </a:p>
        </p:txBody>
      </p:sp>
      <p:sp>
        <p:nvSpPr>
          <p:cNvPr id="9" name="椭圆 8"/>
          <p:cNvSpPr>
            <a:spLocks noGrp="1"/>
          </p:cNvSpPr>
          <p:nvPr>
            <p:custDataLst>
              <p:tags r:id="rId5"/>
            </p:custDataLst>
          </p:nvPr>
        </p:nvSpPr>
        <p:spPr>
          <a:xfrm>
            <a:off x="7057390" y="2862943"/>
            <a:ext cx="171450" cy="171450"/>
          </a:xfrm>
          <a:prstGeom prst="ellipse">
            <a:avLst/>
          </a:prstGeom>
          <a:solidFill>
            <a:srgbClr val="000000"/>
          </a:solidFill>
          <a:ln w="0">
            <a:noFill/>
            <a:prstDash val="solid"/>
          </a:ln>
        </p:spPr>
        <p:txBody>
          <a:bodyPr/>
          <a:lstStyle/>
          <a:p>
            <a:pPr algn="ctr"/>
            <a:endParaRPr lang="zh-CN" altLang="en-US"/>
          </a:p>
        </p:txBody>
      </p:sp>
      <p:sp>
        <p:nvSpPr>
          <p:cNvPr id="12" name="文本框 11"/>
          <p:cNvSpPr txBox="1"/>
          <p:nvPr/>
        </p:nvSpPr>
        <p:spPr>
          <a:xfrm>
            <a:off x="4151630" y="840247"/>
            <a:ext cx="1556385" cy="2001432"/>
          </a:xfrm>
          <a:prstGeom prst="rect">
            <a:avLst/>
          </a:prstGeom>
          <a:noFill/>
        </p:spPr>
        <p:txBody>
          <a:bodyPr wrap="square" rtlCol="0">
            <a:noAutofit/>
          </a:bodyPr>
          <a:lstStyle/>
          <a:p>
            <a:pPr algn="ctr"/>
            <a:r>
              <a:rPr lang="en-US" altLang="zh-CN" b="1" dirty="0"/>
              <a:t>2000</a:t>
            </a:r>
            <a:br>
              <a:rPr lang="en-US" altLang="zh-CN" b="1" dirty="0"/>
            </a:br>
            <a:r>
              <a:rPr lang="en-US" altLang="zh-CN" b="1" dirty="0"/>
              <a:t>Vinje &amp; Gallant</a:t>
            </a:r>
            <a:endParaRPr lang="en-US" altLang="zh-CN" b="1" dirty="0"/>
          </a:p>
          <a:p>
            <a:pPr algn="ctr">
              <a:buClrTx/>
              <a:buSzTx/>
              <a:buFontTx/>
            </a:pPr>
            <a:r>
              <a:rPr lang="zh-CN" altLang="en-US" sz="1200" dirty="0"/>
              <a:t>在清醒猕猴V1中观察到神经元</a:t>
            </a:r>
            <a:r>
              <a:rPr lang="zh-CN" altLang="en-US" sz="1200" b="1" dirty="0">
                <a:solidFill>
                  <a:schemeClr val="accent1"/>
                </a:solidFill>
              </a:rPr>
              <a:t>响应更稀疏</a:t>
            </a:r>
            <a:r>
              <a:rPr lang="zh-CN" altLang="en-US" sz="1200" dirty="0"/>
              <a:t>和</a:t>
            </a:r>
            <a:r>
              <a:rPr lang="zh-CN" altLang="en-US" sz="1200" b="1" dirty="0">
                <a:solidFill>
                  <a:schemeClr val="accent1"/>
                </a:solidFill>
              </a:rPr>
              <a:t>放电相关性降低</a:t>
            </a:r>
            <a:r>
              <a:rPr lang="zh-CN" altLang="en-US" sz="1200" dirty="0"/>
              <a:t>等特性，为高效编码提供生理学证据。</a:t>
            </a:r>
            <a:br>
              <a:rPr lang="en-US" altLang="zh-CN" dirty="0"/>
            </a:br>
            <a:endParaRPr lang="en-US" altLang="zh-CN" dirty="0"/>
          </a:p>
        </p:txBody>
      </p:sp>
      <p:pic>
        <p:nvPicPr>
          <p:cNvPr id="17" name="图片 16"/>
          <p:cNvPicPr>
            <a:picLocks noChangeAspect="1"/>
          </p:cNvPicPr>
          <p:nvPr/>
        </p:nvPicPr>
        <p:blipFill>
          <a:blip r:embed="rId6"/>
          <a:stretch>
            <a:fillRect/>
          </a:stretch>
        </p:blipFill>
        <p:spPr>
          <a:xfrm>
            <a:off x="1650852" y="4019133"/>
            <a:ext cx="2000250" cy="1619250"/>
          </a:xfrm>
          <a:prstGeom prst="rect">
            <a:avLst/>
          </a:prstGeom>
        </p:spPr>
      </p:pic>
      <p:pic>
        <p:nvPicPr>
          <p:cNvPr id="20" name="图片 19"/>
          <p:cNvPicPr/>
          <p:nvPr/>
        </p:nvPicPr>
        <p:blipFill>
          <a:blip r:embed="rId7"/>
          <a:stretch>
            <a:fillRect/>
          </a:stretch>
        </p:blipFill>
        <p:spPr>
          <a:xfrm>
            <a:off x="4151630" y="4277360"/>
            <a:ext cx="1384935" cy="1843405"/>
          </a:xfrm>
          <a:prstGeom prst="rect">
            <a:avLst/>
          </a:prstGeom>
        </p:spPr>
      </p:pic>
      <p:sp>
        <p:nvSpPr>
          <p:cNvPr id="19" name="文本框 18"/>
          <p:cNvSpPr txBox="1"/>
          <p:nvPr/>
        </p:nvSpPr>
        <p:spPr>
          <a:xfrm>
            <a:off x="1843482" y="5723446"/>
            <a:ext cx="1819275" cy="587374"/>
          </a:xfrm>
          <a:prstGeom prst="rect">
            <a:avLst/>
          </a:prstGeom>
          <a:noFill/>
        </p:spPr>
        <p:txBody>
          <a:bodyPr wrap="square" rtlCol="0">
            <a:noAutofit/>
          </a:bodyPr>
          <a:lstStyle/>
          <a:p>
            <a:r>
              <a:rPr lang="zh-CN" altLang="en-US" sz="1200" dirty="0"/>
              <a:t>强兴奋与强抑制相互抵消，使网络保持稳定而不规则的放电活动。</a:t>
            </a:r>
            <a:endParaRPr lang="zh-CN" altLang="en-US" sz="1200" dirty="0"/>
          </a:p>
        </p:txBody>
      </p:sp>
      <p:sp>
        <p:nvSpPr>
          <p:cNvPr id="21" name="文本框 20"/>
          <p:cNvSpPr txBox="1"/>
          <p:nvPr/>
        </p:nvSpPr>
        <p:spPr>
          <a:xfrm>
            <a:off x="4151630" y="6120983"/>
            <a:ext cx="1556385" cy="737235"/>
          </a:xfrm>
          <a:prstGeom prst="rect">
            <a:avLst/>
          </a:prstGeom>
        </p:spPr>
        <p:txBody>
          <a:bodyPr wrap="square">
            <a:spAutoFit/>
          </a:bodyPr>
          <a:lstStyle/>
          <a:p>
            <a:r>
              <a:rPr lang="zh-CN" altLang="en-US" sz="1000" dirty="0"/>
              <a:t>自然视觉刺激能够提高</a:t>
            </a:r>
            <a:r>
              <a:rPr lang="en-US" altLang="zh-CN" sz="1000" dirty="0"/>
              <a:t>V1</a:t>
            </a:r>
            <a:r>
              <a:rPr lang="zh-CN" altLang="en-US" sz="1000" dirty="0"/>
              <a:t>神经元响应的稀疏性并减少神经元之间的响应冗余</a:t>
            </a:r>
            <a:r>
              <a:rPr lang="zh-CN" altLang="en-US" sz="1200" dirty="0"/>
              <a:t>。</a:t>
            </a:r>
            <a:endParaRPr lang="zh-CN" altLang="en-US" sz="1200" dirty="0"/>
          </a:p>
        </p:txBody>
      </p:sp>
      <p:sp>
        <p:nvSpPr>
          <p:cNvPr id="26" name="文本框 2"/>
          <p:cNvSpPr txBox="1"/>
          <p:nvPr/>
        </p:nvSpPr>
        <p:spPr>
          <a:xfrm>
            <a:off x="1843571" y="3053393"/>
            <a:ext cx="1616375" cy="1117600"/>
          </a:xfrm>
          <a:prstGeom prst="rect">
            <a:avLst/>
          </a:prstGeom>
          <a:noFill/>
        </p:spPr>
        <p:txBody>
          <a:bodyPr wrap="square" rtlCol="0">
            <a:noAutofit/>
          </a:bodyPr>
          <a:lstStyle/>
          <a:p>
            <a:pPr algn="ctr"/>
            <a:r>
              <a:rPr lang="zh-CN" altLang="en-US" sz="1200" dirty="0">
                <a:sym typeface="+mn-ea"/>
              </a:rPr>
              <a:t>未解释朝向选择与稀疏编码图像表征如何通过可塑性自发形成</a:t>
            </a:r>
            <a:endParaRPr lang="zh-CN" altLang="en-US" sz="1200" dirty="0">
              <a:sym typeface="+mn-ea"/>
            </a:endParaRPr>
          </a:p>
          <a:p>
            <a:pPr algn="ctr"/>
            <a:r>
              <a:rPr lang="en-US" altLang="zh-CN" sz="1200" dirty="0">
                <a:sym typeface="+mn-ea"/>
              </a:rPr>
              <a:t>（van </a:t>
            </a:r>
            <a:r>
              <a:rPr lang="en-US" altLang="zh-CN" sz="1200" dirty="0" err="1">
                <a:sym typeface="+mn-ea"/>
              </a:rPr>
              <a:t>Vreeswijk</a:t>
            </a:r>
            <a:r>
              <a:rPr lang="en-US" altLang="zh-CN" sz="1200" dirty="0">
                <a:sym typeface="+mn-ea"/>
              </a:rPr>
              <a:t> &amp; </a:t>
            </a:r>
            <a:r>
              <a:rPr lang="en-US" altLang="zh-CN" sz="1200" dirty="0" err="1">
                <a:sym typeface="+mn-ea"/>
              </a:rPr>
              <a:t>Sompolinsky</a:t>
            </a:r>
            <a:r>
              <a:rPr lang="en-US" altLang="zh-CN" sz="1200" dirty="0">
                <a:sym typeface="+mn-ea"/>
              </a:rPr>
              <a:t>, 1996, Science）</a:t>
            </a:r>
            <a:endParaRPr lang="en-US" altLang="zh-CN" sz="1200" dirty="0">
              <a:sym typeface="+mn-ea"/>
            </a:endParaRPr>
          </a:p>
        </p:txBody>
      </p:sp>
      <p:sp>
        <p:nvSpPr>
          <p:cNvPr id="32" name="椭圆 7"/>
          <p:cNvSpPr>
            <a:spLocks noGrp="1"/>
          </p:cNvSpPr>
          <p:nvPr>
            <p:custDataLst>
              <p:tags r:id="rId8"/>
            </p:custDataLst>
          </p:nvPr>
        </p:nvSpPr>
        <p:spPr>
          <a:xfrm>
            <a:off x="9182101" y="2841988"/>
            <a:ext cx="171450" cy="171450"/>
          </a:xfrm>
          <a:prstGeom prst="ellipse">
            <a:avLst/>
          </a:prstGeom>
          <a:solidFill>
            <a:srgbClr val="000000"/>
          </a:solidFill>
          <a:ln w="0">
            <a:noFill/>
            <a:prstDash val="solid"/>
          </a:ln>
        </p:spPr>
        <p:txBody>
          <a:bodyPr/>
          <a:lstStyle/>
          <a:p>
            <a:pPr algn="ctr"/>
            <a:endParaRPr lang="zh-CN" altLang="en-US"/>
          </a:p>
        </p:txBody>
      </p:sp>
      <p:sp>
        <p:nvSpPr>
          <p:cNvPr id="33" name="文本框 11"/>
          <p:cNvSpPr txBox="1"/>
          <p:nvPr/>
        </p:nvSpPr>
        <p:spPr>
          <a:xfrm>
            <a:off x="4050665" y="3053380"/>
            <a:ext cx="1485900" cy="1306234"/>
          </a:xfrm>
          <a:prstGeom prst="rect">
            <a:avLst/>
          </a:prstGeom>
          <a:noFill/>
        </p:spPr>
        <p:txBody>
          <a:bodyPr wrap="square" rtlCol="0">
            <a:noAutofit/>
          </a:bodyPr>
          <a:lstStyle/>
          <a:p>
            <a:pPr algn="ctr"/>
            <a:r>
              <a:rPr lang="zh-CN" altLang="en-US" sz="1200" dirty="0">
                <a:sym typeface="+mn-ea"/>
              </a:rPr>
              <a:t>未解释响应稀疏性和相关性降低等性质如何在网络发育中自发形成。</a:t>
            </a:r>
            <a:endParaRPr lang="zh-CN" altLang="en-US" sz="1200" dirty="0">
              <a:sym typeface="+mn-ea"/>
            </a:endParaRPr>
          </a:p>
          <a:p>
            <a:pPr algn="ctr"/>
            <a:r>
              <a:rPr lang="en-US" altLang="zh-CN" sz="1200" dirty="0">
                <a:sym typeface="+mn-ea"/>
              </a:rPr>
              <a:t>(Vinje &amp; Gallant, 2000, Science)</a:t>
            </a:r>
            <a:br>
              <a:rPr lang="en-US" altLang="zh-CN" dirty="0"/>
            </a:br>
            <a:endParaRPr lang="en-US" altLang="zh-CN" dirty="0"/>
          </a:p>
        </p:txBody>
      </p:sp>
      <p:sp>
        <p:nvSpPr>
          <p:cNvPr id="29" name="文本框 28"/>
          <p:cNvSpPr txBox="1"/>
          <p:nvPr>
            <p:custDataLst>
              <p:tags r:id="rId9"/>
            </p:custDataLst>
          </p:nvPr>
        </p:nvSpPr>
        <p:spPr>
          <a:xfrm>
            <a:off x="6273165" y="875137"/>
            <a:ext cx="1739900" cy="2063237"/>
          </a:xfrm>
          <a:prstGeom prst="rect">
            <a:avLst/>
          </a:prstGeom>
          <a:noFill/>
        </p:spPr>
        <p:txBody>
          <a:bodyPr wrap="square" rtlCol="0">
            <a:noAutofit/>
          </a:bodyPr>
          <a:lstStyle/>
          <a:p>
            <a:pPr algn="ctr"/>
            <a:r>
              <a:rPr lang="en-US" altLang="zh-CN" b="1" dirty="0">
                <a:sym typeface="+mn-ea"/>
              </a:rPr>
              <a:t>2011</a:t>
            </a:r>
            <a:endParaRPr lang="en-US" altLang="zh-CN" b="1" dirty="0">
              <a:sym typeface="+mn-ea"/>
            </a:endParaRPr>
          </a:p>
          <a:p>
            <a:pPr algn="ctr"/>
            <a:r>
              <a:rPr lang="en-US" altLang="zh-CN" b="1" dirty="0">
                <a:sym typeface="+mn-ea"/>
              </a:rPr>
              <a:t>Zylberberg</a:t>
            </a:r>
            <a:endParaRPr lang="en-US" altLang="zh-CN" b="1" dirty="0">
              <a:sym typeface="+mn-ea"/>
            </a:endParaRPr>
          </a:p>
          <a:p>
            <a:pPr algn="ctr"/>
            <a:endParaRPr lang="en-US" altLang="zh-CN" sz="1200" dirty="0">
              <a:sym typeface="+mn-ea"/>
            </a:endParaRPr>
          </a:p>
          <a:p>
            <a:pPr algn="ctr"/>
            <a:r>
              <a:rPr lang="zh-CN" altLang="en-US" sz="1200" dirty="0">
                <a:sym typeface="+mn-ea"/>
              </a:rPr>
              <a:t>提出</a:t>
            </a:r>
            <a:r>
              <a:rPr lang="en-US" altLang="zh-CN" sz="1200" dirty="0" err="1">
                <a:sym typeface="+mn-ea"/>
              </a:rPr>
              <a:t>SAILnet</a:t>
            </a:r>
            <a:r>
              <a:rPr lang="zh-CN" altLang="en-US" sz="1200" b="1" dirty="0">
                <a:solidFill>
                  <a:schemeClr val="accent1"/>
                </a:solidFill>
                <a:sym typeface="+mn-ea"/>
              </a:rPr>
              <a:t>脉冲神经元</a:t>
            </a:r>
            <a:r>
              <a:rPr lang="en-US" altLang="zh-CN" sz="1200" b="1" dirty="0">
                <a:solidFill>
                  <a:schemeClr val="accent1"/>
                </a:solidFill>
                <a:sym typeface="+mn-ea"/>
              </a:rPr>
              <a:t>V1</a:t>
            </a:r>
            <a:r>
              <a:rPr lang="zh-CN" altLang="en-US" sz="1200" b="1" dirty="0">
                <a:solidFill>
                  <a:schemeClr val="accent1"/>
                </a:solidFill>
                <a:sym typeface="+mn-ea"/>
              </a:rPr>
              <a:t>网络模型</a:t>
            </a:r>
            <a:r>
              <a:rPr lang="zh-CN" altLang="en-US" sz="1200" dirty="0">
                <a:sym typeface="+mn-ea"/>
              </a:rPr>
              <a:t>：采用</a:t>
            </a:r>
            <a:r>
              <a:rPr lang="en-US" altLang="zh-CN" sz="1200" dirty="0">
                <a:sym typeface="+mn-ea"/>
              </a:rPr>
              <a:t>LIF</a:t>
            </a:r>
            <a:r>
              <a:rPr lang="zh-CN" altLang="en-US" sz="1200" dirty="0">
                <a:sym typeface="+mn-ea"/>
              </a:rPr>
              <a:t>神经元和突触局部可塑性规则，从自然图像中学习到稀疏表征并生成V1 </a:t>
            </a:r>
            <a:r>
              <a:rPr lang="en-US" altLang="zh-CN" sz="1200" dirty="0">
                <a:sym typeface="+mn-ea"/>
              </a:rPr>
              <a:t>Gabor</a:t>
            </a:r>
            <a:r>
              <a:rPr lang="zh-CN" altLang="en-US" sz="1200" dirty="0">
                <a:sym typeface="+mn-ea"/>
              </a:rPr>
              <a:t>感受野。</a:t>
            </a:r>
            <a:endParaRPr lang="zh-CN" altLang="en-US" sz="1200" dirty="0"/>
          </a:p>
          <a:p>
            <a:pPr algn="ctr"/>
            <a:endParaRPr lang="zh-CN" altLang="en-US" sz="1200" dirty="0"/>
          </a:p>
          <a:p>
            <a:pPr algn="ctr"/>
            <a:endParaRPr lang="en-US" altLang="zh-CN" sz="1200" dirty="0"/>
          </a:p>
          <a:p>
            <a:pPr algn="ctr"/>
            <a:endParaRPr lang="en-US" altLang="zh-CN" sz="1200" dirty="0"/>
          </a:p>
          <a:p>
            <a:pPr algn="ctr"/>
            <a:br>
              <a:rPr lang="en-US" altLang="zh-CN" dirty="0"/>
            </a:br>
            <a:endParaRPr lang="en-US" altLang="zh-CN" dirty="0"/>
          </a:p>
        </p:txBody>
      </p:sp>
      <p:sp>
        <p:nvSpPr>
          <p:cNvPr id="30" name="文本框 2"/>
          <p:cNvSpPr txBox="1"/>
          <p:nvPr>
            <p:custDataLst>
              <p:tags r:id="rId10"/>
            </p:custDataLst>
          </p:nvPr>
        </p:nvSpPr>
        <p:spPr>
          <a:xfrm>
            <a:off x="6332025" y="3079892"/>
            <a:ext cx="1653540" cy="1000518"/>
          </a:xfrm>
          <a:prstGeom prst="rect">
            <a:avLst/>
          </a:prstGeom>
          <a:noFill/>
        </p:spPr>
        <p:txBody>
          <a:bodyPr wrap="square" rtlCol="0">
            <a:noAutofit/>
          </a:bodyPr>
          <a:lstStyle/>
          <a:p>
            <a:pPr algn="ctr"/>
            <a:r>
              <a:rPr lang="zh-CN" altLang="en-US" sz="1200" dirty="0"/>
              <a:t>网络未区分兴奋抑制神经元群体，神经元间的相互</a:t>
            </a:r>
            <a:r>
              <a:rPr lang="zh-CN" altLang="en-US" sz="1200" dirty="0"/>
              <a:t>连接连接不满足</a:t>
            </a:r>
            <a:r>
              <a:rPr lang="en-US" altLang="zh-CN" sz="1200" dirty="0"/>
              <a:t>Dale</a:t>
            </a:r>
            <a:r>
              <a:rPr lang="zh-CN" altLang="en-US" sz="1200" dirty="0"/>
              <a:t>定律</a:t>
            </a:r>
            <a:endParaRPr lang="en-US" altLang="zh-CN" sz="1200" dirty="0"/>
          </a:p>
          <a:p>
            <a:pPr algn="ctr"/>
            <a:r>
              <a:rPr lang="en-US" altLang="zh-CN" sz="1200" dirty="0"/>
              <a:t>(Zylberberg et al., 2011, </a:t>
            </a:r>
            <a:r>
              <a:rPr lang="en-US" altLang="zh-CN" sz="1200" dirty="0" err="1"/>
              <a:t>PLoS</a:t>
            </a:r>
            <a:r>
              <a:rPr lang="en-US" altLang="zh-CN" sz="1200" dirty="0"/>
              <a:t> </a:t>
            </a:r>
            <a:r>
              <a:rPr lang="en-US" altLang="zh-CN" sz="1200" dirty="0" err="1"/>
              <a:t>Comput</a:t>
            </a:r>
            <a:r>
              <a:rPr lang="en-US" altLang="zh-CN" sz="1200" dirty="0"/>
              <a:t>. Biol.)</a:t>
            </a:r>
            <a:endParaRPr lang="zh-CN" altLang="en-US" sz="1200" dirty="0"/>
          </a:p>
          <a:p>
            <a:pPr algn="ctr"/>
            <a:endParaRPr lang="en-US" altLang="zh-CN" sz="1200" dirty="0"/>
          </a:p>
          <a:p>
            <a:pPr algn="ctr"/>
            <a:endParaRPr lang="en-US" altLang="zh-CN" sz="1200" dirty="0"/>
          </a:p>
          <a:p>
            <a:pPr algn="ctr"/>
            <a:br>
              <a:rPr lang="en-US" altLang="zh-CN" dirty="0"/>
            </a:br>
            <a:endParaRPr lang="en-US" altLang="zh-CN" dirty="0"/>
          </a:p>
        </p:txBody>
      </p:sp>
      <p:pic>
        <p:nvPicPr>
          <p:cNvPr id="31" name="图片 30"/>
          <p:cNvPicPr>
            <a:picLocks noChangeAspect="1"/>
          </p:cNvPicPr>
          <p:nvPr/>
        </p:nvPicPr>
        <p:blipFill>
          <a:blip r:embed="rId11"/>
          <a:stretch>
            <a:fillRect/>
          </a:stretch>
        </p:blipFill>
        <p:spPr>
          <a:xfrm>
            <a:off x="6028250" y="4195762"/>
            <a:ext cx="2107565" cy="1473200"/>
          </a:xfrm>
          <a:prstGeom prst="rect">
            <a:avLst/>
          </a:prstGeom>
        </p:spPr>
      </p:pic>
      <p:sp>
        <p:nvSpPr>
          <p:cNvPr id="35" name="文本框 34"/>
          <p:cNvSpPr txBox="1"/>
          <p:nvPr>
            <p:custDataLst>
              <p:tags r:id="rId12"/>
            </p:custDataLst>
          </p:nvPr>
        </p:nvSpPr>
        <p:spPr>
          <a:xfrm>
            <a:off x="8383301" y="953315"/>
            <a:ext cx="1769110" cy="1722302"/>
          </a:xfrm>
          <a:prstGeom prst="rect">
            <a:avLst/>
          </a:prstGeom>
          <a:noFill/>
        </p:spPr>
        <p:txBody>
          <a:bodyPr wrap="square" rtlCol="0">
            <a:noAutofit/>
          </a:bodyPr>
          <a:lstStyle/>
          <a:p>
            <a:pPr algn="ctr"/>
            <a:r>
              <a:rPr lang="en-US" altLang="zh-CN" b="1" dirty="0"/>
              <a:t>2011</a:t>
            </a:r>
            <a:br>
              <a:rPr lang="en-US" altLang="zh-CN" b="1" dirty="0"/>
            </a:br>
            <a:r>
              <a:rPr lang="en-US" altLang="zh-CN" b="1" dirty="0"/>
              <a:t>Vogels</a:t>
            </a:r>
            <a:endParaRPr lang="en-US" altLang="zh-CN" b="1" dirty="0"/>
          </a:p>
          <a:p>
            <a:pPr algn="ctr"/>
            <a:endParaRPr lang="en-US" sz="1200" b="1" dirty="0"/>
          </a:p>
          <a:p>
            <a:pPr algn="ctr"/>
            <a:r>
              <a:rPr lang="zh-CN" altLang="en-US" sz="1200" dirty="0"/>
              <a:t>提出</a:t>
            </a:r>
            <a:r>
              <a:rPr lang="en-US" sz="1200" b="1" dirty="0">
                <a:solidFill>
                  <a:schemeClr val="accent1"/>
                </a:solidFill>
                <a:latin typeface="+mn-ea"/>
              </a:rPr>
              <a:t>抑制性STDP</a:t>
            </a:r>
            <a:r>
              <a:rPr lang="zh-CN" altLang="en-US" sz="1200" dirty="0">
                <a:latin typeface="+mn-ea"/>
              </a:rPr>
              <a:t>，可根据网络活动自适应调整抑制强度，从而建立并维持</a:t>
            </a:r>
            <a:r>
              <a:rPr lang="en-US" altLang="zh-CN" sz="1200" b="1" dirty="0">
                <a:solidFill>
                  <a:schemeClr val="accent1"/>
                </a:solidFill>
                <a:latin typeface="+mn-ea"/>
              </a:rPr>
              <a:t>E/I</a:t>
            </a:r>
            <a:r>
              <a:rPr lang="zh-CN" altLang="en-US" sz="1200" b="1" dirty="0">
                <a:solidFill>
                  <a:schemeClr val="accent1"/>
                </a:solidFill>
                <a:latin typeface="+mn-ea"/>
              </a:rPr>
              <a:t>平衡</a:t>
            </a:r>
            <a:r>
              <a:rPr lang="en-US" altLang="zh-CN" sz="1200" b="1" dirty="0">
                <a:solidFill>
                  <a:schemeClr val="accent1"/>
                </a:solidFill>
                <a:latin typeface="+mn-ea"/>
              </a:rPr>
              <a:t>.</a:t>
            </a:r>
            <a:endParaRPr lang="en-US" altLang="zh-CN" sz="1200" b="1" dirty="0">
              <a:solidFill>
                <a:schemeClr val="accent1"/>
              </a:solidFill>
              <a:latin typeface="+mn-ea"/>
            </a:endParaRPr>
          </a:p>
        </p:txBody>
      </p:sp>
      <p:sp>
        <p:nvSpPr>
          <p:cNvPr id="36" name="文本框 1"/>
          <p:cNvSpPr txBox="1"/>
          <p:nvPr>
            <p:custDataLst>
              <p:tags r:id="rId13"/>
            </p:custDataLst>
          </p:nvPr>
        </p:nvSpPr>
        <p:spPr>
          <a:xfrm>
            <a:off x="8313080" y="3085782"/>
            <a:ext cx="1912029" cy="819467"/>
          </a:xfrm>
          <a:prstGeom prst="rect">
            <a:avLst/>
          </a:prstGeom>
          <a:noFill/>
        </p:spPr>
        <p:txBody>
          <a:bodyPr wrap="square" rtlCol="0">
            <a:noAutofit/>
          </a:bodyPr>
          <a:lstStyle/>
          <a:p>
            <a:pPr algn="ctr">
              <a:buClrTx/>
              <a:buSzTx/>
              <a:buFontTx/>
            </a:pPr>
            <a:r>
              <a:rPr lang="zh-CN" altLang="en-US" sz="1200" dirty="0">
                <a:sym typeface="+mn-ea"/>
              </a:rPr>
              <a:t>尚</a:t>
            </a:r>
            <a:r>
              <a:rPr lang="zh-CN" altLang="en-US" sz="1200" dirty="0">
                <a:sym typeface="+mn-ea"/>
              </a:rPr>
              <a:t>未将这种抑制调节与自然图像下的感受野学习联系起来</a:t>
            </a:r>
            <a:endParaRPr lang="zh-CN" altLang="en-US" sz="1200" dirty="0">
              <a:sym typeface="+mn-ea"/>
            </a:endParaRPr>
          </a:p>
          <a:p>
            <a:pPr algn="ctr">
              <a:buClrTx/>
              <a:buSzTx/>
              <a:buFontTx/>
            </a:pPr>
            <a:r>
              <a:rPr lang="zh-CN" altLang="en-US" sz="1200" dirty="0">
                <a:sym typeface="+mn-ea"/>
              </a:rPr>
              <a:t>(Vogels et al., 2011, Science)</a:t>
            </a:r>
            <a:endParaRPr lang="zh-CN" altLang="en-US" sz="1200" dirty="0">
              <a:sym typeface="+mn-ea"/>
            </a:endParaRPr>
          </a:p>
        </p:txBody>
      </p:sp>
      <p:pic>
        <p:nvPicPr>
          <p:cNvPr id="37" name="图片 36"/>
          <p:cNvPicPr>
            <a:picLocks noChangeAspect="1"/>
          </p:cNvPicPr>
          <p:nvPr/>
        </p:nvPicPr>
        <p:blipFill>
          <a:blip r:embed="rId14"/>
          <a:stretch>
            <a:fillRect/>
          </a:stretch>
        </p:blipFill>
        <p:spPr>
          <a:xfrm>
            <a:off x="8626946" y="4109402"/>
            <a:ext cx="1230630" cy="2030730"/>
          </a:xfrm>
          <a:prstGeom prst="rect">
            <a:avLst/>
          </a:prstGeom>
        </p:spPr>
      </p:pic>
      <p:sp>
        <p:nvSpPr>
          <p:cNvPr id="39" name="文本框 38"/>
          <p:cNvSpPr txBox="1"/>
          <p:nvPr/>
        </p:nvSpPr>
        <p:spPr>
          <a:xfrm>
            <a:off x="8470900" y="6140132"/>
            <a:ext cx="1906270" cy="483235"/>
          </a:xfrm>
          <a:prstGeom prst="rect">
            <a:avLst/>
          </a:prstGeom>
        </p:spPr>
        <p:txBody>
          <a:bodyPr>
            <a:noAutofit/>
          </a:bodyPr>
          <a:lstStyle/>
          <a:p>
            <a:r>
              <a:rPr lang="zh-CN" altLang="en-US" sz="1200" dirty="0"/>
              <a:t>抑制性</a:t>
            </a:r>
            <a:r>
              <a:rPr lang="en-US" altLang="zh-CN" sz="1200" dirty="0"/>
              <a:t>STDP</a:t>
            </a:r>
            <a:r>
              <a:rPr lang="zh-CN" altLang="en-US" sz="1200" dirty="0"/>
              <a:t>通过自适应调整建立并维持</a:t>
            </a:r>
            <a:r>
              <a:rPr lang="en-US" altLang="zh-CN" sz="1200" dirty="0"/>
              <a:t>E/I</a:t>
            </a:r>
            <a:r>
              <a:rPr lang="zh-CN" altLang="en-US" sz="1200" dirty="0"/>
              <a:t>平衡。</a:t>
            </a:r>
            <a:endParaRPr lang="zh-CN" alt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p:cNvPicPr>
            <a:picLocks noChangeAspect="1"/>
          </p:cNvPicPr>
          <p:nvPr/>
        </p:nvPicPr>
        <p:blipFill>
          <a:blip r:embed="rId1"/>
          <a:stretch>
            <a:fillRect/>
          </a:stretch>
        </p:blipFill>
        <p:spPr>
          <a:xfrm>
            <a:off x="1771210" y="4781232"/>
            <a:ext cx="2476500" cy="1543050"/>
          </a:xfrm>
          <a:prstGeom prst="rect">
            <a:avLst/>
          </a:prstGeom>
        </p:spPr>
      </p:pic>
      <p:pic>
        <p:nvPicPr>
          <p:cNvPr id="4" name="图片 3"/>
          <p:cNvPicPr/>
          <p:nvPr/>
        </p:nvPicPr>
        <p:blipFill>
          <a:blip r:embed="rId2"/>
          <a:stretch>
            <a:fillRect/>
          </a:stretch>
        </p:blipFill>
        <p:spPr>
          <a:xfrm>
            <a:off x="10922000" y="0"/>
            <a:ext cx="1270000" cy="1270000"/>
          </a:xfrm>
          <a:prstGeom prst="rect">
            <a:avLst/>
          </a:prstGeom>
        </p:spPr>
      </p:pic>
      <p:sp>
        <p:nvSpPr>
          <p:cNvPr id="16" name="标题 1"/>
          <p:cNvSpPr txBox="1"/>
          <p:nvPr/>
        </p:nvSpPr>
        <p:spPr>
          <a:xfrm>
            <a:off x="192405" y="225425"/>
            <a:ext cx="6703060" cy="46609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2400" b="1" dirty="0">
                <a:latin typeface="微软雅黑" panose="020B0503020204020204" charset="-122"/>
                <a:ea typeface="微软雅黑" panose="020B0503020204020204" charset="-122"/>
                <a:cs typeface="Arial" panose="020B0604020202020204" pitchFamily="34" charset="0"/>
              </a:rPr>
              <a:t>从高效编码假说到可实现的</a:t>
            </a:r>
            <a:r>
              <a:rPr lang="en-US" altLang="zh-CN" sz="2400" b="1" dirty="0">
                <a:latin typeface="微软雅黑" panose="020B0503020204020204" charset="-122"/>
                <a:ea typeface="微软雅黑" panose="020B0503020204020204" charset="-122"/>
                <a:cs typeface="Arial" panose="020B0604020202020204" pitchFamily="34" charset="0"/>
              </a:rPr>
              <a:t>V1</a:t>
            </a:r>
            <a:r>
              <a:rPr lang="zh-CN" altLang="en-US" sz="2400" b="1" dirty="0">
                <a:latin typeface="微软雅黑" panose="020B0503020204020204" charset="-122"/>
                <a:ea typeface="微软雅黑" panose="020B0503020204020204" charset="-122"/>
                <a:cs typeface="Arial" panose="020B0604020202020204" pitchFamily="34" charset="0"/>
              </a:rPr>
              <a:t>网络模型发展脉络</a:t>
            </a:r>
            <a:endParaRPr lang="zh-CN" altLang="en-US" sz="2400" b="1" dirty="0">
              <a:latin typeface="微软雅黑" panose="020B0503020204020204" charset="-122"/>
              <a:ea typeface="微软雅黑" panose="020B0503020204020204" charset="-122"/>
              <a:cs typeface="Arial" panose="020B0604020202020204" pitchFamily="34" charset="0"/>
            </a:endParaRPr>
          </a:p>
        </p:txBody>
      </p:sp>
      <p:cxnSp>
        <p:nvCxnSpPr>
          <p:cNvPr id="28" name="直接箭头连接符 27"/>
          <p:cNvCxnSpPr/>
          <p:nvPr>
            <p:custDataLst>
              <p:tags r:id="rId3"/>
            </p:custDataLst>
          </p:nvPr>
        </p:nvCxnSpPr>
        <p:spPr>
          <a:xfrm flipV="1">
            <a:off x="1578170" y="3084512"/>
            <a:ext cx="4365625" cy="17145"/>
          </a:xfrm>
          <a:prstGeom prst="straightConnector1">
            <a:avLst/>
          </a:prstGeom>
          <a:ln w="19050">
            <a:solidFill>
              <a:srgbClr val="000000"/>
            </a:solidFill>
            <a:prstDash val="solid"/>
          </a:ln>
        </p:spPr>
      </p:cxnSp>
      <p:sp>
        <p:nvSpPr>
          <p:cNvPr id="5" name="文本框 4"/>
          <p:cNvSpPr txBox="1"/>
          <p:nvPr/>
        </p:nvSpPr>
        <p:spPr>
          <a:xfrm>
            <a:off x="104775" y="2332037"/>
            <a:ext cx="1225550" cy="483235"/>
          </a:xfrm>
          <a:prstGeom prst="rect">
            <a:avLst/>
          </a:prstGeom>
          <a:noFill/>
        </p:spPr>
        <p:txBody>
          <a:bodyPr wrap="square" rtlCol="0">
            <a:noAutofit/>
          </a:bodyPr>
          <a:lstStyle/>
          <a:p>
            <a:r>
              <a:rPr lang="zh-CN" altLang="en-US" b="1" dirty="0">
                <a:solidFill>
                  <a:srgbClr val="FF0000"/>
                </a:solidFill>
              </a:rPr>
              <a:t>主要贡献</a:t>
            </a:r>
            <a:endParaRPr lang="zh-CN" altLang="en-US" b="1" dirty="0">
              <a:solidFill>
                <a:srgbClr val="FF0000"/>
              </a:solidFill>
            </a:endParaRPr>
          </a:p>
        </p:txBody>
      </p:sp>
      <p:sp>
        <p:nvSpPr>
          <p:cNvPr id="6" name="文本框 5"/>
          <p:cNvSpPr txBox="1"/>
          <p:nvPr/>
        </p:nvSpPr>
        <p:spPr>
          <a:xfrm>
            <a:off x="104775" y="3285172"/>
            <a:ext cx="1225550" cy="483235"/>
          </a:xfrm>
          <a:prstGeom prst="rect">
            <a:avLst/>
          </a:prstGeom>
          <a:noFill/>
        </p:spPr>
        <p:txBody>
          <a:bodyPr wrap="square" rtlCol="0">
            <a:noAutofit/>
          </a:bodyPr>
          <a:lstStyle/>
          <a:p>
            <a:r>
              <a:rPr lang="zh-CN" altLang="en-US" b="1">
                <a:solidFill>
                  <a:srgbClr val="FF0000"/>
                </a:solidFill>
              </a:rPr>
              <a:t>遗留问题</a:t>
            </a:r>
            <a:endParaRPr lang="zh-CN" altLang="en-US" b="1">
              <a:solidFill>
                <a:srgbClr val="FF0000"/>
              </a:solidFill>
            </a:endParaRPr>
          </a:p>
        </p:txBody>
      </p:sp>
      <p:sp>
        <p:nvSpPr>
          <p:cNvPr id="7" name="文本框 6"/>
          <p:cNvSpPr txBox="1"/>
          <p:nvPr>
            <p:custDataLst>
              <p:tags r:id="rId4"/>
            </p:custDataLst>
          </p:nvPr>
        </p:nvSpPr>
        <p:spPr>
          <a:xfrm>
            <a:off x="2139510" y="954177"/>
            <a:ext cx="1739900" cy="1858577"/>
          </a:xfrm>
          <a:prstGeom prst="rect">
            <a:avLst/>
          </a:prstGeom>
          <a:noFill/>
        </p:spPr>
        <p:txBody>
          <a:bodyPr wrap="square" rtlCol="0">
            <a:noAutofit/>
          </a:bodyPr>
          <a:lstStyle/>
          <a:p>
            <a:pPr algn="ctr"/>
            <a:r>
              <a:rPr lang="en-US" altLang="zh-CN" b="1" dirty="0"/>
              <a:t>2013</a:t>
            </a:r>
            <a:br>
              <a:rPr lang="en-US" altLang="zh-CN" dirty="0"/>
            </a:br>
            <a:r>
              <a:rPr lang="en-US" altLang="zh-CN" b="1" dirty="0"/>
              <a:t>Paul King</a:t>
            </a:r>
            <a:endParaRPr lang="en-US" altLang="zh-CN" b="1" dirty="0"/>
          </a:p>
          <a:p>
            <a:pPr algn="ctr">
              <a:buClrTx/>
              <a:buSzTx/>
              <a:buFontTx/>
            </a:pPr>
            <a:endParaRPr lang="en-US" sz="1200" dirty="0"/>
          </a:p>
          <a:p>
            <a:pPr algn="ctr">
              <a:buClrTx/>
              <a:buSzTx/>
              <a:buFontTx/>
            </a:pPr>
            <a:r>
              <a:rPr lang="zh-CN" altLang="en-US" sz="1200" dirty="0"/>
              <a:t>在SAILnet基础上引入独立的抑制性神经元</a:t>
            </a:r>
            <a:r>
              <a:rPr lang="en-US" sz="1200" dirty="0" err="1"/>
              <a:t>群体</a:t>
            </a:r>
            <a:r>
              <a:rPr lang="zh-CN" altLang="en-US" sz="1200" dirty="0"/>
              <a:t>，通过</a:t>
            </a:r>
            <a:r>
              <a:rPr lang="zh-CN" altLang="en-US" sz="1200" b="1" dirty="0">
                <a:solidFill>
                  <a:schemeClr val="accent1"/>
                </a:solidFill>
              </a:rPr>
              <a:t>侧向抑制可预测放电</a:t>
            </a:r>
            <a:r>
              <a:rPr lang="zh-CN" altLang="en-US" sz="1200" dirty="0"/>
              <a:t>，主动减少兴奋性神经元放电相关性，促使</a:t>
            </a:r>
            <a:r>
              <a:rPr lang="zh-CN" altLang="en-US" sz="1200" b="1" dirty="0">
                <a:solidFill>
                  <a:schemeClr val="accent1"/>
                </a:solidFill>
              </a:rPr>
              <a:t>稀疏编码</a:t>
            </a:r>
            <a:r>
              <a:rPr lang="zh-CN" altLang="en-US" sz="1200" dirty="0"/>
              <a:t>形成</a:t>
            </a:r>
            <a:endParaRPr lang="en-US" sz="1200" dirty="0"/>
          </a:p>
        </p:txBody>
      </p:sp>
      <p:sp>
        <p:nvSpPr>
          <p:cNvPr id="8" name="椭圆 7"/>
          <p:cNvSpPr>
            <a:spLocks noGrp="1"/>
          </p:cNvSpPr>
          <p:nvPr>
            <p:custDataLst>
              <p:tags r:id="rId5"/>
            </p:custDataLst>
          </p:nvPr>
        </p:nvSpPr>
        <p:spPr>
          <a:xfrm>
            <a:off x="5799455" y="2999422"/>
            <a:ext cx="171450" cy="171450"/>
          </a:xfrm>
          <a:prstGeom prst="ellipse">
            <a:avLst/>
          </a:prstGeom>
          <a:solidFill>
            <a:schemeClr val="accent6"/>
          </a:solidFill>
          <a:ln w="0">
            <a:noFill/>
            <a:prstDash val="solid"/>
          </a:ln>
        </p:spPr>
        <p:txBody>
          <a:bodyPr/>
          <a:lstStyle/>
          <a:p>
            <a:endParaRPr lang="zh-CN" altLang="en-US">
              <a:ln>
                <a:solidFill>
                  <a:schemeClr val="accent6"/>
                </a:solidFill>
              </a:ln>
              <a:solidFill>
                <a:srgbClr val="FF0000"/>
              </a:solidFill>
              <a:highlight>
                <a:srgbClr val="FFFF00"/>
              </a:highlight>
            </a:endParaRPr>
          </a:p>
        </p:txBody>
      </p:sp>
      <p:sp>
        <p:nvSpPr>
          <p:cNvPr id="9" name="椭圆 8"/>
          <p:cNvSpPr>
            <a:spLocks noGrp="1"/>
          </p:cNvSpPr>
          <p:nvPr>
            <p:custDataLst>
              <p:tags r:id="rId6"/>
            </p:custDataLst>
          </p:nvPr>
        </p:nvSpPr>
        <p:spPr>
          <a:xfrm>
            <a:off x="2860675" y="3003232"/>
            <a:ext cx="171450" cy="171450"/>
          </a:xfrm>
          <a:prstGeom prst="ellipse">
            <a:avLst/>
          </a:prstGeom>
          <a:solidFill>
            <a:srgbClr val="000000"/>
          </a:solidFill>
          <a:ln w="0">
            <a:noFill/>
            <a:prstDash val="solid"/>
          </a:ln>
        </p:spPr>
        <p:txBody>
          <a:bodyPr/>
          <a:lstStyle/>
          <a:p>
            <a:endParaRPr lang="zh-CN" altLang="en-US"/>
          </a:p>
        </p:txBody>
      </p:sp>
      <p:pic>
        <p:nvPicPr>
          <p:cNvPr id="17" name="图片 16"/>
          <p:cNvPicPr>
            <a:picLocks noChangeAspect="1"/>
          </p:cNvPicPr>
          <p:nvPr/>
        </p:nvPicPr>
        <p:blipFill>
          <a:blip r:embed="rId7"/>
          <a:stretch>
            <a:fillRect/>
          </a:stretch>
        </p:blipFill>
        <p:spPr>
          <a:xfrm>
            <a:off x="6084570" y="3682689"/>
            <a:ext cx="2444750" cy="1818640"/>
          </a:xfrm>
          <a:prstGeom prst="rect">
            <a:avLst/>
          </a:prstGeom>
        </p:spPr>
      </p:pic>
      <p:sp>
        <p:nvSpPr>
          <p:cNvPr id="12" name="文本框 11"/>
          <p:cNvSpPr txBox="1"/>
          <p:nvPr>
            <p:custDataLst>
              <p:tags r:id="rId8"/>
            </p:custDataLst>
          </p:nvPr>
        </p:nvSpPr>
        <p:spPr>
          <a:xfrm>
            <a:off x="6142262" y="1184769"/>
            <a:ext cx="2366196" cy="2775909"/>
          </a:xfrm>
          <a:prstGeom prst="rect">
            <a:avLst/>
          </a:prstGeom>
          <a:noFill/>
        </p:spPr>
        <p:txBody>
          <a:bodyPr wrap="square" rtlCol="0">
            <a:noAutofit/>
          </a:bodyPr>
          <a:lstStyle/>
          <a:p>
            <a:pPr algn="ctr">
              <a:buClrTx/>
              <a:buSzTx/>
              <a:buFontTx/>
            </a:pPr>
            <a:r>
              <a:rPr lang="en-US" altLang="zh-CN" sz="1800" b="1" dirty="0"/>
              <a:t>2025</a:t>
            </a:r>
            <a:br>
              <a:rPr lang="en-US" altLang="zh-CN" sz="1800" b="1" dirty="0"/>
            </a:br>
            <a:r>
              <a:rPr lang="en-US" altLang="zh-CN" sz="1800" b="1" dirty="0" err="1"/>
              <a:t>Ruslim</a:t>
            </a:r>
            <a:endParaRPr lang="en-US" altLang="zh-CN" sz="1800" b="1" dirty="0"/>
          </a:p>
          <a:p>
            <a:pPr algn="ctr">
              <a:buClrTx/>
              <a:buSzTx/>
              <a:buFontTx/>
            </a:pPr>
            <a:endParaRPr lang="en-US" altLang="zh-CN" sz="1800" b="1" dirty="0"/>
          </a:p>
          <a:p>
            <a:pPr algn="ctr"/>
            <a:r>
              <a:rPr lang="zh-CN" altLang="en-US" sz="1200" dirty="0"/>
              <a:t>构建包含</a:t>
            </a:r>
            <a:r>
              <a:rPr lang="en-US" altLang="zh-CN" sz="1200" dirty="0"/>
              <a:t>LGN</a:t>
            </a:r>
            <a:r>
              <a:rPr lang="zh-CN" altLang="en-US" sz="1200" dirty="0"/>
              <a:t>神经元，兴奋抑制 </a:t>
            </a:r>
            <a:r>
              <a:rPr lang="en-US" altLang="zh-CN" sz="1200" dirty="0"/>
              <a:t>V1</a:t>
            </a:r>
            <a:r>
              <a:rPr lang="zh-CN" altLang="en-US" sz="1200" dirty="0"/>
              <a:t> </a:t>
            </a:r>
            <a:r>
              <a:rPr lang="en-US" altLang="zh-CN" sz="1200" dirty="0"/>
              <a:t>LIF</a:t>
            </a:r>
            <a:r>
              <a:rPr lang="zh-CN" altLang="en-US" sz="1200" dirty="0"/>
              <a:t>神经元、</a:t>
            </a:r>
            <a:r>
              <a:rPr lang="en-US" altLang="zh-CN" sz="1200" dirty="0"/>
              <a:t>STDP、</a:t>
            </a:r>
            <a:r>
              <a:rPr lang="zh-CN" altLang="en-US" sz="1200" dirty="0"/>
              <a:t>稳态调节和自然图像输入的生物学约束的 </a:t>
            </a:r>
            <a:r>
              <a:rPr lang="en-US" altLang="zh-CN" sz="1200" dirty="0"/>
              <a:t>V1 </a:t>
            </a:r>
            <a:r>
              <a:rPr lang="zh-CN" altLang="en-US" sz="1200" dirty="0"/>
              <a:t>脉冲神经网络。在未直接优化稀疏性、去相关和 </a:t>
            </a:r>
            <a:r>
              <a:rPr lang="en-US" altLang="zh-CN" sz="1200" dirty="0"/>
              <a:t>E/I </a:t>
            </a:r>
            <a:r>
              <a:rPr lang="zh-CN" altLang="en-US" sz="1200" dirty="0"/>
              <a:t>平衡的情况下，这些</a:t>
            </a:r>
            <a:r>
              <a:rPr lang="zh-CN" altLang="en-US" sz="1200" b="1" dirty="0">
                <a:solidFill>
                  <a:schemeClr val="accent1"/>
                </a:solidFill>
              </a:rPr>
              <a:t>信息表征和动力学性质可由该网络自</a:t>
            </a:r>
            <a:r>
              <a:rPr lang="zh-CN" altLang="en-US" sz="1200" b="1" dirty="0">
                <a:solidFill>
                  <a:schemeClr val="accent1"/>
                </a:solidFill>
              </a:rPr>
              <a:t>然涌现</a:t>
            </a:r>
            <a:r>
              <a:rPr lang="zh-CN" altLang="en-US" sz="1200" dirty="0"/>
              <a:t>。</a:t>
            </a:r>
            <a:endParaRPr lang="en-US" altLang="zh-CN" sz="1200" dirty="0"/>
          </a:p>
          <a:p>
            <a:pPr algn="ctr"/>
            <a:r>
              <a:rPr lang="en-US" altLang="zh-CN" sz="1200" dirty="0">
                <a:sym typeface="+mn-ea"/>
              </a:rPr>
              <a:t>(</a:t>
            </a:r>
            <a:r>
              <a:rPr lang="en-US" altLang="zh-CN" sz="1200" dirty="0" err="1">
                <a:sym typeface="+mn-ea"/>
              </a:rPr>
              <a:t>Ruslim</a:t>
            </a:r>
            <a:r>
              <a:rPr lang="en-US" altLang="zh-CN" sz="1200" dirty="0">
                <a:sym typeface="+mn-ea"/>
              </a:rPr>
              <a:t> et al., 2025, </a:t>
            </a:r>
            <a:r>
              <a:rPr lang="en-US" altLang="zh-CN" sz="1200" dirty="0" err="1">
                <a:sym typeface="+mn-ea"/>
              </a:rPr>
              <a:t>PLoS</a:t>
            </a:r>
            <a:r>
              <a:rPr lang="en-US" altLang="zh-CN" sz="1200" dirty="0">
                <a:sym typeface="+mn-ea"/>
              </a:rPr>
              <a:t> </a:t>
            </a:r>
            <a:r>
              <a:rPr lang="en-US" altLang="zh-CN" sz="1200" dirty="0" err="1">
                <a:sym typeface="+mn-ea"/>
              </a:rPr>
              <a:t>Comput</a:t>
            </a:r>
            <a:r>
              <a:rPr lang="en-US" altLang="zh-CN" sz="1200" dirty="0">
                <a:sym typeface="+mn-ea"/>
              </a:rPr>
              <a:t>. Biol.)</a:t>
            </a:r>
            <a:br>
              <a:rPr lang="en-US" altLang="zh-CN" dirty="0"/>
            </a:br>
            <a:endParaRPr lang="en-US" altLang="zh-CN" dirty="0"/>
          </a:p>
        </p:txBody>
      </p:sp>
      <p:sp>
        <p:nvSpPr>
          <p:cNvPr id="20" name="文本框 19"/>
          <p:cNvSpPr txBox="1"/>
          <p:nvPr/>
        </p:nvSpPr>
        <p:spPr>
          <a:xfrm>
            <a:off x="1491954" y="6230937"/>
            <a:ext cx="3034615" cy="627063"/>
          </a:xfrm>
          <a:prstGeom prst="rect">
            <a:avLst/>
          </a:prstGeom>
        </p:spPr>
        <p:txBody>
          <a:bodyPr>
            <a:noAutofit/>
          </a:bodyPr>
          <a:lstStyle/>
          <a:p>
            <a:r>
              <a:rPr lang="zh-CN" altLang="en-US" sz="1200" dirty="0"/>
              <a:t>加入抑制性中间神经元后，网络可通过侧向抑制降低兴奋性神经元响应的相关性。</a:t>
            </a:r>
            <a:endParaRPr lang="zh-CN" altLang="en-US" sz="1200" dirty="0"/>
          </a:p>
        </p:txBody>
      </p:sp>
      <p:sp>
        <p:nvSpPr>
          <p:cNvPr id="23" name="文本框 6"/>
          <p:cNvSpPr txBox="1"/>
          <p:nvPr>
            <p:custDataLst>
              <p:tags r:id="rId9"/>
            </p:custDataLst>
          </p:nvPr>
        </p:nvSpPr>
        <p:spPr>
          <a:xfrm>
            <a:off x="2099704" y="3279568"/>
            <a:ext cx="1693392" cy="1313573"/>
          </a:xfrm>
          <a:prstGeom prst="rect">
            <a:avLst/>
          </a:prstGeom>
          <a:noFill/>
        </p:spPr>
        <p:txBody>
          <a:bodyPr wrap="square" rtlCol="0">
            <a:noAutofit/>
          </a:bodyPr>
          <a:lstStyle/>
          <a:p>
            <a:pPr algn="ctr"/>
            <a:r>
              <a:rPr lang="ja-JP" altLang="en-US" sz="1200">
                <a:latin typeface="微软雅黑" panose="020B0503020204020204" charset="-122"/>
                <a:ea typeface="微软雅黑" panose="020B0503020204020204" charset="-122"/>
                <a:sym typeface="+mn-ea"/>
              </a:rPr>
              <a:t>尚未建立完整</a:t>
            </a:r>
            <a:r>
              <a:rPr lang="en-US" altLang="zh-CN" sz="1200" dirty="0">
                <a:latin typeface="微软雅黑" panose="020B0503020204020204" charset="-122"/>
                <a:ea typeface="微软雅黑" panose="020B0503020204020204" charset="-122"/>
                <a:sym typeface="+mn-ea"/>
              </a:rPr>
              <a:t>E/I</a:t>
            </a:r>
            <a:r>
              <a:rPr lang="ja-JP" altLang="en-US" sz="1200">
                <a:latin typeface="微软雅黑" panose="020B0503020204020204" charset="-122"/>
                <a:ea typeface="微软雅黑" panose="020B0503020204020204" charset="-122"/>
                <a:sym typeface="+mn-ea"/>
              </a:rPr>
              <a:t>可塑性与稳态调节框架，也未研究网络学习过程中</a:t>
            </a:r>
            <a:r>
              <a:rPr lang="en-US" altLang="zh-CN" sz="1200" dirty="0">
                <a:latin typeface="微软雅黑" panose="020B0503020204020204" charset="-122"/>
                <a:ea typeface="微软雅黑" panose="020B0503020204020204" charset="-122"/>
                <a:sym typeface="+mn-ea"/>
              </a:rPr>
              <a:t>E/I</a:t>
            </a:r>
            <a:r>
              <a:rPr lang="ja-JP" altLang="en-US" sz="1200">
                <a:latin typeface="微软雅黑" panose="020B0503020204020204" charset="-122"/>
                <a:ea typeface="微软雅黑" panose="020B0503020204020204" charset="-122"/>
                <a:sym typeface="+mn-ea"/>
              </a:rPr>
              <a:t>平衡的涌现。</a:t>
            </a:r>
            <a:endParaRPr lang="ja-JP" altLang="en-US" sz="1200">
              <a:latin typeface="微软雅黑" panose="020B0503020204020204" charset="-122"/>
              <a:ea typeface="微软雅黑" panose="020B0503020204020204" charset="-122"/>
              <a:sym typeface="+mn-ea"/>
            </a:endParaRPr>
          </a:p>
          <a:p>
            <a:pPr algn="ctr"/>
            <a:r>
              <a:rPr lang="zh-CN" altLang="en-US" sz="1200" dirty="0">
                <a:sym typeface="+mn-ea"/>
              </a:rPr>
              <a:t>（</a:t>
            </a:r>
            <a:r>
              <a:rPr lang="en-US" altLang="zh-CN" sz="1200" dirty="0">
                <a:sym typeface="+mn-ea"/>
              </a:rPr>
              <a:t>King et al., 2013, J. </a:t>
            </a:r>
            <a:r>
              <a:rPr lang="en-US" altLang="zh-CN" sz="1200" dirty="0" err="1">
                <a:sym typeface="+mn-ea"/>
              </a:rPr>
              <a:t>Neurosci</a:t>
            </a:r>
            <a:r>
              <a:rPr lang="en-US" altLang="zh-CN" sz="1200" dirty="0">
                <a:sym typeface="+mn-ea"/>
              </a:rPr>
              <a:t>.)</a:t>
            </a:r>
            <a:endParaRPr lang="en-US" altLang="zh-CN" dirty="0"/>
          </a:p>
        </p:txBody>
      </p:sp>
      <p:sp>
        <p:nvSpPr>
          <p:cNvPr id="25" name="TextBox 24"/>
          <p:cNvSpPr txBox="1"/>
          <p:nvPr/>
        </p:nvSpPr>
        <p:spPr>
          <a:xfrm>
            <a:off x="6123847" y="5779459"/>
            <a:ext cx="2476501" cy="646331"/>
          </a:xfrm>
          <a:prstGeom prst="rect">
            <a:avLst/>
          </a:prstGeom>
          <a:noFill/>
        </p:spPr>
        <p:txBody>
          <a:bodyPr wrap="square">
            <a:spAutoFit/>
          </a:bodyPr>
          <a:lstStyle/>
          <a:p>
            <a:r>
              <a:rPr lang="zh-CN" altLang="en-US" sz="1200" dirty="0"/>
              <a:t>包含</a:t>
            </a:r>
            <a:r>
              <a:rPr lang="en-US" sz="1200" dirty="0"/>
              <a:t>LGN和V1</a:t>
            </a:r>
            <a:r>
              <a:rPr lang="zh-CN" altLang="en-US" sz="1200" dirty="0"/>
              <a:t>神经元、</a:t>
            </a:r>
            <a:r>
              <a:rPr lang="en-US" sz="1200" dirty="0"/>
              <a:t>STDP、</a:t>
            </a:r>
            <a:r>
              <a:rPr lang="zh-CN" altLang="en-US" sz="1200" dirty="0"/>
              <a:t>稳态调节和自然图像输入的生物学约束脉冲神经网络</a:t>
            </a:r>
            <a:r>
              <a:rPr lang="en-US" sz="1200" dirty="0"/>
              <a:t> </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p:nvPr/>
        </p:nvPicPr>
        <p:blipFill>
          <a:blip r:embed="rId1"/>
          <a:stretch>
            <a:fillRect/>
          </a:stretch>
        </p:blipFill>
        <p:spPr>
          <a:xfrm>
            <a:off x="10922000" y="0"/>
            <a:ext cx="1270000" cy="1270000"/>
          </a:xfrm>
          <a:prstGeom prst="rect">
            <a:avLst/>
          </a:prstGeom>
        </p:spPr>
      </p:pic>
      <p:sp>
        <p:nvSpPr>
          <p:cNvPr id="9" name="文本框 8"/>
          <p:cNvSpPr txBox="1"/>
          <p:nvPr/>
        </p:nvSpPr>
        <p:spPr>
          <a:xfrm>
            <a:off x="213360" y="190500"/>
            <a:ext cx="8517890" cy="460375"/>
          </a:xfrm>
          <a:prstGeom prst="rect">
            <a:avLst/>
          </a:prstGeom>
        </p:spPr>
        <p:txBody>
          <a:bodyPr wrap="square">
            <a:spAutoFit/>
          </a:bodyPr>
          <a:lstStyle/>
          <a:p>
            <a:r>
              <a:rPr lang="zh-CN" altLang="en-US" sz="2400" b="1" dirty="0">
                <a:latin typeface="Arial" panose="020B0604020202020204"/>
                <a:ea typeface="微软雅黑" panose="020B0503020204020204" charset="-122"/>
                <a:cs typeface="Arial" panose="020B0604020202020204"/>
              </a:rPr>
              <a:t>Paul King模型（2013）：抑制性中间神经元促进稀疏编码</a:t>
            </a:r>
            <a:endParaRPr lang="zh-CN" altLang="en-US" sz="1600">
              <a:latin typeface="Arial" panose="020B0604020202020204"/>
              <a:ea typeface="微软雅黑" panose="020B0503020204020204" charset="-122"/>
              <a:cs typeface="Arial" panose="020B0604020202020204"/>
            </a:endParaRPr>
          </a:p>
        </p:txBody>
      </p:sp>
      <p:sp>
        <p:nvSpPr>
          <p:cNvPr id="10" name="文本框 9"/>
          <p:cNvSpPr txBox="1"/>
          <p:nvPr/>
        </p:nvSpPr>
        <p:spPr>
          <a:xfrm>
            <a:off x="1301750" y="5525135"/>
            <a:ext cx="1565275" cy="474345"/>
          </a:xfrm>
          <a:prstGeom prst="rect">
            <a:avLst/>
          </a:prstGeom>
          <a:noFill/>
        </p:spPr>
        <p:txBody>
          <a:bodyPr wrap="square" rtlCol="0">
            <a:noAutofit/>
          </a:bodyPr>
          <a:lstStyle/>
          <a:p>
            <a:endParaRPr lang="zh-CN" altLang="en-US">
              <a:latin typeface="Arial" panose="020B0604020202020204"/>
              <a:ea typeface="微软雅黑" panose="020B0503020204020204" charset="-122"/>
              <a:cs typeface="Arial" panose="020B0604020202020204"/>
            </a:endParaRPr>
          </a:p>
        </p:txBody>
      </p:sp>
      <p:sp>
        <p:nvSpPr>
          <p:cNvPr id="11" name="文本框 10"/>
          <p:cNvSpPr txBox="1"/>
          <p:nvPr/>
        </p:nvSpPr>
        <p:spPr>
          <a:xfrm>
            <a:off x="8616315" y="1978025"/>
            <a:ext cx="3429635" cy="1450975"/>
          </a:xfrm>
          <a:prstGeom prst="rect">
            <a:avLst/>
          </a:prstGeom>
        </p:spPr>
        <p:txBody>
          <a:bodyPr wrap="square">
            <a:noAutofit/>
          </a:bodyPr>
          <a:lstStyle/>
          <a:p>
            <a:r>
              <a:rPr lang="en-US" altLang="zh-CN" sz="1600">
                <a:latin typeface="Arial" panose="020B0604020202020204"/>
                <a:ea typeface="微软雅黑" panose="020B0503020204020204" charset="-122"/>
                <a:cs typeface="Arial" panose="020B0604020202020204"/>
              </a:rPr>
              <a:t>Paul King</a:t>
            </a:r>
            <a:r>
              <a:rPr lang="zh-CN" altLang="en-US" sz="1600">
                <a:latin typeface="Arial" panose="020B0604020202020204"/>
                <a:ea typeface="微软雅黑" panose="020B0503020204020204" charset="-122"/>
                <a:cs typeface="Arial" panose="020B0604020202020204"/>
              </a:rPr>
              <a:t>等人在</a:t>
            </a:r>
            <a:r>
              <a:rPr lang="en-US" altLang="zh-CN" sz="1600">
                <a:latin typeface="Arial" panose="020B0604020202020204"/>
                <a:ea typeface="微软雅黑" panose="020B0503020204020204" charset="-122"/>
                <a:cs typeface="Arial" panose="020B0604020202020204"/>
              </a:rPr>
              <a:t>SAILnet</a:t>
            </a:r>
            <a:r>
              <a:rPr lang="zh-CN" altLang="en-US" sz="1600">
                <a:latin typeface="Arial" panose="020B0604020202020204"/>
                <a:ea typeface="微软雅黑" panose="020B0503020204020204" charset="-122"/>
                <a:cs typeface="Arial" panose="020B0604020202020204"/>
              </a:rPr>
              <a:t>基础上加入独立的抑制性神经元群体，使网络符合</a:t>
            </a:r>
            <a:r>
              <a:rPr lang="en-US" altLang="zh-CN" sz="1600">
                <a:latin typeface="Arial" panose="020B0604020202020204"/>
                <a:ea typeface="微软雅黑" panose="020B0503020204020204" charset="-122"/>
                <a:cs typeface="Arial" panose="020B0604020202020204"/>
              </a:rPr>
              <a:t>Dale</a:t>
            </a:r>
            <a:r>
              <a:rPr lang="zh-CN" altLang="en-US" sz="1600">
                <a:latin typeface="Arial" panose="020B0604020202020204"/>
                <a:ea typeface="微软雅黑" panose="020B0503020204020204" charset="-122"/>
                <a:cs typeface="Arial" panose="020B0604020202020204"/>
              </a:rPr>
              <a:t>定律</a:t>
            </a:r>
            <a:r>
              <a:rPr lang="en-US" altLang="zh-CN" sz="1600">
                <a:latin typeface="Arial" panose="020B0604020202020204"/>
                <a:ea typeface="微软雅黑" panose="020B0503020204020204" charset="-122"/>
                <a:cs typeface="Arial" panose="020B0604020202020204"/>
              </a:rPr>
              <a:t>*</a:t>
            </a:r>
            <a:r>
              <a:rPr lang="zh-CN" altLang="en-US" sz="1600">
                <a:latin typeface="Arial" panose="020B0604020202020204"/>
                <a:ea typeface="微软雅黑" panose="020B0503020204020204" charset="-122"/>
                <a:cs typeface="Arial" panose="020B0604020202020204"/>
              </a:rPr>
              <a:t>，并利用抑制性反馈降低</a:t>
            </a:r>
            <a:r>
              <a:rPr lang="en-US" altLang="zh-CN" sz="1600">
                <a:latin typeface="Arial" panose="020B0604020202020204"/>
                <a:ea typeface="微软雅黑" panose="020B0503020204020204" charset="-122"/>
                <a:cs typeface="Arial" panose="020B0604020202020204"/>
              </a:rPr>
              <a:t>E</a:t>
            </a:r>
            <a:r>
              <a:rPr lang="zh-CN" altLang="en-US" sz="1600">
                <a:latin typeface="Arial" panose="020B0604020202020204"/>
                <a:ea typeface="微软雅黑" panose="020B0503020204020204" charset="-122"/>
                <a:cs typeface="Arial" panose="020B0604020202020204"/>
              </a:rPr>
              <a:t>细胞之间的放电相关性，最终使得网络训练出稀疏输出的能力</a:t>
            </a:r>
            <a:endParaRPr lang="zh-CN" altLang="en-US" sz="1600">
              <a:latin typeface="Arial" panose="020B0604020202020204"/>
              <a:ea typeface="微软雅黑" panose="020B0503020204020204" charset="-122"/>
              <a:cs typeface="Arial" panose="020B0604020202020204"/>
            </a:endParaRPr>
          </a:p>
        </p:txBody>
      </p:sp>
      <p:sp>
        <p:nvSpPr>
          <p:cNvPr id="17" name="文本框 16"/>
          <p:cNvSpPr txBox="1"/>
          <p:nvPr/>
        </p:nvSpPr>
        <p:spPr>
          <a:xfrm>
            <a:off x="8583295" y="5469255"/>
            <a:ext cx="3512185" cy="1198880"/>
          </a:xfrm>
          <a:prstGeom prst="rect">
            <a:avLst/>
          </a:prstGeom>
          <a:noFill/>
        </p:spPr>
        <p:txBody>
          <a:bodyPr wrap="square" rtlCol="0">
            <a:spAutoFit/>
          </a:bodyPr>
          <a:lstStyle/>
          <a:p>
            <a:pPr algn="ctr"/>
            <a:r>
              <a:rPr lang="en-US" altLang="zh-CN" sz="1200">
                <a:latin typeface="Arial" panose="020B0604020202020204"/>
                <a:ea typeface="微软雅黑" panose="020B0503020204020204" charset="-122"/>
                <a:cs typeface="Arial" panose="020B0604020202020204"/>
              </a:rPr>
              <a:t>*Dale </a:t>
            </a:r>
            <a:r>
              <a:rPr lang="zh-CN" altLang="en-US" sz="1200">
                <a:latin typeface="Arial" panose="020B0604020202020204"/>
                <a:ea typeface="微软雅黑" panose="020B0503020204020204" charset="-122"/>
                <a:cs typeface="Arial" panose="020B0604020202020204"/>
              </a:rPr>
              <a:t>定律：同一个神经元的不同轴突末梢通常释放相同的一组神经递质。模型中将其简化为：</a:t>
            </a:r>
            <a:r>
              <a:rPr lang="en-US" altLang="zh-CN" sz="1200">
                <a:latin typeface="Arial" panose="020B0604020202020204"/>
                <a:ea typeface="微软雅黑" panose="020B0503020204020204" charset="-122"/>
                <a:cs typeface="Arial" panose="020B0604020202020204"/>
              </a:rPr>
              <a:t>E</a:t>
            </a:r>
            <a:r>
              <a:rPr lang="zh-CN" altLang="en-US" sz="1200">
                <a:latin typeface="Arial" panose="020B0604020202020204"/>
                <a:ea typeface="微软雅黑" panose="020B0503020204020204" charset="-122"/>
                <a:cs typeface="Arial" panose="020B0604020202020204"/>
              </a:rPr>
              <a:t>神经元的输出均为兴奋性，</a:t>
            </a:r>
            <a:r>
              <a:rPr lang="en-US" altLang="zh-CN" sz="1200">
                <a:latin typeface="Arial" panose="020B0604020202020204"/>
                <a:ea typeface="微软雅黑" panose="020B0503020204020204" charset="-122"/>
                <a:cs typeface="Arial" panose="020B0604020202020204"/>
              </a:rPr>
              <a:t>I</a:t>
            </a:r>
            <a:r>
              <a:rPr lang="zh-CN" altLang="en-US" sz="1200">
                <a:latin typeface="Arial" panose="020B0604020202020204"/>
                <a:ea typeface="微软雅黑" panose="020B0503020204020204" charset="-122"/>
                <a:cs typeface="Arial" panose="020B0604020202020204"/>
              </a:rPr>
              <a:t>神经元的输出均为抑制性，一个神经元不会同时提供兴奋和抑制作用。（</a:t>
            </a:r>
            <a:r>
              <a:rPr lang="en-US" altLang="zh-CN" sz="1200">
                <a:latin typeface="Arial" panose="020B0604020202020204"/>
                <a:ea typeface="微软雅黑" panose="020B0503020204020204" charset="-122"/>
                <a:cs typeface="Arial" panose="020B0604020202020204"/>
              </a:rPr>
              <a:t>Strata, P., &amp; Harvey, R.1999. Brain Research Bulletin,</a:t>
            </a:r>
            <a:r>
              <a:rPr lang="zh-CN" altLang="en-US" sz="1200">
                <a:latin typeface="Arial" panose="020B0604020202020204"/>
                <a:ea typeface="微软雅黑" panose="020B0503020204020204" charset="-122"/>
                <a:cs typeface="Arial" panose="020B0604020202020204"/>
              </a:rPr>
              <a:t>）</a:t>
            </a:r>
            <a:endParaRPr lang="zh-CN" altLang="en-US" sz="1200">
              <a:latin typeface="Arial" panose="020B0604020202020204"/>
              <a:ea typeface="微软雅黑" panose="020B0503020204020204" charset="-122"/>
              <a:cs typeface="Arial" panose="020B0604020202020204"/>
            </a:endParaRPr>
          </a:p>
        </p:txBody>
      </p:sp>
      <p:pic>
        <p:nvPicPr>
          <p:cNvPr id="2" name="图片 1" descr="自然图像集： 10张 512×512 白化自然图像"/>
          <p:cNvPicPr>
            <a:picLocks noChangeAspect="1"/>
          </p:cNvPicPr>
          <p:nvPr/>
        </p:nvPicPr>
        <p:blipFill>
          <a:blip r:embed="rId2"/>
          <a:stretch>
            <a:fillRect/>
          </a:stretch>
        </p:blipFill>
        <p:spPr>
          <a:xfrm>
            <a:off x="0" y="1336040"/>
            <a:ext cx="8604250" cy="48437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p:nvPr/>
        </p:nvPicPr>
        <p:blipFill>
          <a:blip r:embed="rId1"/>
          <a:stretch>
            <a:fillRect/>
          </a:stretch>
        </p:blipFill>
        <p:spPr>
          <a:xfrm>
            <a:off x="10922000" y="0"/>
            <a:ext cx="1270000" cy="1270000"/>
          </a:xfrm>
          <a:prstGeom prst="rect">
            <a:avLst/>
          </a:prstGeom>
        </p:spPr>
      </p:pic>
      <p:sp>
        <p:nvSpPr>
          <p:cNvPr id="16" name="标题 1"/>
          <p:cNvSpPr txBox="1"/>
          <p:nvPr/>
        </p:nvSpPr>
        <p:spPr>
          <a:xfrm>
            <a:off x="360680" y="299085"/>
            <a:ext cx="6321425" cy="67183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a:ea typeface="微软雅黑" panose="020B0503020204020204" charset="-122"/>
                <a:cs typeface="Arial" panose="020B0604020202020204"/>
              </a:defRPr>
            </a:lvl1pPr>
          </a:lstStyle>
          <a:p>
            <a:pPr algn="l"/>
            <a:r>
              <a:rPr lang="en-US" altLang="zh-CN" sz="2400" b="1" dirty="0">
                <a:latin typeface="Arial" panose="020B0604020202020204"/>
                <a:ea typeface="微软雅黑" panose="020B0503020204020204" charset="-122"/>
                <a:cs typeface="Arial" panose="020B0604020202020204"/>
              </a:rPr>
              <a:t>Paul King</a:t>
            </a:r>
            <a:r>
              <a:rPr lang="zh-CN" altLang="en-US" sz="2400" b="1" dirty="0">
                <a:latin typeface="Arial" panose="020B0604020202020204"/>
                <a:ea typeface="微软雅黑" panose="020B0503020204020204" charset="-122"/>
                <a:cs typeface="Arial" panose="020B0604020202020204"/>
              </a:rPr>
              <a:t>模型能够实现稀疏编码</a:t>
            </a:r>
            <a:endParaRPr lang="zh-CN" altLang="en-US" sz="2400" b="1" dirty="0">
              <a:latin typeface="Arial" panose="020B0604020202020204"/>
              <a:ea typeface="微软雅黑" panose="020B0503020204020204" charset="-122"/>
              <a:cs typeface="Arial" panose="020B0604020202020204"/>
            </a:endParaRPr>
          </a:p>
          <a:p>
            <a:pPr algn="l"/>
            <a:r>
              <a:rPr lang="zh-CN" altLang="en-US" sz="2400" b="1" dirty="0">
                <a:latin typeface="Arial" panose="020B0604020202020204"/>
                <a:ea typeface="微软雅黑" panose="020B0503020204020204" charset="-122"/>
                <a:cs typeface="Arial" panose="020B0604020202020204"/>
              </a:rPr>
              <a:t>但尚不足以覆盖本研究需要比较的全部机制。</a:t>
            </a:r>
            <a:endParaRPr lang="zh-CN" altLang="en-US" sz="2400" b="1" dirty="0">
              <a:latin typeface="Arial" panose="020B0604020202020204"/>
              <a:ea typeface="微软雅黑" panose="020B0503020204020204" charset="-122"/>
              <a:cs typeface="Arial" panose="020B0604020202020204"/>
            </a:endParaRPr>
          </a:p>
        </p:txBody>
      </p:sp>
      <p:sp>
        <p:nvSpPr>
          <p:cNvPr id="2" name="文本框 1"/>
          <p:cNvSpPr txBox="1"/>
          <p:nvPr/>
        </p:nvSpPr>
        <p:spPr>
          <a:xfrm>
            <a:off x="360680" y="1059815"/>
            <a:ext cx="10462895" cy="3599815"/>
          </a:xfrm>
          <a:prstGeom prst="rect">
            <a:avLst/>
          </a:prstGeom>
        </p:spPr>
        <p:txBody>
          <a:bodyPr wrap="square">
            <a:spAutoFit/>
          </a:bodyPr>
          <a:lstStyle/>
          <a:p>
            <a:pPr indent="457200" algn="l">
              <a:buClrTx/>
              <a:buSzTx/>
              <a:buFontTx/>
            </a:pPr>
            <a:r>
              <a:rPr lang="zh-CN" altLang="en-US" sz="1800" b="1">
                <a:latin typeface="Arial" panose="020B0604020202020204"/>
                <a:ea typeface="微软雅黑" panose="020B0503020204020204" charset="-122"/>
                <a:cs typeface="Arial" panose="020B0604020202020204"/>
              </a:rPr>
              <a:t>模型不足之处</a:t>
            </a:r>
            <a:endParaRPr lang="zh-CN" altLang="en-US" sz="1800" b="1">
              <a:latin typeface="Arial" panose="020B0604020202020204"/>
              <a:ea typeface="微软雅黑" panose="020B0503020204020204" charset="-122"/>
              <a:cs typeface="Arial" panose="020B0604020202020204"/>
            </a:endParaRPr>
          </a:p>
          <a:p>
            <a:pPr indent="457200" algn="l">
              <a:buClrTx/>
              <a:buSzTx/>
              <a:buFontTx/>
            </a:pPr>
            <a:endParaRPr lang="zh-CN" altLang="en-US" sz="1800">
              <a:latin typeface="Arial" panose="020B0604020202020204"/>
              <a:ea typeface="微软雅黑" panose="020B0503020204020204" charset="-122"/>
              <a:cs typeface="Arial" panose="020B0604020202020204"/>
            </a:endParaRPr>
          </a:p>
          <a:p>
            <a:pPr indent="457200" algn="l">
              <a:buClrTx/>
              <a:buSzTx/>
              <a:buFontTx/>
            </a:pPr>
            <a:r>
              <a:rPr lang="en-US" altLang="zh-CN" sz="2400" b="1">
                <a:latin typeface="Arial" panose="020B0604020202020204"/>
                <a:ea typeface="微软雅黑" panose="020B0503020204020204" charset="-122"/>
                <a:cs typeface="Arial" panose="020B0604020202020204"/>
              </a:rPr>
              <a:t>· </a:t>
            </a:r>
            <a:r>
              <a:rPr lang="zh-CN" altLang="en-US" sz="1800">
                <a:latin typeface="Arial" panose="020B0604020202020204"/>
                <a:ea typeface="微软雅黑" panose="020B0503020204020204" charset="-122"/>
                <a:cs typeface="Arial" panose="020B0604020202020204"/>
              </a:rPr>
              <a:t>使用白化后的图片直接输入，缺少真实的LGN ON/OFF脉冲层。</a:t>
            </a:r>
            <a:endParaRPr lang="zh-CN" altLang="en-US" sz="1800">
              <a:latin typeface="Arial" panose="020B0604020202020204"/>
              <a:ea typeface="微软雅黑" panose="020B0503020204020204" charset="-122"/>
              <a:cs typeface="Arial" panose="020B0604020202020204"/>
            </a:endParaRPr>
          </a:p>
          <a:p>
            <a:pPr indent="457200" algn="l">
              <a:buClrTx/>
              <a:buSzTx/>
              <a:buFontTx/>
            </a:pPr>
            <a:endParaRPr lang="zh-CN" altLang="en-US" sz="1800">
              <a:latin typeface="Arial" panose="020B0604020202020204"/>
              <a:ea typeface="微软雅黑" panose="020B0503020204020204" charset="-122"/>
              <a:cs typeface="Arial" panose="020B0604020202020204"/>
            </a:endParaRPr>
          </a:p>
          <a:p>
            <a:pPr indent="457200" algn="l">
              <a:buClrTx/>
              <a:buSzTx/>
              <a:buFontTx/>
            </a:pPr>
            <a:r>
              <a:rPr lang="en-US" altLang="zh-CN" sz="2400" b="1">
                <a:latin typeface="Arial" panose="020B0604020202020204"/>
                <a:ea typeface="微软雅黑" panose="020B0503020204020204" charset="-122"/>
                <a:cs typeface="Arial" panose="020B0604020202020204"/>
              </a:rPr>
              <a:t>· </a:t>
            </a:r>
            <a:r>
              <a:rPr lang="zh-CN" altLang="en-US" sz="1800">
                <a:latin typeface="Arial" panose="020B0604020202020204"/>
                <a:ea typeface="微软雅黑" panose="020B0503020204020204" charset="-122"/>
                <a:cs typeface="Arial" panose="020B0604020202020204"/>
              </a:rPr>
              <a:t>前馈输入只链接</a:t>
            </a:r>
            <a:r>
              <a:rPr lang="en-US" altLang="zh-CN" sz="1800">
                <a:latin typeface="Arial" panose="020B0604020202020204"/>
                <a:ea typeface="微软雅黑" panose="020B0503020204020204" charset="-122"/>
                <a:cs typeface="Arial" panose="020B0604020202020204"/>
              </a:rPr>
              <a:t>E</a:t>
            </a:r>
            <a:r>
              <a:rPr lang="zh-CN" altLang="en-US" sz="1800">
                <a:latin typeface="Arial" panose="020B0604020202020204"/>
                <a:ea typeface="微软雅黑" panose="020B0503020204020204" charset="-122"/>
                <a:cs typeface="Arial" panose="020B0604020202020204"/>
              </a:rPr>
              <a:t>神经元，缺少与I神经元之间的连接。</a:t>
            </a:r>
            <a:endParaRPr lang="zh-CN" altLang="en-US" sz="1800">
              <a:latin typeface="Arial" panose="020B0604020202020204"/>
              <a:ea typeface="微软雅黑" panose="020B0503020204020204" charset="-122"/>
              <a:cs typeface="Arial" panose="020B0604020202020204"/>
            </a:endParaRPr>
          </a:p>
          <a:p>
            <a:pPr indent="457200" algn="l">
              <a:buClrTx/>
              <a:buSzTx/>
              <a:buFontTx/>
            </a:pPr>
            <a:endParaRPr lang="zh-CN" altLang="en-US" sz="1800">
              <a:latin typeface="Arial" panose="020B0604020202020204"/>
              <a:ea typeface="微软雅黑" panose="020B0503020204020204" charset="-122"/>
              <a:cs typeface="Arial" panose="020B0604020202020204"/>
            </a:endParaRPr>
          </a:p>
          <a:p>
            <a:pPr indent="457200" algn="l">
              <a:buClrTx/>
              <a:buSzTx/>
              <a:buFontTx/>
            </a:pPr>
            <a:r>
              <a:rPr lang="en-US" altLang="zh-CN" sz="2400" b="1">
                <a:latin typeface="Arial" panose="020B0604020202020204"/>
                <a:ea typeface="微软雅黑" panose="020B0503020204020204" charset="-122"/>
                <a:cs typeface="Arial" panose="020B0604020202020204"/>
              </a:rPr>
              <a:t>· </a:t>
            </a:r>
            <a:r>
              <a:rPr lang="zh-CN" altLang="en-US" sz="1800">
                <a:latin typeface="Arial" panose="020B0604020202020204"/>
                <a:ea typeface="微软雅黑" panose="020B0503020204020204" charset="-122"/>
                <a:cs typeface="Arial" panose="020B0604020202020204"/>
              </a:rPr>
              <a:t>缺少E→E之间的兴奋性连接。</a:t>
            </a:r>
            <a:endParaRPr lang="zh-CN" altLang="en-US" sz="1800">
              <a:latin typeface="Arial" panose="020B0604020202020204"/>
              <a:ea typeface="微软雅黑" panose="020B0503020204020204" charset="-122"/>
              <a:cs typeface="Arial" panose="020B0604020202020204"/>
            </a:endParaRPr>
          </a:p>
          <a:p>
            <a:pPr indent="457200" algn="l">
              <a:buClrTx/>
              <a:buSzTx/>
              <a:buFontTx/>
            </a:pPr>
            <a:endParaRPr lang="zh-CN" altLang="en-US" sz="1800">
              <a:latin typeface="Arial" panose="020B0604020202020204"/>
              <a:ea typeface="微软雅黑" panose="020B0503020204020204" charset="-122"/>
              <a:cs typeface="Arial" panose="020B0604020202020204"/>
            </a:endParaRPr>
          </a:p>
          <a:p>
            <a:pPr indent="457200" algn="l">
              <a:buClrTx/>
              <a:buSzTx/>
              <a:buFontTx/>
            </a:pPr>
            <a:r>
              <a:rPr lang="en-US" altLang="zh-CN" sz="2400" b="1">
                <a:latin typeface="Arial" panose="020B0604020202020204"/>
                <a:ea typeface="微软雅黑" panose="020B0503020204020204" charset="-122"/>
                <a:cs typeface="Arial" panose="020B0604020202020204"/>
              </a:rPr>
              <a:t>· </a:t>
            </a:r>
            <a:r>
              <a:rPr lang="zh-CN" altLang="en-US" sz="1800">
                <a:latin typeface="Arial" panose="020B0604020202020204"/>
                <a:ea typeface="微软雅黑" panose="020B0503020204020204" charset="-122"/>
                <a:cs typeface="Arial" panose="020B0604020202020204"/>
              </a:rPr>
              <a:t>稳态调节主要简化为自适应阈值，机制不够完整。</a:t>
            </a:r>
            <a:endParaRPr lang="zh-CN" altLang="en-US" sz="1800">
              <a:latin typeface="Arial" panose="020B0604020202020204"/>
              <a:ea typeface="微软雅黑" panose="020B0503020204020204" charset="-122"/>
              <a:cs typeface="Arial" panose="020B0604020202020204"/>
            </a:endParaRPr>
          </a:p>
          <a:p>
            <a:pPr indent="457200" algn="l">
              <a:buClrTx/>
              <a:buSzTx/>
              <a:buFontTx/>
            </a:pPr>
            <a:endParaRPr lang="zh-CN" altLang="en-US" sz="1800">
              <a:latin typeface="Arial" panose="020B0604020202020204"/>
              <a:ea typeface="微软雅黑" panose="020B0503020204020204" charset="-122"/>
              <a:cs typeface="Arial" panose="020B0604020202020204"/>
            </a:endParaRPr>
          </a:p>
          <a:p>
            <a:pPr indent="457200" algn="l">
              <a:buClrTx/>
              <a:buSzTx/>
              <a:buFontTx/>
            </a:pPr>
            <a:r>
              <a:rPr lang="en-US" altLang="zh-CN" sz="2400" b="1">
                <a:latin typeface="Arial" panose="020B0604020202020204"/>
                <a:ea typeface="微软雅黑" panose="020B0503020204020204" charset="-122"/>
                <a:cs typeface="Arial" panose="020B0604020202020204"/>
                <a:sym typeface="+mn-ea"/>
              </a:rPr>
              <a:t>· </a:t>
            </a:r>
            <a:r>
              <a:rPr lang="zh-CN" altLang="en-US" sz="1800">
                <a:latin typeface="Arial" panose="020B0604020202020204"/>
                <a:ea typeface="微软雅黑" panose="020B0503020204020204" charset="-122"/>
                <a:cs typeface="Arial" panose="020B0604020202020204"/>
                <a:sym typeface="+mn-ea"/>
              </a:rPr>
              <a:t>E神经元与I神经元的比例为</a:t>
            </a:r>
            <a:r>
              <a:rPr lang="en-US" altLang="zh-CN" sz="1800">
                <a:latin typeface="Arial" panose="020B0604020202020204"/>
                <a:ea typeface="微软雅黑" panose="020B0503020204020204" charset="-122"/>
                <a:cs typeface="Arial" panose="020B0604020202020204"/>
                <a:sym typeface="+mn-ea"/>
              </a:rPr>
              <a:t> 8</a:t>
            </a:r>
            <a:r>
              <a:rPr lang="zh-CN" altLang="en-US" sz="1800">
                <a:latin typeface="Arial" panose="020B0604020202020204"/>
                <a:ea typeface="微软雅黑" panose="020B0503020204020204" charset="-122"/>
                <a:cs typeface="Arial" panose="020B0604020202020204"/>
                <a:sym typeface="+mn-ea"/>
              </a:rPr>
              <a:t>：</a:t>
            </a:r>
            <a:r>
              <a:rPr lang="en-US" altLang="zh-CN" sz="1800">
                <a:latin typeface="Arial" panose="020B0604020202020204"/>
                <a:ea typeface="微软雅黑" panose="020B0503020204020204" charset="-122"/>
                <a:cs typeface="Arial" panose="020B0604020202020204"/>
                <a:sym typeface="+mn-ea"/>
              </a:rPr>
              <a:t>1</a:t>
            </a:r>
            <a:r>
              <a:rPr lang="zh-CN" altLang="en-US" sz="1800">
                <a:latin typeface="Arial" panose="020B0604020202020204"/>
                <a:ea typeface="微软雅黑" panose="020B0503020204020204" charset="-122"/>
                <a:cs typeface="Arial" panose="020B0604020202020204"/>
                <a:sym typeface="+mn-ea"/>
              </a:rPr>
              <a:t>，与真实生物如小鼠</a:t>
            </a:r>
            <a:r>
              <a:rPr lang="en-US" altLang="zh-CN" sz="1800">
                <a:latin typeface="Arial" panose="020B0604020202020204"/>
                <a:ea typeface="微软雅黑" panose="020B0503020204020204" charset="-122"/>
                <a:cs typeface="Arial" panose="020B0604020202020204"/>
                <a:sym typeface="+mn-ea"/>
              </a:rPr>
              <a:t>,</a:t>
            </a:r>
            <a:r>
              <a:rPr lang="zh-CN" altLang="en-US" sz="1800">
                <a:latin typeface="Arial" panose="020B0604020202020204"/>
                <a:ea typeface="微软雅黑" panose="020B0503020204020204" charset="-122"/>
                <a:cs typeface="Arial" panose="020B0604020202020204"/>
                <a:sym typeface="+mn-ea"/>
              </a:rPr>
              <a:t>猕猴</a:t>
            </a:r>
            <a:r>
              <a:rPr lang="en-US" altLang="zh-CN" sz="1800">
                <a:latin typeface="Arial" panose="020B0604020202020204"/>
                <a:ea typeface="微软雅黑" panose="020B0503020204020204" charset="-122"/>
                <a:cs typeface="Arial" panose="020B0604020202020204"/>
                <a:sym typeface="+mn-ea"/>
              </a:rPr>
              <a:t>,</a:t>
            </a:r>
            <a:r>
              <a:rPr lang="zh-CN" altLang="en-US" sz="1800">
                <a:latin typeface="Arial" panose="020B0604020202020204"/>
                <a:ea typeface="微软雅黑" panose="020B0503020204020204" charset="-122"/>
                <a:cs typeface="Arial" panose="020B0604020202020204"/>
                <a:sym typeface="+mn-ea"/>
              </a:rPr>
              <a:t>人类的</a:t>
            </a:r>
            <a:r>
              <a:rPr lang="en-US" altLang="zh-CN" sz="1800">
                <a:latin typeface="Arial" panose="020B0604020202020204"/>
                <a:ea typeface="微软雅黑" panose="020B0503020204020204" charset="-122"/>
                <a:cs typeface="Arial" panose="020B0604020202020204"/>
                <a:sym typeface="+mn-ea"/>
              </a:rPr>
              <a:t> 4:1 </a:t>
            </a:r>
            <a:r>
              <a:rPr lang="zh-CN" altLang="en-US" sz="1800">
                <a:latin typeface="Arial" panose="020B0604020202020204"/>
                <a:ea typeface="微软雅黑" panose="020B0503020204020204" charset="-122"/>
                <a:cs typeface="Arial" panose="020B0604020202020204"/>
                <a:sym typeface="+mn-ea"/>
              </a:rPr>
              <a:t>有所差距</a:t>
            </a:r>
            <a:endParaRPr lang="en-US" altLang="zh-CN" sz="1800">
              <a:latin typeface="Arial" panose="020B0604020202020204"/>
              <a:ea typeface="微软雅黑" panose="020B0503020204020204" charset="-122"/>
              <a:cs typeface="Arial" panose="020B0604020202020204"/>
              <a:sym typeface="+mn-ea"/>
            </a:endParaRPr>
          </a:p>
        </p:txBody>
      </p:sp>
      <p:sp>
        <p:nvSpPr>
          <p:cNvPr id="3" name="文本框 2"/>
          <p:cNvSpPr txBox="1"/>
          <p:nvPr/>
        </p:nvSpPr>
        <p:spPr>
          <a:xfrm>
            <a:off x="1957070" y="4967605"/>
            <a:ext cx="8164195" cy="922020"/>
          </a:xfrm>
          <a:prstGeom prst="rect">
            <a:avLst/>
          </a:prstGeom>
          <a:noFill/>
        </p:spPr>
        <p:txBody>
          <a:bodyPr wrap="square" rtlCol="0">
            <a:spAutoFit/>
          </a:bodyPr>
          <a:lstStyle/>
          <a:p>
            <a:pPr algn="ctr"/>
            <a:r>
              <a:rPr lang="zh-CN" altLang="en-US">
                <a:highlight>
                  <a:srgbClr val="FFFF00"/>
                </a:highlight>
                <a:latin typeface="Arial" panose="020B0604020202020204"/>
                <a:ea typeface="微软雅黑" panose="020B0503020204020204" charset="-122"/>
                <a:cs typeface="Arial" panose="020B0604020202020204"/>
              </a:rPr>
              <a:t>因此，研究转向2025 </a:t>
            </a:r>
            <a:r>
              <a:rPr lang="en-US" altLang="zh-CN">
                <a:highlight>
                  <a:srgbClr val="FFFF00"/>
                </a:highlight>
                <a:latin typeface="Arial" panose="020B0604020202020204"/>
                <a:ea typeface="微软雅黑" panose="020B0503020204020204" charset="-122"/>
                <a:cs typeface="Arial" panose="020B0604020202020204"/>
              </a:rPr>
              <a:t>Rusilm</a:t>
            </a:r>
            <a:r>
              <a:rPr lang="zh-CN" altLang="en-US">
                <a:highlight>
                  <a:srgbClr val="FFFF00"/>
                </a:highlight>
                <a:latin typeface="Arial" panose="020B0604020202020204"/>
                <a:ea typeface="微软雅黑" panose="020B0503020204020204" charset="-122"/>
                <a:cs typeface="Arial" panose="020B0604020202020204"/>
              </a:rPr>
              <a:t>模型</a:t>
            </a:r>
            <a:endParaRPr lang="zh-CN" altLang="en-US">
              <a:highlight>
                <a:srgbClr val="FFFF00"/>
              </a:highlight>
              <a:latin typeface="Arial" panose="020B0604020202020204"/>
              <a:ea typeface="微软雅黑" panose="020B0503020204020204" charset="-122"/>
              <a:cs typeface="Arial" panose="020B0604020202020204"/>
            </a:endParaRPr>
          </a:p>
          <a:p>
            <a:pPr algn="ctr"/>
            <a:endParaRPr lang="zh-CN" altLang="en-US">
              <a:highlight>
                <a:srgbClr val="FFFF00"/>
              </a:highlight>
              <a:latin typeface="Arial" panose="020B0604020202020204"/>
              <a:ea typeface="微软雅黑" panose="020B0503020204020204" charset="-122"/>
              <a:cs typeface="Arial" panose="020B0604020202020204"/>
            </a:endParaRPr>
          </a:p>
          <a:p>
            <a:pPr algn="ctr"/>
            <a:r>
              <a:rPr lang="zh-CN" altLang="en-US">
                <a:highlight>
                  <a:srgbClr val="FFFF00"/>
                </a:highlight>
                <a:latin typeface="Arial" panose="020B0604020202020204"/>
                <a:ea typeface="微软雅黑" panose="020B0503020204020204" charset="-122"/>
                <a:cs typeface="Arial" panose="020B0604020202020204"/>
              </a:rPr>
              <a:t>在更完整的</a:t>
            </a:r>
            <a:r>
              <a:rPr lang="en-US" altLang="zh-CN">
                <a:highlight>
                  <a:srgbClr val="FFFF00"/>
                </a:highlight>
                <a:latin typeface="Arial" panose="020B0604020202020204"/>
                <a:ea typeface="微软雅黑" panose="020B0503020204020204" charset="-122"/>
                <a:cs typeface="Arial" panose="020B0604020202020204"/>
              </a:rPr>
              <a:t>V1</a:t>
            </a:r>
            <a:r>
              <a:rPr lang="zh-CN" altLang="en-US">
                <a:highlight>
                  <a:srgbClr val="FFFF00"/>
                </a:highlight>
                <a:latin typeface="Arial" panose="020B0604020202020204"/>
                <a:ea typeface="微软雅黑" panose="020B0503020204020204" charset="-122"/>
                <a:cs typeface="Arial" panose="020B0604020202020204"/>
              </a:rPr>
              <a:t>回路中研究</a:t>
            </a:r>
            <a:r>
              <a:rPr lang="zh-CN" altLang="en-US" b="1">
                <a:highlight>
                  <a:srgbClr val="FFFF00"/>
                </a:highlight>
                <a:latin typeface="Arial" panose="020B0604020202020204"/>
                <a:ea typeface="微软雅黑" panose="020B0503020204020204" charset="-122"/>
                <a:cs typeface="Arial" panose="020B0604020202020204"/>
              </a:rPr>
              <a:t>抑制性回路</a:t>
            </a:r>
            <a:r>
              <a:rPr lang="zh-CN" altLang="en-US">
                <a:highlight>
                  <a:srgbClr val="FFFF00"/>
                </a:highlight>
                <a:latin typeface="Arial" panose="020B0604020202020204"/>
                <a:ea typeface="微软雅黑" panose="020B0503020204020204" charset="-122"/>
                <a:cs typeface="Arial" panose="020B0604020202020204"/>
              </a:rPr>
              <a:t>与</a:t>
            </a:r>
            <a:r>
              <a:rPr lang="zh-CN" altLang="en-US" b="1">
                <a:highlight>
                  <a:srgbClr val="FFFF00"/>
                </a:highlight>
                <a:latin typeface="Arial" panose="020B0604020202020204"/>
                <a:ea typeface="微软雅黑" panose="020B0503020204020204" charset="-122"/>
                <a:cs typeface="Arial" panose="020B0604020202020204"/>
              </a:rPr>
              <a:t>多种稳态机制</a:t>
            </a:r>
            <a:r>
              <a:rPr lang="zh-CN" altLang="en-US">
                <a:highlight>
                  <a:srgbClr val="FFFF00"/>
                </a:highlight>
                <a:latin typeface="Arial" panose="020B0604020202020204"/>
                <a:ea typeface="微软雅黑" panose="020B0503020204020204" charset="-122"/>
                <a:cs typeface="Arial" panose="020B0604020202020204"/>
              </a:rPr>
              <a:t>如何共同塑造稀疏表征。</a:t>
            </a:r>
            <a:endParaRPr lang="zh-CN" altLang="en-US">
              <a:highlight>
                <a:srgbClr val="FFFF00"/>
              </a:highlight>
              <a:latin typeface="Arial" panose="020B0604020202020204"/>
              <a:ea typeface="微软雅黑" panose="020B0503020204020204" charset="-122"/>
              <a:cs typeface="Arial" panose="020B0604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p:cNvSpPr>
            <a:spLocks noGrp="1"/>
          </p:cNvSpPr>
          <p:nvPr/>
        </p:nvSpPr>
        <p:spPr>
          <a:xfrm>
            <a:off x="457200" y="266700"/>
            <a:ext cx="10334625" cy="523875"/>
          </a:xfrm>
          <a:prstGeom prst="rect">
            <a:avLst/>
          </a:prstGeom>
          <a:noFill/>
          <a:ln w="0">
            <a:noFill/>
          </a:ln>
        </p:spPr>
        <p:txBody>
          <a:bodyPr wrap="square" lIns="0" tIns="0" rIns="0" bIns="0" anchor="t">
            <a:noAutofit/>
          </a:bodyPr>
          <a:lstStyle>
            <a:defPPr>
              <a:defRPr sz="2400" b="1">
                <a:solidFill>
                  <a:srgbClr val="000000"/>
                </a:solidFill>
                <a:latin typeface="Arial" panose="020B0604020202020204"/>
                <a:ea typeface="微软雅黑" panose="020B0503020204020204" charset="-122"/>
                <a:cs typeface="微软雅黑" panose="020B0503020204020204" charset="-122"/>
              </a:defRPr>
            </a:defPPr>
            <a:lvl1pPr>
              <a:defRPr sz="2400" b="1">
                <a:solidFill>
                  <a:srgbClr val="000000"/>
                </a:solidFill>
                <a:latin typeface="Arial" panose="020B0604020202020204"/>
                <a:ea typeface="微软雅黑" panose="020B0503020204020204" charset="-122"/>
                <a:cs typeface="微软雅黑" panose="020B0503020204020204" charset="-122"/>
              </a:defRPr>
            </a:lvl1pPr>
            <a:lvl2pPr>
              <a:defRPr sz="2400" b="1">
                <a:solidFill>
                  <a:srgbClr val="000000"/>
                </a:solidFill>
                <a:latin typeface="Arial" panose="020B0604020202020204"/>
                <a:ea typeface="微软雅黑" panose="020B0503020204020204" charset="-122"/>
                <a:cs typeface="微软雅黑" panose="020B0503020204020204" charset="-122"/>
              </a:defRPr>
            </a:lvl2pPr>
            <a:lvl3pPr>
              <a:defRPr sz="2400" b="1">
                <a:solidFill>
                  <a:srgbClr val="000000"/>
                </a:solidFill>
                <a:latin typeface="Arial" panose="020B0604020202020204"/>
                <a:ea typeface="微软雅黑" panose="020B0503020204020204" charset="-122"/>
                <a:cs typeface="微软雅黑" panose="020B0503020204020204" charset="-122"/>
              </a:defRPr>
            </a:lvl3pPr>
            <a:lvl4pPr>
              <a:defRPr sz="2400" b="1">
                <a:solidFill>
                  <a:srgbClr val="000000"/>
                </a:solidFill>
                <a:latin typeface="Arial" panose="020B0604020202020204"/>
                <a:ea typeface="微软雅黑" panose="020B0503020204020204" charset="-122"/>
                <a:cs typeface="微软雅黑" panose="020B0503020204020204" charset="-122"/>
              </a:defRPr>
            </a:lvl4pPr>
            <a:lvl5pPr>
              <a:defRPr sz="2400" b="1">
                <a:solidFill>
                  <a:srgbClr val="000000"/>
                </a:solidFill>
                <a:latin typeface="Arial" panose="020B0604020202020204"/>
                <a:ea typeface="微软雅黑" panose="020B0503020204020204" charset="-122"/>
                <a:cs typeface="微软雅黑" panose="020B0503020204020204" charset="-122"/>
              </a:defRPr>
            </a:lvl5pPr>
            <a:lvl6pPr>
              <a:defRPr sz="2400" b="1">
                <a:solidFill>
                  <a:srgbClr val="000000"/>
                </a:solidFill>
                <a:latin typeface="Arial" panose="020B0604020202020204"/>
                <a:ea typeface="微软雅黑" panose="020B0503020204020204" charset="-122"/>
                <a:cs typeface="微软雅黑" panose="020B0503020204020204" charset="-122"/>
              </a:defRPr>
            </a:lvl6pPr>
            <a:lvl7pPr>
              <a:defRPr sz="2400" b="1">
                <a:solidFill>
                  <a:srgbClr val="000000"/>
                </a:solidFill>
                <a:latin typeface="Arial" panose="020B0604020202020204"/>
                <a:ea typeface="微软雅黑" panose="020B0503020204020204" charset="-122"/>
                <a:cs typeface="微软雅黑" panose="020B0503020204020204" charset="-122"/>
              </a:defRPr>
            </a:lvl7pPr>
            <a:lvl8pPr>
              <a:defRPr sz="2400" b="1">
                <a:solidFill>
                  <a:srgbClr val="000000"/>
                </a:solidFill>
                <a:latin typeface="Arial" panose="020B0604020202020204"/>
                <a:ea typeface="微软雅黑" panose="020B0503020204020204" charset="-122"/>
                <a:cs typeface="微软雅黑" panose="020B0503020204020204" charset="-122"/>
              </a:defRPr>
            </a:lvl8pPr>
            <a:lvl9pPr>
              <a:defRPr sz="2400" b="1">
                <a:solidFill>
                  <a:srgbClr val="000000"/>
                </a:solidFill>
                <a:latin typeface="Arial" panose="020B0604020202020204"/>
                <a:ea typeface="微软雅黑" panose="020B0503020204020204" charset="-122"/>
                <a:cs typeface="微软雅黑" panose="020B0503020204020204" charset="-122"/>
              </a:defRPr>
            </a:lvl9pPr>
          </a:lstStyle>
          <a:p>
            <a:pPr>
              <a:defRPr sz="2400" b="1">
                <a:solidFill>
                  <a:srgbClr val="000000"/>
                </a:solidFill>
                <a:latin typeface="Arial" panose="020B0604020202020204"/>
                <a:ea typeface="微软雅黑" panose="020B0503020204020204" charset="-122"/>
                <a:cs typeface="微软雅黑" panose="020B0503020204020204" charset="-122"/>
              </a:defRPr>
            </a:pPr>
            <a:r>
              <a:rPr sz="2400" b="1">
                <a:solidFill>
                  <a:srgbClr val="000000"/>
                </a:solidFill>
                <a:latin typeface="Arial" panose="020B0604020202020204"/>
                <a:ea typeface="微软雅黑" panose="020B0503020204020204" charset="-122"/>
                <a:cs typeface="微软雅黑" panose="020B0503020204020204" charset="-122"/>
              </a:rPr>
              <a:t>Paul King模型的使用结果</a:t>
            </a:r>
            <a:endParaRPr sz="2400" b="1">
              <a:solidFill>
                <a:srgbClr val="000000"/>
              </a:solidFill>
              <a:latin typeface="Arial" panose="020B0604020202020204"/>
              <a:ea typeface="微软雅黑" panose="020B0503020204020204" charset="-122"/>
              <a:cs typeface="微软雅黑" panose="020B0503020204020204" charset="-122"/>
            </a:endParaRPr>
          </a:p>
        </p:txBody>
      </p:sp>
      <p:pic>
        <p:nvPicPr>
          <p:cNvPr id="2" name="图片 1"/>
          <p:cNvPicPr>
            <a:picLocks noChangeAspect="1"/>
          </p:cNvPicPr>
          <p:nvPr/>
        </p:nvPicPr>
        <p:blipFill>
          <a:blip r:embed="rId1"/>
          <a:stretch>
            <a:fillRect/>
          </a:stretch>
        </p:blipFill>
        <p:spPr>
          <a:xfrm>
            <a:off x="10921365" y="0"/>
            <a:ext cx="1270635" cy="1270635"/>
          </a:xfrm>
          <a:prstGeom prst="rect">
            <a:avLst/>
          </a:prstGeom>
        </p:spPr>
      </p:pic>
      <p:sp>
        <p:nvSpPr>
          <p:cNvPr id="3" name="PS消融：阈值自适应与E/I回路"/>
          <p:cNvSpPr>
            <a:spLocks noGrp="1"/>
          </p:cNvSpPr>
          <p:nvPr/>
        </p:nvSpPr>
        <p:spPr>
          <a:xfrm>
            <a:off x="342900" y="1000125"/>
            <a:ext cx="4029075" cy="276225"/>
          </a:xfrm>
          <a:prstGeom prst="rect">
            <a:avLst/>
          </a:prstGeom>
          <a:noFill/>
          <a:ln w="0">
            <a:noFill/>
          </a:ln>
        </p:spPr>
        <p:txBody>
          <a:bodyPr wrap="square" lIns="0" tIns="0" rIns="0" bIns="0" anchor="t">
            <a:noAutofit/>
          </a:bodyPr>
          <a:lstStyle>
            <a:defPPr>
              <a:defRPr sz="1500" b="1">
                <a:solidFill>
                  <a:srgbClr val="000000"/>
                </a:solidFill>
                <a:latin typeface="Arial" panose="020B0604020202020204"/>
                <a:ea typeface="微软雅黑" panose="020B0503020204020204" charset="-122"/>
                <a:cs typeface="微软雅黑" panose="020B0503020204020204" charset="-122"/>
              </a:defRPr>
            </a:defPPr>
            <a:lvl1pPr>
              <a:defRPr sz="1500" b="1">
                <a:solidFill>
                  <a:srgbClr val="000000"/>
                </a:solidFill>
                <a:latin typeface="Arial" panose="020B0604020202020204"/>
                <a:ea typeface="微软雅黑" panose="020B0503020204020204" charset="-122"/>
                <a:cs typeface="微软雅黑" panose="020B0503020204020204" charset="-122"/>
              </a:defRPr>
            </a:lvl1pPr>
            <a:lvl2pPr>
              <a:defRPr sz="1500" b="1">
                <a:solidFill>
                  <a:srgbClr val="000000"/>
                </a:solidFill>
                <a:latin typeface="Arial" panose="020B0604020202020204"/>
                <a:ea typeface="微软雅黑" panose="020B0503020204020204" charset="-122"/>
                <a:cs typeface="微软雅黑" panose="020B0503020204020204" charset="-122"/>
              </a:defRPr>
            </a:lvl2pPr>
            <a:lvl3pPr>
              <a:defRPr sz="1500" b="1">
                <a:solidFill>
                  <a:srgbClr val="000000"/>
                </a:solidFill>
                <a:latin typeface="Arial" panose="020B0604020202020204"/>
                <a:ea typeface="微软雅黑" panose="020B0503020204020204" charset="-122"/>
                <a:cs typeface="微软雅黑" panose="020B0503020204020204" charset="-122"/>
              </a:defRPr>
            </a:lvl3pPr>
            <a:lvl4pPr>
              <a:defRPr sz="1500" b="1">
                <a:solidFill>
                  <a:srgbClr val="000000"/>
                </a:solidFill>
                <a:latin typeface="Arial" panose="020B0604020202020204"/>
                <a:ea typeface="微软雅黑" panose="020B0503020204020204" charset="-122"/>
                <a:cs typeface="微软雅黑" panose="020B0503020204020204" charset="-122"/>
              </a:defRPr>
            </a:lvl4pPr>
            <a:lvl5pPr>
              <a:defRPr sz="1500" b="1">
                <a:solidFill>
                  <a:srgbClr val="000000"/>
                </a:solidFill>
                <a:latin typeface="Arial" panose="020B0604020202020204"/>
                <a:ea typeface="微软雅黑" panose="020B0503020204020204" charset="-122"/>
                <a:cs typeface="微软雅黑" panose="020B0503020204020204" charset="-122"/>
              </a:defRPr>
            </a:lvl5pPr>
            <a:lvl6pPr>
              <a:defRPr sz="1500" b="1">
                <a:solidFill>
                  <a:srgbClr val="000000"/>
                </a:solidFill>
                <a:latin typeface="Arial" panose="020B0604020202020204"/>
                <a:ea typeface="微软雅黑" panose="020B0503020204020204" charset="-122"/>
                <a:cs typeface="微软雅黑" panose="020B0503020204020204" charset="-122"/>
              </a:defRPr>
            </a:lvl6pPr>
            <a:lvl7pPr>
              <a:defRPr sz="1500" b="1">
                <a:solidFill>
                  <a:srgbClr val="000000"/>
                </a:solidFill>
                <a:latin typeface="Arial" panose="020B0604020202020204"/>
                <a:ea typeface="微软雅黑" panose="020B0503020204020204" charset="-122"/>
                <a:cs typeface="微软雅黑" panose="020B0503020204020204" charset="-122"/>
              </a:defRPr>
            </a:lvl7pPr>
            <a:lvl8pPr>
              <a:defRPr sz="1500" b="1">
                <a:solidFill>
                  <a:srgbClr val="000000"/>
                </a:solidFill>
                <a:latin typeface="Arial" panose="020B0604020202020204"/>
                <a:ea typeface="微软雅黑" panose="020B0503020204020204" charset="-122"/>
                <a:cs typeface="微软雅黑" panose="020B0503020204020204" charset="-122"/>
              </a:defRPr>
            </a:lvl8pPr>
            <a:lvl9pPr>
              <a:defRPr sz="1500" b="1">
                <a:solidFill>
                  <a:srgbClr val="000000"/>
                </a:solidFill>
                <a:latin typeface="Arial" panose="020B0604020202020204"/>
                <a:ea typeface="微软雅黑" panose="020B0503020204020204" charset="-122"/>
                <a:cs typeface="微软雅黑" panose="020B0503020204020204" charset="-122"/>
              </a:defRPr>
            </a:lvl9pPr>
          </a:lstStyle>
          <a:p>
            <a:pPr>
              <a:defRPr sz="1500" b="1">
                <a:solidFill>
                  <a:srgbClr val="000000"/>
                </a:solidFill>
                <a:latin typeface="Arial" panose="020B0604020202020204"/>
                <a:ea typeface="微软雅黑" panose="020B0503020204020204" charset="-122"/>
                <a:cs typeface="微软雅黑" panose="020B0503020204020204" charset="-122"/>
              </a:defRPr>
            </a:pPr>
            <a:r>
              <a:rPr sz="1500" b="1">
                <a:solidFill>
                  <a:srgbClr val="000000"/>
                </a:solidFill>
                <a:latin typeface="Arial" panose="020B0604020202020204"/>
                <a:ea typeface="微软雅黑" panose="020B0503020204020204" charset="-122"/>
                <a:cs typeface="微软雅黑" panose="020B0503020204020204" charset="-122"/>
              </a:rPr>
              <a:t>PS消融</a:t>
            </a:r>
            <a:r>
              <a:rPr lang="zh-CN" sz="1500" b="1">
                <a:solidFill>
                  <a:srgbClr val="000000"/>
                </a:solidFill>
                <a:latin typeface="Arial" panose="020B0604020202020204"/>
                <a:ea typeface="微软雅黑" panose="020B0503020204020204" charset="-122"/>
                <a:cs typeface="微软雅黑" panose="020B0503020204020204" charset="-122"/>
              </a:rPr>
              <a:t>实验</a:t>
            </a:r>
            <a:r>
              <a:rPr sz="1500" b="1">
                <a:solidFill>
                  <a:srgbClr val="000000"/>
                </a:solidFill>
                <a:latin typeface="Arial" panose="020B0604020202020204"/>
                <a:ea typeface="微软雅黑" panose="020B0503020204020204" charset="-122"/>
                <a:cs typeface="微软雅黑" panose="020B0503020204020204" charset="-122"/>
              </a:rPr>
              <a:t>：阈值自适应与E/I</a:t>
            </a:r>
            <a:r>
              <a:rPr lang="zh-CN" sz="1500" b="1">
                <a:solidFill>
                  <a:srgbClr val="000000"/>
                </a:solidFill>
                <a:latin typeface="Arial" panose="020B0604020202020204"/>
                <a:ea typeface="微软雅黑" panose="020B0503020204020204" charset="-122"/>
                <a:cs typeface="微软雅黑" panose="020B0503020204020204" charset="-122"/>
              </a:rPr>
              <a:t>连接</a:t>
            </a:r>
            <a:endParaRPr lang="zh-CN" sz="1500" b="1">
              <a:solidFill>
                <a:srgbClr val="000000"/>
              </a:solidFill>
              <a:latin typeface="Arial" panose="020B0604020202020204"/>
              <a:ea typeface="微软雅黑" panose="020B0503020204020204" charset="-122"/>
              <a:cs typeface="微软雅黑" panose="020B0503020204020204" charset="-122"/>
            </a:endParaRPr>
          </a:p>
        </p:txBody>
      </p:sp>
      <p:sp>
        <p:nvSpPr>
          <p:cNvPr id="4" name="Loose balance"/>
          <p:cNvSpPr>
            <a:spLocks noGrp="1"/>
          </p:cNvSpPr>
          <p:nvPr/>
        </p:nvSpPr>
        <p:spPr>
          <a:xfrm>
            <a:off x="4514850" y="1000125"/>
            <a:ext cx="3562350" cy="276225"/>
          </a:xfrm>
          <a:prstGeom prst="rect">
            <a:avLst/>
          </a:prstGeom>
          <a:noFill/>
          <a:ln w="0">
            <a:noFill/>
          </a:ln>
        </p:spPr>
        <p:txBody>
          <a:bodyPr wrap="square" lIns="0" tIns="0" rIns="0" bIns="0" anchor="t">
            <a:noAutofit/>
          </a:bodyPr>
          <a:lstStyle>
            <a:defPPr>
              <a:defRPr sz="1500" b="1">
                <a:solidFill>
                  <a:srgbClr val="000000"/>
                </a:solidFill>
                <a:latin typeface="Arial" panose="020B0604020202020204"/>
                <a:ea typeface="微软雅黑" panose="020B0503020204020204" charset="-122"/>
                <a:cs typeface="微软雅黑" panose="020B0503020204020204" charset="-122"/>
              </a:defRPr>
            </a:defPPr>
            <a:lvl1pPr>
              <a:defRPr sz="1500" b="1">
                <a:solidFill>
                  <a:srgbClr val="000000"/>
                </a:solidFill>
                <a:latin typeface="Arial" panose="020B0604020202020204"/>
                <a:ea typeface="微软雅黑" panose="020B0503020204020204" charset="-122"/>
                <a:cs typeface="微软雅黑" panose="020B0503020204020204" charset="-122"/>
              </a:defRPr>
            </a:lvl1pPr>
            <a:lvl2pPr>
              <a:defRPr sz="1500" b="1">
                <a:solidFill>
                  <a:srgbClr val="000000"/>
                </a:solidFill>
                <a:latin typeface="Arial" panose="020B0604020202020204"/>
                <a:ea typeface="微软雅黑" panose="020B0503020204020204" charset="-122"/>
                <a:cs typeface="微软雅黑" panose="020B0503020204020204" charset="-122"/>
              </a:defRPr>
            </a:lvl2pPr>
            <a:lvl3pPr>
              <a:defRPr sz="1500" b="1">
                <a:solidFill>
                  <a:srgbClr val="000000"/>
                </a:solidFill>
                <a:latin typeface="Arial" panose="020B0604020202020204"/>
                <a:ea typeface="微软雅黑" panose="020B0503020204020204" charset="-122"/>
                <a:cs typeface="微软雅黑" panose="020B0503020204020204" charset="-122"/>
              </a:defRPr>
            </a:lvl3pPr>
            <a:lvl4pPr>
              <a:defRPr sz="1500" b="1">
                <a:solidFill>
                  <a:srgbClr val="000000"/>
                </a:solidFill>
                <a:latin typeface="Arial" panose="020B0604020202020204"/>
                <a:ea typeface="微软雅黑" panose="020B0503020204020204" charset="-122"/>
                <a:cs typeface="微软雅黑" panose="020B0503020204020204" charset="-122"/>
              </a:defRPr>
            </a:lvl4pPr>
            <a:lvl5pPr>
              <a:defRPr sz="1500" b="1">
                <a:solidFill>
                  <a:srgbClr val="000000"/>
                </a:solidFill>
                <a:latin typeface="Arial" panose="020B0604020202020204"/>
                <a:ea typeface="微软雅黑" panose="020B0503020204020204" charset="-122"/>
                <a:cs typeface="微软雅黑" panose="020B0503020204020204" charset="-122"/>
              </a:defRPr>
            </a:lvl5pPr>
            <a:lvl6pPr>
              <a:defRPr sz="1500" b="1">
                <a:solidFill>
                  <a:srgbClr val="000000"/>
                </a:solidFill>
                <a:latin typeface="Arial" panose="020B0604020202020204"/>
                <a:ea typeface="微软雅黑" panose="020B0503020204020204" charset="-122"/>
                <a:cs typeface="微软雅黑" panose="020B0503020204020204" charset="-122"/>
              </a:defRPr>
            </a:lvl6pPr>
            <a:lvl7pPr>
              <a:defRPr sz="1500" b="1">
                <a:solidFill>
                  <a:srgbClr val="000000"/>
                </a:solidFill>
                <a:latin typeface="Arial" panose="020B0604020202020204"/>
                <a:ea typeface="微软雅黑" panose="020B0503020204020204" charset="-122"/>
                <a:cs typeface="微软雅黑" panose="020B0503020204020204" charset="-122"/>
              </a:defRPr>
            </a:lvl7pPr>
            <a:lvl8pPr>
              <a:defRPr sz="1500" b="1">
                <a:solidFill>
                  <a:srgbClr val="000000"/>
                </a:solidFill>
                <a:latin typeface="Arial" panose="020B0604020202020204"/>
                <a:ea typeface="微软雅黑" panose="020B0503020204020204" charset="-122"/>
                <a:cs typeface="微软雅黑" panose="020B0503020204020204" charset="-122"/>
              </a:defRPr>
            </a:lvl8pPr>
            <a:lvl9pPr>
              <a:defRPr sz="1500" b="1">
                <a:solidFill>
                  <a:srgbClr val="000000"/>
                </a:solidFill>
                <a:latin typeface="Arial" panose="020B0604020202020204"/>
                <a:ea typeface="微软雅黑" panose="020B0503020204020204" charset="-122"/>
                <a:cs typeface="微软雅黑" panose="020B0503020204020204" charset="-122"/>
              </a:defRPr>
            </a:lvl9pPr>
          </a:lstStyle>
          <a:p>
            <a:pPr>
              <a:defRPr sz="1500" b="1">
                <a:solidFill>
                  <a:srgbClr val="000000"/>
                </a:solidFill>
                <a:latin typeface="Arial" panose="020B0604020202020204"/>
                <a:ea typeface="微软雅黑" panose="020B0503020204020204" charset="-122"/>
                <a:cs typeface="微软雅黑" panose="020B0503020204020204" charset="-122"/>
              </a:defRPr>
            </a:pPr>
            <a:r>
              <a:rPr sz="1500" b="1">
                <a:solidFill>
                  <a:srgbClr val="000000"/>
                </a:solidFill>
                <a:latin typeface="Arial" panose="020B0604020202020204"/>
                <a:ea typeface="微软雅黑" panose="020B0503020204020204" charset="-122"/>
                <a:cs typeface="微软雅黑" panose="020B0503020204020204" charset="-122"/>
              </a:rPr>
              <a:t>Loose balance</a:t>
            </a:r>
            <a:endParaRPr sz="1500" b="1">
              <a:solidFill>
                <a:srgbClr val="000000"/>
              </a:solidFill>
              <a:latin typeface="Arial" panose="020B0604020202020204"/>
              <a:ea typeface="微软雅黑" panose="020B0503020204020204" charset="-122"/>
              <a:cs typeface="微软雅黑" panose="020B0503020204020204" charset="-122"/>
            </a:endParaRPr>
          </a:p>
        </p:txBody>
      </p:sp>
      <p:sp>
        <p:nvSpPr>
          <p:cNvPr id="5" name="Tight balance"/>
          <p:cNvSpPr>
            <a:spLocks noGrp="1"/>
          </p:cNvSpPr>
          <p:nvPr/>
        </p:nvSpPr>
        <p:spPr>
          <a:xfrm>
            <a:off x="8248650" y="1000125"/>
            <a:ext cx="3638550" cy="276225"/>
          </a:xfrm>
          <a:prstGeom prst="rect">
            <a:avLst/>
          </a:prstGeom>
          <a:noFill/>
          <a:ln w="0">
            <a:noFill/>
          </a:ln>
        </p:spPr>
        <p:txBody>
          <a:bodyPr wrap="square" lIns="0" tIns="0" rIns="0" bIns="0" anchor="t">
            <a:noAutofit/>
          </a:bodyPr>
          <a:lstStyle>
            <a:defPPr>
              <a:defRPr sz="1500" b="1">
                <a:solidFill>
                  <a:srgbClr val="000000"/>
                </a:solidFill>
                <a:latin typeface="Arial" panose="020B0604020202020204"/>
                <a:ea typeface="微软雅黑" panose="020B0503020204020204" charset="-122"/>
                <a:cs typeface="微软雅黑" panose="020B0503020204020204" charset="-122"/>
              </a:defRPr>
            </a:defPPr>
            <a:lvl1pPr>
              <a:defRPr sz="1500" b="1">
                <a:solidFill>
                  <a:srgbClr val="000000"/>
                </a:solidFill>
                <a:latin typeface="Arial" panose="020B0604020202020204"/>
                <a:ea typeface="微软雅黑" panose="020B0503020204020204" charset="-122"/>
                <a:cs typeface="微软雅黑" panose="020B0503020204020204" charset="-122"/>
              </a:defRPr>
            </a:lvl1pPr>
            <a:lvl2pPr>
              <a:defRPr sz="1500" b="1">
                <a:solidFill>
                  <a:srgbClr val="000000"/>
                </a:solidFill>
                <a:latin typeface="Arial" panose="020B0604020202020204"/>
                <a:ea typeface="微软雅黑" panose="020B0503020204020204" charset="-122"/>
                <a:cs typeface="微软雅黑" panose="020B0503020204020204" charset="-122"/>
              </a:defRPr>
            </a:lvl2pPr>
            <a:lvl3pPr>
              <a:defRPr sz="1500" b="1">
                <a:solidFill>
                  <a:srgbClr val="000000"/>
                </a:solidFill>
                <a:latin typeface="Arial" panose="020B0604020202020204"/>
                <a:ea typeface="微软雅黑" panose="020B0503020204020204" charset="-122"/>
                <a:cs typeface="微软雅黑" panose="020B0503020204020204" charset="-122"/>
              </a:defRPr>
            </a:lvl3pPr>
            <a:lvl4pPr>
              <a:defRPr sz="1500" b="1">
                <a:solidFill>
                  <a:srgbClr val="000000"/>
                </a:solidFill>
                <a:latin typeface="Arial" panose="020B0604020202020204"/>
                <a:ea typeface="微软雅黑" panose="020B0503020204020204" charset="-122"/>
                <a:cs typeface="微软雅黑" panose="020B0503020204020204" charset="-122"/>
              </a:defRPr>
            </a:lvl4pPr>
            <a:lvl5pPr>
              <a:defRPr sz="1500" b="1">
                <a:solidFill>
                  <a:srgbClr val="000000"/>
                </a:solidFill>
                <a:latin typeface="Arial" panose="020B0604020202020204"/>
                <a:ea typeface="微软雅黑" panose="020B0503020204020204" charset="-122"/>
                <a:cs typeface="微软雅黑" panose="020B0503020204020204" charset="-122"/>
              </a:defRPr>
            </a:lvl5pPr>
            <a:lvl6pPr>
              <a:defRPr sz="1500" b="1">
                <a:solidFill>
                  <a:srgbClr val="000000"/>
                </a:solidFill>
                <a:latin typeface="Arial" panose="020B0604020202020204"/>
                <a:ea typeface="微软雅黑" panose="020B0503020204020204" charset="-122"/>
                <a:cs typeface="微软雅黑" panose="020B0503020204020204" charset="-122"/>
              </a:defRPr>
            </a:lvl6pPr>
            <a:lvl7pPr>
              <a:defRPr sz="1500" b="1">
                <a:solidFill>
                  <a:srgbClr val="000000"/>
                </a:solidFill>
                <a:latin typeface="Arial" panose="020B0604020202020204"/>
                <a:ea typeface="微软雅黑" panose="020B0503020204020204" charset="-122"/>
                <a:cs typeface="微软雅黑" panose="020B0503020204020204" charset="-122"/>
              </a:defRPr>
            </a:lvl7pPr>
            <a:lvl8pPr>
              <a:defRPr sz="1500" b="1">
                <a:solidFill>
                  <a:srgbClr val="000000"/>
                </a:solidFill>
                <a:latin typeface="Arial" panose="020B0604020202020204"/>
                <a:ea typeface="微软雅黑" panose="020B0503020204020204" charset="-122"/>
                <a:cs typeface="微软雅黑" panose="020B0503020204020204" charset="-122"/>
              </a:defRPr>
            </a:lvl8pPr>
            <a:lvl9pPr>
              <a:defRPr sz="1500" b="1">
                <a:solidFill>
                  <a:srgbClr val="000000"/>
                </a:solidFill>
                <a:latin typeface="Arial" panose="020B0604020202020204"/>
                <a:ea typeface="微软雅黑" panose="020B0503020204020204" charset="-122"/>
                <a:cs typeface="微软雅黑" panose="020B0503020204020204" charset="-122"/>
              </a:defRPr>
            </a:lvl9pPr>
          </a:lstStyle>
          <a:p>
            <a:pPr>
              <a:defRPr sz="1500" b="1">
                <a:solidFill>
                  <a:srgbClr val="000000"/>
                </a:solidFill>
                <a:latin typeface="Arial" panose="020B0604020202020204"/>
                <a:ea typeface="微软雅黑" panose="020B0503020204020204" charset="-122"/>
                <a:cs typeface="微软雅黑" panose="020B0503020204020204" charset="-122"/>
              </a:defRPr>
            </a:pPr>
            <a:r>
              <a:rPr sz="1500" b="1">
                <a:solidFill>
                  <a:srgbClr val="000000"/>
                </a:solidFill>
                <a:latin typeface="Arial" panose="020B0604020202020204"/>
                <a:ea typeface="微软雅黑" panose="020B0503020204020204" charset="-122"/>
                <a:cs typeface="微软雅黑" panose="020B0503020204020204" charset="-122"/>
              </a:rPr>
              <a:t>Tight balance</a:t>
            </a:r>
            <a:endParaRPr sz="1500" b="1">
              <a:solidFill>
                <a:srgbClr val="000000"/>
              </a:solidFill>
              <a:latin typeface="Arial" panose="020B0604020202020204"/>
              <a:ea typeface="微软雅黑" panose="020B0503020204020204" charset="-122"/>
              <a:cs typeface="微软雅黑" panose="020B0503020204020204" charset="-122"/>
            </a:endParaRPr>
          </a:p>
        </p:txBody>
      </p:sp>
      <p:pic>
        <p:nvPicPr>
          <p:cNvPr id="7" name="图片 6"/>
          <p:cNvPicPr>
            <a:picLocks noChangeAspect="1"/>
          </p:cNvPicPr>
          <p:nvPr/>
        </p:nvPicPr>
        <p:blipFill>
          <a:blip r:embed="rId2"/>
          <a:stretch>
            <a:fillRect/>
          </a:stretch>
        </p:blipFill>
        <p:spPr>
          <a:xfrm>
            <a:off x="4515391" y="1446709"/>
            <a:ext cx="3561268" cy="2412008"/>
          </a:xfrm>
          <a:prstGeom prst="rect">
            <a:avLst/>
          </a:prstGeom>
        </p:spPr>
      </p:pic>
      <p:pic>
        <p:nvPicPr>
          <p:cNvPr id="8" name="图片 7"/>
          <p:cNvPicPr>
            <a:picLocks noChangeAspect="1"/>
          </p:cNvPicPr>
          <p:nvPr/>
        </p:nvPicPr>
        <p:blipFill>
          <a:blip r:embed="rId3"/>
          <a:stretch>
            <a:fillRect/>
          </a:stretch>
        </p:blipFill>
        <p:spPr>
          <a:xfrm>
            <a:off x="8248748" y="1846120"/>
            <a:ext cx="3638353" cy="1613185"/>
          </a:xfrm>
          <a:prstGeom prst="rect">
            <a:avLst/>
          </a:prstGeom>
        </p:spPr>
      </p:pic>
      <p:sp>
        <p:nvSpPr>
          <p:cNvPr id="10" name="PS消融：比较E细胞阈值自适应与双向E/I回路的四"/>
          <p:cNvSpPr>
            <a:spLocks noGrp="1"/>
          </p:cNvSpPr>
          <p:nvPr/>
        </p:nvSpPr>
        <p:spPr>
          <a:xfrm>
            <a:off x="314325" y="4029075"/>
            <a:ext cx="11477625" cy="447675"/>
          </a:xfrm>
          <a:prstGeom prst="rect">
            <a:avLst/>
          </a:prstGeom>
          <a:noFill/>
          <a:ln w="0">
            <a:noFill/>
          </a:ln>
        </p:spPr>
        <p:txBody>
          <a:bodyPr wrap="square" lIns="0" tIns="0" rIns="0" bIns="0" anchor="t">
            <a:noAutofit/>
          </a:bodyPr>
          <a:lstStyle>
            <a:defPPr>
              <a:defRPr sz="1275" b="0">
                <a:solidFill>
                  <a:srgbClr val="000000"/>
                </a:solidFill>
                <a:latin typeface="Arial" panose="020B0604020202020204"/>
                <a:ea typeface="微软雅黑" panose="020B0503020204020204" charset="-122"/>
                <a:cs typeface="微软雅黑" panose="020B0503020204020204" charset="-122"/>
              </a:defRPr>
            </a:defPPr>
            <a:lvl1pPr>
              <a:defRPr sz="1275" b="0">
                <a:solidFill>
                  <a:srgbClr val="000000"/>
                </a:solidFill>
                <a:latin typeface="Arial" panose="020B0604020202020204"/>
                <a:ea typeface="微软雅黑" panose="020B0503020204020204" charset="-122"/>
                <a:cs typeface="微软雅黑" panose="020B0503020204020204" charset="-122"/>
              </a:defRPr>
            </a:lvl1pPr>
            <a:lvl2pPr>
              <a:defRPr sz="1275" b="0">
                <a:solidFill>
                  <a:srgbClr val="000000"/>
                </a:solidFill>
                <a:latin typeface="Arial" panose="020B0604020202020204"/>
                <a:ea typeface="微软雅黑" panose="020B0503020204020204" charset="-122"/>
                <a:cs typeface="微软雅黑" panose="020B0503020204020204" charset="-122"/>
              </a:defRPr>
            </a:lvl2pPr>
            <a:lvl3pPr>
              <a:defRPr sz="1275" b="0">
                <a:solidFill>
                  <a:srgbClr val="000000"/>
                </a:solidFill>
                <a:latin typeface="Arial" panose="020B0604020202020204"/>
                <a:ea typeface="微软雅黑" panose="020B0503020204020204" charset="-122"/>
                <a:cs typeface="微软雅黑" panose="020B0503020204020204" charset="-122"/>
              </a:defRPr>
            </a:lvl3pPr>
            <a:lvl4pPr>
              <a:defRPr sz="1275" b="0">
                <a:solidFill>
                  <a:srgbClr val="000000"/>
                </a:solidFill>
                <a:latin typeface="Arial" panose="020B0604020202020204"/>
                <a:ea typeface="微软雅黑" panose="020B0503020204020204" charset="-122"/>
                <a:cs typeface="微软雅黑" panose="020B0503020204020204" charset="-122"/>
              </a:defRPr>
            </a:lvl4pPr>
            <a:lvl5pPr>
              <a:defRPr sz="1275" b="0">
                <a:solidFill>
                  <a:srgbClr val="000000"/>
                </a:solidFill>
                <a:latin typeface="Arial" panose="020B0604020202020204"/>
                <a:ea typeface="微软雅黑" panose="020B0503020204020204" charset="-122"/>
                <a:cs typeface="微软雅黑" panose="020B0503020204020204" charset="-122"/>
              </a:defRPr>
            </a:lvl5pPr>
            <a:lvl6pPr>
              <a:defRPr sz="1275" b="0">
                <a:solidFill>
                  <a:srgbClr val="000000"/>
                </a:solidFill>
                <a:latin typeface="Arial" panose="020B0604020202020204"/>
                <a:ea typeface="微软雅黑" panose="020B0503020204020204" charset="-122"/>
                <a:cs typeface="微软雅黑" panose="020B0503020204020204" charset="-122"/>
              </a:defRPr>
            </a:lvl6pPr>
            <a:lvl7pPr>
              <a:defRPr sz="1275" b="0">
                <a:solidFill>
                  <a:srgbClr val="000000"/>
                </a:solidFill>
                <a:latin typeface="Arial" panose="020B0604020202020204"/>
                <a:ea typeface="微软雅黑" panose="020B0503020204020204" charset="-122"/>
                <a:cs typeface="微软雅黑" panose="020B0503020204020204" charset="-122"/>
              </a:defRPr>
            </a:lvl7pPr>
            <a:lvl8pPr>
              <a:defRPr sz="1275" b="0">
                <a:solidFill>
                  <a:srgbClr val="000000"/>
                </a:solidFill>
                <a:latin typeface="Arial" panose="020B0604020202020204"/>
                <a:ea typeface="微软雅黑" panose="020B0503020204020204" charset="-122"/>
                <a:cs typeface="微软雅黑" panose="020B0503020204020204" charset="-122"/>
              </a:defRPr>
            </a:lvl8pPr>
            <a:lvl9pPr>
              <a:defRPr sz="1275" b="0">
                <a:solidFill>
                  <a:srgbClr val="000000"/>
                </a:solidFill>
                <a:latin typeface="Arial" panose="020B0604020202020204"/>
                <a:ea typeface="微软雅黑" panose="020B0503020204020204" charset="-122"/>
                <a:cs typeface="微软雅黑" panose="020B0503020204020204" charset="-122"/>
              </a:defRPr>
            </a:lvl9pPr>
          </a:lstStyle>
          <a:p>
            <a:pPr marL="101600" indent="-76200">
              <a:buChar char="·"/>
              <a:defRPr sz="1275" b="0">
                <a:solidFill>
                  <a:srgbClr val="000000"/>
                </a:solidFill>
                <a:latin typeface="Arial" panose="020B0604020202020204"/>
                <a:ea typeface="微软雅黑" panose="020B0503020204020204" charset="-122"/>
                <a:cs typeface="微软雅黑" panose="020B0503020204020204" charset="-122"/>
              </a:defRPr>
            </a:pPr>
            <a:r>
              <a:rPr lang="en-US" altLang="zh-CN" b="1"/>
              <a:t>  </a:t>
            </a:r>
            <a:r>
              <a:rPr lang="zh-CN" b="1"/>
              <a:t>消融实验</a:t>
            </a:r>
            <a:r>
              <a:t>：</a:t>
            </a:r>
            <a:r>
              <a:rPr lang="zh-CN" altLang="en-US"/>
              <a:t>在其他参数和随机种子一致的条件下，分别开启或关闭</a:t>
            </a:r>
            <a:r>
              <a:rPr lang="en-US" altLang="zh-CN"/>
              <a:t>E</a:t>
            </a:r>
            <a:r>
              <a:rPr lang="zh-CN" altLang="en-US"/>
              <a:t>神经元的自适应阈值和</a:t>
            </a:r>
            <a:r>
              <a:rPr lang="en-US" altLang="zh-CN"/>
              <a:t>E/I</a:t>
            </a:r>
            <a:r>
              <a:rPr lang="zh-CN" altLang="en-US"/>
              <a:t>之间的连接，设置“两者均关闭、仅保留自适应阈值、仅保留</a:t>
            </a:r>
            <a:r>
              <a:rPr lang="en-US" altLang="zh-CN"/>
              <a:t>EI</a:t>
            </a:r>
            <a:r>
              <a:rPr lang="zh-CN" altLang="en-US"/>
              <a:t>连接、两者均保留”四组。其中，关闭回路时同时断开</a:t>
            </a:r>
            <a:r>
              <a:rPr lang="en-US" altLang="zh-CN"/>
              <a:t>E→I</a:t>
            </a:r>
            <a:r>
              <a:rPr lang="zh-CN" altLang="en-US"/>
              <a:t>和</a:t>
            </a:r>
            <a:r>
              <a:rPr lang="en-US" altLang="zh-CN"/>
              <a:t>I→E</a:t>
            </a:r>
            <a:r>
              <a:rPr lang="zh-CN" altLang="en-US"/>
              <a:t>连接。训练过程中分阶段记录400个</a:t>
            </a:r>
            <a:r>
              <a:rPr lang="en-US" altLang="zh-CN"/>
              <a:t>E</a:t>
            </a:r>
            <a:r>
              <a:rPr lang="zh-CN" altLang="en-US"/>
              <a:t>神经元对100张图像的放电，计算平均群体稀疏性（</a:t>
            </a:r>
            <a:r>
              <a:rPr lang="en-US" altLang="zh-CN"/>
              <a:t>PS），</a:t>
            </a:r>
            <a:r>
              <a:rPr lang="zh-CN" altLang="en-US"/>
              <a:t>并结合完全沉默刺激的比例，比较两种机制各自及共同发挥的作用。</a:t>
            </a:r>
            <a:endParaRPr lang="zh-CN" altLang="en-US"/>
          </a:p>
        </p:txBody>
      </p:sp>
      <p:sp>
        <p:nvSpPr>
          <p:cNvPr id="12" name="Loose balance：选40个E神经元，比较"/>
          <p:cNvSpPr>
            <a:spLocks noGrp="1"/>
          </p:cNvSpPr>
          <p:nvPr/>
        </p:nvSpPr>
        <p:spPr>
          <a:xfrm>
            <a:off x="352425" y="4796790"/>
            <a:ext cx="11477625" cy="409575"/>
          </a:xfrm>
          <a:prstGeom prst="rect">
            <a:avLst/>
          </a:prstGeom>
          <a:noFill/>
          <a:ln w="0">
            <a:noFill/>
          </a:ln>
        </p:spPr>
        <p:txBody>
          <a:bodyPr wrap="square" lIns="0" tIns="0" rIns="0" bIns="0" anchor="t">
            <a:noAutofit/>
          </a:bodyPr>
          <a:lstStyle>
            <a:defPPr>
              <a:defRPr sz="1275" b="0">
                <a:solidFill>
                  <a:srgbClr val="000000"/>
                </a:solidFill>
                <a:latin typeface="Arial" panose="020B0604020202020204"/>
                <a:ea typeface="微软雅黑" panose="020B0503020204020204" charset="-122"/>
                <a:cs typeface="微软雅黑" panose="020B0503020204020204" charset="-122"/>
              </a:defRPr>
            </a:defPPr>
            <a:lvl1pPr>
              <a:defRPr sz="1275" b="0">
                <a:solidFill>
                  <a:srgbClr val="000000"/>
                </a:solidFill>
                <a:latin typeface="Arial" panose="020B0604020202020204"/>
                <a:ea typeface="微软雅黑" panose="020B0503020204020204" charset="-122"/>
                <a:cs typeface="微软雅黑" panose="020B0503020204020204" charset="-122"/>
              </a:defRPr>
            </a:lvl1pPr>
            <a:lvl2pPr>
              <a:defRPr sz="1275" b="0">
                <a:solidFill>
                  <a:srgbClr val="000000"/>
                </a:solidFill>
                <a:latin typeface="Arial" panose="020B0604020202020204"/>
                <a:ea typeface="微软雅黑" panose="020B0503020204020204" charset="-122"/>
                <a:cs typeface="微软雅黑" panose="020B0503020204020204" charset="-122"/>
              </a:defRPr>
            </a:lvl2pPr>
            <a:lvl3pPr>
              <a:defRPr sz="1275" b="0">
                <a:solidFill>
                  <a:srgbClr val="000000"/>
                </a:solidFill>
                <a:latin typeface="Arial" panose="020B0604020202020204"/>
                <a:ea typeface="微软雅黑" panose="020B0503020204020204" charset="-122"/>
                <a:cs typeface="微软雅黑" panose="020B0503020204020204" charset="-122"/>
              </a:defRPr>
            </a:lvl3pPr>
            <a:lvl4pPr>
              <a:defRPr sz="1275" b="0">
                <a:solidFill>
                  <a:srgbClr val="000000"/>
                </a:solidFill>
                <a:latin typeface="Arial" panose="020B0604020202020204"/>
                <a:ea typeface="微软雅黑" panose="020B0503020204020204" charset="-122"/>
                <a:cs typeface="微软雅黑" panose="020B0503020204020204" charset="-122"/>
              </a:defRPr>
            </a:lvl4pPr>
            <a:lvl5pPr>
              <a:defRPr sz="1275" b="0">
                <a:solidFill>
                  <a:srgbClr val="000000"/>
                </a:solidFill>
                <a:latin typeface="Arial" panose="020B0604020202020204"/>
                <a:ea typeface="微软雅黑" panose="020B0503020204020204" charset="-122"/>
                <a:cs typeface="微软雅黑" panose="020B0503020204020204" charset="-122"/>
              </a:defRPr>
            </a:lvl5pPr>
            <a:lvl6pPr>
              <a:defRPr sz="1275" b="0">
                <a:solidFill>
                  <a:srgbClr val="000000"/>
                </a:solidFill>
                <a:latin typeface="Arial" panose="020B0604020202020204"/>
                <a:ea typeface="微软雅黑" panose="020B0503020204020204" charset="-122"/>
                <a:cs typeface="微软雅黑" panose="020B0503020204020204" charset="-122"/>
              </a:defRPr>
            </a:lvl6pPr>
            <a:lvl7pPr>
              <a:defRPr sz="1275" b="0">
                <a:solidFill>
                  <a:srgbClr val="000000"/>
                </a:solidFill>
                <a:latin typeface="Arial" panose="020B0604020202020204"/>
                <a:ea typeface="微软雅黑" panose="020B0503020204020204" charset="-122"/>
                <a:cs typeface="微软雅黑" panose="020B0503020204020204" charset="-122"/>
              </a:defRPr>
            </a:lvl7pPr>
            <a:lvl8pPr>
              <a:defRPr sz="1275" b="0">
                <a:solidFill>
                  <a:srgbClr val="000000"/>
                </a:solidFill>
                <a:latin typeface="Arial" panose="020B0604020202020204"/>
                <a:ea typeface="微软雅黑" panose="020B0503020204020204" charset="-122"/>
                <a:cs typeface="微软雅黑" panose="020B0503020204020204" charset="-122"/>
              </a:defRPr>
            </a:lvl8pPr>
            <a:lvl9pPr>
              <a:defRPr sz="1275" b="0">
                <a:solidFill>
                  <a:srgbClr val="000000"/>
                </a:solidFill>
                <a:latin typeface="Arial" panose="020B0604020202020204"/>
                <a:ea typeface="微软雅黑" panose="020B0503020204020204" charset="-122"/>
                <a:cs typeface="微软雅黑" panose="020B0503020204020204" charset="-122"/>
              </a:defRPr>
            </a:lvl9pPr>
          </a:lstStyle>
          <a:p>
            <a:pPr marL="101600" indent="-76200">
              <a:buChar char="·"/>
              <a:defRPr sz="1275" b="0">
                <a:solidFill>
                  <a:srgbClr val="000000"/>
                </a:solidFill>
                <a:latin typeface="Arial" panose="020B0604020202020204"/>
                <a:ea typeface="微软雅黑" panose="020B0503020204020204" charset="-122"/>
                <a:cs typeface="微软雅黑" panose="020B0503020204020204" charset="-122"/>
              </a:defRPr>
            </a:pPr>
            <a:r>
              <a:rPr lang="en-US" altLang="zh-CN" b="1"/>
              <a:t> </a:t>
            </a:r>
            <a:r>
              <a:rPr lang="zh-CN" b="1"/>
              <a:t>探究</a:t>
            </a:r>
            <a:r>
              <a:rPr b="1"/>
              <a:t>Loose balance</a:t>
            </a:r>
            <a:r>
              <a:t>：选</a:t>
            </a:r>
            <a:r>
              <a:rPr lang="zh-CN"/>
              <a:t>定</a:t>
            </a:r>
            <a:r>
              <a:t>40个E神经元，比较低、中、高匹配图片下前馈、抑制和总电位的均值与标准差。</a:t>
            </a:r>
          </a:p>
        </p:txBody>
      </p:sp>
      <p:sp>
        <p:nvSpPr>
          <p:cNvPr id="13" name="Tight balance：同一E神经元接受10张"/>
          <p:cNvSpPr>
            <a:spLocks noGrp="1"/>
          </p:cNvSpPr>
          <p:nvPr/>
        </p:nvSpPr>
        <p:spPr>
          <a:xfrm>
            <a:off x="335915" y="5156835"/>
            <a:ext cx="11477625" cy="409575"/>
          </a:xfrm>
          <a:prstGeom prst="rect">
            <a:avLst/>
          </a:prstGeom>
          <a:noFill/>
          <a:ln w="0">
            <a:noFill/>
          </a:ln>
        </p:spPr>
        <p:txBody>
          <a:bodyPr wrap="square" lIns="0" tIns="0" rIns="0" bIns="0" anchor="t">
            <a:noAutofit/>
          </a:bodyPr>
          <a:lstStyle>
            <a:defPPr>
              <a:defRPr sz="1275" b="0">
                <a:solidFill>
                  <a:srgbClr val="000000"/>
                </a:solidFill>
                <a:latin typeface="Arial" panose="020B0604020202020204"/>
                <a:ea typeface="微软雅黑" panose="020B0503020204020204" charset="-122"/>
                <a:cs typeface="微软雅黑" panose="020B0503020204020204" charset="-122"/>
              </a:defRPr>
            </a:defPPr>
            <a:lvl1pPr>
              <a:defRPr sz="1275" b="0">
                <a:solidFill>
                  <a:srgbClr val="000000"/>
                </a:solidFill>
                <a:latin typeface="Arial" panose="020B0604020202020204"/>
                <a:ea typeface="微软雅黑" panose="020B0503020204020204" charset="-122"/>
                <a:cs typeface="微软雅黑" panose="020B0503020204020204" charset="-122"/>
              </a:defRPr>
            </a:lvl1pPr>
            <a:lvl2pPr>
              <a:defRPr sz="1275" b="0">
                <a:solidFill>
                  <a:srgbClr val="000000"/>
                </a:solidFill>
                <a:latin typeface="Arial" panose="020B0604020202020204"/>
                <a:ea typeface="微软雅黑" panose="020B0503020204020204" charset="-122"/>
                <a:cs typeface="微软雅黑" panose="020B0503020204020204" charset="-122"/>
              </a:defRPr>
            </a:lvl2pPr>
            <a:lvl3pPr>
              <a:defRPr sz="1275" b="0">
                <a:solidFill>
                  <a:srgbClr val="000000"/>
                </a:solidFill>
                <a:latin typeface="Arial" panose="020B0604020202020204"/>
                <a:ea typeface="微软雅黑" panose="020B0503020204020204" charset="-122"/>
                <a:cs typeface="微软雅黑" panose="020B0503020204020204" charset="-122"/>
              </a:defRPr>
            </a:lvl3pPr>
            <a:lvl4pPr>
              <a:defRPr sz="1275" b="0">
                <a:solidFill>
                  <a:srgbClr val="000000"/>
                </a:solidFill>
                <a:latin typeface="Arial" panose="020B0604020202020204"/>
                <a:ea typeface="微软雅黑" panose="020B0503020204020204" charset="-122"/>
                <a:cs typeface="微软雅黑" panose="020B0503020204020204" charset="-122"/>
              </a:defRPr>
            </a:lvl4pPr>
            <a:lvl5pPr>
              <a:defRPr sz="1275" b="0">
                <a:solidFill>
                  <a:srgbClr val="000000"/>
                </a:solidFill>
                <a:latin typeface="Arial" panose="020B0604020202020204"/>
                <a:ea typeface="微软雅黑" panose="020B0503020204020204" charset="-122"/>
                <a:cs typeface="微软雅黑" panose="020B0503020204020204" charset="-122"/>
              </a:defRPr>
            </a:lvl5pPr>
            <a:lvl6pPr>
              <a:defRPr sz="1275" b="0">
                <a:solidFill>
                  <a:srgbClr val="000000"/>
                </a:solidFill>
                <a:latin typeface="Arial" panose="020B0604020202020204"/>
                <a:ea typeface="微软雅黑" panose="020B0503020204020204" charset="-122"/>
                <a:cs typeface="微软雅黑" panose="020B0503020204020204" charset="-122"/>
              </a:defRPr>
            </a:lvl6pPr>
            <a:lvl7pPr>
              <a:defRPr sz="1275" b="0">
                <a:solidFill>
                  <a:srgbClr val="000000"/>
                </a:solidFill>
                <a:latin typeface="Arial" panose="020B0604020202020204"/>
                <a:ea typeface="微软雅黑" panose="020B0503020204020204" charset="-122"/>
                <a:cs typeface="微软雅黑" panose="020B0503020204020204" charset="-122"/>
              </a:defRPr>
            </a:lvl7pPr>
            <a:lvl8pPr>
              <a:defRPr sz="1275" b="0">
                <a:solidFill>
                  <a:srgbClr val="000000"/>
                </a:solidFill>
                <a:latin typeface="Arial" panose="020B0604020202020204"/>
                <a:ea typeface="微软雅黑" panose="020B0503020204020204" charset="-122"/>
                <a:cs typeface="微软雅黑" panose="020B0503020204020204" charset="-122"/>
              </a:defRPr>
            </a:lvl8pPr>
            <a:lvl9pPr>
              <a:defRPr sz="1275" b="0">
                <a:solidFill>
                  <a:srgbClr val="000000"/>
                </a:solidFill>
                <a:latin typeface="Arial" panose="020B0604020202020204"/>
                <a:ea typeface="微软雅黑" panose="020B0503020204020204" charset="-122"/>
                <a:cs typeface="微软雅黑" panose="020B0503020204020204" charset="-122"/>
              </a:defRPr>
            </a:lvl9pPr>
          </a:lstStyle>
          <a:p>
            <a:pPr marL="101600" indent="-76200">
              <a:buChar char="·"/>
              <a:defRPr sz="1275" b="0">
                <a:solidFill>
                  <a:srgbClr val="000000"/>
                </a:solidFill>
                <a:latin typeface="Arial" panose="020B0604020202020204"/>
                <a:ea typeface="微软雅黑" panose="020B0503020204020204" charset="-122"/>
                <a:cs typeface="微软雅黑" panose="020B0503020204020204" charset="-122"/>
              </a:defRPr>
            </a:pPr>
            <a:r>
              <a:rPr lang="en-US" altLang="zh-CN" b="1"/>
              <a:t> </a:t>
            </a:r>
            <a:r>
              <a:rPr lang="zh-CN" b="1"/>
              <a:t>探究</a:t>
            </a:r>
            <a:r>
              <a:rPr b="1"/>
              <a:t>Tight balance</a:t>
            </a:r>
            <a:r>
              <a:t>：同一E神经元接受10张高匹配图片，计算</a:t>
            </a:r>
            <a:r>
              <a:rPr lang="zh-CN"/>
              <a:t>兴奋性输入</a:t>
            </a:r>
            <a:r>
              <a:t>与抑制</a:t>
            </a:r>
            <a:r>
              <a:rPr lang="zh-CN"/>
              <a:t>输入</a:t>
            </a:r>
            <a:r>
              <a:t>的时间互相关。</a:t>
            </a:r>
          </a:p>
        </p:txBody>
      </p:sp>
      <p:pic>
        <p:nvPicPr>
          <p:cNvPr id="15" name="图片 14"/>
          <p:cNvPicPr/>
          <p:nvPr/>
        </p:nvPicPr>
        <p:blipFill>
          <a:blip r:embed="rId4"/>
          <a:stretch>
            <a:fillRect/>
          </a:stretch>
        </p:blipFill>
        <p:spPr>
          <a:xfrm>
            <a:off x="314325" y="1363345"/>
            <a:ext cx="3782695" cy="2558415"/>
          </a:xfrm>
          <a:prstGeom prst="rect">
            <a:avLst/>
          </a:prstGeom>
        </p:spPr>
      </p:pic>
      <p:sp>
        <p:nvSpPr>
          <p:cNvPr id="16" name="文本框 15"/>
          <p:cNvSpPr txBox="1"/>
          <p:nvPr/>
        </p:nvSpPr>
        <p:spPr>
          <a:xfrm>
            <a:off x="46990" y="5733415"/>
            <a:ext cx="11661775" cy="922020"/>
          </a:xfrm>
          <a:prstGeom prst="rect">
            <a:avLst/>
          </a:prstGeom>
          <a:noFill/>
        </p:spPr>
        <p:txBody>
          <a:bodyPr wrap="square" rtlCol="0">
            <a:spAutoFit/>
          </a:bodyPr>
          <a:p>
            <a:pPr marL="25400" indent="0" algn="ctr">
              <a:buClrTx/>
              <a:buSzTx/>
              <a:buFontTx/>
              <a:buNone/>
              <a:defRPr sz="1275" b="0">
                <a:solidFill>
                  <a:srgbClr val="000000"/>
                </a:solidFill>
                <a:latin typeface="Arial" panose="020B0604020202020204"/>
                <a:ea typeface="微软雅黑" panose="020B0503020204020204" charset="-122"/>
                <a:cs typeface="微软雅黑" panose="020B0503020204020204" charset="-122"/>
              </a:defRPr>
            </a:pPr>
            <a:r>
              <a:rPr lang="zh-CN" altLang="en-US" sz="1800"/>
              <a:t>问题：baseline情况下PS始终保持在较高水准，与生物实际不符，同时关闭相关机制后PS呈现出下降的样式</a:t>
            </a:r>
            <a:br>
              <a:rPr lang="zh-CN" altLang="en-US" sz="1800"/>
            </a:br>
            <a:r>
              <a:rPr lang="zh-CN" altLang="en-US" sz="1800"/>
              <a:t>而在研究E-I balance时，发现网络无法满足兴奋性输入与抑制性输入之间的tight balance</a:t>
            </a:r>
            <a:endParaRPr lang="zh-CN" altLang="en-US" sz="1800"/>
          </a:p>
          <a:p>
            <a:pPr marL="25400" indent="0" algn="ctr">
              <a:buClrTx/>
              <a:buSzTx/>
              <a:buFontTx/>
              <a:buNone/>
              <a:defRPr sz="1275" b="0">
                <a:solidFill>
                  <a:srgbClr val="000000"/>
                </a:solidFill>
                <a:latin typeface="Arial" panose="020B0604020202020204"/>
                <a:ea typeface="微软雅黑" panose="020B0503020204020204" charset="-122"/>
                <a:cs typeface="微软雅黑" panose="020B0503020204020204" charset="-122"/>
              </a:defRPr>
            </a:pPr>
            <a:r>
              <a:rPr lang="zh-CN" altLang="en-US" sz="1800"/>
              <a:t>种种因素叠加下，我们选择更换模型进行探索</a:t>
            </a:r>
            <a:endParaRPr lang="zh-CN" altLang="en-US" sz="18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p:nvPr/>
        </p:nvPicPr>
        <p:blipFill>
          <a:blip r:embed="rId1"/>
          <a:stretch>
            <a:fillRect/>
          </a:stretch>
        </p:blipFill>
        <p:spPr>
          <a:xfrm>
            <a:off x="10922000" y="0"/>
            <a:ext cx="1270000" cy="1270000"/>
          </a:xfrm>
          <a:prstGeom prst="rect">
            <a:avLst/>
          </a:prstGeom>
        </p:spPr>
      </p:pic>
      <p:sp>
        <p:nvSpPr>
          <p:cNvPr id="16" name="标题 1"/>
          <p:cNvSpPr txBox="1"/>
          <p:nvPr/>
        </p:nvSpPr>
        <p:spPr>
          <a:xfrm>
            <a:off x="0" y="154305"/>
            <a:ext cx="7638415" cy="46609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a:ea typeface="微软雅黑" panose="020B0503020204020204" charset="-122"/>
                <a:cs typeface="Arial" panose="020B0604020202020204"/>
              </a:defRPr>
            </a:lvl1pPr>
          </a:lstStyle>
          <a:p>
            <a:r>
              <a:rPr lang="en-US" altLang="zh-CN" sz="2400" b="1">
                <a:latin typeface="Arial" panose="020B0604020202020204"/>
                <a:ea typeface="微软雅黑" panose="020B0503020204020204" charset="-122"/>
                <a:cs typeface="Arial" panose="020B0604020202020204"/>
                <a:sym typeface="+mn-ea"/>
              </a:rPr>
              <a:t>Ruslim </a:t>
            </a:r>
            <a:r>
              <a:rPr lang="zh-CN" altLang="en-US" sz="2400" b="1" dirty="0">
                <a:latin typeface="Arial" panose="020B0604020202020204"/>
                <a:ea typeface="微软雅黑" panose="020B0503020204020204" charset="-122"/>
                <a:cs typeface="Arial" panose="020B0604020202020204"/>
              </a:rPr>
              <a:t>模型（</a:t>
            </a:r>
            <a:r>
              <a:rPr lang="en-US" altLang="zh-CN" sz="2400" b="1" dirty="0">
                <a:latin typeface="Arial" panose="020B0604020202020204"/>
                <a:ea typeface="微软雅黑" panose="020B0503020204020204" charset="-122"/>
                <a:cs typeface="Arial" panose="020B0604020202020204"/>
              </a:rPr>
              <a:t>2025</a:t>
            </a:r>
            <a:r>
              <a:rPr lang="zh-CN" altLang="en-US" sz="2400" b="1" dirty="0">
                <a:latin typeface="Arial" panose="020B0604020202020204"/>
                <a:ea typeface="微软雅黑" panose="020B0503020204020204" charset="-122"/>
                <a:cs typeface="Arial" panose="020B0604020202020204"/>
              </a:rPr>
              <a:t>）：从自然图像到稀疏</a:t>
            </a:r>
            <a:r>
              <a:rPr lang="en-US" altLang="zh-CN" sz="2400" b="1" dirty="0">
                <a:latin typeface="Arial" panose="020B0604020202020204"/>
                <a:ea typeface="微软雅黑" panose="020B0503020204020204" charset="-122"/>
                <a:cs typeface="Arial" panose="020B0604020202020204"/>
              </a:rPr>
              <a:t>V1</a:t>
            </a:r>
            <a:r>
              <a:rPr lang="zh-CN" altLang="en-US" sz="2400" b="1" dirty="0">
                <a:latin typeface="Arial" panose="020B0604020202020204"/>
                <a:ea typeface="微软雅黑" panose="020B0503020204020204" charset="-122"/>
                <a:cs typeface="Arial" panose="020B0604020202020204"/>
              </a:rPr>
              <a:t>表征</a:t>
            </a:r>
            <a:endParaRPr lang="zh-CN" altLang="en-US" sz="2400" b="1" dirty="0">
              <a:latin typeface="Arial" panose="020B0604020202020204"/>
              <a:ea typeface="微软雅黑" panose="020B0503020204020204" charset="-122"/>
              <a:cs typeface="Arial" panose="020B0604020202020204"/>
            </a:endParaRPr>
          </a:p>
        </p:txBody>
      </p:sp>
      <p:sp>
        <p:nvSpPr>
          <p:cNvPr id="8" name="文本框 7"/>
          <p:cNvSpPr txBox="1"/>
          <p:nvPr/>
        </p:nvSpPr>
        <p:spPr>
          <a:xfrm>
            <a:off x="8780145" y="2103755"/>
            <a:ext cx="3284855" cy="393065"/>
          </a:xfrm>
          <a:prstGeom prst="rect">
            <a:avLst/>
          </a:prstGeom>
          <a:noFill/>
        </p:spPr>
        <p:txBody>
          <a:bodyPr wrap="square" rtlCol="0">
            <a:noAutofit/>
          </a:bodyPr>
          <a:lstStyle/>
          <a:p>
            <a:r>
              <a:rPr lang="zh-CN" altLang="en-US" sz="1600">
                <a:latin typeface="Arial" panose="020B0604020202020204"/>
                <a:ea typeface="微软雅黑" panose="020B0503020204020204" charset="-122"/>
                <a:cs typeface="Arial" panose="020B0604020202020204"/>
              </a:rPr>
              <a:t>相较</a:t>
            </a:r>
            <a:r>
              <a:rPr lang="en-US" altLang="zh-CN" sz="1600">
                <a:latin typeface="Arial" panose="020B0604020202020204"/>
                <a:ea typeface="微软雅黑" panose="020B0503020204020204" charset="-122"/>
                <a:cs typeface="Arial" panose="020B0604020202020204"/>
              </a:rPr>
              <a:t>Paul King（2013）</a:t>
            </a:r>
            <a:r>
              <a:rPr lang="zh-CN" altLang="en-US" sz="1600">
                <a:latin typeface="Arial" panose="020B0604020202020204"/>
                <a:ea typeface="微软雅黑" panose="020B0503020204020204" charset="-122"/>
                <a:cs typeface="Arial" panose="020B0604020202020204"/>
              </a:rPr>
              <a:t>模型的变化</a:t>
            </a:r>
            <a:endParaRPr lang="zh-CN" altLang="en-US" sz="1600">
              <a:latin typeface="Arial" panose="020B0604020202020204"/>
              <a:ea typeface="微软雅黑" panose="020B0503020204020204" charset="-122"/>
              <a:cs typeface="Arial" panose="020B0604020202020204"/>
            </a:endParaRPr>
          </a:p>
        </p:txBody>
      </p:sp>
      <p:sp>
        <p:nvSpPr>
          <p:cNvPr id="9" name="文本框 8"/>
          <p:cNvSpPr txBox="1"/>
          <p:nvPr/>
        </p:nvSpPr>
        <p:spPr>
          <a:xfrm>
            <a:off x="8780145" y="2732405"/>
            <a:ext cx="4724400" cy="1393190"/>
          </a:xfrm>
          <a:prstGeom prst="rect">
            <a:avLst/>
          </a:prstGeom>
        </p:spPr>
        <p:txBody>
          <a:bodyPr>
            <a:noAutofit/>
          </a:bodyPr>
          <a:lstStyle/>
          <a:p>
            <a:r>
              <a:rPr lang="zh-CN" altLang="en-US" sz="1400" b="1">
                <a:latin typeface="Arial" panose="020B0604020202020204"/>
                <a:ea typeface="微软雅黑" panose="020B0503020204020204" charset="-122"/>
                <a:cs typeface="Arial" panose="020B0604020202020204"/>
              </a:rPr>
              <a:t>输入更真实：</a:t>
            </a:r>
            <a:r>
              <a:rPr lang="zh-CN" altLang="en-US" sz="1400">
                <a:latin typeface="Arial" panose="020B0604020202020204"/>
                <a:ea typeface="微软雅黑" panose="020B0503020204020204" charset="-122"/>
                <a:cs typeface="Arial" panose="020B0604020202020204"/>
              </a:rPr>
              <a:t>加入</a:t>
            </a:r>
            <a:r>
              <a:rPr lang="en-US" altLang="zh-CN" sz="1400">
                <a:latin typeface="Arial" panose="020B0604020202020204"/>
                <a:ea typeface="微软雅黑" panose="020B0503020204020204" charset="-122"/>
                <a:cs typeface="Arial" panose="020B0604020202020204"/>
              </a:rPr>
              <a:t>LGN ON/OFF</a:t>
            </a:r>
            <a:r>
              <a:rPr lang="zh-CN" altLang="en-US" sz="1400">
                <a:latin typeface="Arial" panose="020B0604020202020204"/>
                <a:ea typeface="微软雅黑" panose="020B0503020204020204" charset="-122"/>
                <a:cs typeface="Arial" panose="020B0604020202020204"/>
              </a:rPr>
              <a:t>脉冲编码 </a:t>
            </a:r>
            <a:endParaRPr lang="zh-CN" altLang="en-US" sz="1400">
              <a:latin typeface="Arial" panose="020B0604020202020204"/>
              <a:ea typeface="微软雅黑" panose="020B0503020204020204" charset="-122"/>
              <a:cs typeface="Arial" panose="020B0604020202020204"/>
            </a:endParaRPr>
          </a:p>
          <a:p>
            <a:endParaRPr lang="zh-CN" altLang="en-US" sz="1400">
              <a:latin typeface="Arial" panose="020B0604020202020204"/>
              <a:ea typeface="微软雅黑" panose="020B0503020204020204" charset="-122"/>
              <a:cs typeface="Arial" panose="020B0604020202020204"/>
            </a:endParaRPr>
          </a:p>
          <a:p>
            <a:r>
              <a:rPr lang="zh-CN" altLang="en-US" sz="1400" b="1">
                <a:latin typeface="Arial" panose="020B0604020202020204"/>
                <a:ea typeface="微软雅黑" panose="020B0503020204020204" charset="-122"/>
                <a:cs typeface="Arial" panose="020B0604020202020204"/>
              </a:rPr>
              <a:t>回路更完整：</a:t>
            </a:r>
            <a:r>
              <a:rPr lang="zh-CN" altLang="en-US" sz="1400">
                <a:latin typeface="Arial" panose="020B0604020202020204"/>
                <a:ea typeface="微软雅黑" panose="020B0503020204020204" charset="-122"/>
                <a:cs typeface="Arial" panose="020B0604020202020204"/>
              </a:rPr>
              <a:t>增加</a:t>
            </a:r>
            <a:r>
              <a:rPr lang="en-US" altLang="zh-CN" sz="1400">
                <a:latin typeface="Arial" panose="020B0604020202020204"/>
                <a:ea typeface="微软雅黑" panose="020B0503020204020204" charset="-122"/>
                <a:cs typeface="Arial" panose="020B0604020202020204"/>
              </a:rPr>
              <a:t>LGN→I</a:t>
            </a:r>
            <a:r>
              <a:rPr lang="zh-CN" altLang="en-US" sz="1400">
                <a:latin typeface="Arial" panose="020B0604020202020204"/>
                <a:ea typeface="微软雅黑" panose="020B0503020204020204" charset="-122"/>
                <a:cs typeface="Arial" panose="020B0604020202020204"/>
              </a:rPr>
              <a:t>与</a:t>
            </a:r>
            <a:r>
              <a:rPr lang="en-US" altLang="zh-CN" sz="1400">
                <a:latin typeface="Arial" panose="020B0604020202020204"/>
                <a:ea typeface="微软雅黑" panose="020B0503020204020204" charset="-122"/>
                <a:cs typeface="Arial" panose="020B0604020202020204"/>
              </a:rPr>
              <a:t>E→E</a:t>
            </a:r>
            <a:r>
              <a:rPr lang="zh-CN" altLang="en-US" sz="1400">
                <a:latin typeface="Arial" panose="020B0604020202020204"/>
                <a:ea typeface="微软雅黑" panose="020B0503020204020204" charset="-122"/>
                <a:cs typeface="Arial" panose="020B0604020202020204"/>
              </a:rPr>
              <a:t>连接 </a:t>
            </a:r>
            <a:endParaRPr lang="zh-CN" altLang="en-US" sz="1400">
              <a:latin typeface="Arial" panose="020B0604020202020204"/>
              <a:ea typeface="微软雅黑" panose="020B0503020204020204" charset="-122"/>
              <a:cs typeface="Arial" panose="020B0604020202020204"/>
            </a:endParaRPr>
          </a:p>
          <a:p>
            <a:endParaRPr lang="zh-CN" altLang="en-US" sz="1400">
              <a:latin typeface="Arial" panose="020B0604020202020204"/>
              <a:ea typeface="微软雅黑" panose="020B0503020204020204" charset="-122"/>
              <a:cs typeface="Arial" panose="020B0604020202020204"/>
            </a:endParaRPr>
          </a:p>
          <a:p>
            <a:r>
              <a:rPr lang="zh-CN" altLang="en-US" sz="1400" b="1">
                <a:latin typeface="Arial" panose="020B0604020202020204"/>
                <a:ea typeface="微软雅黑" panose="020B0503020204020204" charset="-122"/>
                <a:cs typeface="Arial" panose="020B0604020202020204"/>
              </a:rPr>
              <a:t>稳定机制更全面</a:t>
            </a:r>
            <a:r>
              <a:rPr lang="zh-CN" altLang="en-US" sz="1400">
                <a:latin typeface="Arial" panose="020B0604020202020204"/>
                <a:ea typeface="微软雅黑" panose="020B0503020204020204" charset="-122"/>
                <a:cs typeface="Arial" panose="020B0604020202020204"/>
              </a:rPr>
              <a:t>：结合</a:t>
            </a:r>
            <a:r>
              <a:rPr lang="en-US" altLang="zh-CN" sz="1400">
                <a:latin typeface="Arial" panose="020B0604020202020204"/>
                <a:ea typeface="微软雅黑" panose="020B0503020204020204" charset="-122"/>
                <a:cs typeface="Arial" panose="020B0604020202020204"/>
              </a:rPr>
              <a:t>STDP</a:t>
            </a:r>
            <a:r>
              <a:rPr lang="zh-CN" altLang="en-US" sz="1400">
                <a:latin typeface="Arial" panose="020B0604020202020204"/>
                <a:ea typeface="微软雅黑" panose="020B0503020204020204" charset="-122"/>
                <a:cs typeface="Arial" panose="020B0604020202020204"/>
              </a:rPr>
              <a:t>、</a:t>
            </a:r>
            <a:endParaRPr lang="zh-CN" altLang="en-US" sz="1400">
              <a:latin typeface="Arial" panose="020B0604020202020204"/>
              <a:ea typeface="微软雅黑" panose="020B0503020204020204" charset="-122"/>
              <a:cs typeface="Arial" panose="020B0604020202020204"/>
            </a:endParaRPr>
          </a:p>
          <a:p>
            <a:pPr marL="914400" lvl="2" indent="457200"/>
            <a:r>
              <a:rPr lang="en-US" altLang="zh-CN" sz="1400">
                <a:latin typeface="Arial" panose="020B0604020202020204"/>
                <a:ea typeface="微软雅黑" panose="020B0503020204020204" charset="-122"/>
                <a:cs typeface="Arial" panose="020B0604020202020204"/>
              </a:rPr>
              <a:t>L1</a:t>
            </a:r>
            <a:r>
              <a:rPr lang="zh-CN" altLang="en-US" sz="1400">
                <a:latin typeface="Arial" panose="020B0604020202020204"/>
                <a:ea typeface="微软雅黑" panose="020B0503020204020204" charset="-122"/>
                <a:cs typeface="Arial" panose="020B0604020202020204"/>
              </a:rPr>
              <a:t>归一化与自适应阈值</a:t>
            </a:r>
            <a:endParaRPr lang="zh-CN" altLang="en-US" sz="1400">
              <a:latin typeface="Arial" panose="020B0604020202020204"/>
              <a:ea typeface="微软雅黑" panose="020B0503020204020204" charset="-122"/>
              <a:cs typeface="Arial" panose="020B0604020202020204"/>
            </a:endParaRPr>
          </a:p>
        </p:txBody>
      </p:sp>
      <p:pic>
        <p:nvPicPr>
          <p:cNvPr id="2" name="图片 1" descr="绘图"/>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620395"/>
            <a:ext cx="8784590" cy="620966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p:nvPr/>
        </p:nvPicPr>
        <p:blipFill>
          <a:blip r:embed="rId1"/>
          <a:stretch>
            <a:fillRect/>
          </a:stretch>
        </p:blipFill>
        <p:spPr>
          <a:xfrm>
            <a:off x="10922000" y="0"/>
            <a:ext cx="1270000" cy="1270000"/>
          </a:xfrm>
          <a:prstGeom prst="rect">
            <a:avLst/>
          </a:prstGeom>
        </p:spPr>
      </p:pic>
      <p:sp>
        <p:nvSpPr>
          <p:cNvPr id="16" name="标题 1"/>
          <p:cNvSpPr txBox="1"/>
          <p:nvPr/>
        </p:nvSpPr>
        <p:spPr>
          <a:xfrm>
            <a:off x="0" y="353060"/>
            <a:ext cx="6902450" cy="46609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a:ea typeface="微软雅黑" panose="020B0503020204020204" charset="-122"/>
                <a:cs typeface="Arial" panose="020B0604020202020204"/>
              </a:defRPr>
            </a:lvl1pPr>
          </a:lstStyle>
          <a:p>
            <a:r>
              <a:rPr lang="en-US" altLang="zh-CN" sz="2400" b="1">
                <a:latin typeface="Arial" panose="020B0604020202020204"/>
                <a:ea typeface="微软雅黑" panose="020B0503020204020204" charset="-122"/>
                <a:cs typeface="Arial" panose="020B0604020202020204"/>
                <a:sym typeface="+mn-ea"/>
              </a:rPr>
              <a:t>Ruslim </a:t>
            </a:r>
            <a:r>
              <a:rPr lang="zh-CN" altLang="en-US" sz="2400" b="1" dirty="0">
                <a:latin typeface="Arial" panose="020B0604020202020204"/>
                <a:ea typeface="微软雅黑" panose="020B0503020204020204" charset="-122"/>
                <a:cs typeface="Arial" panose="020B0604020202020204"/>
              </a:rPr>
              <a:t>模型与</a:t>
            </a:r>
            <a:r>
              <a:rPr lang="en-US" altLang="zh-CN" sz="2400" b="1" dirty="0">
                <a:latin typeface="Arial" panose="020B0604020202020204"/>
                <a:ea typeface="微软雅黑" panose="020B0503020204020204" charset="-122"/>
                <a:cs typeface="Arial" panose="020B0604020202020204"/>
              </a:rPr>
              <a:t>Paul King </a:t>
            </a:r>
            <a:r>
              <a:rPr lang="zh-CN" altLang="en-US" sz="2400" b="1" dirty="0">
                <a:latin typeface="Arial" panose="020B0604020202020204"/>
                <a:ea typeface="微软雅黑" panose="020B0503020204020204" charset="-122"/>
                <a:cs typeface="Arial" panose="020B0604020202020204"/>
              </a:rPr>
              <a:t>模型的对比</a:t>
            </a:r>
            <a:endParaRPr lang="zh-CN" altLang="en-US" sz="2400" b="1" dirty="0">
              <a:latin typeface="Arial" panose="020B0604020202020204"/>
              <a:ea typeface="微软雅黑" panose="020B0503020204020204" charset="-122"/>
              <a:cs typeface="Arial" panose="020B0604020202020204"/>
            </a:endParaRPr>
          </a:p>
        </p:txBody>
      </p:sp>
      <p:graphicFrame>
        <p:nvGraphicFramePr>
          <p:cNvPr id="2" name="表格 1"/>
          <p:cNvGraphicFramePr/>
          <p:nvPr>
            <p:custDataLst>
              <p:tags r:id="rId2"/>
            </p:custDataLst>
          </p:nvPr>
        </p:nvGraphicFramePr>
        <p:xfrm>
          <a:off x="408305" y="902335"/>
          <a:ext cx="8055610" cy="5577840"/>
        </p:xfrm>
        <a:graphic>
          <a:graphicData uri="http://schemas.openxmlformats.org/drawingml/2006/table">
            <a:tbl>
              <a:tblPr firstRow="1">
                <a:tableStyleId>{DC0FC1E4-99A9-456B-8952-B26E4E55A0BA}</a:tableStyleId>
              </a:tblPr>
              <a:tblGrid>
                <a:gridCol w="1261110"/>
                <a:gridCol w="1737995"/>
                <a:gridCol w="1478280"/>
                <a:gridCol w="3578225"/>
              </a:tblGrid>
              <a:tr h="640080">
                <a:tc>
                  <a:txBody>
                    <a:bodyPr/>
                    <a:lstStyle/>
                    <a:p>
                      <a:pPr algn="ctr">
                        <a:buNone/>
                      </a:pPr>
                      <a:r>
                        <a:rPr lang="zh-CN" altLang="en-US">
                          <a:latin typeface="Arial" panose="020B0604020202020204"/>
                          <a:ea typeface="微软雅黑" panose="020B0503020204020204" charset="-122"/>
                          <a:cs typeface="Arial" panose="020B0604020202020204"/>
                        </a:rPr>
                        <a:t>比较维度</a:t>
                      </a:r>
                      <a:endParaRPr lang="zh-CN" altLang="en-US">
                        <a:latin typeface="Arial" panose="020B0604020202020204"/>
                        <a:ea typeface="微软雅黑" panose="020B0503020204020204" charset="-122"/>
                        <a:cs typeface="Arial" panose="020B0604020202020204"/>
                      </a:endParaRPr>
                    </a:p>
                  </a:txBody>
                  <a:tcPr/>
                </a:tc>
                <a:tc>
                  <a:txBody>
                    <a:bodyPr/>
                    <a:lstStyle/>
                    <a:p>
                      <a:pPr algn="ctr">
                        <a:buNone/>
                      </a:pPr>
                      <a:r>
                        <a:rPr lang="en-US" altLang="zh-CN">
                          <a:latin typeface="Arial" panose="020B0604020202020204"/>
                          <a:ea typeface="微软雅黑" panose="020B0503020204020204" charset="-122"/>
                          <a:cs typeface="Arial" panose="020B0604020202020204"/>
                        </a:rPr>
                        <a:t>Paul King</a:t>
                      </a:r>
                      <a:r>
                        <a:rPr lang="zh-CN" altLang="en-US">
                          <a:latin typeface="Arial" panose="020B0604020202020204"/>
                          <a:ea typeface="微软雅黑" panose="020B0503020204020204" charset="-122"/>
                          <a:cs typeface="Arial" panose="020B0604020202020204"/>
                        </a:rPr>
                        <a:t>（</a:t>
                      </a:r>
                      <a:r>
                        <a:rPr lang="en-US" altLang="zh-CN">
                          <a:latin typeface="Arial" panose="020B0604020202020204"/>
                          <a:ea typeface="微软雅黑" panose="020B0503020204020204" charset="-122"/>
                          <a:cs typeface="Arial" panose="020B0604020202020204"/>
                        </a:rPr>
                        <a:t>2013</a:t>
                      </a:r>
                      <a:r>
                        <a:rPr lang="zh-CN" altLang="en-US">
                          <a:latin typeface="Arial" panose="020B0604020202020204"/>
                          <a:ea typeface="微软雅黑" panose="020B0503020204020204" charset="-122"/>
                          <a:cs typeface="Arial" panose="020B0604020202020204"/>
                        </a:rPr>
                        <a:t>）</a:t>
                      </a:r>
                      <a:endParaRPr lang="zh-CN" altLang="en-US">
                        <a:latin typeface="Arial" panose="020B0604020202020204"/>
                        <a:ea typeface="微软雅黑" panose="020B0503020204020204" charset="-122"/>
                        <a:cs typeface="Arial" panose="020B0604020202020204"/>
                      </a:endParaRPr>
                    </a:p>
                  </a:txBody>
                  <a:tcPr/>
                </a:tc>
                <a:tc>
                  <a:txBody>
                    <a:bodyPr/>
                    <a:lstStyle/>
                    <a:p>
                      <a:pPr algn="ctr">
                        <a:buNone/>
                      </a:pPr>
                      <a:r>
                        <a:rPr lang="en-US" altLang="zh-CN">
                          <a:latin typeface="Arial" panose="020B0604020202020204"/>
                          <a:ea typeface="微软雅黑" panose="020B0503020204020204" charset="-122"/>
                          <a:cs typeface="Arial" panose="020B0604020202020204"/>
                        </a:rPr>
                        <a:t>Ruslim（2025）</a:t>
                      </a:r>
                      <a:endParaRPr lang="en-US" altLang="zh-CN">
                        <a:latin typeface="Arial" panose="020B0604020202020204"/>
                        <a:ea typeface="微软雅黑" panose="020B0503020204020204" charset="-122"/>
                        <a:cs typeface="Arial" panose="020B0604020202020204"/>
                      </a:endParaRPr>
                    </a:p>
                  </a:txBody>
                  <a:tcPr/>
                </a:tc>
                <a:tc>
                  <a:txBody>
                    <a:bodyPr/>
                    <a:lstStyle/>
                    <a:p>
                      <a:pPr algn="ctr">
                        <a:buNone/>
                      </a:pPr>
                      <a:r>
                        <a:rPr lang="zh-CN" altLang="en-US">
                          <a:latin typeface="Arial" panose="020B0604020202020204"/>
                          <a:ea typeface="微软雅黑" panose="020B0503020204020204" charset="-122"/>
                          <a:cs typeface="Arial" panose="020B0604020202020204"/>
                        </a:rPr>
                        <a:t>改进意义</a:t>
                      </a:r>
                      <a:endParaRPr lang="zh-CN" altLang="en-US">
                        <a:latin typeface="Arial" panose="020B0604020202020204"/>
                        <a:ea typeface="微软雅黑" panose="020B0503020204020204" charset="-122"/>
                        <a:cs typeface="Arial" panose="020B0604020202020204"/>
                      </a:endParaRPr>
                    </a:p>
                  </a:txBody>
                  <a:tcPr/>
                </a:tc>
              </a:tr>
              <a:tr h="579120">
                <a:tc>
                  <a:txBody>
                    <a:bodyPr/>
                    <a:lstStyle/>
                    <a:p>
                      <a:pPr algn="ctr">
                        <a:buNone/>
                      </a:pPr>
                      <a:r>
                        <a:rPr lang="zh-CN" altLang="en-US" sz="1600">
                          <a:latin typeface="Arial" panose="020B0604020202020204"/>
                          <a:ea typeface="微软雅黑" panose="020B0503020204020204" charset="-122"/>
                          <a:cs typeface="Arial" panose="020B0604020202020204"/>
                        </a:rPr>
                        <a:t>输入编码</a:t>
                      </a:r>
                      <a:endParaRPr lang="zh-CN" altLang="en-US" sz="1600">
                        <a:latin typeface="Arial" panose="020B0604020202020204"/>
                        <a:ea typeface="微软雅黑" panose="020B0503020204020204" charset="-122"/>
                        <a:cs typeface="Arial" panose="020B0604020202020204"/>
                      </a:endParaRPr>
                    </a:p>
                  </a:txBody>
                  <a:tcPr/>
                </a:tc>
                <a:tc>
                  <a:txBody>
                    <a:bodyPr/>
                    <a:lstStyle/>
                    <a:p>
                      <a:pPr algn="ctr">
                        <a:buClrTx/>
                        <a:buSzTx/>
                        <a:buFontTx/>
                        <a:buNone/>
                      </a:pPr>
                      <a:r>
                        <a:rPr lang="zh-CN" altLang="en-US" sz="1600">
                          <a:solidFill>
                            <a:srgbClr val="000000"/>
                          </a:solidFill>
                          <a:latin typeface="Arial" panose="020B0604020202020204"/>
                          <a:ea typeface="微软雅黑" panose="020B0503020204020204" charset="-122"/>
                          <a:cs typeface="Arial" panose="020B0604020202020204"/>
                        </a:rPr>
                        <a:t>白化图像像素直接驱动E细胞</a:t>
                      </a:r>
                      <a:endParaRPr lang="zh-CN" altLang="en-US" sz="1600">
                        <a:solidFill>
                          <a:srgbClr val="000000"/>
                        </a:solidFill>
                        <a:latin typeface="Arial" panose="020B0604020202020204"/>
                        <a:ea typeface="微软雅黑" panose="020B0503020204020204" charset="-122"/>
                        <a:cs typeface="Arial" panose="020B0604020202020204"/>
                      </a:endParaRPr>
                    </a:p>
                  </a:txBody>
                  <a:tcPr/>
                </a:tc>
                <a:tc>
                  <a:txBody>
                    <a:bodyPr/>
                    <a:lstStyle/>
                    <a:p>
                      <a:pPr algn="ctr">
                        <a:buClrTx/>
                        <a:buSzTx/>
                        <a:buFontTx/>
                        <a:buNone/>
                      </a:pPr>
                      <a:r>
                        <a:rPr lang="zh-CN" altLang="en-US" sz="1600">
                          <a:solidFill>
                            <a:srgbClr val="000000"/>
                          </a:solidFill>
                          <a:latin typeface="Arial" panose="020B0604020202020204"/>
                          <a:ea typeface="微软雅黑" panose="020B0503020204020204" charset="-122"/>
                          <a:cs typeface="Arial" panose="020B0604020202020204"/>
                        </a:rPr>
                        <a:t>LGN ON/OFF泊松脉冲编码</a:t>
                      </a:r>
                      <a:endParaRPr lang="zh-CN" altLang="en-US" sz="1600">
                        <a:solidFill>
                          <a:srgbClr val="000000"/>
                        </a:solidFill>
                        <a:latin typeface="Arial" panose="020B0604020202020204"/>
                        <a:ea typeface="微软雅黑" panose="020B0503020204020204" charset="-122"/>
                        <a:cs typeface="Arial" panose="020B0604020202020204"/>
                      </a:endParaRPr>
                    </a:p>
                  </a:txBody>
                  <a:tcPr/>
                </a:tc>
                <a:tc>
                  <a:txBody>
                    <a:bodyPr/>
                    <a:lstStyle/>
                    <a:p>
                      <a:pPr algn="ctr">
                        <a:buClrTx/>
                        <a:buSzTx/>
                        <a:buFontTx/>
                        <a:buNone/>
                      </a:pPr>
                      <a:r>
                        <a:rPr lang="zh-CN" altLang="en-US" sz="1600">
                          <a:solidFill>
                            <a:srgbClr val="000000"/>
                          </a:solidFill>
                          <a:latin typeface="Arial" panose="020B0604020202020204"/>
                          <a:ea typeface="微软雅黑" panose="020B0503020204020204" charset="-122"/>
                          <a:cs typeface="Arial" panose="020B0604020202020204"/>
                        </a:rPr>
                        <a:t>网络输入更符合早期视觉系统对局部对比度的编码方式。</a:t>
                      </a:r>
                      <a:endParaRPr lang="zh-CN" altLang="en-US" sz="1600">
                        <a:solidFill>
                          <a:srgbClr val="000000"/>
                        </a:solidFill>
                        <a:latin typeface="Arial" panose="020B0604020202020204"/>
                        <a:ea typeface="微软雅黑" panose="020B0503020204020204" charset="-122"/>
                        <a:cs typeface="Arial" panose="020B0604020202020204"/>
                      </a:endParaRPr>
                    </a:p>
                  </a:txBody>
                  <a:tcPr/>
                </a:tc>
              </a:tr>
              <a:tr h="822960">
                <a:tc>
                  <a:txBody>
                    <a:bodyPr/>
                    <a:lstStyle/>
                    <a:p>
                      <a:pPr algn="ctr">
                        <a:buClrTx/>
                        <a:buSzTx/>
                        <a:buFontTx/>
                        <a:buNone/>
                      </a:pPr>
                      <a:r>
                        <a:rPr lang="en-US" altLang="zh-CN" sz="1600">
                          <a:solidFill>
                            <a:srgbClr val="000000"/>
                          </a:solidFill>
                          <a:latin typeface="Arial" panose="020B0604020202020204"/>
                          <a:ea typeface="微软雅黑" panose="020B0503020204020204" charset="-122"/>
                          <a:cs typeface="Arial" panose="020B0604020202020204"/>
                        </a:rPr>
                        <a:t>网络规模</a:t>
                      </a:r>
                      <a:endParaRPr lang="en-US" altLang="zh-CN" sz="1600">
                        <a:solidFill>
                          <a:srgbClr val="000000"/>
                        </a:solidFill>
                        <a:latin typeface="Arial" panose="020B0604020202020204"/>
                        <a:ea typeface="微软雅黑" panose="020B0503020204020204" charset="-122"/>
                        <a:cs typeface="Arial" panose="020B0604020202020204"/>
                      </a:endParaRPr>
                    </a:p>
                  </a:txBody>
                  <a:tcPr/>
                </a:tc>
                <a:tc>
                  <a:txBody>
                    <a:bodyPr/>
                    <a:lstStyle/>
                    <a:p>
                      <a:pPr algn="ctr">
                        <a:buClrTx/>
                        <a:buSzTx/>
                        <a:buFontTx/>
                        <a:buNone/>
                      </a:pPr>
                      <a:r>
                        <a:rPr lang="en-US" altLang="zh-CN" sz="1600">
                          <a:solidFill>
                            <a:srgbClr val="000000"/>
                          </a:solidFill>
                          <a:latin typeface="Arial" panose="020B0604020202020204"/>
                          <a:ea typeface="微软雅黑" panose="020B0503020204020204" charset="-122"/>
                          <a:cs typeface="Arial" panose="020B0604020202020204"/>
                        </a:rPr>
                        <a:t>400 E &amp; 49 I(8:1)</a:t>
                      </a:r>
                      <a:endParaRPr lang="en-US" altLang="zh-CN" sz="1600">
                        <a:solidFill>
                          <a:srgbClr val="000000"/>
                        </a:solidFill>
                        <a:latin typeface="Arial" panose="020B0604020202020204"/>
                        <a:ea typeface="微软雅黑" panose="020B0503020204020204" charset="-122"/>
                        <a:cs typeface="Arial" panose="020B0604020202020204"/>
                      </a:endParaRPr>
                    </a:p>
                  </a:txBody>
                  <a:tcPr/>
                </a:tc>
                <a:tc>
                  <a:txBody>
                    <a:bodyPr/>
                    <a:lstStyle/>
                    <a:p>
                      <a:pPr algn="ctr">
                        <a:buClrTx/>
                        <a:buSzTx/>
                        <a:buFontTx/>
                        <a:buNone/>
                      </a:pPr>
                      <a:r>
                        <a:rPr lang="en-US" altLang="zh-CN" sz="1600">
                          <a:solidFill>
                            <a:srgbClr val="000000"/>
                          </a:solidFill>
                          <a:latin typeface="Arial" panose="020B0604020202020204"/>
                          <a:ea typeface="微软雅黑" panose="020B0503020204020204" charset="-122"/>
                          <a:cs typeface="Arial" panose="020B0604020202020204"/>
                          <a:sym typeface="+mn-ea"/>
                        </a:rPr>
                        <a:t>400 E &amp; 100(4:1)</a:t>
                      </a:r>
                      <a:endParaRPr lang="en-US" altLang="zh-CN" sz="1600">
                        <a:solidFill>
                          <a:srgbClr val="000000"/>
                        </a:solidFill>
                        <a:latin typeface="Arial" panose="020B0604020202020204"/>
                        <a:ea typeface="微软雅黑" panose="020B0503020204020204" charset="-122"/>
                        <a:cs typeface="Arial" panose="020B0604020202020204"/>
                      </a:endParaRPr>
                    </a:p>
                    <a:p>
                      <a:pPr algn="ctr">
                        <a:buClrTx/>
                        <a:buSzTx/>
                        <a:buFontTx/>
                        <a:buNone/>
                      </a:pPr>
                      <a:endParaRPr lang="en-US" altLang="zh-CN" sz="1600">
                        <a:solidFill>
                          <a:srgbClr val="000000"/>
                        </a:solidFill>
                        <a:latin typeface="Arial" panose="020B0604020202020204"/>
                        <a:ea typeface="微软雅黑" panose="020B0503020204020204" charset="-122"/>
                        <a:cs typeface="Arial" panose="020B0604020202020204"/>
                      </a:endParaRPr>
                    </a:p>
                  </a:txBody>
                  <a:tcPr/>
                </a:tc>
                <a:tc>
                  <a:txBody>
                    <a:bodyPr/>
                    <a:lstStyle/>
                    <a:p>
                      <a:pPr algn="ctr">
                        <a:buClrTx/>
                        <a:buSzTx/>
                        <a:buFontTx/>
                        <a:buNone/>
                      </a:pPr>
                      <a:r>
                        <a:rPr lang="en-US" altLang="zh-CN" sz="1600">
                          <a:solidFill>
                            <a:srgbClr val="000000"/>
                          </a:solidFill>
                          <a:latin typeface="Arial" panose="020B0604020202020204"/>
                          <a:ea typeface="微软雅黑" panose="020B0503020204020204" charset="-122"/>
                          <a:cs typeface="Arial" panose="020B0604020202020204"/>
                        </a:rPr>
                        <a:t>更接近真实生物的皮层E/I细胞比例</a:t>
                      </a:r>
                      <a:endParaRPr lang="en-US" altLang="zh-CN" sz="1600">
                        <a:solidFill>
                          <a:srgbClr val="000000"/>
                        </a:solidFill>
                        <a:latin typeface="Arial" panose="020B0604020202020204"/>
                        <a:ea typeface="微软雅黑" panose="020B0503020204020204" charset="-122"/>
                        <a:cs typeface="Arial" panose="020B0604020202020204"/>
                      </a:endParaRPr>
                    </a:p>
                  </a:txBody>
                  <a:tcPr/>
                </a:tc>
              </a:tr>
              <a:tr h="579120">
                <a:tc>
                  <a:txBody>
                    <a:bodyPr/>
                    <a:lstStyle/>
                    <a:p>
                      <a:pPr algn="ctr">
                        <a:buClrTx/>
                        <a:buSzTx/>
                        <a:buFontTx/>
                        <a:buNone/>
                      </a:pPr>
                      <a:r>
                        <a:rPr lang="en-US" altLang="zh-CN" sz="1600">
                          <a:solidFill>
                            <a:srgbClr val="000000"/>
                          </a:solidFill>
                          <a:latin typeface="Arial" panose="020B0604020202020204"/>
                          <a:ea typeface="微软雅黑" panose="020B0503020204020204" charset="-122"/>
                          <a:cs typeface="Arial" panose="020B0604020202020204"/>
                        </a:rPr>
                        <a:t>前馈通路</a:t>
                      </a:r>
                      <a:endParaRPr lang="en-US" altLang="zh-CN" sz="1600">
                        <a:solidFill>
                          <a:srgbClr val="000000"/>
                        </a:solidFill>
                        <a:latin typeface="Arial" panose="020B0604020202020204"/>
                        <a:ea typeface="微软雅黑" panose="020B0503020204020204" charset="-122"/>
                        <a:cs typeface="Arial" panose="020B0604020202020204"/>
                      </a:endParaRPr>
                    </a:p>
                  </a:txBody>
                  <a:tcPr/>
                </a:tc>
                <a:tc>
                  <a:txBody>
                    <a:bodyPr/>
                    <a:lstStyle/>
                    <a:p>
                      <a:pPr algn="ctr">
                        <a:buClrTx/>
                        <a:buSzTx/>
                        <a:buFontTx/>
                        <a:buNone/>
                      </a:pPr>
                      <a:r>
                        <a:rPr lang="en-US" altLang="zh-CN" sz="1600">
                          <a:solidFill>
                            <a:srgbClr val="000000"/>
                          </a:solidFill>
                          <a:latin typeface="Arial" panose="020B0604020202020204"/>
                          <a:ea typeface="微软雅黑" panose="020B0503020204020204" charset="-122"/>
                          <a:cs typeface="Arial" panose="020B0604020202020204"/>
                        </a:rPr>
                        <a:t>仅连接E神经元</a:t>
                      </a:r>
                      <a:endParaRPr lang="en-US" altLang="zh-CN" sz="1600">
                        <a:solidFill>
                          <a:srgbClr val="000000"/>
                        </a:solidFill>
                        <a:latin typeface="Arial" panose="020B0604020202020204"/>
                        <a:ea typeface="微软雅黑" panose="020B0503020204020204" charset="-122"/>
                        <a:cs typeface="Arial" panose="020B0604020202020204"/>
                      </a:endParaRPr>
                    </a:p>
                  </a:txBody>
                  <a:tcPr/>
                </a:tc>
                <a:tc>
                  <a:txBody>
                    <a:bodyPr/>
                    <a:lstStyle/>
                    <a:p>
                      <a:pPr algn="ctr">
                        <a:buClrTx/>
                        <a:buSzTx/>
                        <a:buFontTx/>
                        <a:buNone/>
                      </a:pPr>
                      <a:r>
                        <a:rPr lang="en-US" altLang="zh-CN" sz="1600">
                          <a:solidFill>
                            <a:srgbClr val="000000"/>
                          </a:solidFill>
                          <a:latin typeface="Arial" panose="020B0604020202020204"/>
                          <a:ea typeface="微软雅黑" panose="020B0503020204020204" charset="-122"/>
                          <a:cs typeface="Arial" panose="020B0604020202020204"/>
                        </a:rPr>
                        <a:t>同时连接E/I神经元</a:t>
                      </a:r>
                      <a:endParaRPr lang="en-US" altLang="zh-CN" sz="1600">
                        <a:solidFill>
                          <a:srgbClr val="000000"/>
                        </a:solidFill>
                        <a:latin typeface="Arial" panose="020B0604020202020204"/>
                        <a:ea typeface="微软雅黑" panose="020B0503020204020204" charset="-122"/>
                        <a:cs typeface="Arial" panose="020B0604020202020204"/>
                      </a:endParaRPr>
                    </a:p>
                  </a:txBody>
                  <a:tcPr/>
                </a:tc>
                <a:tc>
                  <a:txBody>
                    <a:bodyPr/>
                    <a:lstStyle/>
                    <a:p>
                      <a:pPr algn="ctr">
                        <a:buClrTx/>
                        <a:buSzTx/>
                        <a:buFontTx/>
                        <a:buNone/>
                      </a:pPr>
                      <a:r>
                        <a:rPr lang="en-US" altLang="zh-CN" sz="1600">
                          <a:solidFill>
                            <a:srgbClr val="000000"/>
                          </a:solidFill>
                          <a:latin typeface="Arial" panose="020B0604020202020204"/>
                          <a:ea typeface="微软雅黑" panose="020B0503020204020204" charset="-122"/>
                          <a:cs typeface="Arial" panose="020B0604020202020204"/>
                        </a:rPr>
                        <a:t>加入前馈抑制通路</a:t>
                      </a:r>
                      <a:endParaRPr lang="en-US" altLang="zh-CN" sz="1600">
                        <a:solidFill>
                          <a:srgbClr val="000000"/>
                        </a:solidFill>
                        <a:latin typeface="Arial" panose="020B0604020202020204"/>
                        <a:ea typeface="微软雅黑" panose="020B0503020204020204" charset="-122"/>
                        <a:cs typeface="Arial" panose="020B0604020202020204"/>
                      </a:endParaRPr>
                    </a:p>
                  </a:txBody>
                  <a:tcPr/>
                </a:tc>
              </a:tr>
              <a:tr h="822960">
                <a:tc>
                  <a:txBody>
                    <a:bodyPr/>
                    <a:lstStyle/>
                    <a:p>
                      <a:pPr algn="ctr">
                        <a:buClrTx/>
                        <a:buSzTx/>
                        <a:buFontTx/>
                        <a:buNone/>
                      </a:pPr>
                      <a:r>
                        <a:rPr lang="en-US" altLang="zh-CN" sz="1600">
                          <a:solidFill>
                            <a:srgbClr val="000000"/>
                          </a:solidFill>
                          <a:latin typeface="Arial" panose="020B0604020202020204"/>
                          <a:ea typeface="微软雅黑" panose="020B0503020204020204" charset="-122"/>
                          <a:cs typeface="Arial" panose="020B0604020202020204"/>
                        </a:rPr>
                        <a:t>局部连接</a:t>
                      </a:r>
                      <a:endParaRPr lang="en-US" altLang="zh-CN" sz="1600">
                        <a:solidFill>
                          <a:srgbClr val="000000"/>
                        </a:solidFill>
                        <a:latin typeface="Arial" panose="020B0604020202020204"/>
                        <a:ea typeface="微软雅黑" panose="020B0503020204020204" charset="-122"/>
                        <a:cs typeface="Arial" panose="020B0604020202020204"/>
                      </a:endParaRPr>
                    </a:p>
                  </a:txBody>
                  <a:tcPr/>
                </a:tc>
                <a:tc>
                  <a:txBody>
                    <a:bodyPr/>
                    <a:lstStyle/>
                    <a:p>
                      <a:pPr algn="ctr">
                        <a:buClrTx/>
                        <a:buSzTx/>
                        <a:buFontTx/>
                        <a:buNone/>
                      </a:pPr>
                      <a:r>
                        <a:rPr lang="en-US" altLang="zh-CN" sz="1600">
                          <a:solidFill>
                            <a:srgbClr val="000000"/>
                          </a:solidFill>
                          <a:latin typeface="Arial" panose="020B0604020202020204"/>
                          <a:ea typeface="微软雅黑" panose="020B0503020204020204" charset="-122"/>
                          <a:cs typeface="Arial" panose="020B0604020202020204"/>
                        </a:rPr>
                        <a:t>不包含E→E连接</a:t>
                      </a:r>
                      <a:endParaRPr lang="en-US" altLang="zh-CN" sz="1600">
                        <a:solidFill>
                          <a:srgbClr val="000000"/>
                        </a:solidFill>
                        <a:latin typeface="Arial" panose="020B0604020202020204"/>
                        <a:ea typeface="微软雅黑" panose="020B0503020204020204" charset="-122"/>
                        <a:cs typeface="Arial" panose="020B0604020202020204"/>
                      </a:endParaRPr>
                    </a:p>
                  </a:txBody>
                  <a:tcPr/>
                </a:tc>
                <a:tc>
                  <a:txBody>
                    <a:bodyPr/>
                    <a:lstStyle/>
                    <a:p>
                      <a:pPr algn="ctr">
                        <a:buClrTx/>
                        <a:buSzTx/>
                        <a:buFontTx/>
                        <a:buNone/>
                      </a:pPr>
                      <a:r>
                        <a:rPr lang="en-US" altLang="zh-CN" sz="1600">
                          <a:solidFill>
                            <a:srgbClr val="000000"/>
                          </a:solidFill>
                          <a:latin typeface="Arial" panose="020B0604020202020204"/>
                          <a:ea typeface="微软雅黑" panose="020B0503020204020204" charset="-122"/>
                          <a:cs typeface="Arial" panose="020B0604020202020204"/>
                        </a:rPr>
                        <a:t>包含E→E、E→I、I→E和I→I</a:t>
                      </a:r>
                      <a:endParaRPr lang="en-US" altLang="zh-CN" sz="1600">
                        <a:solidFill>
                          <a:srgbClr val="000000"/>
                        </a:solidFill>
                        <a:latin typeface="Arial" panose="020B0604020202020204"/>
                        <a:ea typeface="微软雅黑" panose="020B0503020204020204" charset="-122"/>
                        <a:cs typeface="Arial" panose="020B0604020202020204"/>
                      </a:endParaRPr>
                    </a:p>
                  </a:txBody>
                  <a:tcPr/>
                </a:tc>
                <a:tc>
                  <a:txBody>
                    <a:bodyPr/>
                    <a:lstStyle/>
                    <a:p>
                      <a:pPr algn="ctr">
                        <a:buClrTx/>
                        <a:buSzTx/>
                        <a:buFontTx/>
                        <a:buNone/>
                      </a:pPr>
                      <a:r>
                        <a:rPr lang="en-US" altLang="zh-CN" sz="1600">
                          <a:solidFill>
                            <a:srgbClr val="000000"/>
                          </a:solidFill>
                          <a:latin typeface="Arial" panose="020B0604020202020204"/>
                          <a:ea typeface="微软雅黑" panose="020B0503020204020204" charset="-122"/>
                          <a:cs typeface="Arial" panose="020B0604020202020204"/>
                        </a:rPr>
                        <a:t>回路结构更加完整</a:t>
                      </a:r>
                      <a:endParaRPr lang="en-US" altLang="zh-CN" sz="1600">
                        <a:solidFill>
                          <a:srgbClr val="000000"/>
                        </a:solidFill>
                        <a:latin typeface="Arial" panose="020B0604020202020204"/>
                        <a:ea typeface="微软雅黑" panose="020B0503020204020204" charset="-122"/>
                        <a:cs typeface="Arial" panose="020B0604020202020204"/>
                      </a:endParaRPr>
                    </a:p>
                  </a:txBody>
                  <a:tcPr/>
                </a:tc>
              </a:tr>
              <a:tr h="1310640">
                <a:tc>
                  <a:txBody>
                    <a:bodyPr/>
                    <a:lstStyle/>
                    <a:p>
                      <a:pPr algn="ctr">
                        <a:buClrTx/>
                        <a:buSzTx/>
                        <a:buFontTx/>
                        <a:buNone/>
                      </a:pPr>
                      <a:r>
                        <a:rPr lang="en-US" altLang="zh-CN" sz="1600">
                          <a:solidFill>
                            <a:srgbClr val="000000"/>
                          </a:solidFill>
                          <a:latin typeface="Arial" panose="020B0604020202020204"/>
                          <a:ea typeface="微软雅黑" panose="020B0503020204020204" charset="-122"/>
                          <a:cs typeface="Arial" panose="020B0604020202020204"/>
                        </a:rPr>
                        <a:t>学习规则</a:t>
                      </a:r>
                      <a:endParaRPr lang="en-US" altLang="zh-CN" sz="1600">
                        <a:solidFill>
                          <a:srgbClr val="000000"/>
                        </a:solidFill>
                        <a:latin typeface="Arial" panose="020B0604020202020204"/>
                        <a:ea typeface="微软雅黑" panose="020B0503020204020204" charset="-122"/>
                        <a:cs typeface="Arial" panose="020B0604020202020204"/>
                      </a:endParaRPr>
                    </a:p>
                  </a:txBody>
                  <a:tcPr/>
                </a:tc>
                <a:tc>
                  <a:txBody>
                    <a:bodyPr/>
                    <a:lstStyle/>
                    <a:p>
                      <a:pPr algn="ctr">
                        <a:buClrTx/>
                        <a:buSzTx/>
                        <a:buFontTx/>
                        <a:buNone/>
                      </a:pPr>
                      <a:r>
                        <a:rPr lang="en-US" altLang="zh-CN" sz="1600">
                          <a:solidFill>
                            <a:srgbClr val="000000"/>
                          </a:solidFill>
                          <a:latin typeface="Arial" panose="020B0604020202020204"/>
                          <a:ea typeface="微软雅黑" panose="020B0503020204020204" charset="-122"/>
                          <a:cs typeface="Arial" panose="020B0604020202020204"/>
                        </a:rPr>
                        <a:t>HO规则和CM规则</a:t>
                      </a:r>
                      <a:endParaRPr lang="en-US" altLang="zh-CN" sz="1600">
                        <a:solidFill>
                          <a:srgbClr val="000000"/>
                        </a:solidFill>
                        <a:latin typeface="Arial" panose="020B0604020202020204"/>
                        <a:ea typeface="微软雅黑" panose="020B0503020204020204" charset="-122"/>
                        <a:cs typeface="Arial" panose="020B0604020202020204"/>
                      </a:endParaRPr>
                    </a:p>
                  </a:txBody>
                  <a:tcPr/>
                </a:tc>
                <a:tc>
                  <a:txBody>
                    <a:bodyPr/>
                    <a:lstStyle/>
                    <a:p>
                      <a:pPr algn="ctr">
                        <a:buClrTx/>
                        <a:buSzTx/>
                        <a:buFontTx/>
                        <a:buNone/>
                      </a:pPr>
                      <a:r>
                        <a:rPr lang="en-US" altLang="zh-CN" sz="1600">
                          <a:solidFill>
                            <a:srgbClr val="000000"/>
                          </a:solidFill>
                          <a:latin typeface="Arial" panose="020B0604020202020204"/>
                          <a:ea typeface="微软雅黑" panose="020B0503020204020204" charset="-122"/>
                          <a:cs typeface="Arial" panose="020B0604020202020204"/>
                        </a:rPr>
                        <a:t>Triplet STDP与对称 STDP</a:t>
                      </a:r>
                      <a:endParaRPr lang="en-US" altLang="zh-CN" sz="1600">
                        <a:solidFill>
                          <a:srgbClr val="000000"/>
                        </a:solidFill>
                        <a:latin typeface="Arial" panose="020B0604020202020204"/>
                        <a:ea typeface="微软雅黑" panose="020B0503020204020204" charset="-122"/>
                        <a:cs typeface="Arial" panose="020B0604020202020204"/>
                      </a:endParaRPr>
                    </a:p>
                  </a:txBody>
                  <a:tcPr/>
                </a:tc>
                <a:tc>
                  <a:txBody>
                    <a:bodyPr/>
                    <a:lstStyle/>
                    <a:p>
                      <a:pPr algn="ctr">
                        <a:buClrTx/>
                        <a:buSzTx/>
                        <a:buFontTx/>
                        <a:buNone/>
                      </a:pPr>
                      <a:r>
                        <a:rPr lang="en-US" altLang="zh-CN" sz="1600">
                          <a:solidFill>
                            <a:srgbClr val="000000"/>
                          </a:solidFill>
                          <a:latin typeface="Arial" panose="020B0604020202020204"/>
                          <a:ea typeface="微软雅黑" panose="020B0503020204020204" charset="-122"/>
                          <a:cs typeface="Arial" panose="020B0604020202020204"/>
                          <a:sym typeface="+mn-ea"/>
                        </a:rPr>
                        <a:t>直接依据突触前、后神经元脉冲的毫秒级时间差更新权重,拥有更多生理实验支持</a:t>
                      </a:r>
                      <a:endParaRPr lang="en-US" altLang="zh-CN" sz="1600">
                        <a:solidFill>
                          <a:srgbClr val="000000"/>
                        </a:solidFill>
                        <a:latin typeface="Arial" panose="020B0604020202020204"/>
                        <a:ea typeface="微软雅黑" panose="020B0503020204020204" charset="-122"/>
                        <a:cs typeface="Arial" panose="020B0604020202020204"/>
                        <a:sym typeface="+mn-ea"/>
                      </a:endParaRPr>
                    </a:p>
                    <a:p>
                      <a:pPr algn="ctr">
                        <a:buClrTx/>
                        <a:buSzTx/>
                        <a:buFontTx/>
                        <a:buNone/>
                      </a:pPr>
                      <a:r>
                        <a:rPr lang="en-US" altLang="zh-CN" sz="1600">
                          <a:solidFill>
                            <a:srgbClr val="000000"/>
                          </a:solidFill>
                          <a:latin typeface="Arial" panose="020B0604020202020204"/>
                          <a:ea typeface="微软雅黑" panose="020B0503020204020204" charset="-122"/>
                          <a:cs typeface="Arial" panose="020B0604020202020204"/>
                          <a:sym typeface="+mn-ea"/>
                        </a:rPr>
                        <a:t>(Pfister &amp; Gerstner, 2006, J. Neurosci，D’amour &amp; Froemke, 2015, Neuron)</a:t>
                      </a:r>
                      <a:endParaRPr lang="en-US" altLang="zh-CN" sz="1600">
                        <a:solidFill>
                          <a:srgbClr val="000000"/>
                        </a:solidFill>
                        <a:latin typeface="Arial" panose="020B0604020202020204"/>
                        <a:ea typeface="微软雅黑" panose="020B0503020204020204" charset="-122"/>
                        <a:cs typeface="Arial" panose="020B0604020202020204"/>
                      </a:endParaRPr>
                    </a:p>
                  </a:txBody>
                  <a:tcPr/>
                </a:tc>
              </a:tr>
              <a:tr h="822960">
                <a:tc>
                  <a:txBody>
                    <a:bodyPr/>
                    <a:lstStyle/>
                    <a:p>
                      <a:pPr algn="ctr">
                        <a:buClrTx/>
                        <a:buSzTx/>
                        <a:buFontTx/>
                        <a:buNone/>
                      </a:pPr>
                      <a:r>
                        <a:rPr lang="en-US" altLang="zh-CN" sz="1600">
                          <a:solidFill>
                            <a:srgbClr val="000000"/>
                          </a:solidFill>
                          <a:latin typeface="Arial" panose="020B0604020202020204"/>
                          <a:ea typeface="微软雅黑" panose="020B0503020204020204" charset="-122"/>
                          <a:cs typeface="Arial" panose="020B0604020202020204"/>
                        </a:rPr>
                        <a:t>稳态机制</a:t>
                      </a:r>
                      <a:endParaRPr lang="en-US" altLang="zh-CN" sz="1600">
                        <a:solidFill>
                          <a:srgbClr val="000000"/>
                        </a:solidFill>
                        <a:latin typeface="Arial" panose="020B0604020202020204"/>
                        <a:ea typeface="微软雅黑" panose="020B0503020204020204" charset="-122"/>
                        <a:cs typeface="Arial" panose="020B0604020202020204"/>
                      </a:endParaRPr>
                    </a:p>
                  </a:txBody>
                  <a:tcPr/>
                </a:tc>
                <a:tc>
                  <a:txBody>
                    <a:bodyPr/>
                    <a:lstStyle/>
                    <a:p>
                      <a:pPr algn="ctr">
                        <a:buClrTx/>
                        <a:buSzTx/>
                        <a:buFontTx/>
                        <a:buNone/>
                      </a:pPr>
                      <a:r>
                        <a:rPr lang="en-US" altLang="zh-CN" sz="1600">
                          <a:solidFill>
                            <a:srgbClr val="000000"/>
                          </a:solidFill>
                          <a:latin typeface="Arial" panose="020B0604020202020204"/>
                          <a:ea typeface="微软雅黑" panose="020B0503020204020204" charset="-122"/>
                          <a:cs typeface="Arial" panose="020B0604020202020204"/>
                        </a:rPr>
                        <a:t>依赖自适应阈值</a:t>
                      </a:r>
                      <a:endParaRPr lang="en-US" altLang="zh-CN" sz="1600">
                        <a:solidFill>
                          <a:srgbClr val="000000"/>
                        </a:solidFill>
                        <a:latin typeface="Arial" panose="020B0604020202020204"/>
                        <a:ea typeface="微软雅黑" panose="020B0503020204020204" charset="-122"/>
                        <a:cs typeface="Arial" panose="020B0604020202020204"/>
                      </a:endParaRPr>
                    </a:p>
                  </a:txBody>
                  <a:tcPr/>
                </a:tc>
                <a:tc>
                  <a:txBody>
                    <a:bodyPr/>
                    <a:lstStyle/>
                    <a:p>
                      <a:pPr algn="ctr">
                        <a:buClrTx/>
                        <a:buSzTx/>
                        <a:buFontTx/>
                        <a:buNone/>
                      </a:pPr>
                      <a:r>
                        <a:rPr lang="en-US" altLang="zh-CN" sz="1600">
                          <a:solidFill>
                            <a:srgbClr val="000000"/>
                          </a:solidFill>
                          <a:latin typeface="Arial" panose="020B0604020202020204"/>
                          <a:ea typeface="微软雅黑" panose="020B0503020204020204" charset="-122"/>
                          <a:cs typeface="Arial" panose="020B0604020202020204"/>
                        </a:rPr>
                        <a:t>自适应阈值与L1权重归一化同时作用</a:t>
                      </a:r>
                      <a:endParaRPr lang="en-US" altLang="zh-CN" sz="1600">
                        <a:solidFill>
                          <a:srgbClr val="000000"/>
                        </a:solidFill>
                        <a:latin typeface="Arial" panose="020B0604020202020204"/>
                        <a:ea typeface="微软雅黑" panose="020B0503020204020204" charset="-122"/>
                        <a:cs typeface="Arial" panose="020B0604020202020204"/>
                      </a:endParaRPr>
                    </a:p>
                  </a:txBody>
                  <a:tcPr/>
                </a:tc>
                <a:tc>
                  <a:txBody>
                    <a:bodyPr/>
                    <a:lstStyle/>
                    <a:p>
                      <a:pPr algn="ctr">
                        <a:buClrTx/>
                        <a:buSzTx/>
                        <a:buFontTx/>
                        <a:buNone/>
                      </a:pPr>
                      <a:r>
                        <a:rPr lang="en-US" altLang="zh-CN" sz="1600">
                          <a:solidFill>
                            <a:srgbClr val="000000"/>
                          </a:solidFill>
                          <a:latin typeface="Arial" panose="020B0604020202020204"/>
                          <a:ea typeface="微软雅黑" panose="020B0503020204020204" charset="-122"/>
                          <a:cs typeface="Arial" panose="020B0604020202020204"/>
                        </a:rPr>
                        <a:t>使得网络拥有更稳定的放电率和突触总强度</a:t>
                      </a:r>
                      <a:endParaRPr lang="en-US" altLang="zh-CN" sz="1600">
                        <a:solidFill>
                          <a:srgbClr val="000000"/>
                        </a:solidFill>
                        <a:latin typeface="Arial" panose="020B0604020202020204"/>
                        <a:ea typeface="微软雅黑" panose="020B0503020204020204" charset="-122"/>
                        <a:cs typeface="Arial" panose="020B0604020202020204"/>
                      </a:endParaRPr>
                    </a:p>
                    <a:p>
                      <a:pPr algn="ctr">
                        <a:buClrTx/>
                        <a:buSzTx/>
                        <a:buFontTx/>
                        <a:buNone/>
                      </a:pPr>
                      <a:endParaRPr lang="en-US" altLang="zh-CN" sz="1600">
                        <a:solidFill>
                          <a:srgbClr val="000000"/>
                        </a:solidFill>
                        <a:latin typeface="Arial" panose="020B0604020202020204"/>
                        <a:ea typeface="微软雅黑" panose="020B0503020204020204" charset="-122"/>
                        <a:cs typeface="Arial" panose="020B0604020202020204"/>
                      </a:endParaRPr>
                    </a:p>
                  </a:txBody>
                  <a:tcPr/>
                </a:tc>
              </a:tr>
            </a:tbl>
          </a:graphicData>
        </a:graphic>
      </p:graphicFrame>
      <p:sp>
        <p:nvSpPr>
          <p:cNvPr id="3" name="文本框 2"/>
          <p:cNvSpPr txBox="1"/>
          <p:nvPr/>
        </p:nvSpPr>
        <p:spPr>
          <a:xfrm>
            <a:off x="8547735" y="2818130"/>
            <a:ext cx="3644265" cy="1076325"/>
          </a:xfrm>
          <a:prstGeom prst="rect">
            <a:avLst/>
          </a:prstGeom>
        </p:spPr>
        <p:txBody>
          <a:bodyPr wrap="square">
            <a:spAutoFit/>
          </a:bodyPr>
          <a:lstStyle/>
          <a:p>
            <a:pPr algn="ctr"/>
            <a:r>
              <a:rPr lang="en-US" altLang="zh-CN" sz="1600">
                <a:highlight>
                  <a:srgbClr val="FFFF00"/>
                </a:highlight>
                <a:latin typeface="Arial" panose="020B0604020202020204"/>
                <a:ea typeface="微软雅黑" panose="020B0503020204020204" charset="-122"/>
                <a:cs typeface="Arial" panose="020B0604020202020204"/>
              </a:rPr>
              <a:t>Ruslim</a:t>
            </a:r>
            <a:r>
              <a:rPr lang="zh-CN" altLang="en-US" sz="1600">
                <a:highlight>
                  <a:srgbClr val="FFFF00"/>
                </a:highlight>
                <a:latin typeface="Arial" panose="020B0604020202020204"/>
                <a:ea typeface="微软雅黑" panose="020B0503020204020204" charset="-122"/>
                <a:cs typeface="Arial" panose="020B0604020202020204"/>
              </a:rPr>
              <a:t>模型并非只是扩大网络规模，而是系统补充了视觉输入、连接结构、突触可塑性和稳态调节机制，因此更适合进行后续机制消融实验。</a:t>
            </a:r>
            <a:endParaRPr lang="zh-CN" altLang="en-US" sz="1600">
              <a:highlight>
                <a:srgbClr val="FFFF00"/>
              </a:highlight>
              <a:latin typeface="Arial" panose="020B0604020202020204"/>
              <a:ea typeface="微软雅黑" panose="020B0503020204020204" charset="-122"/>
              <a:cs typeface="Arial" panose="020B06040202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p:cNvSpPr>
            <a:spLocks noGrp="1"/>
          </p:cNvSpPr>
          <p:nvPr/>
        </p:nvSpPr>
        <p:spPr>
          <a:xfrm>
            <a:off x="323850" y="228600"/>
            <a:ext cx="10401300" cy="552450"/>
          </a:xfrm>
          <a:prstGeom prst="rect">
            <a:avLst/>
          </a:prstGeom>
          <a:noFill/>
          <a:ln w="0">
            <a:noFill/>
          </a:ln>
        </p:spPr>
        <p:txBody>
          <a:bodyPr wrap="square" lIns="0" tIns="0" rIns="0" bIns="0" anchor="t">
            <a:noAutofit/>
          </a:bodyPr>
          <a:lstStyle>
            <a:defPPr>
              <a:defRPr sz="2400" b="1">
                <a:solidFill>
                  <a:srgbClr val="000000"/>
                </a:solidFill>
                <a:latin typeface="微软雅黑" panose="020B0503020204020204" charset="-122"/>
                <a:ea typeface="微软雅黑" panose="020B0503020204020204" charset="-122"/>
                <a:cs typeface="微软雅黑" panose="020B0503020204020204" charset="-122"/>
              </a:defRPr>
            </a:defPPr>
            <a:lvl1pPr>
              <a:defRPr sz="2400" b="1">
                <a:solidFill>
                  <a:srgbClr val="000000"/>
                </a:solidFill>
                <a:latin typeface="微软雅黑" panose="020B0503020204020204" charset="-122"/>
                <a:ea typeface="微软雅黑" panose="020B0503020204020204" charset="-122"/>
                <a:cs typeface="微软雅黑" panose="020B0503020204020204" charset="-122"/>
              </a:defRPr>
            </a:lvl1pPr>
            <a:lvl2pPr>
              <a:defRPr sz="2400" b="1">
                <a:solidFill>
                  <a:srgbClr val="000000"/>
                </a:solidFill>
                <a:latin typeface="微软雅黑" panose="020B0503020204020204" charset="-122"/>
                <a:ea typeface="微软雅黑" panose="020B0503020204020204" charset="-122"/>
                <a:cs typeface="微软雅黑" panose="020B0503020204020204" charset="-122"/>
              </a:defRPr>
            </a:lvl2pPr>
            <a:lvl3pPr>
              <a:defRPr sz="2400" b="1">
                <a:solidFill>
                  <a:srgbClr val="000000"/>
                </a:solidFill>
                <a:latin typeface="微软雅黑" panose="020B0503020204020204" charset="-122"/>
                <a:ea typeface="微软雅黑" panose="020B0503020204020204" charset="-122"/>
                <a:cs typeface="微软雅黑" panose="020B0503020204020204" charset="-122"/>
              </a:defRPr>
            </a:lvl3pPr>
            <a:lvl4pPr>
              <a:defRPr sz="2400" b="1">
                <a:solidFill>
                  <a:srgbClr val="000000"/>
                </a:solidFill>
                <a:latin typeface="微软雅黑" panose="020B0503020204020204" charset="-122"/>
                <a:ea typeface="微软雅黑" panose="020B0503020204020204" charset="-122"/>
                <a:cs typeface="微软雅黑" panose="020B0503020204020204" charset="-122"/>
              </a:defRPr>
            </a:lvl4pPr>
            <a:lvl5pPr>
              <a:defRPr sz="2400" b="1">
                <a:solidFill>
                  <a:srgbClr val="000000"/>
                </a:solidFill>
                <a:latin typeface="微软雅黑" panose="020B0503020204020204" charset="-122"/>
                <a:ea typeface="微软雅黑" panose="020B0503020204020204" charset="-122"/>
                <a:cs typeface="微软雅黑" panose="020B0503020204020204" charset="-122"/>
              </a:defRPr>
            </a:lvl5pPr>
            <a:lvl6pPr>
              <a:defRPr sz="2400" b="1">
                <a:solidFill>
                  <a:srgbClr val="000000"/>
                </a:solidFill>
                <a:latin typeface="微软雅黑" panose="020B0503020204020204" charset="-122"/>
                <a:ea typeface="微软雅黑" panose="020B0503020204020204" charset="-122"/>
                <a:cs typeface="微软雅黑" panose="020B0503020204020204" charset="-122"/>
              </a:defRPr>
            </a:lvl6pPr>
            <a:lvl7pPr>
              <a:defRPr sz="2400" b="1">
                <a:solidFill>
                  <a:srgbClr val="000000"/>
                </a:solidFill>
                <a:latin typeface="微软雅黑" panose="020B0503020204020204" charset="-122"/>
                <a:ea typeface="微软雅黑" panose="020B0503020204020204" charset="-122"/>
                <a:cs typeface="微软雅黑" panose="020B0503020204020204" charset="-122"/>
              </a:defRPr>
            </a:lvl7pPr>
            <a:lvl8pPr>
              <a:defRPr sz="2400" b="1">
                <a:solidFill>
                  <a:srgbClr val="000000"/>
                </a:solidFill>
                <a:latin typeface="微软雅黑" panose="020B0503020204020204" charset="-122"/>
                <a:ea typeface="微软雅黑" panose="020B0503020204020204" charset="-122"/>
                <a:cs typeface="微软雅黑" panose="020B0503020204020204" charset="-122"/>
              </a:defRPr>
            </a:lvl8pPr>
            <a:lvl9pPr>
              <a:defRPr sz="2400" b="1">
                <a:solidFill>
                  <a:srgbClr val="000000"/>
                </a:solidFill>
                <a:latin typeface="微软雅黑" panose="020B0503020204020204" charset="-122"/>
                <a:ea typeface="微软雅黑" panose="020B0503020204020204" charset="-122"/>
                <a:cs typeface="微软雅黑" panose="020B0503020204020204" charset="-122"/>
              </a:defRPr>
            </a:lvl9pPr>
          </a:lstStyle>
          <a:p>
            <a:pPr>
              <a:defRPr sz="2400" b="1">
                <a:solidFill>
                  <a:srgbClr val="000000"/>
                </a:solidFill>
                <a:latin typeface="微软雅黑" panose="020B0503020204020204" charset="-122"/>
                <a:ea typeface="微软雅黑" panose="020B0503020204020204" charset="-122"/>
                <a:cs typeface="微软雅黑" panose="020B0503020204020204" charset="-122"/>
              </a:defRPr>
            </a:pPr>
            <a:r>
              <a:rPr lang="en-US" altLang="zh-CN">
                <a:latin typeface="Arial" panose="020B0604020202020204"/>
                <a:cs typeface="Arial" panose="020B0604020202020204"/>
                <a:sym typeface="+mn-ea"/>
              </a:rPr>
              <a:t>Ruslim </a:t>
            </a:r>
            <a:r>
              <a:rPr lang="zh-CN" altLang="en-US" dirty="0">
                <a:latin typeface="Arial" panose="020B0604020202020204"/>
                <a:cs typeface="Arial" panose="020B0604020202020204"/>
                <a:sym typeface="+mn-ea"/>
              </a:rPr>
              <a:t>模型</a:t>
            </a:r>
            <a:r>
              <a:rPr sz="2400" b="1">
                <a:solidFill>
                  <a:srgbClr val="000000"/>
                </a:solidFill>
                <a:latin typeface="微软雅黑" panose="020B0503020204020204" charset="-122"/>
                <a:ea typeface="微软雅黑" panose="020B0503020204020204" charset="-122"/>
                <a:cs typeface="微软雅黑" panose="020B0503020204020204" charset="-122"/>
              </a:rPr>
              <a:t>：自然图像输入驱动可塑的E/I脉冲网络</a:t>
            </a:r>
            <a:endParaRPr sz="2400" b="1">
              <a:solidFill>
                <a:srgbClr val="000000"/>
              </a:solidFill>
              <a:latin typeface="微软雅黑" panose="020B0503020204020204" charset="-122"/>
              <a:ea typeface="微软雅黑" panose="020B0503020204020204" charset="-122"/>
              <a:cs typeface="微软雅黑" panose="020B0503020204020204" charset="-122"/>
            </a:endParaRPr>
          </a:p>
        </p:txBody>
      </p:sp>
      <p:pic>
        <p:nvPicPr>
          <p:cNvPr id="2" name="图片 1"/>
          <p:cNvPicPr>
            <a:picLocks noChangeAspect="1"/>
          </p:cNvPicPr>
          <p:nvPr/>
        </p:nvPicPr>
        <p:blipFill>
          <a:blip r:embed="rId1"/>
          <a:stretch>
            <a:fillRect/>
          </a:stretch>
        </p:blipFill>
        <p:spPr>
          <a:xfrm>
            <a:off x="10963275" y="38100"/>
            <a:ext cx="1152525" cy="1152525"/>
          </a:xfrm>
          <a:prstGeom prst="rect">
            <a:avLst/>
          </a:prstGeom>
        </p:spPr>
      </p:pic>
      <p:pic>
        <p:nvPicPr>
          <p:cNvPr id="4" name="图片 3"/>
          <p:cNvPicPr>
            <a:picLocks noChangeAspect="1"/>
          </p:cNvPicPr>
          <p:nvPr/>
        </p:nvPicPr>
        <p:blipFill>
          <a:blip r:embed="rId2"/>
          <a:stretch>
            <a:fillRect/>
          </a:stretch>
        </p:blipFill>
        <p:spPr>
          <a:xfrm>
            <a:off x="333375" y="1652766"/>
            <a:ext cx="7839075" cy="3619144"/>
          </a:xfrm>
          <a:prstGeom prst="rect">
            <a:avLst/>
          </a:prstGeom>
        </p:spPr>
      </p:pic>
      <p:sp>
        <p:nvSpPr>
          <p:cNvPr id="5" name="输入&#10;自然图像经中心–周围滤波，&#10;分为ON/OFF泊松脉冲通"/>
          <p:cNvSpPr>
            <a:spLocks noGrp="1"/>
          </p:cNvSpPr>
          <p:nvPr/>
        </p:nvSpPr>
        <p:spPr>
          <a:xfrm>
            <a:off x="8448675" y="1381125"/>
            <a:ext cx="3381375" cy="867537"/>
          </a:xfrm>
          <a:prstGeom prst="rect">
            <a:avLst/>
          </a:prstGeom>
          <a:noFill/>
          <a:ln w="0">
            <a:noFill/>
          </a:ln>
        </p:spPr>
        <p:txBody>
          <a:bodyPr wrap="square" lIns="0" tIns="0" rIns="0" bIns="0" anchor="t">
            <a:noAutofit/>
          </a:bodyPr>
          <a:lstStyle>
            <a:defPPr>
              <a:defRPr sz="1650" b="0">
                <a:solidFill>
                  <a:srgbClr val="111111"/>
                </a:solidFill>
                <a:latin typeface="微软雅黑" panose="020B0503020204020204" charset="-122"/>
                <a:ea typeface="微软雅黑" panose="020B0503020204020204" charset="-122"/>
                <a:cs typeface="微软雅黑" panose="020B0503020204020204" charset="-122"/>
              </a:defRPr>
            </a:defPPr>
            <a:lvl1pPr>
              <a:defRPr sz="1650" b="0">
                <a:solidFill>
                  <a:srgbClr val="111111"/>
                </a:solidFill>
                <a:latin typeface="微软雅黑" panose="020B0503020204020204" charset="-122"/>
                <a:ea typeface="微软雅黑" panose="020B0503020204020204" charset="-122"/>
                <a:cs typeface="微软雅黑" panose="020B0503020204020204" charset="-122"/>
              </a:defRPr>
            </a:lvl1pPr>
            <a:lvl2pPr>
              <a:defRPr sz="1650" b="0">
                <a:solidFill>
                  <a:srgbClr val="111111"/>
                </a:solidFill>
                <a:latin typeface="微软雅黑" panose="020B0503020204020204" charset="-122"/>
                <a:ea typeface="微软雅黑" panose="020B0503020204020204" charset="-122"/>
                <a:cs typeface="微软雅黑" panose="020B0503020204020204" charset="-122"/>
              </a:defRPr>
            </a:lvl2pPr>
            <a:lvl3pPr>
              <a:defRPr sz="1650" b="0">
                <a:solidFill>
                  <a:srgbClr val="111111"/>
                </a:solidFill>
                <a:latin typeface="微软雅黑" panose="020B0503020204020204" charset="-122"/>
                <a:ea typeface="微软雅黑" panose="020B0503020204020204" charset="-122"/>
                <a:cs typeface="微软雅黑" panose="020B0503020204020204" charset="-122"/>
              </a:defRPr>
            </a:lvl3pPr>
            <a:lvl4pPr>
              <a:defRPr sz="1650" b="0">
                <a:solidFill>
                  <a:srgbClr val="111111"/>
                </a:solidFill>
                <a:latin typeface="微软雅黑" panose="020B0503020204020204" charset="-122"/>
                <a:ea typeface="微软雅黑" panose="020B0503020204020204" charset="-122"/>
                <a:cs typeface="微软雅黑" panose="020B0503020204020204" charset="-122"/>
              </a:defRPr>
            </a:lvl4pPr>
            <a:lvl5pPr>
              <a:defRPr sz="1650" b="0">
                <a:solidFill>
                  <a:srgbClr val="111111"/>
                </a:solidFill>
                <a:latin typeface="微软雅黑" panose="020B0503020204020204" charset="-122"/>
                <a:ea typeface="微软雅黑" panose="020B0503020204020204" charset="-122"/>
                <a:cs typeface="微软雅黑" panose="020B0503020204020204" charset="-122"/>
              </a:defRPr>
            </a:lvl5pPr>
            <a:lvl6pPr>
              <a:defRPr sz="1650" b="0">
                <a:solidFill>
                  <a:srgbClr val="111111"/>
                </a:solidFill>
                <a:latin typeface="微软雅黑" panose="020B0503020204020204" charset="-122"/>
                <a:ea typeface="微软雅黑" panose="020B0503020204020204" charset="-122"/>
                <a:cs typeface="微软雅黑" panose="020B0503020204020204" charset="-122"/>
              </a:defRPr>
            </a:lvl6pPr>
            <a:lvl7pPr>
              <a:defRPr sz="1650" b="0">
                <a:solidFill>
                  <a:srgbClr val="111111"/>
                </a:solidFill>
                <a:latin typeface="微软雅黑" panose="020B0503020204020204" charset="-122"/>
                <a:ea typeface="微软雅黑" panose="020B0503020204020204" charset="-122"/>
                <a:cs typeface="微软雅黑" panose="020B0503020204020204" charset="-122"/>
              </a:defRPr>
            </a:lvl7pPr>
            <a:lvl8pPr>
              <a:defRPr sz="1650" b="0">
                <a:solidFill>
                  <a:srgbClr val="111111"/>
                </a:solidFill>
                <a:latin typeface="微软雅黑" panose="020B0503020204020204" charset="-122"/>
                <a:ea typeface="微软雅黑" panose="020B0503020204020204" charset="-122"/>
                <a:cs typeface="微软雅黑" panose="020B0503020204020204" charset="-122"/>
              </a:defRPr>
            </a:lvl8pPr>
            <a:lvl9pPr>
              <a:defRPr sz="1650" b="0">
                <a:solidFill>
                  <a:srgbClr val="111111"/>
                </a:solidFill>
                <a:latin typeface="微软雅黑" panose="020B0503020204020204" charset="-122"/>
                <a:ea typeface="微软雅黑" panose="020B0503020204020204" charset="-122"/>
                <a:cs typeface="微软雅黑" panose="020B0503020204020204" charset="-122"/>
              </a:defRPr>
            </a:lvl9pPr>
          </a:lstStyle>
          <a:p>
            <a:pPr>
              <a:defRPr sz="1650" b="0">
                <a:solidFill>
                  <a:srgbClr val="111111"/>
                </a:solidFill>
                <a:latin typeface="微软雅黑" panose="020B0503020204020204" charset="-122"/>
                <a:ea typeface="微软雅黑" panose="020B0503020204020204" charset="-122"/>
                <a:cs typeface="微软雅黑" panose="020B0503020204020204" charset="-122"/>
              </a:defRPr>
            </a:pPr>
            <a:r>
              <a:rPr sz="1650" b="1">
                <a:solidFill>
                  <a:srgbClr val="111111"/>
                </a:solidFill>
                <a:latin typeface="微软雅黑" panose="020B0503020204020204" charset="-122"/>
                <a:ea typeface="微软雅黑" panose="020B0503020204020204" charset="-122"/>
                <a:cs typeface="微软雅黑" panose="020B0503020204020204" charset="-122"/>
              </a:rPr>
              <a:t>输入</a:t>
            </a:r>
            <a:r>
              <a:rPr lang="zh-CN" sz="1650" b="1">
                <a:solidFill>
                  <a:srgbClr val="111111"/>
                </a:solidFill>
                <a:latin typeface="微软雅黑" panose="020B0503020204020204" charset="-122"/>
                <a:ea typeface="微软雅黑" panose="020B0503020204020204" charset="-122"/>
                <a:cs typeface="微软雅黑" panose="020B0503020204020204" charset="-122"/>
              </a:rPr>
              <a:t>：</a:t>
            </a:r>
            <a:endParaRPr sz="1650" b="1">
              <a:solidFill>
                <a:srgbClr val="111111"/>
              </a:solidFill>
              <a:latin typeface="微软雅黑" panose="020B0503020204020204" charset="-122"/>
              <a:ea typeface="微软雅黑" panose="020B0503020204020204" charset="-122"/>
              <a:cs typeface="微软雅黑" panose="020B0503020204020204" charset="-122"/>
            </a:endParaRPr>
          </a:p>
          <a:p>
            <a:pPr>
              <a:defRPr sz="1650" b="0">
                <a:solidFill>
                  <a:srgbClr val="111111"/>
                </a:solidFill>
                <a:latin typeface="微软雅黑" panose="020B0503020204020204" charset="-122"/>
                <a:ea typeface="微软雅黑" panose="020B0503020204020204" charset="-122"/>
                <a:cs typeface="微软雅黑" panose="020B0503020204020204" charset="-122"/>
              </a:defRPr>
            </a:pPr>
            <a:r>
              <a:rPr sz="1650" b="0">
                <a:solidFill>
                  <a:srgbClr val="111111"/>
                </a:solidFill>
                <a:latin typeface="微软雅黑" panose="020B0503020204020204" charset="-122"/>
                <a:ea typeface="微软雅黑" panose="020B0503020204020204" charset="-122"/>
                <a:cs typeface="微软雅黑" panose="020B0503020204020204" charset="-122"/>
              </a:rPr>
              <a:t>自然图像经中心–周围滤波，</a:t>
            </a:r>
            <a:endParaRPr sz="1650" b="0">
              <a:solidFill>
                <a:srgbClr val="111111"/>
              </a:solidFill>
              <a:latin typeface="微软雅黑" panose="020B0503020204020204" charset="-122"/>
              <a:ea typeface="微软雅黑" panose="020B0503020204020204" charset="-122"/>
              <a:cs typeface="微软雅黑" panose="020B0503020204020204" charset="-122"/>
            </a:endParaRPr>
          </a:p>
          <a:p>
            <a:pPr>
              <a:defRPr sz="1650" b="0">
                <a:solidFill>
                  <a:srgbClr val="111111"/>
                </a:solidFill>
                <a:latin typeface="微软雅黑" panose="020B0503020204020204" charset="-122"/>
                <a:ea typeface="微软雅黑" panose="020B0503020204020204" charset="-122"/>
                <a:cs typeface="微软雅黑" panose="020B0503020204020204" charset="-122"/>
              </a:defRPr>
            </a:pPr>
            <a:r>
              <a:rPr sz="1650" b="0">
                <a:solidFill>
                  <a:srgbClr val="111111"/>
                </a:solidFill>
                <a:latin typeface="微软雅黑" panose="020B0503020204020204" charset="-122"/>
                <a:ea typeface="微软雅黑" panose="020B0503020204020204" charset="-122"/>
                <a:cs typeface="微软雅黑" panose="020B0503020204020204" charset="-122"/>
              </a:rPr>
              <a:t>分为ON/OFF</a:t>
            </a:r>
            <a:r>
              <a:rPr lang="zh-CN" sz="1650" b="0">
                <a:solidFill>
                  <a:srgbClr val="111111"/>
                </a:solidFill>
                <a:latin typeface="微软雅黑" panose="020B0503020204020204" charset="-122"/>
                <a:ea typeface="微软雅黑" panose="020B0503020204020204" charset="-122"/>
                <a:cs typeface="微软雅黑" panose="020B0503020204020204" charset="-122"/>
              </a:rPr>
              <a:t>两类</a:t>
            </a:r>
            <a:r>
              <a:rPr sz="1650" b="0">
                <a:solidFill>
                  <a:srgbClr val="111111"/>
                </a:solidFill>
                <a:latin typeface="微软雅黑" panose="020B0503020204020204" charset="-122"/>
                <a:ea typeface="微软雅黑" panose="020B0503020204020204" charset="-122"/>
                <a:cs typeface="微软雅黑" panose="020B0503020204020204" charset="-122"/>
              </a:rPr>
              <a:t>泊松脉冲</a:t>
            </a:r>
            <a:r>
              <a:rPr lang="zh-CN" sz="1650" b="0">
                <a:solidFill>
                  <a:srgbClr val="111111"/>
                </a:solidFill>
                <a:latin typeface="微软雅黑" panose="020B0503020204020204" charset="-122"/>
                <a:ea typeface="微软雅黑" panose="020B0503020204020204" charset="-122"/>
                <a:cs typeface="微软雅黑" panose="020B0503020204020204" charset="-122"/>
              </a:rPr>
              <a:t>输入</a:t>
            </a:r>
            <a:r>
              <a:rPr sz="1650" b="0">
                <a:solidFill>
                  <a:srgbClr val="111111"/>
                </a:solidFill>
                <a:latin typeface="微软雅黑" panose="020B0503020204020204" charset="-122"/>
                <a:ea typeface="微软雅黑" panose="020B0503020204020204" charset="-122"/>
                <a:cs typeface="微软雅黑" panose="020B0503020204020204" charset="-122"/>
              </a:rPr>
              <a:t>。</a:t>
            </a:r>
            <a:endParaRPr sz="1650" b="0">
              <a:solidFill>
                <a:srgbClr val="111111"/>
              </a:solidFill>
              <a:latin typeface="微软雅黑" panose="020B0503020204020204" charset="-122"/>
              <a:ea typeface="微软雅黑" panose="020B0503020204020204" charset="-122"/>
              <a:cs typeface="微软雅黑" panose="020B0503020204020204" charset="-122"/>
            </a:endParaRPr>
          </a:p>
        </p:txBody>
      </p:sp>
      <p:sp>
        <p:nvSpPr>
          <p:cNvPr id="6" name="回路&#10;X同时投射至E、I；&#10;包含四类E/I递归连接。"/>
          <p:cNvSpPr>
            <a:spLocks noGrp="1"/>
          </p:cNvSpPr>
          <p:nvPr/>
        </p:nvSpPr>
        <p:spPr>
          <a:xfrm>
            <a:off x="8448675" y="2477262"/>
            <a:ext cx="3381375" cy="867537"/>
          </a:xfrm>
          <a:prstGeom prst="rect">
            <a:avLst/>
          </a:prstGeom>
          <a:noFill/>
          <a:ln w="0">
            <a:noFill/>
          </a:ln>
        </p:spPr>
        <p:txBody>
          <a:bodyPr wrap="square" lIns="0" tIns="0" rIns="0" bIns="0" anchor="t">
            <a:noAutofit/>
          </a:bodyPr>
          <a:lstStyle>
            <a:defPPr>
              <a:defRPr sz="1650" b="0">
                <a:solidFill>
                  <a:srgbClr val="111111"/>
                </a:solidFill>
                <a:latin typeface="微软雅黑" panose="020B0503020204020204" charset="-122"/>
                <a:ea typeface="微软雅黑" panose="020B0503020204020204" charset="-122"/>
                <a:cs typeface="微软雅黑" panose="020B0503020204020204" charset="-122"/>
              </a:defRPr>
            </a:defPPr>
            <a:lvl1pPr>
              <a:defRPr sz="1650" b="0">
                <a:solidFill>
                  <a:srgbClr val="111111"/>
                </a:solidFill>
                <a:latin typeface="微软雅黑" panose="020B0503020204020204" charset="-122"/>
                <a:ea typeface="微软雅黑" panose="020B0503020204020204" charset="-122"/>
                <a:cs typeface="微软雅黑" panose="020B0503020204020204" charset="-122"/>
              </a:defRPr>
            </a:lvl1pPr>
            <a:lvl2pPr>
              <a:defRPr sz="1650" b="0">
                <a:solidFill>
                  <a:srgbClr val="111111"/>
                </a:solidFill>
                <a:latin typeface="微软雅黑" panose="020B0503020204020204" charset="-122"/>
                <a:ea typeface="微软雅黑" panose="020B0503020204020204" charset="-122"/>
                <a:cs typeface="微软雅黑" panose="020B0503020204020204" charset="-122"/>
              </a:defRPr>
            </a:lvl2pPr>
            <a:lvl3pPr>
              <a:defRPr sz="1650" b="0">
                <a:solidFill>
                  <a:srgbClr val="111111"/>
                </a:solidFill>
                <a:latin typeface="微软雅黑" panose="020B0503020204020204" charset="-122"/>
                <a:ea typeface="微软雅黑" panose="020B0503020204020204" charset="-122"/>
                <a:cs typeface="微软雅黑" panose="020B0503020204020204" charset="-122"/>
              </a:defRPr>
            </a:lvl3pPr>
            <a:lvl4pPr>
              <a:defRPr sz="1650" b="0">
                <a:solidFill>
                  <a:srgbClr val="111111"/>
                </a:solidFill>
                <a:latin typeface="微软雅黑" panose="020B0503020204020204" charset="-122"/>
                <a:ea typeface="微软雅黑" panose="020B0503020204020204" charset="-122"/>
                <a:cs typeface="微软雅黑" panose="020B0503020204020204" charset="-122"/>
              </a:defRPr>
            </a:lvl4pPr>
            <a:lvl5pPr>
              <a:defRPr sz="1650" b="0">
                <a:solidFill>
                  <a:srgbClr val="111111"/>
                </a:solidFill>
                <a:latin typeface="微软雅黑" panose="020B0503020204020204" charset="-122"/>
                <a:ea typeface="微软雅黑" panose="020B0503020204020204" charset="-122"/>
                <a:cs typeface="微软雅黑" panose="020B0503020204020204" charset="-122"/>
              </a:defRPr>
            </a:lvl5pPr>
            <a:lvl6pPr>
              <a:defRPr sz="1650" b="0">
                <a:solidFill>
                  <a:srgbClr val="111111"/>
                </a:solidFill>
                <a:latin typeface="微软雅黑" panose="020B0503020204020204" charset="-122"/>
                <a:ea typeface="微软雅黑" panose="020B0503020204020204" charset="-122"/>
                <a:cs typeface="微软雅黑" panose="020B0503020204020204" charset="-122"/>
              </a:defRPr>
            </a:lvl6pPr>
            <a:lvl7pPr>
              <a:defRPr sz="1650" b="0">
                <a:solidFill>
                  <a:srgbClr val="111111"/>
                </a:solidFill>
                <a:latin typeface="微软雅黑" panose="020B0503020204020204" charset="-122"/>
                <a:ea typeface="微软雅黑" panose="020B0503020204020204" charset="-122"/>
                <a:cs typeface="微软雅黑" panose="020B0503020204020204" charset="-122"/>
              </a:defRPr>
            </a:lvl7pPr>
            <a:lvl8pPr>
              <a:defRPr sz="1650" b="0">
                <a:solidFill>
                  <a:srgbClr val="111111"/>
                </a:solidFill>
                <a:latin typeface="微软雅黑" panose="020B0503020204020204" charset="-122"/>
                <a:ea typeface="微软雅黑" panose="020B0503020204020204" charset="-122"/>
                <a:cs typeface="微软雅黑" panose="020B0503020204020204" charset="-122"/>
              </a:defRPr>
            </a:lvl8pPr>
            <a:lvl9pPr>
              <a:defRPr sz="1650" b="0">
                <a:solidFill>
                  <a:srgbClr val="111111"/>
                </a:solidFill>
                <a:latin typeface="微软雅黑" panose="020B0503020204020204" charset="-122"/>
                <a:ea typeface="微软雅黑" panose="020B0503020204020204" charset="-122"/>
                <a:cs typeface="微软雅黑" panose="020B0503020204020204" charset="-122"/>
              </a:defRPr>
            </a:lvl9pPr>
          </a:lstStyle>
          <a:p>
            <a:pPr>
              <a:defRPr sz="1650" b="0">
                <a:solidFill>
                  <a:srgbClr val="111111"/>
                </a:solidFill>
                <a:latin typeface="微软雅黑" panose="020B0503020204020204" charset="-122"/>
                <a:ea typeface="微软雅黑" panose="020B0503020204020204" charset="-122"/>
                <a:cs typeface="微软雅黑" panose="020B0503020204020204" charset="-122"/>
              </a:defRPr>
            </a:pPr>
            <a:r>
              <a:rPr lang="zh-CN" sz="1650" b="1">
                <a:solidFill>
                  <a:srgbClr val="111111"/>
                </a:solidFill>
                <a:latin typeface="微软雅黑" panose="020B0503020204020204" charset="-122"/>
                <a:ea typeface="微软雅黑" panose="020B0503020204020204" charset="-122"/>
                <a:cs typeface="微软雅黑" panose="020B0503020204020204" charset="-122"/>
              </a:rPr>
              <a:t>连接</a:t>
            </a:r>
            <a:r>
              <a:rPr lang="zh-CN" sz="1650" b="1">
                <a:solidFill>
                  <a:srgbClr val="111111"/>
                </a:solidFill>
                <a:latin typeface="微软雅黑" panose="020B0503020204020204" charset="-122"/>
                <a:ea typeface="微软雅黑" panose="020B0503020204020204" charset="-122"/>
                <a:cs typeface="微软雅黑" panose="020B0503020204020204" charset="-122"/>
              </a:rPr>
              <a:t>情况：</a:t>
            </a:r>
            <a:endParaRPr sz="1650" b="1">
              <a:solidFill>
                <a:srgbClr val="111111"/>
              </a:solidFill>
              <a:latin typeface="微软雅黑" panose="020B0503020204020204" charset="-122"/>
              <a:ea typeface="微软雅黑" panose="020B0503020204020204" charset="-122"/>
              <a:cs typeface="微软雅黑" panose="020B0503020204020204" charset="-122"/>
            </a:endParaRPr>
          </a:p>
          <a:p>
            <a:pPr>
              <a:defRPr sz="1650" b="0">
                <a:solidFill>
                  <a:srgbClr val="111111"/>
                </a:solidFill>
                <a:latin typeface="微软雅黑" panose="020B0503020204020204" charset="-122"/>
                <a:ea typeface="微软雅黑" panose="020B0503020204020204" charset="-122"/>
                <a:cs typeface="微软雅黑" panose="020B0503020204020204" charset="-122"/>
              </a:defRPr>
            </a:pPr>
            <a:r>
              <a:rPr sz="1650" b="0">
                <a:solidFill>
                  <a:srgbClr val="111111"/>
                </a:solidFill>
                <a:latin typeface="微软雅黑" panose="020B0503020204020204" charset="-122"/>
                <a:ea typeface="微软雅黑" panose="020B0503020204020204" charset="-122"/>
                <a:cs typeface="微软雅黑" panose="020B0503020204020204" charset="-122"/>
              </a:rPr>
              <a:t>X</a:t>
            </a:r>
            <a:r>
              <a:rPr lang="zh-CN" sz="1650" b="0">
                <a:solidFill>
                  <a:srgbClr val="111111"/>
                </a:solidFill>
                <a:latin typeface="微软雅黑" panose="020B0503020204020204" charset="-122"/>
                <a:ea typeface="微软雅黑" panose="020B0503020204020204" charset="-122"/>
                <a:cs typeface="微软雅黑" panose="020B0503020204020204" charset="-122"/>
              </a:rPr>
              <a:t>连接</a:t>
            </a:r>
            <a:r>
              <a:rPr sz="1650" b="0">
                <a:solidFill>
                  <a:srgbClr val="111111"/>
                </a:solidFill>
                <a:latin typeface="微软雅黑" panose="020B0503020204020204" charset="-122"/>
                <a:ea typeface="微软雅黑" panose="020B0503020204020204" charset="-122"/>
                <a:cs typeface="微软雅黑" panose="020B0503020204020204" charset="-122"/>
              </a:rPr>
              <a:t>E、I</a:t>
            </a:r>
            <a:r>
              <a:rPr lang="zh-CN" sz="1650" b="0">
                <a:solidFill>
                  <a:srgbClr val="111111"/>
                </a:solidFill>
                <a:latin typeface="微软雅黑" panose="020B0503020204020204" charset="-122"/>
                <a:ea typeface="微软雅黑" panose="020B0503020204020204" charset="-122"/>
                <a:cs typeface="微软雅黑" panose="020B0503020204020204" charset="-122"/>
              </a:rPr>
              <a:t>群体</a:t>
            </a:r>
            <a:r>
              <a:rPr sz="1650" b="0">
                <a:solidFill>
                  <a:srgbClr val="111111"/>
                </a:solidFill>
                <a:latin typeface="微软雅黑" panose="020B0503020204020204" charset="-122"/>
                <a:ea typeface="微软雅黑" panose="020B0503020204020204" charset="-122"/>
                <a:cs typeface="微软雅黑" panose="020B0503020204020204" charset="-122"/>
              </a:rPr>
              <a:t>；</a:t>
            </a:r>
            <a:endParaRPr sz="1650" b="0">
              <a:solidFill>
                <a:srgbClr val="111111"/>
              </a:solidFill>
              <a:latin typeface="微软雅黑" panose="020B0503020204020204" charset="-122"/>
              <a:ea typeface="微软雅黑" panose="020B0503020204020204" charset="-122"/>
              <a:cs typeface="微软雅黑" panose="020B0503020204020204" charset="-122"/>
            </a:endParaRPr>
          </a:p>
          <a:p>
            <a:pPr>
              <a:defRPr sz="1650" b="0">
                <a:solidFill>
                  <a:srgbClr val="111111"/>
                </a:solidFill>
                <a:latin typeface="微软雅黑" panose="020B0503020204020204" charset="-122"/>
                <a:ea typeface="微软雅黑" panose="020B0503020204020204" charset="-122"/>
                <a:cs typeface="微软雅黑" panose="020B0503020204020204" charset="-122"/>
              </a:defRPr>
            </a:pPr>
            <a:r>
              <a:rPr lang="en-US" sz="1650" b="0">
                <a:solidFill>
                  <a:srgbClr val="111111"/>
                </a:solidFill>
                <a:latin typeface="微软雅黑" panose="020B0503020204020204" charset="-122"/>
                <a:ea typeface="微软雅黑" panose="020B0503020204020204" charset="-122"/>
                <a:cs typeface="微软雅黑" panose="020B0503020204020204" charset="-122"/>
              </a:rPr>
              <a:t>E</a:t>
            </a:r>
            <a:r>
              <a:rPr>
                <a:sym typeface="+mn-ea"/>
              </a:rPr>
              <a:t>、</a:t>
            </a:r>
            <a:r>
              <a:rPr lang="en-US" sz="1650" b="0">
                <a:solidFill>
                  <a:srgbClr val="111111"/>
                </a:solidFill>
                <a:latin typeface="微软雅黑" panose="020B0503020204020204" charset="-122"/>
                <a:ea typeface="微软雅黑" panose="020B0503020204020204" charset="-122"/>
                <a:cs typeface="微软雅黑" panose="020B0503020204020204" charset="-122"/>
              </a:rPr>
              <a:t>I</a:t>
            </a:r>
            <a:r>
              <a:rPr lang="zh-CN" altLang="en-US" sz="1650" b="0">
                <a:solidFill>
                  <a:srgbClr val="111111"/>
                </a:solidFill>
                <a:latin typeface="微软雅黑" panose="020B0503020204020204" charset="-122"/>
                <a:ea typeface="微软雅黑" panose="020B0503020204020204" charset="-122"/>
                <a:cs typeface="微软雅黑" panose="020B0503020204020204" charset="-122"/>
              </a:rPr>
              <a:t>群体之间</a:t>
            </a:r>
            <a:r>
              <a:rPr sz="1650" b="0">
                <a:solidFill>
                  <a:srgbClr val="111111"/>
                </a:solidFill>
                <a:latin typeface="微软雅黑" panose="020B0503020204020204" charset="-122"/>
                <a:ea typeface="微软雅黑" panose="020B0503020204020204" charset="-122"/>
                <a:cs typeface="微软雅黑" panose="020B0503020204020204" charset="-122"/>
              </a:rPr>
              <a:t>包含四类连接</a:t>
            </a:r>
            <a:r>
              <a:rPr lang="en-US" sz="1650" b="0">
                <a:solidFill>
                  <a:srgbClr val="111111"/>
                </a:solidFill>
                <a:latin typeface="微软雅黑" panose="020B0503020204020204" charset="-122"/>
                <a:ea typeface="微软雅黑" panose="020B0503020204020204" charset="-122"/>
                <a:cs typeface="微软雅黑" panose="020B0503020204020204" charset="-122"/>
              </a:rPr>
              <a:t>(I→I,I</a:t>
            </a:r>
            <a:r>
              <a:rPr lang="en-US">
                <a:sym typeface="+mn-ea"/>
              </a:rPr>
              <a:t>→</a:t>
            </a:r>
            <a:r>
              <a:rPr lang="en-US" sz="1650" b="0">
                <a:solidFill>
                  <a:srgbClr val="111111"/>
                </a:solidFill>
                <a:latin typeface="微软雅黑" panose="020B0503020204020204" charset="-122"/>
                <a:ea typeface="微软雅黑" panose="020B0503020204020204" charset="-122"/>
                <a:cs typeface="微软雅黑" panose="020B0503020204020204" charset="-122"/>
              </a:rPr>
              <a:t>E,E</a:t>
            </a:r>
            <a:r>
              <a:rPr lang="en-US">
                <a:sym typeface="+mn-ea"/>
              </a:rPr>
              <a:t>→</a:t>
            </a:r>
            <a:r>
              <a:rPr lang="en-US" sz="1650" b="0">
                <a:solidFill>
                  <a:srgbClr val="111111"/>
                </a:solidFill>
                <a:latin typeface="微软雅黑" panose="020B0503020204020204" charset="-122"/>
                <a:ea typeface="微软雅黑" panose="020B0503020204020204" charset="-122"/>
                <a:cs typeface="微软雅黑" panose="020B0503020204020204" charset="-122"/>
              </a:rPr>
              <a:t>I,E</a:t>
            </a:r>
            <a:r>
              <a:rPr lang="en-US">
                <a:sym typeface="+mn-ea"/>
              </a:rPr>
              <a:t>→</a:t>
            </a:r>
            <a:r>
              <a:rPr lang="en-US" sz="1650" b="0">
                <a:solidFill>
                  <a:srgbClr val="111111"/>
                </a:solidFill>
                <a:latin typeface="微软雅黑" panose="020B0503020204020204" charset="-122"/>
                <a:ea typeface="微软雅黑" panose="020B0503020204020204" charset="-122"/>
                <a:cs typeface="微软雅黑" panose="020B0503020204020204" charset="-122"/>
              </a:rPr>
              <a:t>E)</a:t>
            </a:r>
            <a:r>
              <a:rPr sz="1650" b="0">
                <a:solidFill>
                  <a:srgbClr val="111111"/>
                </a:solidFill>
                <a:latin typeface="微软雅黑" panose="020B0503020204020204" charset="-122"/>
                <a:ea typeface="微软雅黑" panose="020B0503020204020204" charset="-122"/>
                <a:cs typeface="微软雅黑" panose="020B0503020204020204" charset="-122"/>
              </a:rPr>
              <a:t>。</a:t>
            </a:r>
            <a:endParaRPr lang="zh-CN" sz="1650" b="0">
              <a:solidFill>
                <a:srgbClr val="111111"/>
              </a:solidFill>
              <a:latin typeface="微软雅黑" panose="020B0503020204020204" charset="-122"/>
              <a:ea typeface="微软雅黑" panose="020B0503020204020204" charset="-122"/>
              <a:cs typeface="微软雅黑" panose="020B0503020204020204" charset="-122"/>
            </a:endParaRPr>
          </a:p>
        </p:txBody>
      </p:sp>
      <p:sp>
        <p:nvSpPr>
          <p:cNvPr id="7" name="学习与稳态&#10;STDP改变权重分配；L1约束&#10;权重尺度；阈值调"/>
          <p:cNvSpPr>
            <a:spLocks noGrp="1"/>
          </p:cNvSpPr>
          <p:nvPr/>
        </p:nvSpPr>
        <p:spPr>
          <a:xfrm>
            <a:off x="8448675" y="3704844"/>
            <a:ext cx="3381375" cy="867537"/>
          </a:xfrm>
          <a:prstGeom prst="rect">
            <a:avLst/>
          </a:prstGeom>
          <a:noFill/>
          <a:ln w="0">
            <a:noFill/>
          </a:ln>
        </p:spPr>
        <p:txBody>
          <a:bodyPr wrap="square" lIns="0" tIns="0" rIns="0" bIns="0" anchor="t">
            <a:noAutofit/>
          </a:bodyPr>
          <a:lstStyle>
            <a:defPPr>
              <a:defRPr sz="1650" b="0">
                <a:solidFill>
                  <a:srgbClr val="111111"/>
                </a:solidFill>
                <a:latin typeface="微软雅黑" panose="020B0503020204020204" charset="-122"/>
                <a:ea typeface="微软雅黑" panose="020B0503020204020204" charset="-122"/>
                <a:cs typeface="微软雅黑" panose="020B0503020204020204" charset="-122"/>
              </a:defRPr>
            </a:defPPr>
            <a:lvl1pPr>
              <a:defRPr sz="1650" b="0">
                <a:solidFill>
                  <a:srgbClr val="111111"/>
                </a:solidFill>
                <a:latin typeface="微软雅黑" panose="020B0503020204020204" charset="-122"/>
                <a:ea typeface="微软雅黑" panose="020B0503020204020204" charset="-122"/>
                <a:cs typeface="微软雅黑" panose="020B0503020204020204" charset="-122"/>
              </a:defRPr>
            </a:lvl1pPr>
            <a:lvl2pPr>
              <a:defRPr sz="1650" b="0">
                <a:solidFill>
                  <a:srgbClr val="111111"/>
                </a:solidFill>
                <a:latin typeface="微软雅黑" panose="020B0503020204020204" charset="-122"/>
                <a:ea typeface="微软雅黑" panose="020B0503020204020204" charset="-122"/>
                <a:cs typeface="微软雅黑" panose="020B0503020204020204" charset="-122"/>
              </a:defRPr>
            </a:lvl2pPr>
            <a:lvl3pPr>
              <a:defRPr sz="1650" b="0">
                <a:solidFill>
                  <a:srgbClr val="111111"/>
                </a:solidFill>
                <a:latin typeface="微软雅黑" panose="020B0503020204020204" charset="-122"/>
                <a:ea typeface="微软雅黑" panose="020B0503020204020204" charset="-122"/>
                <a:cs typeface="微软雅黑" panose="020B0503020204020204" charset="-122"/>
              </a:defRPr>
            </a:lvl3pPr>
            <a:lvl4pPr>
              <a:defRPr sz="1650" b="0">
                <a:solidFill>
                  <a:srgbClr val="111111"/>
                </a:solidFill>
                <a:latin typeface="微软雅黑" panose="020B0503020204020204" charset="-122"/>
                <a:ea typeface="微软雅黑" panose="020B0503020204020204" charset="-122"/>
                <a:cs typeface="微软雅黑" panose="020B0503020204020204" charset="-122"/>
              </a:defRPr>
            </a:lvl4pPr>
            <a:lvl5pPr>
              <a:defRPr sz="1650" b="0">
                <a:solidFill>
                  <a:srgbClr val="111111"/>
                </a:solidFill>
                <a:latin typeface="微软雅黑" panose="020B0503020204020204" charset="-122"/>
                <a:ea typeface="微软雅黑" panose="020B0503020204020204" charset="-122"/>
                <a:cs typeface="微软雅黑" panose="020B0503020204020204" charset="-122"/>
              </a:defRPr>
            </a:lvl5pPr>
            <a:lvl6pPr>
              <a:defRPr sz="1650" b="0">
                <a:solidFill>
                  <a:srgbClr val="111111"/>
                </a:solidFill>
                <a:latin typeface="微软雅黑" panose="020B0503020204020204" charset="-122"/>
                <a:ea typeface="微软雅黑" panose="020B0503020204020204" charset="-122"/>
                <a:cs typeface="微软雅黑" panose="020B0503020204020204" charset="-122"/>
              </a:defRPr>
            </a:lvl6pPr>
            <a:lvl7pPr>
              <a:defRPr sz="1650" b="0">
                <a:solidFill>
                  <a:srgbClr val="111111"/>
                </a:solidFill>
                <a:latin typeface="微软雅黑" panose="020B0503020204020204" charset="-122"/>
                <a:ea typeface="微软雅黑" panose="020B0503020204020204" charset="-122"/>
                <a:cs typeface="微软雅黑" panose="020B0503020204020204" charset="-122"/>
              </a:defRPr>
            </a:lvl7pPr>
            <a:lvl8pPr>
              <a:defRPr sz="1650" b="0">
                <a:solidFill>
                  <a:srgbClr val="111111"/>
                </a:solidFill>
                <a:latin typeface="微软雅黑" panose="020B0503020204020204" charset="-122"/>
                <a:ea typeface="微软雅黑" panose="020B0503020204020204" charset="-122"/>
                <a:cs typeface="微软雅黑" panose="020B0503020204020204" charset="-122"/>
              </a:defRPr>
            </a:lvl8pPr>
            <a:lvl9pPr>
              <a:defRPr sz="1650" b="0">
                <a:solidFill>
                  <a:srgbClr val="111111"/>
                </a:solidFill>
                <a:latin typeface="微软雅黑" panose="020B0503020204020204" charset="-122"/>
                <a:ea typeface="微软雅黑" panose="020B0503020204020204" charset="-122"/>
                <a:cs typeface="微软雅黑" panose="020B0503020204020204" charset="-122"/>
              </a:defRPr>
            </a:lvl9pPr>
          </a:lstStyle>
          <a:p>
            <a:pPr>
              <a:defRPr sz="1650" b="0">
                <a:solidFill>
                  <a:srgbClr val="111111"/>
                </a:solidFill>
                <a:latin typeface="微软雅黑" panose="020B0503020204020204" charset="-122"/>
                <a:ea typeface="微软雅黑" panose="020B0503020204020204" charset="-122"/>
                <a:cs typeface="微软雅黑" panose="020B0503020204020204" charset="-122"/>
              </a:defRPr>
            </a:pPr>
            <a:r>
              <a:rPr lang="zh-CN" sz="1650" b="1">
                <a:solidFill>
                  <a:srgbClr val="111111"/>
                </a:solidFill>
                <a:latin typeface="微软雅黑" panose="020B0503020204020204" charset="-122"/>
                <a:ea typeface="微软雅黑" panose="020B0503020204020204" charset="-122"/>
                <a:cs typeface="微软雅黑" panose="020B0503020204020204" charset="-122"/>
              </a:rPr>
              <a:t>突触权重更新规则</a:t>
            </a:r>
            <a:r>
              <a:rPr sz="1650" b="1">
                <a:solidFill>
                  <a:srgbClr val="111111"/>
                </a:solidFill>
                <a:latin typeface="微软雅黑" panose="020B0503020204020204" charset="-122"/>
                <a:ea typeface="微软雅黑" panose="020B0503020204020204" charset="-122"/>
                <a:cs typeface="微软雅黑" panose="020B0503020204020204" charset="-122"/>
              </a:rPr>
              <a:t>与稳态</a:t>
            </a:r>
            <a:r>
              <a:rPr lang="zh-CN" sz="1650" b="1">
                <a:solidFill>
                  <a:srgbClr val="111111"/>
                </a:solidFill>
                <a:latin typeface="微软雅黑" panose="020B0503020204020204" charset="-122"/>
                <a:ea typeface="微软雅黑" panose="020B0503020204020204" charset="-122"/>
                <a:cs typeface="微软雅黑" panose="020B0503020204020204" charset="-122"/>
              </a:rPr>
              <a:t>机制：</a:t>
            </a:r>
            <a:endParaRPr sz="1650" b="1">
              <a:solidFill>
                <a:srgbClr val="111111"/>
              </a:solidFill>
              <a:latin typeface="微软雅黑" panose="020B0503020204020204" charset="-122"/>
              <a:ea typeface="微软雅黑" panose="020B0503020204020204" charset="-122"/>
              <a:cs typeface="微软雅黑" panose="020B0503020204020204" charset="-122"/>
            </a:endParaRPr>
          </a:p>
          <a:p>
            <a:pPr>
              <a:defRPr sz="1650" b="0">
                <a:solidFill>
                  <a:srgbClr val="111111"/>
                </a:solidFill>
                <a:latin typeface="微软雅黑" panose="020B0503020204020204" charset="-122"/>
                <a:ea typeface="微软雅黑" panose="020B0503020204020204" charset="-122"/>
                <a:cs typeface="微软雅黑" panose="020B0503020204020204" charset="-122"/>
              </a:defRPr>
            </a:pPr>
            <a:r>
              <a:rPr sz="1650" b="0">
                <a:solidFill>
                  <a:srgbClr val="111111"/>
                </a:solidFill>
                <a:latin typeface="微软雅黑" panose="020B0503020204020204" charset="-122"/>
                <a:ea typeface="微软雅黑" panose="020B0503020204020204" charset="-122"/>
                <a:cs typeface="微软雅黑" panose="020B0503020204020204" charset="-122"/>
              </a:rPr>
              <a:t>STDP改变权重分配；</a:t>
            </a:r>
            <a:endParaRPr sz="1650" b="0">
              <a:solidFill>
                <a:srgbClr val="111111"/>
              </a:solidFill>
              <a:latin typeface="微软雅黑" panose="020B0503020204020204" charset="-122"/>
              <a:ea typeface="微软雅黑" panose="020B0503020204020204" charset="-122"/>
              <a:cs typeface="微软雅黑" panose="020B0503020204020204" charset="-122"/>
            </a:endParaRPr>
          </a:p>
          <a:p>
            <a:pPr>
              <a:defRPr sz="1650" b="0">
                <a:solidFill>
                  <a:srgbClr val="111111"/>
                </a:solidFill>
                <a:latin typeface="微软雅黑" panose="020B0503020204020204" charset="-122"/>
                <a:ea typeface="微软雅黑" panose="020B0503020204020204" charset="-122"/>
                <a:cs typeface="微软雅黑" panose="020B0503020204020204" charset="-122"/>
              </a:defRPr>
            </a:pPr>
            <a:r>
              <a:rPr sz="1650" b="0">
                <a:solidFill>
                  <a:srgbClr val="111111"/>
                </a:solidFill>
                <a:latin typeface="微软雅黑" panose="020B0503020204020204" charset="-122"/>
                <a:ea typeface="微软雅黑" panose="020B0503020204020204" charset="-122"/>
                <a:cs typeface="微软雅黑" panose="020B0503020204020204" charset="-122"/>
              </a:rPr>
              <a:t>L1约束</a:t>
            </a:r>
            <a:r>
              <a:rPr lang="zh-CN" sz="1650" b="0">
                <a:solidFill>
                  <a:srgbClr val="111111"/>
                </a:solidFill>
                <a:latin typeface="微软雅黑" panose="020B0503020204020204" charset="-122"/>
                <a:ea typeface="微软雅黑" panose="020B0503020204020204" charset="-122"/>
                <a:cs typeface="微软雅黑" panose="020B0503020204020204" charset="-122"/>
              </a:rPr>
              <a:t>整体</a:t>
            </a:r>
            <a:r>
              <a:rPr sz="1650" b="0">
                <a:solidFill>
                  <a:srgbClr val="111111"/>
                </a:solidFill>
                <a:latin typeface="微软雅黑" panose="020B0503020204020204" charset="-122"/>
                <a:ea typeface="微软雅黑" panose="020B0503020204020204" charset="-122"/>
                <a:cs typeface="微软雅黑" panose="020B0503020204020204" charset="-122"/>
              </a:rPr>
              <a:t>权重</a:t>
            </a:r>
            <a:r>
              <a:rPr lang="zh-CN" sz="1650" b="0">
                <a:solidFill>
                  <a:srgbClr val="111111"/>
                </a:solidFill>
                <a:latin typeface="微软雅黑" panose="020B0503020204020204" charset="-122"/>
                <a:ea typeface="微软雅黑" panose="020B0503020204020204" charset="-122"/>
                <a:cs typeface="微软雅黑" panose="020B0503020204020204" charset="-122"/>
              </a:rPr>
              <a:t>大小</a:t>
            </a:r>
            <a:r>
              <a:rPr sz="1650" b="0">
                <a:solidFill>
                  <a:srgbClr val="111111"/>
                </a:solidFill>
                <a:latin typeface="微软雅黑" panose="020B0503020204020204" charset="-122"/>
                <a:ea typeface="微软雅黑" panose="020B0503020204020204" charset="-122"/>
                <a:cs typeface="微软雅黑" panose="020B0503020204020204" charset="-122"/>
              </a:rPr>
              <a:t>；</a:t>
            </a:r>
            <a:endParaRPr sz="1650" b="0">
              <a:solidFill>
                <a:srgbClr val="111111"/>
              </a:solidFill>
              <a:latin typeface="微软雅黑" panose="020B0503020204020204" charset="-122"/>
              <a:ea typeface="微软雅黑" panose="020B0503020204020204" charset="-122"/>
              <a:cs typeface="微软雅黑" panose="020B0503020204020204" charset="-122"/>
            </a:endParaRPr>
          </a:p>
          <a:p>
            <a:pPr>
              <a:defRPr sz="1650" b="0">
                <a:solidFill>
                  <a:srgbClr val="111111"/>
                </a:solidFill>
                <a:latin typeface="微软雅黑" panose="020B0503020204020204" charset="-122"/>
                <a:ea typeface="微软雅黑" panose="020B0503020204020204" charset="-122"/>
                <a:cs typeface="微软雅黑" panose="020B0503020204020204" charset="-122"/>
              </a:defRPr>
            </a:pPr>
            <a:r>
              <a:rPr lang="en-US" sz="1650" b="0">
                <a:solidFill>
                  <a:srgbClr val="111111"/>
                </a:solidFill>
                <a:latin typeface="微软雅黑" panose="020B0503020204020204" charset="-122"/>
                <a:ea typeface="微软雅黑" panose="020B0503020204020204" charset="-122"/>
                <a:cs typeface="微软雅黑" panose="020B0503020204020204" charset="-122"/>
              </a:rPr>
              <a:t>adaptive threshold</a:t>
            </a:r>
            <a:r>
              <a:rPr sz="1650" b="0">
                <a:solidFill>
                  <a:srgbClr val="111111"/>
                </a:solidFill>
                <a:latin typeface="微软雅黑" panose="020B0503020204020204" charset="-122"/>
                <a:ea typeface="微软雅黑" panose="020B0503020204020204" charset="-122"/>
                <a:cs typeface="微软雅黑" panose="020B0503020204020204" charset="-122"/>
              </a:rPr>
              <a:t>调节</a:t>
            </a:r>
            <a:r>
              <a:rPr lang="zh-CN" sz="1650" b="0">
                <a:solidFill>
                  <a:srgbClr val="111111"/>
                </a:solidFill>
                <a:latin typeface="微软雅黑" panose="020B0503020204020204" charset="-122"/>
                <a:ea typeface="微软雅黑" panose="020B0503020204020204" charset="-122"/>
                <a:cs typeface="微软雅黑" panose="020B0503020204020204" charset="-122"/>
              </a:rPr>
              <a:t>单个神经元的</a:t>
            </a:r>
            <a:r>
              <a:rPr sz="1650" b="0">
                <a:solidFill>
                  <a:srgbClr val="111111"/>
                </a:solidFill>
                <a:latin typeface="微软雅黑" panose="020B0503020204020204" charset="-122"/>
                <a:ea typeface="微软雅黑" panose="020B0503020204020204" charset="-122"/>
                <a:cs typeface="微软雅黑" panose="020B0503020204020204" charset="-122"/>
              </a:rPr>
              <a:t>兴奋性。</a:t>
            </a:r>
            <a:endParaRPr sz="1650" b="0">
              <a:solidFill>
                <a:srgbClr val="11111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p:cNvSpPr>
            <a:spLocks noGrp="1"/>
          </p:cNvSpPr>
          <p:nvPr/>
        </p:nvSpPr>
        <p:spPr>
          <a:xfrm>
            <a:off x="323850" y="228600"/>
            <a:ext cx="10401300" cy="552450"/>
          </a:xfrm>
          <a:prstGeom prst="rect">
            <a:avLst/>
          </a:prstGeom>
          <a:noFill/>
          <a:ln w="0">
            <a:noFill/>
          </a:ln>
        </p:spPr>
        <p:txBody>
          <a:bodyPr wrap="square" lIns="0" tIns="0" rIns="0" bIns="0" anchor="t">
            <a:noAutofit/>
          </a:bodyPr>
          <a:lstStyle>
            <a:defPPr>
              <a:defRPr sz="2400" b="1">
                <a:solidFill>
                  <a:srgbClr val="000000"/>
                </a:solidFill>
                <a:latin typeface="微软雅黑" panose="020B0503020204020204" charset="-122"/>
                <a:ea typeface="微软雅黑" panose="020B0503020204020204" charset="-122"/>
                <a:cs typeface="微软雅黑" panose="020B0503020204020204" charset="-122"/>
              </a:defRPr>
            </a:defPPr>
            <a:lvl1pPr>
              <a:defRPr sz="2400" b="1">
                <a:solidFill>
                  <a:srgbClr val="000000"/>
                </a:solidFill>
                <a:latin typeface="微软雅黑" panose="020B0503020204020204" charset="-122"/>
                <a:ea typeface="微软雅黑" panose="020B0503020204020204" charset="-122"/>
                <a:cs typeface="微软雅黑" panose="020B0503020204020204" charset="-122"/>
              </a:defRPr>
            </a:lvl1pPr>
            <a:lvl2pPr>
              <a:defRPr sz="2400" b="1">
                <a:solidFill>
                  <a:srgbClr val="000000"/>
                </a:solidFill>
                <a:latin typeface="微软雅黑" panose="020B0503020204020204" charset="-122"/>
                <a:ea typeface="微软雅黑" panose="020B0503020204020204" charset="-122"/>
                <a:cs typeface="微软雅黑" panose="020B0503020204020204" charset="-122"/>
              </a:defRPr>
            </a:lvl2pPr>
            <a:lvl3pPr>
              <a:defRPr sz="2400" b="1">
                <a:solidFill>
                  <a:srgbClr val="000000"/>
                </a:solidFill>
                <a:latin typeface="微软雅黑" panose="020B0503020204020204" charset="-122"/>
                <a:ea typeface="微软雅黑" panose="020B0503020204020204" charset="-122"/>
                <a:cs typeface="微软雅黑" panose="020B0503020204020204" charset="-122"/>
              </a:defRPr>
            </a:lvl3pPr>
            <a:lvl4pPr>
              <a:defRPr sz="2400" b="1">
                <a:solidFill>
                  <a:srgbClr val="000000"/>
                </a:solidFill>
                <a:latin typeface="微软雅黑" panose="020B0503020204020204" charset="-122"/>
                <a:ea typeface="微软雅黑" panose="020B0503020204020204" charset="-122"/>
                <a:cs typeface="微软雅黑" panose="020B0503020204020204" charset="-122"/>
              </a:defRPr>
            </a:lvl4pPr>
            <a:lvl5pPr>
              <a:defRPr sz="2400" b="1">
                <a:solidFill>
                  <a:srgbClr val="000000"/>
                </a:solidFill>
                <a:latin typeface="微软雅黑" panose="020B0503020204020204" charset="-122"/>
                <a:ea typeface="微软雅黑" panose="020B0503020204020204" charset="-122"/>
                <a:cs typeface="微软雅黑" panose="020B0503020204020204" charset="-122"/>
              </a:defRPr>
            </a:lvl5pPr>
            <a:lvl6pPr>
              <a:defRPr sz="2400" b="1">
                <a:solidFill>
                  <a:srgbClr val="000000"/>
                </a:solidFill>
                <a:latin typeface="微软雅黑" panose="020B0503020204020204" charset="-122"/>
                <a:ea typeface="微软雅黑" panose="020B0503020204020204" charset="-122"/>
                <a:cs typeface="微软雅黑" panose="020B0503020204020204" charset="-122"/>
              </a:defRPr>
            </a:lvl6pPr>
            <a:lvl7pPr>
              <a:defRPr sz="2400" b="1">
                <a:solidFill>
                  <a:srgbClr val="000000"/>
                </a:solidFill>
                <a:latin typeface="微软雅黑" panose="020B0503020204020204" charset="-122"/>
                <a:ea typeface="微软雅黑" panose="020B0503020204020204" charset="-122"/>
                <a:cs typeface="微软雅黑" panose="020B0503020204020204" charset="-122"/>
              </a:defRPr>
            </a:lvl7pPr>
            <a:lvl8pPr>
              <a:defRPr sz="2400" b="1">
                <a:solidFill>
                  <a:srgbClr val="000000"/>
                </a:solidFill>
                <a:latin typeface="微软雅黑" panose="020B0503020204020204" charset="-122"/>
                <a:ea typeface="微软雅黑" panose="020B0503020204020204" charset="-122"/>
                <a:cs typeface="微软雅黑" panose="020B0503020204020204" charset="-122"/>
              </a:defRPr>
            </a:lvl8pPr>
            <a:lvl9pPr>
              <a:defRPr sz="2400" b="1">
                <a:solidFill>
                  <a:srgbClr val="000000"/>
                </a:solidFill>
                <a:latin typeface="微软雅黑" panose="020B0503020204020204" charset="-122"/>
                <a:ea typeface="微软雅黑" panose="020B0503020204020204" charset="-122"/>
                <a:cs typeface="微软雅黑" panose="020B0503020204020204" charset="-122"/>
              </a:defRPr>
            </a:lvl9pPr>
          </a:lstStyle>
          <a:p>
            <a:pPr>
              <a:defRPr sz="2400" b="1">
                <a:solidFill>
                  <a:srgbClr val="000000"/>
                </a:solidFill>
                <a:latin typeface="微软雅黑" panose="020B0503020204020204" charset="-122"/>
                <a:ea typeface="微软雅黑" panose="020B0503020204020204" charset="-122"/>
                <a:cs typeface="微软雅黑" panose="020B0503020204020204" charset="-122"/>
              </a:defRPr>
            </a:pPr>
            <a:r>
              <a:rPr lang="en-US" sz="2400" b="1">
                <a:solidFill>
                  <a:srgbClr val="000000"/>
                </a:solidFill>
                <a:latin typeface="微软雅黑" panose="020B0503020204020204" charset="-122"/>
                <a:ea typeface="微软雅黑" panose="020B0503020204020204" charset="-122"/>
                <a:cs typeface="微软雅黑" panose="020B0503020204020204" charset="-122"/>
              </a:rPr>
              <a:t>Ruslim</a:t>
            </a:r>
            <a:r>
              <a:rPr lang="zh-CN" altLang="en-US" sz="2400" b="1">
                <a:solidFill>
                  <a:srgbClr val="000000"/>
                </a:solidFill>
                <a:latin typeface="微软雅黑" panose="020B0503020204020204" charset="-122"/>
                <a:ea typeface="微软雅黑" panose="020B0503020204020204" charset="-122"/>
                <a:cs typeface="微软雅黑" panose="020B0503020204020204" charset="-122"/>
              </a:rPr>
              <a:t>模型</a:t>
            </a:r>
            <a:r>
              <a:rPr sz="2400" b="1">
                <a:solidFill>
                  <a:srgbClr val="000000"/>
                </a:solidFill>
                <a:latin typeface="微软雅黑" panose="020B0503020204020204" charset="-122"/>
                <a:ea typeface="微软雅黑" panose="020B0503020204020204" charset="-122"/>
                <a:cs typeface="微软雅黑" panose="020B0503020204020204" charset="-122"/>
              </a:rPr>
              <a:t>局部</a:t>
            </a:r>
            <a:r>
              <a:rPr lang="zh-CN" sz="2400" b="1">
                <a:solidFill>
                  <a:srgbClr val="000000"/>
                </a:solidFill>
                <a:latin typeface="微软雅黑" panose="020B0503020204020204" charset="-122"/>
                <a:ea typeface="微软雅黑" panose="020B0503020204020204" charset="-122"/>
                <a:cs typeface="微软雅黑" panose="020B0503020204020204" charset="-122"/>
              </a:rPr>
              <a:t>突触权重</a:t>
            </a:r>
            <a:r>
              <a:rPr sz="2400" b="1">
                <a:solidFill>
                  <a:srgbClr val="000000"/>
                </a:solidFill>
                <a:latin typeface="微软雅黑" panose="020B0503020204020204" charset="-122"/>
                <a:ea typeface="微软雅黑" panose="020B0503020204020204" charset="-122"/>
                <a:cs typeface="微软雅黑" panose="020B0503020204020204" charset="-122"/>
              </a:rPr>
              <a:t>学习</a:t>
            </a:r>
            <a:r>
              <a:rPr lang="zh-CN" sz="2400" b="1">
                <a:solidFill>
                  <a:srgbClr val="000000"/>
                </a:solidFill>
                <a:latin typeface="微软雅黑" panose="020B0503020204020204" charset="-122"/>
                <a:ea typeface="微软雅黑" panose="020B0503020204020204" charset="-122"/>
                <a:cs typeface="微软雅黑" panose="020B0503020204020204" charset="-122"/>
              </a:rPr>
              <a:t>机制</a:t>
            </a:r>
            <a:r>
              <a:rPr sz="2400" b="1">
                <a:solidFill>
                  <a:srgbClr val="000000"/>
                </a:solidFill>
                <a:latin typeface="微软雅黑" panose="020B0503020204020204" charset="-122"/>
                <a:ea typeface="微软雅黑" panose="020B0503020204020204" charset="-122"/>
                <a:cs typeface="微软雅黑" panose="020B0503020204020204" charset="-122"/>
              </a:rPr>
              <a:t>：不同连接采用两类STDP</a:t>
            </a:r>
            <a:endParaRPr sz="2400" b="1">
              <a:solidFill>
                <a:srgbClr val="000000"/>
              </a:solidFill>
              <a:latin typeface="微软雅黑" panose="020B0503020204020204" charset="-122"/>
              <a:ea typeface="微软雅黑" panose="020B0503020204020204" charset="-122"/>
              <a:cs typeface="微软雅黑" panose="020B0503020204020204" charset="-122"/>
            </a:endParaRPr>
          </a:p>
        </p:txBody>
      </p:sp>
      <p:pic>
        <p:nvPicPr>
          <p:cNvPr id="2" name="图片 1"/>
          <p:cNvPicPr>
            <a:picLocks noChangeAspect="1"/>
          </p:cNvPicPr>
          <p:nvPr/>
        </p:nvPicPr>
        <p:blipFill>
          <a:blip r:embed="rId1"/>
          <a:stretch>
            <a:fillRect/>
          </a:stretch>
        </p:blipFill>
        <p:spPr>
          <a:xfrm>
            <a:off x="10963275" y="38100"/>
            <a:ext cx="1152525" cy="1152525"/>
          </a:xfrm>
          <a:prstGeom prst="rect">
            <a:avLst/>
          </a:prstGeom>
        </p:spPr>
      </p:pic>
      <p:sp>
        <p:nvSpPr>
          <p:cNvPr id="4" name="三联STDP：X→E、E→E"/>
          <p:cNvSpPr>
            <a:spLocks noGrp="1"/>
          </p:cNvSpPr>
          <p:nvPr/>
        </p:nvSpPr>
        <p:spPr>
          <a:xfrm>
            <a:off x="400050" y="1238250"/>
            <a:ext cx="7429500" cy="323850"/>
          </a:xfrm>
          <a:prstGeom prst="rect">
            <a:avLst/>
          </a:prstGeom>
          <a:noFill/>
          <a:ln w="0">
            <a:noFill/>
          </a:ln>
        </p:spPr>
        <p:txBody>
          <a:bodyPr wrap="square" lIns="0" tIns="0" rIns="0" bIns="0" anchor="t">
            <a:noAutofit/>
          </a:bodyPr>
          <a:lstStyle>
            <a:defPPr>
              <a:defRPr sz="1875" b="1">
                <a:solidFill>
                  <a:srgbClr val="0072B2"/>
                </a:solidFill>
                <a:latin typeface="微软雅黑" panose="020B0503020204020204" charset="-122"/>
                <a:ea typeface="微软雅黑" panose="020B0503020204020204" charset="-122"/>
                <a:cs typeface="微软雅黑" panose="020B0503020204020204" charset="-122"/>
              </a:defRPr>
            </a:defPPr>
            <a:lvl1pPr>
              <a:defRPr sz="1875" b="1">
                <a:solidFill>
                  <a:srgbClr val="0072B2"/>
                </a:solidFill>
                <a:latin typeface="微软雅黑" panose="020B0503020204020204" charset="-122"/>
                <a:ea typeface="微软雅黑" panose="020B0503020204020204" charset="-122"/>
                <a:cs typeface="微软雅黑" panose="020B0503020204020204" charset="-122"/>
              </a:defRPr>
            </a:lvl1pPr>
            <a:lvl2pPr>
              <a:defRPr sz="1875" b="1">
                <a:solidFill>
                  <a:srgbClr val="0072B2"/>
                </a:solidFill>
                <a:latin typeface="微软雅黑" panose="020B0503020204020204" charset="-122"/>
                <a:ea typeface="微软雅黑" panose="020B0503020204020204" charset="-122"/>
                <a:cs typeface="微软雅黑" panose="020B0503020204020204" charset="-122"/>
              </a:defRPr>
            </a:lvl2pPr>
            <a:lvl3pPr>
              <a:defRPr sz="1875" b="1">
                <a:solidFill>
                  <a:srgbClr val="0072B2"/>
                </a:solidFill>
                <a:latin typeface="微软雅黑" panose="020B0503020204020204" charset="-122"/>
                <a:ea typeface="微软雅黑" panose="020B0503020204020204" charset="-122"/>
                <a:cs typeface="微软雅黑" panose="020B0503020204020204" charset="-122"/>
              </a:defRPr>
            </a:lvl3pPr>
            <a:lvl4pPr>
              <a:defRPr sz="1875" b="1">
                <a:solidFill>
                  <a:srgbClr val="0072B2"/>
                </a:solidFill>
                <a:latin typeface="微软雅黑" panose="020B0503020204020204" charset="-122"/>
                <a:ea typeface="微软雅黑" panose="020B0503020204020204" charset="-122"/>
                <a:cs typeface="微软雅黑" panose="020B0503020204020204" charset="-122"/>
              </a:defRPr>
            </a:lvl4pPr>
            <a:lvl5pPr>
              <a:defRPr sz="1875" b="1">
                <a:solidFill>
                  <a:srgbClr val="0072B2"/>
                </a:solidFill>
                <a:latin typeface="微软雅黑" panose="020B0503020204020204" charset="-122"/>
                <a:ea typeface="微软雅黑" panose="020B0503020204020204" charset="-122"/>
                <a:cs typeface="微软雅黑" panose="020B0503020204020204" charset="-122"/>
              </a:defRPr>
            </a:lvl5pPr>
            <a:lvl6pPr>
              <a:defRPr sz="1875" b="1">
                <a:solidFill>
                  <a:srgbClr val="0072B2"/>
                </a:solidFill>
                <a:latin typeface="微软雅黑" panose="020B0503020204020204" charset="-122"/>
                <a:ea typeface="微软雅黑" panose="020B0503020204020204" charset="-122"/>
                <a:cs typeface="微软雅黑" panose="020B0503020204020204" charset="-122"/>
              </a:defRPr>
            </a:lvl6pPr>
            <a:lvl7pPr>
              <a:defRPr sz="1875" b="1">
                <a:solidFill>
                  <a:srgbClr val="0072B2"/>
                </a:solidFill>
                <a:latin typeface="微软雅黑" panose="020B0503020204020204" charset="-122"/>
                <a:ea typeface="微软雅黑" panose="020B0503020204020204" charset="-122"/>
                <a:cs typeface="微软雅黑" panose="020B0503020204020204" charset="-122"/>
              </a:defRPr>
            </a:lvl7pPr>
            <a:lvl8pPr>
              <a:defRPr sz="1875" b="1">
                <a:solidFill>
                  <a:srgbClr val="0072B2"/>
                </a:solidFill>
                <a:latin typeface="微软雅黑" panose="020B0503020204020204" charset="-122"/>
                <a:ea typeface="微软雅黑" panose="020B0503020204020204" charset="-122"/>
                <a:cs typeface="微软雅黑" panose="020B0503020204020204" charset="-122"/>
              </a:defRPr>
            </a:lvl8pPr>
            <a:lvl9pPr>
              <a:defRPr sz="1875" b="1">
                <a:solidFill>
                  <a:srgbClr val="0072B2"/>
                </a:solidFill>
                <a:latin typeface="微软雅黑" panose="020B0503020204020204" charset="-122"/>
                <a:ea typeface="微软雅黑" panose="020B0503020204020204" charset="-122"/>
                <a:cs typeface="微软雅黑" panose="020B0503020204020204" charset="-122"/>
              </a:defRPr>
            </a:lvl9pPr>
          </a:lstStyle>
          <a:p>
            <a:pPr>
              <a:defRPr sz="1875" b="1">
                <a:solidFill>
                  <a:srgbClr val="0072B2"/>
                </a:solidFill>
                <a:latin typeface="微软雅黑" panose="020B0503020204020204" charset="-122"/>
                <a:ea typeface="微软雅黑" panose="020B0503020204020204" charset="-122"/>
                <a:cs typeface="微软雅黑" panose="020B0503020204020204" charset="-122"/>
              </a:defRPr>
            </a:pPr>
            <a:r>
              <a:rPr lang="en-US" sz="1875" b="1">
                <a:solidFill>
                  <a:schemeClr val="tx1"/>
                </a:solidFill>
                <a:latin typeface="微软雅黑" panose="020B0503020204020204" charset="-122"/>
                <a:ea typeface="微软雅黑" panose="020B0503020204020204" charset="-122"/>
                <a:cs typeface="微软雅黑" panose="020B0503020204020204" charset="-122"/>
              </a:rPr>
              <a:t>Triplet </a:t>
            </a:r>
            <a:r>
              <a:rPr sz="1875" b="1">
                <a:solidFill>
                  <a:schemeClr val="tx1"/>
                </a:solidFill>
                <a:latin typeface="微软雅黑" panose="020B0503020204020204" charset="-122"/>
                <a:ea typeface="微软雅黑" panose="020B0503020204020204" charset="-122"/>
                <a:cs typeface="微软雅黑" panose="020B0503020204020204" charset="-122"/>
              </a:rPr>
              <a:t>STDP：X→E、E→E</a:t>
            </a:r>
            <a:endParaRPr sz="1875" b="1">
              <a:solidFill>
                <a:schemeClr val="tx1"/>
              </a:solidFill>
              <a:latin typeface="微软雅黑" panose="020B0503020204020204" charset="-122"/>
              <a:ea typeface="微软雅黑" panose="020B0503020204020204" charset="-122"/>
              <a:cs typeface="微软雅黑" panose="020B0503020204020204" charset="-122"/>
            </a:endParaRPr>
          </a:p>
        </p:txBody>
      </p:sp>
      <mc:AlternateContent xmlns:mc="http://schemas.openxmlformats.org/markup-compatibility/2006">
        <mc:Choice xmlns:a14="http://schemas.microsoft.com/office/drawing/2010/main" Requires="a14">
          <p:sp>
            <p:nvSpPr>
              <p:cNvPr id="5" name="EQ_triplet_post"/>
              <p:cNvSpPr>
                <a:spLocks noGrp="1"/>
              </p:cNvSpPr>
              <p:nvPr/>
            </p:nvSpPr>
            <p:spPr>
              <a:xfrm>
                <a:off x="514350" y="1743075"/>
                <a:ext cx="7715250" cy="619125"/>
              </a:xfrm>
              <a:prstGeom prst="rect">
                <a:avLst/>
              </a:prstGeom>
              <a:noFill/>
              <a:ln w="0">
                <a:noFill/>
              </a:ln>
            </p:spPr>
            <p:txBody>
              <a:bodyPr wrap="square" lIns="0" tIns="0" rIns="0" bIns="0" anchor="t">
                <a:noAutofit/>
              </a:bodyPr>
              <a:lstStyle>
                <a:defPPr>
                  <a:defRPr sz="2175" b="0">
                    <a:solidFill>
                      <a:srgbClr val="000000"/>
                    </a:solidFill>
                    <a:latin typeface="Cambria Math" panose="02040503050406030204"/>
                    <a:ea typeface="Cambria Math" panose="02040503050406030204"/>
                    <a:cs typeface="Cambria Math" panose="02040503050406030204"/>
                  </a:defRPr>
                </a:defPPr>
                <a:lvl1pPr>
                  <a:defRPr sz="2175" b="0">
                    <a:solidFill>
                      <a:srgbClr val="000000"/>
                    </a:solidFill>
                    <a:latin typeface="Cambria Math" panose="02040503050406030204"/>
                    <a:ea typeface="Cambria Math" panose="02040503050406030204"/>
                    <a:cs typeface="Cambria Math" panose="02040503050406030204"/>
                  </a:defRPr>
                </a:lvl1pPr>
                <a:lvl2pPr>
                  <a:defRPr sz="2175" b="0">
                    <a:solidFill>
                      <a:srgbClr val="000000"/>
                    </a:solidFill>
                    <a:latin typeface="Cambria Math" panose="02040503050406030204"/>
                    <a:ea typeface="Cambria Math" panose="02040503050406030204"/>
                    <a:cs typeface="Cambria Math" panose="02040503050406030204"/>
                  </a:defRPr>
                </a:lvl2pPr>
                <a:lvl3pPr>
                  <a:defRPr sz="2175" b="0">
                    <a:solidFill>
                      <a:srgbClr val="000000"/>
                    </a:solidFill>
                    <a:latin typeface="Cambria Math" panose="02040503050406030204"/>
                    <a:ea typeface="Cambria Math" panose="02040503050406030204"/>
                    <a:cs typeface="Cambria Math" panose="02040503050406030204"/>
                  </a:defRPr>
                </a:lvl3pPr>
                <a:lvl4pPr>
                  <a:defRPr sz="2175" b="0">
                    <a:solidFill>
                      <a:srgbClr val="000000"/>
                    </a:solidFill>
                    <a:latin typeface="Cambria Math" panose="02040503050406030204"/>
                    <a:ea typeface="Cambria Math" panose="02040503050406030204"/>
                    <a:cs typeface="Cambria Math" panose="02040503050406030204"/>
                  </a:defRPr>
                </a:lvl4pPr>
                <a:lvl5pPr>
                  <a:defRPr sz="2175" b="0">
                    <a:solidFill>
                      <a:srgbClr val="000000"/>
                    </a:solidFill>
                    <a:latin typeface="Cambria Math" panose="02040503050406030204"/>
                    <a:ea typeface="Cambria Math" panose="02040503050406030204"/>
                    <a:cs typeface="Cambria Math" panose="02040503050406030204"/>
                  </a:defRPr>
                </a:lvl5pPr>
                <a:lvl6pPr>
                  <a:defRPr sz="2175" b="0">
                    <a:solidFill>
                      <a:srgbClr val="000000"/>
                    </a:solidFill>
                    <a:latin typeface="Cambria Math" panose="02040503050406030204"/>
                    <a:ea typeface="Cambria Math" panose="02040503050406030204"/>
                    <a:cs typeface="Cambria Math" panose="02040503050406030204"/>
                  </a:defRPr>
                </a:lvl6pPr>
                <a:lvl7pPr>
                  <a:defRPr sz="2175" b="0">
                    <a:solidFill>
                      <a:srgbClr val="000000"/>
                    </a:solidFill>
                    <a:latin typeface="Cambria Math" panose="02040503050406030204"/>
                    <a:ea typeface="Cambria Math" panose="02040503050406030204"/>
                    <a:cs typeface="Cambria Math" panose="02040503050406030204"/>
                  </a:defRPr>
                </a:lvl7pPr>
                <a:lvl8pPr>
                  <a:defRPr sz="2175" b="0">
                    <a:solidFill>
                      <a:srgbClr val="000000"/>
                    </a:solidFill>
                    <a:latin typeface="Cambria Math" panose="02040503050406030204"/>
                    <a:ea typeface="Cambria Math" panose="02040503050406030204"/>
                    <a:cs typeface="Cambria Math" panose="02040503050406030204"/>
                  </a:defRPr>
                </a:lvl8pPr>
                <a:lvl9pPr>
                  <a:defRPr sz="2175" b="0">
                    <a:solidFill>
                      <a:srgbClr val="000000"/>
                    </a:solidFill>
                    <a:latin typeface="Cambria Math" panose="02040503050406030204"/>
                    <a:ea typeface="Cambria Math" panose="02040503050406030204"/>
                    <a:cs typeface="Cambria Math" panose="02040503050406030204"/>
                  </a:defRPr>
                </a:lvl9pPr>
              </a:lstStyle>
              <a:p>
                <a14:m>
                  <m:oMathPara xmlns:m="http://schemas.openxmlformats.org/officeDocument/2006/math">
                    <m:oMathParaPr>
                      <m:jc m:val="left"/>
                    </m:oMathParaPr>
                    <m:oMath xmlns:m="http://schemas.openxmlformats.org/officeDocument/2006/math">
                      <m:r>
                        <a:rPr lang="en-US" sz="2100">
                          <a:latin typeface="Cambria Math" panose="02040503050406030204"/>
                          <a:ea typeface="微软雅黑" panose="020B0503020204020204" charset="-122"/>
                        </a:rPr>
                        <m:t>𝛥</m:t>
                      </m:r>
                      <m:sSubSup>
                        <m:sSubSupPr>
                          <m:ctrlPr>
                            <a:rPr/>
                          </m:ctrlPr>
                        </m:sSubSupPr>
                        <m:e>
                          <m:r>
                            <a:rPr lang="en-US" sz="2100">
                              <a:latin typeface="Cambria Math" panose="02040503050406030204"/>
                              <a:ea typeface="微软雅黑" panose="020B0503020204020204" charset="-122"/>
                            </a:rPr>
                            <m:t>𝑊</m:t>
                          </m:r>
                        </m:e>
                        <m:sub>
                          <m:r>
                            <a:rPr lang="en-US" sz="2100">
                              <a:latin typeface="Cambria Math" panose="02040503050406030204"/>
                              <a:ea typeface="微软雅黑" panose="020B0503020204020204" charset="-122"/>
                            </a:rPr>
                            <m:t>𝑗𝑖</m:t>
                          </m:r>
                        </m:sub>
                        <m:sup>
                          <m:r>
                            <m:rPr>
                              <m:sty m:val="p"/>
                            </m:rPr>
                            <a:rPr lang="en-US" sz="2100">
                              <a:latin typeface="Cambria Math" panose="02040503050406030204"/>
                              <a:ea typeface="微软雅黑" panose="020B0503020204020204" charset="-122"/>
                            </a:rPr>
                            <m:t>EB</m:t>
                          </m:r>
                        </m:sup>
                      </m:sSubSup>
                      <m:r>
                        <a:rPr lang="en-US" sz="2100">
                          <a:latin typeface="Cambria Math" panose="02040503050406030204"/>
                          <a:ea typeface="微软雅黑" panose="020B0503020204020204" charset="-122"/>
                        </a:rPr>
                        <m:t>=</m:t>
                      </m:r>
                      <m:sSup>
                        <m:sSupPr>
                          <m:ctrlPr>
                            <a:rPr/>
                          </m:ctrlPr>
                        </m:sSupPr>
                        <m:e>
                          <m:r>
                            <a:rPr lang="en-US" sz="2100">
                              <a:latin typeface="Cambria Math" panose="02040503050406030204"/>
                              <a:ea typeface="微软雅黑" panose="020B0503020204020204" charset="-122"/>
                            </a:rPr>
                            <m:t>𝜂</m:t>
                          </m:r>
                        </m:e>
                        <m:sup>
                          <m:r>
                            <m:rPr>
                              <m:sty m:val="p"/>
                            </m:rPr>
                            <a:rPr lang="en-US" sz="2100">
                              <a:latin typeface="Cambria Math" panose="02040503050406030204"/>
                              <a:ea typeface="微软雅黑" panose="020B0503020204020204" charset="-122"/>
                            </a:rPr>
                            <m:t>EB</m:t>
                          </m:r>
                        </m:sup>
                      </m:sSup>
                      <m:sSub>
                        <m:sSubPr>
                          <m:ctrlPr>
                            <a:rPr/>
                          </m:ctrlPr>
                        </m:sSubPr>
                        <m:e>
                          <m:r>
                            <a:rPr lang="en-US" sz="2100">
                              <a:latin typeface="Cambria Math" panose="02040503050406030204"/>
                              <a:ea typeface="微软雅黑" panose="020B0503020204020204" charset="-122"/>
                            </a:rPr>
                            <m:t>𝐴</m:t>
                          </m:r>
                        </m:e>
                        <m:sub>
                          <m:r>
                            <a:rPr lang="en-US" sz="2100">
                              <a:latin typeface="Cambria Math" panose="02040503050406030204"/>
                              <a:ea typeface="微软雅黑" panose="020B0503020204020204" charset="-122"/>
                            </a:rPr>
                            <m:t>𝑝</m:t>
                          </m:r>
                        </m:sub>
                      </m:sSub>
                      <m:sSub>
                        <m:sSubPr>
                          <m:ctrlPr>
                            <a:rPr/>
                          </m:ctrlPr>
                        </m:sSubPr>
                        <m:e>
                          <m:r>
                            <a:rPr lang="en-US" sz="2100">
                              <a:latin typeface="Cambria Math" panose="02040503050406030204"/>
                              <a:ea typeface="微软雅黑" panose="020B0503020204020204" charset="-122"/>
                            </a:rPr>
                            <m:t>𝑈</m:t>
                          </m:r>
                        </m:e>
                        <m:sub>
                          <m:r>
                            <a:rPr lang="en-US" sz="2100">
                              <a:latin typeface="Cambria Math" panose="02040503050406030204"/>
                              <a:ea typeface="微软雅黑" panose="020B0503020204020204" charset="-122"/>
                            </a:rPr>
                            <m:t>𝑝</m:t>
                          </m:r>
                          <m:r>
                            <a:rPr lang="en-US" sz="2100">
                              <a:latin typeface="Cambria Math" panose="02040503050406030204"/>
                              <a:ea typeface="微软雅黑" panose="020B0503020204020204" charset="-122"/>
                            </a:rPr>
                            <m:t>,</m:t>
                          </m:r>
                          <m:r>
                            <a:rPr lang="en-US" sz="2100">
                              <a:latin typeface="Cambria Math" panose="02040503050406030204"/>
                              <a:ea typeface="微软雅黑" panose="020B0503020204020204" charset="-122"/>
                            </a:rPr>
                            <m:t>𝑖</m:t>
                          </m:r>
                        </m:sub>
                      </m:sSub>
                      <m:d>
                        <m:dPr>
                          <m:sepChr m:val=""/>
                          <m:ctrlPr>
                            <a:rPr/>
                          </m:ctrlPr>
                        </m:dPr>
                        <m:e>
                          <m:r>
                            <a:rPr lang="en-US" sz="2100">
                              <a:latin typeface="Cambria Math" panose="02040503050406030204"/>
                              <a:ea typeface="微软雅黑" panose="020B0503020204020204" charset="-122"/>
                            </a:rPr>
                            <m:t>𝑡</m:t>
                          </m:r>
                        </m:e>
                      </m:d>
                      <m:sSub>
                        <m:sSubPr>
                          <m:ctrlPr>
                            <a:rPr/>
                          </m:ctrlPr>
                        </m:sSubPr>
                        <m:e>
                          <m:r>
                            <a:rPr lang="en-US" sz="2100">
                              <a:latin typeface="Cambria Math" panose="02040503050406030204"/>
                              <a:ea typeface="微软雅黑" panose="020B0503020204020204" charset="-122"/>
                            </a:rPr>
                            <m:t>𝑈</m:t>
                          </m:r>
                        </m:e>
                        <m:sub>
                          <m:r>
                            <a:rPr lang="en-US" sz="2100">
                              <a:latin typeface="Cambria Math" panose="02040503050406030204"/>
                              <a:ea typeface="微软雅黑" panose="020B0503020204020204" charset="-122"/>
                            </a:rPr>
                            <m:t>𝑎</m:t>
                          </m:r>
                          <m:r>
                            <a:rPr lang="en-US" sz="2100">
                              <a:latin typeface="Cambria Math" panose="02040503050406030204"/>
                              <a:ea typeface="微软雅黑" panose="020B0503020204020204" charset="-122"/>
                            </a:rPr>
                            <m:t>,</m:t>
                          </m:r>
                          <m:r>
                            <a:rPr lang="en-US" sz="2100">
                              <a:latin typeface="Cambria Math" panose="02040503050406030204"/>
                              <a:ea typeface="微软雅黑" panose="020B0503020204020204" charset="-122"/>
                            </a:rPr>
                            <m:t>𝑗</m:t>
                          </m:r>
                        </m:sub>
                      </m:sSub>
                      <m:d>
                        <m:dPr>
                          <m:sepChr m:val=""/>
                          <m:ctrlPr>
                            <a:rPr/>
                          </m:ctrlPr>
                        </m:dPr>
                        <m:e>
                          <m:r>
                            <a:rPr lang="en-US" sz="2100">
                              <a:latin typeface="Cambria Math" panose="02040503050406030204"/>
                              <a:ea typeface="微软雅黑" panose="020B0503020204020204" charset="-122"/>
                            </a:rPr>
                            <m:t>𝑡</m:t>
                          </m:r>
                          <m:r>
                            <a:rPr lang="en-US" sz="2100">
                              <a:latin typeface="Cambria Math" panose="02040503050406030204"/>
                              <a:ea typeface="微软雅黑" panose="020B0503020204020204" charset="-122"/>
                            </a:rPr>
                            <m:t>−</m:t>
                          </m:r>
                          <m:r>
                            <a:rPr lang="en-US" sz="2100">
                              <a:latin typeface="Cambria Math" panose="02040503050406030204"/>
                              <a:ea typeface="微软雅黑" panose="020B0503020204020204" charset="-122"/>
                            </a:rPr>
                            <m:t>𝜀</m:t>
                          </m:r>
                        </m:e>
                      </m:d>
                      <m:r>
                        <a:rPr lang="en-US" sz="2100">
                          <a:latin typeface="Cambria Math" panose="02040503050406030204"/>
                          <a:ea typeface="微软雅黑" panose="020B0503020204020204" charset="-122"/>
                        </a:rPr>
                        <m:t>,</m:t>
                      </m:r>
                      <m:r>
                        <a:rPr lang="en-US" sz="2100">
                          <a:latin typeface="Cambria Math" panose="02040503050406030204"/>
                          <a:ea typeface="微软雅黑" panose="020B0503020204020204" charset="-122"/>
                        </a:rPr>
                        <m:t>𝑡</m:t>
                      </m:r>
                      <m:r>
                        <a:rPr lang="en-US" sz="2100">
                          <a:latin typeface="Cambria Math" panose="02040503050406030204"/>
                          <a:ea typeface="微软雅黑" panose="020B0503020204020204" charset="-122"/>
                        </a:rPr>
                        <m:t>=</m:t>
                      </m:r>
                      <m:sSub>
                        <m:sSubPr>
                          <m:ctrlPr>
                            <a:rPr/>
                          </m:ctrlPr>
                        </m:sSubPr>
                        <m:e>
                          <m:r>
                            <a:rPr lang="en-US" sz="2100">
                              <a:latin typeface="Cambria Math" panose="02040503050406030204"/>
                              <a:ea typeface="微软雅黑" panose="020B0503020204020204" charset="-122"/>
                            </a:rPr>
                            <m:t>𝑡</m:t>
                          </m:r>
                        </m:e>
                        <m:sub>
                          <m:r>
                            <a:rPr lang="en-US" sz="2100">
                              <a:latin typeface="Cambria Math" panose="02040503050406030204"/>
                              <a:ea typeface="微软雅黑" panose="020B0503020204020204" charset="-122"/>
                            </a:rPr>
                            <m:t>𝑗</m:t>
                          </m:r>
                        </m:sub>
                      </m:sSub>
                    </m:oMath>
                  </m:oMathPara>
                </a14:m>
                <a:endParaRPr lang="en-US" sz="2100"/>
              </a:p>
            </p:txBody>
          </p:sp>
        </mc:Choice>
        <mc:Fallback>
          <p:sp>
            <p:nvSpPr>
              <p:cNvPr id="5" name="EQ_triplet_post"/>
              <p:cNvSpPr>
                <a:spLocks noRot="1" noChangeAspect="1" noMove="1" noResize="1" noEditPoints="1" noAdjustHandles="1" noChangeArrowheads="1" noChangeShapeType="1" noTextEdit="1"/>
              </p:cNvSpPr>
              <p:nvPr/>
            </p:nvSpPr>
            <p:spPr>
              <a:xfrm>
                <a:off x="514350" y="1743075"/>
                <a:ext cx="7715250" cy="619125"/>
              </a:xfrm>
              <a:prstGeom prst="rect">
                <a:avLst/>
              </a:prstGeom>
              <a:blipFill rotWithShape="1">
                <a:blip r:embed="rId2"/>
                <a:stretch>
                  <a:fillRect/>
                </a:stretch>
              </a:blipFill>
              <a:ln w="0">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EQ_triplet_pre"/>
              <p:cNvSpPr>
                <a:spLocks noGrp="1"/>
              </p:cNvSpPr>
              <p:nvPr/>
            </p:nvSpPr>
            <p:spPr>
              <a:xfrm>
                <a:off x="514350" y="2428875"/>
                <a:ext cx="7715250" cy="619125"/>
              </a:xfrm>
              <a:prstGeom prst="rect">
                <a:avLst/>
              </a:prstGeom>
              <a:noFill/>
              <a:ln w="0">
                <a:noFill/>
              </a:ln>
            </p:spPr>
            <p:txBody>
              <a:bodyPr wrap="square" lIns="0" tIns="0" rIns="0" bIns="0" anchor="t">
                <a:noAutofit/>
              </a:bodyPr>
              <a:lstStyle>
                <a:defPPr>
                  <a:defRPr sz="2175" b="0">
                    <a:solidFill>
                      <a:srgbClr val="000000"/>
                    </a:solidFill>
                    <a:latin typeface="Cambria Math" panose="02040503050406030204"/>
                    <a:ea typeface="Cambria Math" panose="02040503050406030204"/>
                    <a:cs typeface="Cambria Math" panose="02040503050406030204"/>
                  </a:defRPr>
                </a:defPPr>
                <a:lvl1pPr>
                  <a:defRPr sz="2175" b="0">
                    <a:solidFill>
                      <a:srgbClr val="000000"/>
                    </a:solidFill>
                    <a:latin typeface="Cambria Math" panose="02040503050406030204"/>
                    <a:ea typeface="Cambria Math" panose="02040503050406030204"/>
                    <a:cs typeface="Cambria Math" panose="02040503050406030204"/>
                  </a:defRPr>
                </a:lvl1pPr>
                <a:lvl2pPr>
                  <a:defRPr sz="2175" b="0">
                    <a:solidFill>
                      <a:srgbClr val="000000"/>
                    </a:solidFill>
                    <a:latin typeface="Cambria Math" panose="02040503050406030204"/>
                    <a:ea typeface="Cambria Math" panose="02040503050406030204"/>
                    <a:cs typeface="Cambria Math" panose="02040503050406030204"/>
                  </a:defRPr>
                </a:lvl2pPr>
                <a:lvl3pPr>
                  <a:defRPr sz="2175" b="0">
                    <a:solidFill>
                      <a:srgbClr val="000000"/>
                    </a:solidFill>
                    <a:latin typeface="Cambria Math" panose="02040503050406030204"/>
                    <a:ea typeface="Cambria Math" panose="02040503050406030204"/>
                    <a:cs typeface="Cambria Math" panose="02040503050406030204"/>
                  </a:defRPr>
                </a:lvl3pPr>
                <a:lvl4pPr>
                  <a:defRPr sz="2175" b="0">
                    <a:solidFill>
                      <a:srgbClr val="000000"/>
                    </a:solidFill>
                    <a:latin typeface="Cambria Math" panose="02040503050406030204"/>
                    <a:ea typeface="Cambria Math" panose="02040503050406030204"/>
                    <a:cs typeface="Cambria Math" panose="02040503050406030204"/>
                  </a:defRPr>
                </a:lvl4pPr>
                <a:lvl5pPr>
                  <a:defRPr sz="2175" b="0">
                    <a:solidFill>
                      <a:srgbClr val="000000"/>
                    </a:solidFill>
                    <a:latin typeface="Cambria Math" panose="02040503050406030204"/>
                    <a:ea typeface="Cambria Math" panose="02040503050406030204"/>
                    <a:cs typeface="Cambria Math" panose="02040503050406030204"/>
                  </a:defRPr>
                </a:lvl5pPr>
                <a:lvl6pPr>
                  <a:defRPr sz="2175" b="0">
                    <a:solidFill>
                      <a:srgbClr val="000000"/>
                    </a:solidFill>
                    <a:latin typeface="Cambria Math" panose="02040503050406030204"/>
                    <a:ea typeface="Cambria Math" panose="02040503050406030204"/>
                    <a:cs typeface="Cambria Math" panose="02040503050406030204"/>
                  </a:defRPr>
                </a:lvl6pPr>
                <a:lvl7pPr>
                  <a:defRPr sz="2175" b="0">
                    <a:solidFill>
                      <a:srgbClr val="000000"/>
                    </a:solidFill>
                    <a:latin typeface="Cambria Math" panose="02040503050406030204"/>
                    <a:ea typeface="Cambria Math" panose="02040503050406030204"/>
                    <a:cs typeface="Cambria Math" panose="02040503050406030204"/>
                  </a:defRPr>
                </a:lvl7pPr>
                <a:lvl8pPr>
                  <a:defRPr sz="2175" b="0">
                    <a:solidFill>
                      <a:srgbClr val="000000"/>
                    </a:solidFill>
                    <a:latin typeface="Cambria Math" panose="02040503050406030204"/>
                    <a:ea typeface="Cambria Math" panose="02040503050406030204"/>
                    <a:cs typeface="Cambria Math" panose="02040503050406030204"/>
                  </a:defRPr>
                </a:lvl8pPr>
                <a:lvl9pPr>
                  <a:defRPr sz="2175" b="0">
                    <a:solidFill>
                      <a:srgbClr val="000000"/>
                    </a:solidFill>
                    <a:latin typeface="Cambria Math" panose="02040503050406030204"/>
                    <a:ea typeface="Cambria Math" panose="02040503050406030204"/>
                    <a:cs typeface="Cambria Math" panose="02040503050406030204"/>
                  </a:defRPr>
                </a:lvl9pPr>
              </a:lstStyle>
              <a:p>
                <a14:m>
                  <m:oMathPara xmlns:m="http://schemas.openxmlformats.org/officeDocument/2006/math">
                    <m:oMathParaPr>
                      <m:jc m:val="left"/>
                    </m:oMathParaPr>
                    <m:oMath xmlns:m="http://schemas.openxmlformats.org/officeDocument/2006/math">
                      <m:r>
                        <a:rPr lang="en-US" sz="2100">
                          <a:latin typeface="Cambria Math" panose="02040503050406030204"/>
                          <a:ea typeface="微软雅黑" panose="020B0503020204020204" charset="-122"/>
                        </a:rPr>
                        <m:t>𝛥</m:t>
                      </m:r>
                      <m:sSubSup>
                        <m:sSubSupPr>
                          <m:ctrlPr>
                            <a:rPr/>
                          </m:ctrlPr>
                        </m:sSubSupPr>
                        <m:e>
                          <m:r>
                            <a:rPr lang="en-US" sz="2100">
                              <a:latin typeface="Cambria Math" panose="02040503050406030204"/>
                              <a:ea typeface="微软雅黑" panose="020B0503020204020204" charset="-122"/>
                            </a:rPr>
                            <m:t>𝑊</m:t>
                          </m:r>
                        </m:e>
                        <m:sub>
                          <m:r>
                            <a:rPr lang="en-US" sz="2100">
                              <a:latin typeface="Cambria Math" panose="02040503050406030204"/>
                              <a:ea typeface="微软雅黑" panose="020B0503020204020204" charset="-122"/>
                            </a:rPr>
                            <m:t>𝑗𝑖</m:t>
                          </m:r>
                        </m:sub>
                        <m:sup>
                          <m:r>
                            <m:rPr>
                              <m:sty m:val="p"/>
                            </m:rPr>
                            <a:rPr lang="en-US" sz="2100">
                              <a:latin typeface="Cambria Math" panose="02040503050406030204"/>
                              <a:ea typeface="微软雅黑" panose="020B0503020204020204" charset="-122"/>
                            </a:rPr>
                            <m:t>EB</m:t>
                          </m:r>
                        </m:sup>
                      </m:sSubSup>
                      <m:r>
                        <a:rPr lang="en-US" sz="2100">
                          <a:latin typeface="Cambria Math" panose="02040503050406030204"/>
                          <a:ea typeface="微软雅黑" panose="020B0503020204020204" charset="-122"/>
                        </a:rPr>
                        <m:t>=−</m:t>
                      </m:r>
                      <m:sSup>
                        <m:sSupPr>
                          <m:ctrlPr>
                            <a:rPr/>
                          </m:ctrlPr>
                        </m:sSupPr>
                        <m:e>
                          <m:r>
                            <a:rPr lang="en-US" sz="2100">
                              <a:latin typeface="Cambria Math" panose="02040503050406030204"/>
                              <a:ea typeface="微软雅黑" panose="020B0503020204020204" charset="-122"/>
                            </a:rPr>
                            <m:t>𝜂</m:t>
                          </m:r>
                        </m:e>
                        <m:sup>
                          <m:r>
                            <m:rPr>
                              <m:sty m:val="p"/>
                            </m:rPr>
                            <a:rPr lang="en-US" sz="2100">
                              <a:latin typeface="Cambria Math" panose="02040503050406030204"/>
                              <a:ea typeface="微软雅黑" panose="020B0503020204020204" charset="-122"/>
                            </a:rPr>
                            <m:t>EB</m:t>
                          </m:r>
                        </m:sup>
                      </m:sSup>
                      <m:sSub>
                        <m:sSubPr>
                          <m:ctrlPr>
                            <a:rPr/>
                          </m:ctrlPr>
                        </m:sSubPr>
                        <m:e>
                          <m:r>
                            <a:rPr lang="en-US" sz="2100">
                              <a:latin typeface="Cambria Math" panose="02040503050406030204"/>
                              <a:ea typeface="微软雅黑" panose="020B0503020204020204" charset="-122"/>
                            </a:rPr>
                            <m:t>𝐴</m:t>
                          </m:r>
                        </m:e>
                        <m:sub>
                          <m:r>
                            <a:rPr lang="en-US" sz="2100">
                              <a:latin typeface="Cambria Math" panose="02040503050406030204"/>
                              <a:ea typeface="微软雅黑" panose="020B0503020204020204" charset="-122"/>
                            </a:rPr>
                            <m:t>𝑑</m:t>
                          </m:r>
                        </m:sub>
                      </m:sSub>
                      <m:sSub>
                        <m:sSubPr>
                          <m:ctrlPr>
                            <a:rPr/>
                          </m:ctrlPr>
                        </m:sSubPr>
                        <m:e>
                          <m:r>
                            <a:rPr lang="en-US" sz="2100">
                              <a:latin typeface="Cambria Math" panose="02040503050406030204"/>
                              <a:ea typeface="微软雅黑" panose="020B0503020204020204" charset="-122"/>
                            </a:rPr>
                            <m:t>𝑈</m:t>
                          </m:r>
                        </m:e>
                        <m:sub>
                          <m:r>
                            <a:rPr lang="en-US" sz="2100">
                              <a:latin typeface="Cambria Math" panose="02040503050406030204"/>
                              <a:ea typeface="微软雅黑" panose="020B0503020204020204" charset="-122"/>
                            </a:rPr>
                            <m:t>𝑑</m:t>
                          </m:r>
                          <m:r>
                            <a:rPr lang="en-US" sz="2100">
                              <a:latin typeface="Cambria Math" panose="02040503050406030204"/>
                              <a:ea typeface="微软雅黑" panose="020B0503020204020204" charset="-122"/>
                            </a:rPr>
                            <m:t>,</m:t>
                          </m:r>
                          <m:r>
                            <a:rPr lang="en-US" sz="2100">
                              <a:latin typeface="Cambria Math" panose="02040503050406030204"/>
                              <a:ea typeface="微软雅黑" panose="020B0503020204020204" charset="-122"/>
                            </a:rPr>
                            <m:t>𝑗</m:t>
                          </m:r>
                        </m:sub>
                      </m:sSub>
                      <m:d>
                        <m:dPr>
                          <m:sepChr m:val=""/>
                          <m:ctrlPr>
                            <a:rPr/>
                          </m:ctrlPr>
                        </m:dPr>
                        <m:e>
                          <m:r>
                            <a:rPr lang="en-US" sz="2100">
                              <a:latin typeface="Cambria Math" panose="02040503050406030204"/>
                              <a:ea typeface="微软雅黑" panose="020B0503020204020204" charset="-122"/>
                            </a:rPr>
                            <m:t>𝑡</m:t>
                          </m:r>
                        </m:e>
                      </m:d>
                      <m:r>
                        <a:rPr lang="en-US" sz="2100">
                          <a:latin typeface="Cambria Math" panose="02040503050406030204"/>
                          <a:ea typeface="微软雅黑" panose="020B0503020204020204" charset="-122"/>
                        </a:rPr>
                        <m:t>,</m:t>
                      </m:r>
                      <m:r>
                        <a:rPr lang="en-US" sz="2100">
                          <a:latin typeface="Cambria Math" panose="02040503050406030204"/>
                          <a:ea typeface="微软雅黑" panose="020B0503020204020204" charset="-122"/>
                        </a:rPr>
                        <m:t>𝑡</m:t>
                      </m:r>
                      <m:r>
                        <a:rPr lang="en-US" sz="2100">
                          <a:latin typeface="Cambria Math" panose="02040503050406030204"/>
                          <a:ea typeface="微软雅黑" panose="020B0503020204020204" charset="-122"/>
                        </a:rPr>
                        <m:t>=</m:t>
                      </m:r>
                      <m:sSub>
                        <m:sSubPr>
                          <m:ctrlPr>
                            <a:rPr/>
                          </m:ctrlPr>
                        </m:sSubPr>
                        <m:e>
                          <m:r>
                            <a:rPr lang="en-US" sz="2100">
                              <a:latin typeface="Cambria Math" panose="02040503050406030204"/>
                              <a:ea typeface="微软雅黑" panose="020B0503020204020204" charset="-122"/>
                            </a:rPr>
                            <m:t>𝑡</m:t>
                          </m:r>
                        </m:e>
                        <m:sub>
                          <m:r>
                            <a:rPr lang="en-US" sz="2100">
                              <a:latin typeface="Cambria Math" panose="02040503050406030204"/>
                              <a:ea typeface="微软雅黑" panose="020B0503020204020204" charset="-122"/>
                            </a:rPr>
                            <m:t>𝑖</m:t>
                          </m:r>
                        </m:sub>
                      </m:sSub>
                    </m:oMath>
                  </m:oMathPara>
                </a14:m>
                <a:endParaRPr lang="en-US" sz="2100"/>
              </a:p>
            </p:txBody>
          </p:sp>
        </mc:Choice>
        <mc:Fallback>
          <p:sp>
            <p:nvSpPr>
              <p:cNvPr id="6" name="EQ_triplet_pre"/>
              <p:cNvSpPr>
                <a:spLocks noRot="1" noChangeAspect="1" noMove="1" noResize="1" noEditPoints="1" noAdjustHandles="1" noChangeArrowheads="1" noChangeShapeType="1" noTextEdit="1"/>
              </p:cNvSpPr>
              <p:nvPr/>
            </p:nvSpPr>
            <p:spPr>
              <a:xfrm>
                <a:off x="514350" y="2428875"/>
                <a:ext cx="7715250" cy="619125"/>
              </a:xfrm>
              <a:prstGeom prst="rect">
                <a:avLst/>
              </a:prstGeom>
              <a:blipFill rotWithShape="1">
                <a:blip r:embed="rId3"/>
                <a:stretch>
                  <a:fillRect/>
                </a:stretch>
              </a:blipFill>
              <a:ln w="0">
                <a:noFill/>
              </a:ln>
            </p:spPr>
            <p:txBody>
              <a:bodyPr/>
              <a:lstStyle/>
              <a:p>
                <a:r>
                  <a:rPr lang="zh-CN" altLang="en-US">
                    <a:noFill/>
                  </a:rPr>
                  <a:t> </a:t>
                </a:r>
              </a:p>
            </p:txBody>
          </p:sp>
        </mc:Fallback>
      </mc:AlternateContent>
      <p:sp>
        <p:nvSpPr>
          <p:cNvPr id="7" name="突触后放电：增强与先前输入相关的连接。&#10;突触前放电：根据突触"/>
          <p:cNvSpPr>
            <a:spLocks noGrp="1"/>
          </p:cNvSpPr>
          <p:nvPr/>
        </p:nvSpPr>
        <p:spPr>
          <a:xfrm>
            <a:off x="542925" y="3105150"/>
            <a:ext cx="7372350" cy="581025"/>
          </a:xfrm>
          <a:prstGeom prst="rect">
            <a:avLst/>
          </a:prstGeom>
          <a:noFill/>
          <a:ln w="0">
            <a:noFill/>
          </a:ln>
        </p:spPr>
        <p:txBody>
          <a:bodyPr wrap="square" lIns="0" tIns="0" rIns="0" bIns="0" anchor="t">
            <a:noAutofit/>
          </a:bodyPr>
          <a:lstStyle>
            <a:defPPr>
              <a:defRPr sz="1575" b="0">
                <a:solidFill>
                  <a:srgbClr val="111111"/>
                </a:solidFill>
                <a:latin typeface="微软雅黑" panose="020B0503020204020204" charset="-122"/>
                <a:ea typeface="微软雅黑" panose="020B0503020204020204" charset="-122"/>
                <a:cs typeface="微软雅黑" panose="020B0503020204020204" charset="-122"/>
              </a:defRPr>
            </a:defPPr>
            <a:lvl1pPr>
              <a:defRPr sz="1575" b="0">
                <a:solidFill>
                  <a:srgbClr val="111111"/>
                </a:solidFill>
                <a:latin typeface="微软雅黑" panose="020B0503020204020204" charset="-122"/>
                <a:ea typeface="微软雅黑" panose="020B0503020204020204" charset="-122"/>
                <a:cs typeface="微软雅黑" panose="020B0503020204020204" charset="-122"/>
              </a:defRPr>
            </a:lvl1pPr>
            <a:lvl2pPr>
              <a:defRPr sz="1575" b="0">
                <a:solidFill>
                  <a:srgbClr val="111111"/>
                </a:solidFill>
                <a:latin typeface="微软雅黑" panose="020B0503020204020204" charset="-122"/>
                <a:ea typeface="微软雅黑" panose="020B0503020204020204" charset="-122"/>
                <a:cs typeface="微软雅黑" panose="020B0503020204020204" charset="-122"/>
              </a:defRPr>
            </a:lvl2pPr>
            <a:lvl3pPr>
              <a:defRPr sz="1575" b="0">
                <a:solidFill>
                  <a:srgbClr val="111111"/>
                </a:solidFill>
                <a:latin typeface="微软雅黑" panose="020B0503020204020204" charset="-122"/>
                <a:ea typeface="微软雅黑" panose="020B0503020204020204" charset="-122"/>
                <a:cs typeface="微软雅黑" panose="020B0503020204020204" charset="-122"/>
              </a:defRPr>
            </a:lvl3pPr>
            <a:lvl4pPr>
              <a:defRPr sz="1575" b="0">
                <a:solidFill>
                  <a:srgbClr val="111111"/>
                </a:solidFill>
                <a:latin typeface="微软雅黑" panose="020B0503020204020204" charset="-122"/>
                <a:ea typeface="微软雅黑" panose="020B0503020204020204" charset="-122"/>
                <a:cs typeface="微软雅黑" panose="020B0503020204020204" charset="-122"/>
              </a:defRPr>
            </a:lvl4pPr>
            <a:lvl5pPr>
              <a:defRPr sz="1575" b="0">
                <a:solidFill>
                  <a:srgbClr val="111111"/>
                </a:solidFill>
                <a:latin typeface="微软雅黑" panose="020B0503020204020204" charset="-122"/>
                <a:ea typeface="微软雅黑" panose="020B0503020204020204" charset="-122"/>
                <a:cs typeface="微软雅黑" panose="020B0503020204020204" charset="-122"/>
              </a:defRPr>
            </a:lvl5pPr>
            <a:lvl6pPr>
              <a:defRPr sz="1575" b="0">
                <a:solidFill>
                  <a:srgbClr val="111111"/>
                </a:solidFill>
                <a:latin typeface="微软雅黑" panose="020B0503020204020204" charset="-122"/>
                <a:ea typeface="微软雅黑" panose="020B0503020204020204" charset="-122"/>
                <a:cs typeface="微软雅黑" panose="020B0503020204020204" charset="-122"/>
              </a:defRPr>
            </a:lvl6pPr>
            <a:lvl7pPr>
              <a:defRPr sz="1575" b="0">
                <a:solidFill>
                  <a:srgbClr val="111111"/>
                </a:solidFill>
                <a:latin typeface="微软雅黑" panose="020B0503020204020204" charset="-122"/>
                <a:ea typeface="微软雅黑" panose="020B0503020204020204" charset="-122"/>
                <a:cs typeface="微软雅黑" panose="020B0503020204020204" charset="-122"/>
              </a:defRPr>
            </a:lvl7pPr>
            <a:lvl8pPr>
              <a:defRPr sz="1575" b="0">
                <a:solidFill>
                  <a:srgbClr val="111111"/>
                </a:solidFill>
                <a:latin typeface="微软雅黑" panose="020B0503020204020204" charset="-122"/>
                <a:ea typeface="微软雅黑" panose="020B0503020204020204" charset="-122"/>
                <a:cs typeface="微软雅黑" panose="020B0503020204020204" charset="-122"/>
              </a:defRPr>
            </a:lvl8pPr>
            <a:lvl9pPr>
              <a:defRPr sz="1575" b="0">
                <a:solidFill>
                  <a:srgbClr val="111111"/>
                </a:solidFill>
                <a:latin typeface="微软雅黑" panose="020B0503020204020204" charset="-122"/>
                <a:ea typeface="微软雅黑" panose="020B0503020204020204" charset="-122"/>
                <a:cs typeface="微软雅黑" panose="020B0503020204020204" charset="-122"/>
              </a:defRPr>
            </a:lvl9pPr>
          </a:lstStyle>
          <a:p>
            <a:pPr>
              <a:defRPr sz="1575" b="0">
                <a:solidFill>
                  <a:srgbClr val="111111"/>
                </a:solidFill>
                <a:latin typeface="微软雅黑" panose="020B0503020204020204" charset="-122"/>
                <a:ea typeface="微软雅黑" panose="020B0503020204020204" charset="-122"/>
                <a:cs typeface="微软雅黑" panose="020B0503020204020204" charset="-122"/>
              </a:defRPr>
            </a:pPr>
            <a:r>
              <a:rPr sz="1575" b="1">
                <a:solidFill>
                  <a:srgbClr val="111111"/>
                </a:solidFill>
                <a:highlight>
                  <a:srgbClr val="FFFF00"/>
                </a:highlight>
                <a:latin typeface="微软雅黑" panose="020B0503020204020204" charset="-122"/>
                <a:ea typeface="微软雅黑" panose="020B0503020204020204" charset="-122"/>
                <a:cs typeface="微软雅黑" panose="020B0503020204020204" charset="-122"/>
              </a:rPr>
              <a:t>突触后放电：增强与先前输入相关的连接。</a:t>
            </a:r>
            <a:endParaRPr sz="1575" b="1">
              <a:solidFill>
                <a:srgbClr val="111111"/>
              </a:solidFill>
              <a:highlight>
                <a:srgbClr val="FFFF00"/>
              </a:highlight>
              <a:latin typeface="微软雅黑" panose="020B0503020204020204" charset="-122"/>
              <a:ea typeface="微软雅黑" panose="020B0503020204020204" charset="-122"/>
              <a:cs typeface="微软雅黑" panose="020B0503020204020204" charset="-122"/>
            </a:endParaRPr>
          </a:p>
          <a:p>
            <a:pPr>
              <a:defRPr sz="1575" b="0">
                <a:solidFill>
                  <a:srgbClr val="111111"/>
                </a:solidFill>
                <a:latin typeface="微软雅黑" panose="020B0503020204020204" charset="-122"/>
                <a:ea typeface="微软雅黑" panose="020B0503020204020204" charset="-122"/>
                <a:cs typeface="微软雅黑" panose="020B0503020204020204" charset="-122"/>
              </a:defRPr>
            </a:pPr>
            <a:r>
              <a:rPr sz="1575" b="1">
                <a:solidFill>
                  <a:srgbClr val="111111"/>
                </a:solidFill>
                <a:highlight>
                  <a:srgbClr val="FFFF00"/>
                </a:highlight>
                <a:latin typeface="微软雅黑" panose="020B0503020204020204" charset="-122"/>
                <a:ea typeface="微软雅黑" panose="020B0503020204020204" charset="-122"/>
                <a:cs typeface="微软雅黑" panose="020B0503020204020204" charset="-122"/>
              </a:rPr>
              <a:t>突触前放电：根据突触后活动迹产生减弱。</a:t>
            </a:r>
            <a:endParaRPr sz="1575" b="1">
              <a:solidFill>
                <a:srgbClr val="111111"/>
              </a:solidFill>
              <a:highlight>
                <a:srgbClr val="FFFF00"/>
              </a:highlight>
              <a:latin typeface="微软雅黑" panose="020B0503020204020204" charset="-122"/>
              <a:ea typeface="微软雅黑" panose="020B0503020204020204" charset="-122"/>
              <a:cs typeface="微软雅黑" panose="020B0503020204020204" charset="-122"/>
            </a:endParaRPr>
          </a:p>
        </p:txBody>
      </p:sp>
      <p:sp>
        <p:nvSpPr>
          <p:cNvPr id="8" name="对称STDP：I→E、X→I、E→I、I→I"/>
          <p:cNvSpPr>
            <a:spLocks noGrp="1"/>
          </p:cNvSpPr>
          <p:nvPr/>
        </p:nvSpPr>
        <p:spPr>
          <a:xfrm>
            <a:off x="400050" y="3933825"/>
            <a:ext cx="9810750" cy="361950"/>
          </a:xfrm>
          <a:prstGeom prst="rect">
            <a:avLst/>
          </a:prstGeom>
          <a:noFill/>
          <a:ln w="0">
            <a:noFill/>
          </a:ln>
        </p:spPr>
        <p:txBody>
          <a:bodyPr wrap="square" lIns="0" tIns="0" rIns="0" bIns="0" anchor="t">
            <a:noAutofit/>
          </a:bodyPr>
          <a:lstStyle>
            <a:defPPr>
              <a:defRPr sz="1875" b="1">
                <a:solidFill>
                  <a:srgbClr val="0072B2"/>
                </a:solidFill>
                <a:latin typeface="微软雅黑" panose="020B0503020204020204" charset="-122"/>
                <a:ea typeface="微软雅黑" panose="020B0503020204020204" charset="-122"/>
                <a:cs typeface="微软雅黑" panose="020B0503020204020204" charset="-122"/>
              </a:defRPr>
            </a:defPPr>
            <a:lvl1pPr>
              <a:defRPr sz="1875" b="1">
                <a:solidFill>
                  <a:srgbClr val="0072B2"/>
                </a:solidFill>
                <a:latin typeface="微软雅黑" panose="020B0503020204020204" charset="-122"/>
                <a:ea typeface="微软雅黑" panose="020B0503020204020204" charset="-122"/>
                <a:cs typeface="微软雅黑" panose="020B0503020204020204" charset="-122"/>
              </a:defRPr>
            </a:lvl1pPr>
            <a:lvl2pPr>
              <a:defRPr sz="1875" b="1">
                <a:solidFill>
                  <a:srgbClr val="0072B2"/>
                </a:solidFill>
                <a:latin typeface="微软雅黑" panose="020B0503020204020204" charset="-122"/>
                <a:ea typeface="微软雅黑" panose="020B0503020204020204" charset="-122"/>
                <a:cs typeface="微软雅黑" panose="020B0503020204020204" charset="-122"/>
              </a:defRPr>
            </a:lvl2pPr>
            <a:lvl3pPr>
              <a:defRPr sz="1875" b="1">
                <a:solidFill>
                  <a:srgbClr val="0072B2"/>
                </a:solidFill>
                <a:latin typeface="微软雅黑" panose="020B0503020204020204" charset="-122"/>
                <a:ea typeface="微软雅黑" panose="020B0503020204020204" charset="-122"/>
                <a:cs typeface="微软雅黑" panose="020B0503020204020204" charset="-122"/>
              </a:defRPr>
            </a:lvl3pPr>
            <a:lvl4pPr>
              <a:defRPr sz="1875" b="1">
                <a:solidFill>
                  <a:srgbClr val="0072B2"/>
                </a:solidFill>
                <a:latin typeface="微软雅黑" panose="020B0503020204020204" charset="-122"/>
                <a:ea typeface="微软雅黑" panose="020B0503020204020204" charset="-122"/>
                <a:cs typeface="微软雅黑" panose="020B0503020204020204" charset="-122"/>
              </a:defRPr>
            </a:lvl4pPr>
            <a:lvl5pPr>
              <a:defRPr sz="1875" b="1">
                <a:solidFill>
                  <a:srgbClr val="0072B2"/>
                </a:solidFill>
                <a:latin typeface="微软雅黑" panose="020B0503020204020204" charset="-122"/>
                <a:ea typeface="微软雅黑" panose="020B0503020204020204" charset="-122"/>
                <a:cs typeface="微软雅黑" panose="020B0503020204020204" charset="-122"/>
              </a:defRPr>
            </a:lvl5pPr>
            <a:lvl6pPr>
              <a:defRPr sz="1875" b="1">
                <a:solidFill>
                  <a:srgbClr val="0072B2"/>
                </a:solidFill>
                <a:latin typeface="微软雅黑" panose="020B0503020204020204" charset="-122"/>
                <a:ea typeface="微软雅黑" panose="020B0503020204020204" charset="-122"/>
                <a:cs typeface="微软雅黑" panose="020B0503020204020204" charset="-122"/>
              </a:defRPr>
            </a:lvl6pPr>
            <a:lvl7pPr>
              <a:defRPr sz="1875" b="1">
                <a:solidFill>
                  <a:srgbClr val="0072B2"/>
                </a:solidFill>
                <a:latin typeface="微软雅黑" panose="020B0503020204020204" charset="-122"/>
                <a:ea typeface="微软雅黑" panose="020B0503020204020204" charset="-122"/>
                <a:cs typeface="微软雅黑" panose="020B0503020204020204" charset="-122"/>
              </a:defRPr>
            </a:lvl7pPr>
            <a:lvl8pPr>
              <a:defRPr sz="1875" b="1">
                <a:solidFill>
                  <a:srgbClr val="0072B2"/>
                </a:solidFill>
                <a:latin typeface="微软雅黑" panose="020B0503020204020204" charset="-122"/>
                <a:ea typeface="微软雅黑" panose="020B0503020204020204" charset="-122"/>
                <a:cs typeface="微软雅黑" panose="020B0503020204020204" charset="-122"/>
              </a:defRPr>
            </a:lvl8pPr>
            <a:lvl9pPr>
              <a:defRPr sz="1875" b="1">
                <a:solidFill>
                  <a:srgbClr val="0072B2"/>
                </a:solidFill>
                <a:latin typeface="微软雅黑" panose="020B0503020204020204" charset="-122"/>
                <a:ea typeface="微软雅黑" panose="020B0503020204020204" charset="-122"/>
                <a:cs typeface="微软雅黑" panose="020B0503020204020204" charset="-122"/>
              </a:defRPr>
            </a:lvl9pPr>
          </a:lstStyle>
          <a:p>
            <a:pPr>
              <a:defRPr sz="1875" b="1">
                <a:solidFill>
                  <a:srgbClr val="0072B2"/>
                </a:solidFill>
                <a:latin typeface="微软雅黑" panose="020B0503020204020204" charset="-122"/>
                <a:ea typeface="微软雅黑" panose="020B0503020204020204" charset="-122"/>
                <a:cs typeface="微软雅黑" panose="020B0503020204020204" charset="-122"/>
              </a:defRPr>
            </a:pPr>
            <a:r>
              <a:rPr lang="en-US" altLang="zh-CN" sz="1875" b="1">
                <a:solidFill>
                  <a:schemeClr val="tx1"/>
                </a:solidFill>
                <a:latin typeface="微软雅黑" panose="020B0503020204020204" charset="-122"/>
                <a:ea typeface="微软雅黑" panose="020B0503020204020204" charset="-122"/>
                <a:cs typeface="微软雅黑" panose="020B0503020204020204" charset="-122"/>
              </a:rPr>
              <a:t>Symmetrical </a:t>
            </a:r>
            <a:r>
              <a:rPr sz="1875" b="1">
                <a:solidFill>
                  <a:schemeClr val="tx1"/>
                </a:solidFill>
                <a:latin typeface="微软雅黑" panose="020B0503020204020204" charset="-122"/>
                <a:ea typeface="微软雅黑" panose="020B0503020204020204" charset="-122"/>
                <a:cs typeface="微软雅黑" panose="020B0503020204020204" charset="-122"/>
              </a:rPr>
              <a:t>STDP：I→E、X→I、E→I、I→I</a:t>
            </a:r>
            <a:endParaRPr sz="1875" b="1">
              <a:solidFill>
                <a:schemeClr val="tx1"/>
              </a:solidFill>
              <a:latin typeface="微软雅黑" panose="020B0503020204020204" charset="-122"/>
              <a:ea typeface="微软雅黑" panose="020B0503020204020204" charset="-122"/>
              <a:cs typeface="微软雅黑" panose="020B0503020204020204" charset="-122"/>
            </a:endParaRPr>
          </a:p>
        </p:txBody>
      </p:sp>
      <mc:AlternateContent xmlns:mc="http://schemas.openxmlformats.org/markup-compatibility/2006">
        <mc:Choice xmlns:a14="http://schemas.microsoft.com/office/drawing/2010/main" Requires="a14">
          <p:sp>
            <p:nvSpPr>
              <p:cNvPr id="9" name="EQ_symmetric_post"/>
              <p:cNvSpPr>
                <a:spLocks noGrp="1"/>
              </p:cNvSpPr>
              <p:nvPr/>
            </p:nvSpPr>
            <p:spPr>
              <a:xfrm>
                <a:off x="514350" y="4371975"/>
                <a:ext cx="8572500" cy="552450"/>
              </a:xfrm>
              <a:prstGeom prst="rect">
                <a:avLst/>
              </a:prstGeom>
              <a:noFill/>
              <a:ln w="0">
                <a:noFill/>
              </a:ln>
            </p:spPr>
            <p:txBody>
              <a:bodyPr wrap="square" lIns="0" tIns="0" rIns="0" bIns="0" anchor="t">
                <a:noAutofit/>
              </a:bodyPr>
              <a:lstStyle>
                <a:defPPr>
                  <a:defRPr sz="2100" b="0">
                    <a:solidFill>
                      <a:srgbClr val="000000"/>
                    </a:solidFill>
                    <a:latin typeface="Cambria Math" panose="02040503050406030204"/>
                    <a:ea typeface="Cambria Math" panose="02040503050406030204"/>
                    <a:cs typeface="Cambria Math" panose="02040503050406030204"/>
                  </a:defRPr>
                </a:defPPr>
                <a:lvl1pPr>
                  <a:defRPr sz="2100" b="0">
                    <a:solidFill>
                      <a:srgbClr val="000000"/>
                    </a:solidFill>
                    <a:latin typeface="Cambria Math" panose="02040503050406030204"/>
                    <a:ea typeface="Cambria Math" panose="02040503050406030204"/>
                    <a:cs typeface="Cambria Math" panose="02040503050406030204"/>
                  </a:defRPr>
                </a:lvl1pPr>
                <a:lvl2pPr>
                  <a:defRPr sz="2100" b="0">
                    <a:solidFill>
                      <a:srgbClr val="000000"/>
                    </a:solidFill>
                    <a:latin typeface="Cambria Math" panose="02040503050406030204"/>
                    <a:ea typeface="Cambria Math" panose="02040503050406030204"/>
                    <a:cs typeface="Cambria Math" panose="02040503050406030204"/>
                  </a:defRPr>
                </a:lvl2pPr>
                <a:lvl3pPr>
                  <a:defRPr sz="2100" b="0">
                    <a:solidFill>
                      <a:srgbClr val="000000"/>
                    </a:solidFill>
                    <a:latin typeface="Cambria Math" panose="02040503050406030204"/>
                    <a:ea typeface="Cambria Math" panose="02040503050406030204"/>
                    <a:cs typeface="Cambria Math" panose="02040503050406030204"/>
                  </a:defRPr>
                </a:lvl3pPr>
                <a:lvl4pPr>
                  <a:defRPr sz="2100" b="0">
                    <a:solidFill>
                      <a:srgbClr val="000000"/>
                    </a:solidFill>
                    <a:latin typeface="Cambria Math" panose="02040503050406030204"/>
                    <a:ea typeface="Cambria Math" panose="02040503050406030204"/>
                    <a:cs typeface="Cambria Math" panose="02040503050406030204"/>
                  </a:defRPr>
                </a:lvl4pPr>
                <a:lvl5pPr>
                  <a:defRPr sz="2100" b="0">
                    <a:solidFill>
                      <a:srgbClr val="000000"/>
                    </a:solidFill>
                    <a:latin typeface="Cambria Math" panose="02040503050406030204"/>
                    <a:ea typeface="Cambria Math" panose="02040503050406030204"/>
                    <a:cs typeface="Cambria Math" panose="02040503050406030204"/>
                  </a:defRPr>
                </a:lvl5pPr>
                <a:lvl6pPr>
                  <a:defRPr sz="2100" b="0">
                    <a:solidFill>
                      <a:srgbClr val="000000"/>
                    </a:solidFill>
                    <a:latin typeface="Cambria Math" panose="02040503050406030204"/>
                    <a:ea typeface="Cambria Math" panose="02040503050406030204"/>
                    <a:cs typeface="Cambria Math" panose="02040503050406030204"/>
                  </a:defRPr>
                </a:lvl6pPr>
                <a:lvl7pPr>
                  <a:defRPr sz="2100" b="0">
                    <a:solidFill>
                      <a:srgbClr val="000000"/>
                    </a:solidFill>
                    <a:latin typeface="Cambria Math" panose="02040503050406030204"/>
                    <a:ea typeface="Cambria Math" panose="02040503050406030204"/>
                    <a:cs typeface="Cambria Math" panose="02040503050406030204"/>
                  </a:defRPr>
                </a:lvl7pPr>
                <a:lvl8pPr>
                  <a:defRPr sz="2100" b="0">
                    <a:solidFill>
                      <a:srgbClr val="000000"/>
                    </a:solidFill>
                    <a:latin typeface="Cambria Math" panose="02040503050406030204"/>
                    <a:ea typeface="Cambria Math" panose="02040503050406030204"/>
                    <a:cs typeface="Cambria Math" panose="02040503050406030204"/>
                  </a:defRPr>
                </a:lvl8pPr>
                <a:lvl9pPr>
                  <a:defRPr sz="2100" b="0">
                    <a:solidFill>
                      <a:srgbClr val="000000"/>
                    </a:solidFill>
                    <a:latin typeface="Cambria Math" panose="02040503050406030204"/>
                    <a:ea typeface="Cambria Math" panose="02040503050406030204"/>
                    <a:cs typeface="Cambria Math" panose="02040503050406030204"/>
                  </a:defRPr>
                </a:lvl9pPr>
              </a:lstStyle>
              <a:p>
                <a14:m>
                  <m:oMathPara xmlns:m="http://schemas.openxmlformats.org/officeDocument/2006/math">
                    <m:oMathParaPr>
                      <m:jc m:val="left"/>
                    </m:oMathParaPr>
                    <m:oMath xmlns:m="http://schemas.openxmlformats.org/officeDocument/2006/math">
                      <m:r>
                        <a:rPr lang="en-US" sz="2100">
                          <a:latin typeface="Cambria Math" panose="02040503050406030204"/>
                          <a:ea typeface="微软雅黑" panose="020B0503020204020204" charset="-122"/>
                        </a:rPr>
                        <m:t>𝛥</m:t>
                      </m:r>
                      <m:sSubSup>
                        <m:sSubSupPr>
                          <m:ctrlPr>
                            <a:rPr/>
                          </m:ctrlPr>
                        </m:sSubSupPr>
                        <m:e>
                          <m:r>
                            <a:rPr lang="en-US" sz="2100">
                              <a:latin typeface="Cambria Math" panose="02040503050406030204"/>
                              <a:ea typeface="微软雅黑" panose="020B0503020204020204" charset="-122"/>
                            </a:rPr>
                            <m:t>𝑊</m:t>
                          </m:r>
                        </m:e>
                        <m:sub>
                          <m:r>
                            <a:rPr lang="en-US" sz="2100">
                              <a:latin typeface="Cambria Math" panose="02040503050406030204"/>
                              <a:ea typeface="微软雅黑" panose="020B0503020204020204" charset="-122"/>
                            </a:rPr>
                            <m:t>𝑗𝑖</m:t>
                          </m:r>
                        </m:sub>
                        <m:sup>
                          <m:r>
                            <m:rPr>
                              <m:sty m:val="p"/>
                            </m:rPr>
                            <a:rPr lang="en-US" sz="2100">
                              <a:latin typeface="Cambria Math" panose="02040503050406030204"/>
                              <a:ea typeface="微软雅黑" panose="020B0503020204020204" charset="-122"/>
                            </a:rPr>
                            <m:t>AB</m:t>
                          </m:r>
                        </m:sup>
                      </m:sSubSup>
                      <m:r>
                        <a:rPr lang="en-US" sz="2100">
                          <a:latin typeface="Cambria Math" panose="02040503050406030204"/>
                          <a:ea typeface="微软雅黑" panose="020B0503020204020204" charset="-122"/>
                        </a:rPr>
                        <m:t>=</m:t>
                      </m:r>
                      <m:sSup>
                        <m:sSupPr>
                          <m:ctrlPr>
                            <a:rPr/>
                          </m:ctrlPr>
                        </m:sSupPr>
                        <m:e>
                          <m:r>
                            <a:rPr lang="en-US" sz="2100">
                              <a:latin typeface="Cambria Math" panose="02040503050406030204"/>
                              <a:ea typeface="微软雅黑" panose="020B0503020204020204" charset="-122"/>
                            </a:rPr>
                            <m:t>𝜂</m:t>
                          </m:r>
                        </m:e>
                        <m:sup>
                          <m:r>
                            <m:rPr>
                              <m:sty m:val="p"/>
                            </m:rPr>
                            <a:rPr lang="en-US" sz="2100">
                              <a:latin typeface="Cambria Math" panose="02040503050406030204"/>
                              <a:ea typeface="微软雅黑" panose="020B0503020204020204" charset="-122"/>
                            </a:rPr>
                            <m:t>AB</m:t>
                          </m:r>
                        </m:sup>
                      </m:sSup>
                      <m:sSub>
                        <m:sSubPr>
                          <m:ctrlPr>
                            <a:rPr/>
                          </m:ctrlPr>
                        </m:sSubPr>
                        <m:e>
                          <m:r>
                            <a:rPr lang="en-US" sz="2100">
                              <a:latin typeface="Cambria Math" panose="02040503050406030204"/>
                              <a:ea typeface="微软雅黑" panose="020B0503020204020204" charset="-122"/>
                            </a:rPr>
                            <m:t>𝐴</m:t>
                          </m:r>
                        </m:e>
                        <m:sub>
                          <m:r>
                            <m:rPr>
                              <m:sty m:val="p"/>
                            </m:rPr>
                            <a:rPr lang="en-US" sz="2100">
                              <a:latin typeface="Cambria Math" panose="02040503050406030204"/>
                              <a:ea typeface="微软雅黑" panose="020B0503020204020204" charset="-122"/>
                            </a:rPr>
                            <m:t>sym</m:t>
                          </m:r>
                        </m:sub>
                      </m:sSub>
                      <m:sSub>
                        <m:sSubPr>
                          <m:ctrlPr>
                            <a:rPr/>
                          </m:ctrlPr>
                        </m:sSubPr>
                        <m:e>
                          <m:r>
                            <a:rPr lang="en-US" sz="2100">
                              <a:latin typeface="Cambria Math" panose="02040503050406030204"/>
                              <a:ea typeface="微软雅黑" panose="020B0503020204020204" charset="-122"/>
                            </a:rPr>
                            <m:t>𝑈</m:t>
                          </m:r>
                        </m:e>
                        <m:sub>
                          <m:r>
                            <m:rPr>
                              <m:sty m:val="p"/>
                            </m:rPr>
                            <a:rPr lang="en-US" sz="2100">
                              <a:latin typeface="Cambria Math" panose="02040503050406030204"/>
                              <a:ea typeface="微软雅黑" panose="020B0503020204020204" charset="-122"/>
                            </a:rPr>
                            <m:t>sym</m:t>
                          </m:r>
                          <m:r>
                            <a:rPr lang="en-US" sz="2100">
                              <a:latin typeface="Cambria Math" panose="02040503050406030204"/>
                              <a:ea typeface="微软雅黑" panose="020B0503020204020204" charset="-122"/>
                            </a:rPr>
                            <m:t>,</m:t>
                          </m:r>
                          <m:r>
                            <a:rPr lang="en-US" sz="2100">
                              <a:latin typeface="Cambria Math" panose="02040503050406030204"/>
                              <a:ea typeface="微软雅黑" panose="020B0503020204020204" charset="-122"/>
                            </a:rPr>
                            <m:t>𝑖</m:t>
                          </m:r>
                        </m:sub>
                      </m:sSub>
                      <m:d>
                        <m:dPr>
                          <m:sepChr m:val=""/>
                          <m:ctrlPr>
                            <a:rPr/>
                          </m:ctrlPr>
                        </m:dPr>
                        <m:e>
                          <m:r>
                            <a:rPr lang="en-US" sz="2100">
                              <a:latin typeface="Cambria Math" panose="02040503050406030204"/>
                              <a:ea typeface="微软雅黑" panose="020B0503020204020204" charset="-122"/>
                            </a:rPr>
                            <m:t>𝑡</m:t>
                          </m:r>
                        </m:e>
                      </m:d>
                      <m:r>
                        <a:rPr lang="en-US" sz="2100">
                          <a:latin typeface="Cambria Math" panose="02040503050406030204"/>
                          <a:ea typeface="微软雅黑" panose="020B0503020204020204" charset="-122"/>
                        </a:rPr>
                        <m:t>,</m:t>
                      </m:r>
                      <m:r>
                        <a:rPr lang="en-US" sz="2100">
                          <a:latin typeface="Cambria Math" panose="02040503050406030204"/>
                          <a:ea typeface="微软雅黑" panose="020B0503020204020204" charset="-122"/>
                        </a:rPr>
                        <m:t>𝑡</m:t>
                      </m:r>
                      <m:r>
                        <a:rPr lang="en-US" sz="2100">
                          <a:latin typeface="Cambria Math" panose="02040503050406030204"/>
                          <a:ea typeface="微软雅黑" panose="020B0503020204020204" charset="-122"/>
                        </a:rPr>
                        <m:t>=</m:t>
                      </m:r>
                      <m:sSub>
                        <m:sSubPr>
                          <m:ctrlPr>
                            <a:rPr/>
                          </m:ctrlPr>
                        </m:sSubPr>
                        <m:e>
                          <m:r>
                            <a:rPr lang="en-US" sz="2100">
                              <a:latin typeface="Cambria Math" panose="02040503050406030204"/>
                              <a:ea typeface="微软雅黑" panose="020B0503020204020204" charset="-122"/>
                            </a:rPr>
                            <m:t>𝑡</m:t>
                          </m:r>
                        </m:e>
                        <m:sub>
                          <m:r>
                            <a:rPr lang="en-US" sz="2100">
                              <a:latin typeface="Cambria Math" panose="02040503050406030204"/>
                              <a:ea typeface="微软雅黑" panose="020B0503020204020204" charset="-122"/>
                            </a:rPr>
                            <m:t>𝑗</m:t>
                          </m:r>
                        </m:sub>
                      </m:sSub>
                    </m:oMath>
                  </m:oMathPara>
                </a14:m>
                <a:endParaRPr lang="en-US" sz="2100"/>
              </a:p>
            </p:txBody>
          </p:sp>
        </mc:Choice>
        <mc:Fallback>
          <p:sp>
            <p:nvSpPr>
              <p:cNvPr id="9" name="EQ_symmetric_post"/>
              <p:cNvSpPr>
                <a:spLocks noRot="1" noChangeAspect="1" noMove="1" noResize="1" noEditPoints="1" noAdjustHandles="1" noChangeArrowheads="1" noChangeShapeType="1" noTextEdit="1"/>
              </p:cNvSpPr>
              <p:nvPr/>
            </p:nvSpPr>
            <p:spPr>
              <a:xfrm>
                <a:off x="514350" y="4371975"/>
                <a:ext cx="8572500" cy="552450"/>
              </a:xfrm>
              <a:prstGeom prst="rect">
                <a:avLst/>
              </a:prstGeom>
              <a:blipFill rotWithShape="1">
                <a:blip r:embed="rId4"/>
                <a:stretch>
                  <a:fillRect/>
                </a:stretch>
              </a:blipFill>
              <a:ln w="0">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EQ_symmetric_pre"/>
              <p:cNvSpPr>
                <a:spLocks noGrp="1"/>
              </p:cNvSpPr>
              <p:nvPr/>
            </p:nvSpPr>
            <p:spPr>
              <a:xfrm>
                <a:off x="514350" y="4972050"/>
                <a:ext cx="8572500" cy="552450"/>
              </a:xfrm>
              <a:prstGeom prst="rect">
                <a:avLst/>
              </a:prstGeom>
              <a:noFill/>
              <a:ln w="0">
                <a:noFill/>
              </a:ln>
            </p:spPr>
            <p:txBody>
              <a:bodyPr wrap="square" lIns="0" tIns="0" rIns="0" bIns="0" anchor="t">
                <a:noAutofit/>
              </a:bodyPr>
              <a:lstStyle>
                <a:defPPr>
                  <a:defRPr sz="2100" b="0">
                    <a:solidFill>
                      <a:srgbClr val="000000"/>
                    </a:solidFill>
                    <a:latin typeface="Cambria Math" panose="02040503050406030204"/>
                    <a:ea typeface="Cambria Math" panose="02040503050406030204"/>
                    <a:cs typeface="Cambria Math" panose="02040503050406030204"/>
                  </a:defRPr>
                </a:defPPr>
                <a:lvl1pPr>
                  <a:defRPr sz="2100" b="0">
                    <a:solidFill>
                      <a:srgbClr val="000000"/>
                    </a:solidFill>
                    <a:latin typeface="Cambria Math" panose="02040503050406030204"/>
                    <a:ea typeface="Cambria Math" panose="02040503050406030204"/>
                    <a:cs typeface="Cambria Math" panose="02040503050406030204"/>
                  </a:defRPr>
                </a:lvl1pPr>
                <a:lvl2pPr>
                  <a:defRPr sz="2100" b="0">
                    <a:solidFill>
                      <a:srgbClr val="000000"/>
                    </a:solidFill>
                    <a:latin typeface="Cambria Math" panose="02040503050406030204"/>
                    <a:ea typeface="Cambria Math" panose="02040503050406030204"/>
                    <a:cs typeface="Cambria Math" panose="02040503050406030204"/>
                  </a:defRPr>
                </a:lvl2pPr>
                <a:lvl3pPr>
                  <a:defRPr sz="2100" b="0">
                    <a:solidFill>
                      <a:srgbClr val="000000"/>
                    </a:solidFill>
                    <a:latin typeface="Cambria Math" panose="02040503050406030204"/>
                    <a:ea typeface="Cambria Math" panose="02040503050406030204"/>
                    <a:cs typeface="Cambria Math" panose="02040503050406030204"/>
                  </a:defRPr>
                </a:lvl3pPr>
                <a:lvl4pPr>
                  <a:defRPr sz="2100" b="0">
                    <a:solidFill>
                      <a:srgbClr val="000000"/>
                    </a:solidFill>
                    <a:latin typeface="Cambria Math" panose="02040503050406030204"/>
                    <a:ea typeface="Cambria Math" panose="02040503050406030204"/>
                    <a:cs typeface="Cambria Math" panose="02040503050406030204"/>
                  </a:defRPr>
                </a:lvl4pPr>
                <a:lvl5pPr>
                  <a:defRPr sz="2100" b="0">
                    <a:solidFill>
                      <a:srgbClr val="000000"/>
                    </a:solidFill>
                    <a:latin typeface="Cambria Math" panose="02040503050406030204"/>
                    <a:ea typeface="Cambria Math" panose="02040503050406030204"/>
                    <a:cs typeface="Cambria Math" panose="02040503050406030204"/>
                  </a:defRPr>
                </a:lvl5pPr>
                <a:lvl6pPr>
                  <a:defRPr sz="2100" b="0">
                    <a:solidFill>
                      <a:srgbClr val="000000"/>
                    </a:solidFill>
                    <a:latin typeface="Cambria Math" panose="02040503050406030204"/>
                    <a:ea typeface="Cambria Math" panose="02040503050406030204"/>
                    <a:cs typeface="Cambria Math" panose="02040503050406030204"/>
                  </a:defRPr>
                </a:lvl6pPr>
                <a:lvl7pPr>
                  <a:defRPr sz="2100" b="0">
                    <a:solidFill>
                      <a:srgbClr val="000000"/>
                    </a:solidFill>
                    <a:latin typeface="Cambria Math" panose="02040503050406030204"/>
                    <a:ea typeface="Cambria Math" panose="02040503050406030204"/>
                    <a:cs typeface="Cambria Math" panose="02040503050406030204"/>
                  </a:defRPr>
                </a:lvl7pPr>
                <a:lvl8pPr>
                  <a:defRPr sz="2100" b="0">
                    <a:solidFill>
                      <a:srgbClr val="000000"/>
                    </a:solidFill>
                    <a:latin typeface="Cambria Math" panose="02040503050406030204"/>
                    <a:ea typeface="Cambria Math" panose="02040503050406030204"/>
                    <a:cs typeface="Cambria Math" panose="02040503050406030204"/>
                  </a:defRPr>
                </a:lvl8pPr>
                <a:lvl9pPr>
                  <a:defRPr sz="2100" b="0">
                    <a:solidFill>
                      <a:srgbClr val="000000"/>
                    </a:solidFill>
                    <a:latin typeface="Cambria Math" panose="02040503050406030204"/>
                    <a:ea typeface="Cambria Math" panose="02040503050406030204"/>
                    <a:cs typeface="Cambria Math" panose="02040503050406030204"/>
                  </a:defRPr>
                </a:lvl9pPr>
              </a:lstStyle>
              <a:p>
                <a14:m>
                  <m:oMathPara xmlns:m="http://schemas.openxmlformats.org/officeDocument/2006/math">
                    <m:oMathParaPr>
                      <m:jc m:val="left"/>
                    </m:oMathParaPr>
                    <m:oMath xmlns:m="http://schemas.openxmlformats.org/officeDocument/2006/math">
                      <m:r>
                        <a:rPr lang="en-US" sz="2100">
                          <a:latin typeface="Cambria Math" panose="02040503050406030204"/>
                          <a:ea typeface="微软雅黑" panose="020B0503020204020204" charset="-122"/>
                        </a:rPr>
                        <m:t>𝛥</m:t>
                      </m:r>
                      <m:sSubSup>
                        <m:sSubSupPr>
                          <m:ctrlPr>
                            <a:rPr/>
                          </m:ctrlPr>
                        </m:sSubSupPr>
                        <m:e>
                          <m:r>
                            <a:rPr lang="en-US" sz="2100">
                              <a:latin typeface="Cambria Math" panose="02040503050406030204"/>
                              <a:ea typeface="微软雅黑" panose="020B0503020204020204" charset="-122"/>
                            </a:rPr>
                            <m:t>𝑊</m:t>
                          </m:r>
                        </m:e>
                        <m:sub>
                          <m:r>
                            <a:rPr lang="en-US" sz="2100">
                              <a:latin typeface="Cambria Math" panose="02040503050406030204"/>
                              <a:ea typeface="微软雅黑" panose="020B0503020204020204" charset="-122"/>
                            </a:rPr>
                            <m:t>𝑗𝑖</m:t>
                          </m:r>
                        </m:sub>
                        <m:sup>
                          <m:r>
                            <m:rPr>
                              <m:sty m:val="p"/>
                            </m:rPr>
                            <a:rPr lang="en-US" sz="2100">
                              <a:latin typeface="Cambria Math" panose="02040503050406030204"/>
                              <a:ea typeface="微软雅黑" panose="020B0503020204020204" charset="-122"/>
                            </a:rPr>
                            <m:t>AB</m:t>
                          </m:r>
                        </m:sup>
                      </m:sSubSup>
                      <m:r>
                        <a:rPr lang="en-US" sz="2100">
                          <a:latin typeface="Cambria Math" panose="02040503050406030204"/>
                          <a:ea typeface="微软雅黑" panose="020B0503020204020204" charset="-122"/>
                        </a:rPr>
                        <m:t>=</m:t>
                      </m:r>
                      <m:sSup>
                        <m:sSupPr>
                          <m:ctrlPr>
                            <a:rPr/>
                          </m:ctrlPr>
                        </m:sSupPr>
                        <m:e>
                          <m:r>
                            <a:rPr lang="en-US" sz="2100">
                              <a:latin typeface="Cambria Math" panose="02040503050406030204"/>
                              <a:ea typeface="微软雅黑" panose="020B0503020204020204" charset="-122"/>
                            </a:rPr>
                            <m:t>𝜂</m:t>
                          </m:r>
                        </m:e>
                        <m:sup>
                          <m:r>
                            <m:rPr>
                              <m:sty m:val="p"/>
                            </m:rPr>
                            <a:rPr lang="en-US" sz="2100">
                              <a:latin typeface="Cambria Math" panose="02040503050406030204"/>
                              <a:ea typeface="微软雅黑" panose="020B0503020204020204" charset="-122"/>
                            </a:rPr>
                            <m:t>AB</m:t>
                          </m:r>
                        </m:sup>
                      </m:sSup>
                      <m:sSub>
                        <m:sSubPr>
                          <m:ctrlPr>
                            <a:rPr/>
                          </m:ctrlPr>
                        </m:sSubPr>
                        <m:e>
                          <m:r>
                            <a:rPr lang="en-US" sz="2100">
                              <a:latin typeface="Cambria Math" panose="02040503050406030204"/>
                              <a:ea typeface="微软雅黑" panose="020B0503020204020204" charset="-122"/>
                            </a:rPr>
                            <m:t>𝐴</m:t>
                          </m:r>
                        </m:e>
                        <m:sub>
                          <m:r>
                            <m:rPr>
                              <m:sty m:val="p"/>
                            </m:rPr>
                            <a:rPr lang="en-US" sz="2100">
                              <a:latin typeface="Cambria Math" panose="02040503050406030204"/>
                              <a:ea typeface="微软雅黑" panose="020B0503020204020204" charset="-122"/>
                            </a:rPr>
                            <m:t>sym</m:t>
                          </m:r>
                        </m:sub>
                      </m:sSub>
                      <m:sSub>
                        <m:sSubPr>
                          <m:ctrlPr>
                            <a:rPr/>
                          </m:ctrlPr>
                        </m:sSubPr>
                        <m:e>
                          <m:r>
                            <a:rPr lang="en-US" sz="2100">
                              <a:latin typeface="Cambria Math" panose="02040503050406030204"/>
                              <a:ea typeface="微软雅黑" panose="020B0503020204020204" charset="-122"/>
                            </a:rPr>
                            <m:t>𝑈</m:t>
                          </m:r>
                        </m:e>
                        <m:sub>
                          <m:r>
                            <m:rPr>
                              <m:sty m:val="p"/>
                            </m:rPr>
                            <a:rPr lang="en-US" sz="2100">
                              <a:latin typeface="Cambria Math" panose="02040503050406030204"/>
                              <a:ea typeface="微软雅黑" panose="020B0503020204020204" charset="-122"/>
                            </a:rPr>
                            <m:t>sym</m:t>
                          </m:r>
                          <m:r>
                            <a:rPr lang="en-US" sz="2100">
                              <a:latin typeface="Cambria Math" panose="02040503050406030204"/>
                              <a:ea typeface="微软雅黑" panose="020B0503020204020204" charset="-122"/>
                            </a:rPr>
                            <m:t>,</m:t>
                          </m:r>
                          <m:r>
                            <a:rPr lang="en-US" sz="2100">
                              <a:latin typeface="Cambria Math" panose="02040503050406030204"/>
                              <a:ea typeface="微软雅黑" panose="020B0503020204020204" charset="-122"/>
                            </a:rPr>
                            <m:t>𝑗</m:t>
                          </m:r>
                        </m:sub>
                      </m:sSub>
                      <m:d>
                        <m:dPr>
                          <m:sepChr m:val=""/>
                          <m:ctrlPr>
                            <a:rPr/>
                          </m:ctrlPr>
                        </m:dPr>
                        <m:e>
                          <m:r>
                            <a:rPr lang="en-US" sz="2100">
                              <a:latin typeface="Cambria Math" panose="02040503050406030204"/>
                              <a:ea typeface="微软雅黑" panose="020B0503020204020204" charset="-122"/>
                            </a:rPr>
                            <m:t>𝑡</m:t>
                          </m:r>
                        </m:e>
                      </m:d>
                      <m:r>
                        <a:rPr lang="en-US" sz="2100">
                          <a:latin typeface="Cambria Math" panose="02040503050406030204"/>
                          <a:ea typeface="微软雅黑" panose="020B0503020204020204" charset="-122"/>
                        </a:rPr>
                        <m:t>,</m:t>
                      </m:r>
                      <m:r>
                        <a:rPr lang="en-US" sz="2100">
                          <a:latin typeface="Cambria Math" panose="02040503050406030204"/>
                          <a:ea typeface="微软雅黑" panose="020B0503020204020204" charset="-122"/>
                        </a:rPr>
                        <m:t>𝑡</m:t>
                      </m:r>
                      <m:r>
                        <a:rPr lang="en-US" sz="2100">
                          <a:latin typeface="Cambria Math" panose="02040503050406030204"/>
                          <a:ea typeface="微软雅黑" panose="020B0503020204020204" charset="-122"/>
                        </a:rPr>
                        <m:t>=</m:t>
                      </m:r>
                      <m:sSub>
                        <m:sSubPr>
                          <m:ctrlPr>
                            <a:rPr/>
                          </m:ctrlPr>
                        </m:sSubPr>
                        <m:e>
                          <m:r>
                            <a:rPr lang="en-US" sz="2100">
                              <a:latin typeface="Cambria Math" panose="02040503050406030204"/>
                              <a:ea typeface="微软雅黑" panose="020B0503020204020204" charset="-122"/>
                            </a:rPr>
                            <m:t>𝑡</m:t>
                          </m:r>
                        </m:e>
                        <m:sub>
                          <m:r>
                            <a:rPr lang="en-US" sz="2100">
                              <a:latin typeface="Cambria Math" panose="02040503050406030204"/>
                              <a:ea typeface="微软雅黑" panose="020B0503020204020204" charset="-122"/>
                            </a:rPr>
                            <m:t>𝑖</m:t>
                          </m:r>
                        </m:sub>
                      </m:sSub>
                    </m:oMath>
                  </m:oMathPara>
                </a14:m>
                <a:endParaRPr lang="en-US" sz="2100"/>
              </a:p>
            </p:txBody>
          </p:sp>
        </mc:Choice>
        <mc:Fallback>
          <p:sp>
            <p:nvSpPr>
              <p:cNvPr id="10" name="EQ_symmetric_pre"/>
              <p:cNvSpPr>
                <a:spLocks noRot="1" noChangeAspect="1" noMove="1" noResize="1" noEditPoints="1" noAdjustHandles="1" noChangeArrowheads="1" noChangeShapeType="1" noTextEdit="1"/>
              </p:cNvSpPr>
              <p:nvPr/>
            </p:nvSpPr>
            <p:spPr>
              <a:xfrm>
                <a:off x="514350" y="4972050"/>
                <a:ext cx="8572500" cy="552450"/>
              </a:xfrm>
              <a:prstGeom prst="rect">
                <a:avLst/>
              </a:prstGeom>
              <a:blipFill rotWithShape="1">
                <a:blip r:embed="rId5"/>
                <a:stretch>
                  <a:fillRect/>
                </a:stretch>
              </a:blipFill>
              <a:ln w="0">
                <a:noFill/>
              </a:ln>
            </p:spPr>
            <p:txBody>
              <a:bodyPr/>
              <a:lstStyle/>
              <a:p>
                <a:r>
                  <a:rPr lang="zh-CN" altLang="en-US">
                    <a:noFill/>
                  </a:rPr>
                  <a:t> </a:t>
                </a:r>
              </a:p>
            </p:txBody>
          </p:sp>
        </mc:Fallback>
      </mc:AlternateContent>
      <p:sp>
        <p:nvSpPr>
          <p:cNvPr id="11" name="i：突触前；j：突触后。&#10;Wᴬᴮ：B→A的连接权重。&#10;三联规"/>
          <p:cNvSpPr>
            <a:spLocks noGrp="1"/>
          </p:cNvSpPr>
          <p:nvPr/>
        </p:nvSpPr>
        <p:spPr>
          <a:xfrm>
            <a:off x="6399530" y="1728470"/>
            <a:ext cx="3143250" cy="2038350"/>
          </a:xfrm>
          <a:prstGeom prst="rect">
            <a:avLst/>
          </a:prstGeom>
          <a:noFill/>
          <a:ln w="0">
            <a:noFill/>
          </a:ln>
        </p:spPr>
        <p:txBody>
          <a:bodyPr wrap="square" lIns="0" tIns="0" rIns="0" bIns="0" anchor="t">
            <a:noAutofit/>
          </a:bodyPr>
          <a:lstStyle>
            <a:defPPr>
              <a:defRPr sz="1500" b="0">
                <a:solidFill>
                  <a:srgbClr val="111111"/>
                </a:solidFill>
                <a:latin typeface="微软雅黑" panose="020B0503020204020204" charset="-122"/>
                <a:ea typeface="微软雅黑" panose="020B0503020204020204" charset="-122"/>
                <a:cs typeface="微软雅黑" panose="020B0503020204020204" charset="-122"/>
              </a:defRPr>
            </a:defPPr>
            <a:lvl1pPr>
              <a:defRPr sz="1500" b="0">
                <a:solidFill>
                  <a:srgbClr val="111111"/>
                </a:solidFill>
                <a:latin typeface="微软雅黑" panose="020B0503020204020204" charset="-122"/>
                <a:ea typeface="微软雅黑" panose="020B0503020204020204" charset="-122"/>
                <a:cs typeface="微软雅黑" panose="020B0503020204020204" charset="-122"/>
              </a:defRPr>
            </a:lvl1pPr>
            <a:lvl2pPr>
              <a:defRPr sz="1500" b="0">
                <a:solidFill>
                  <a:srgbClr val="111111"/>
                </a:solidFill>
                <a:latin typeface="微软雅黑" panose="020B0503020204020204" charset="-122"/>
                <a:ea typeface="微软雅黑" panose="020B0503020204020204" charset="-122"/>
                <a:cs typeface="微软雅黑" panose="020B0503020204020204" charset="-122"/>
              </a:defRPr>
            </a:lvl2pPr>
            <a:lvl3pPr>
              <a:defRPr sz="1500" b="0">
                <a:solidFill>
                  <a:srgbClr val="111111"/>
                </a:solidFill>
                <a:latin typeface="微软雅黑" panose="020B0503020204020204" charset="-122"/>
                <a:ea typeface="微软雅黑" panose="020B0503020204020204" charset="-122"/>
                <a:cs typeface="微软雅黑" panose="020B0503020204020204" charset="-122"/>
              </a:defRPr>
            </a:lvl3pPr>
            <a:lvl4pPr>
              <a:defRPr sz="1500" b="0">
                <a:solidFill>
                  <a:srgbClr val="111111"/>
                </a:solidFill>
                <a:latin typeface="微软雅黑" panose="020B0503020204020204" charset="-122"/>
                <a:ea typeface="微软雅黑" panose="020B0503020204020204" charset="-122"/>
                <a:cs typeface="微软雅黑" panose="020B0503020204020204" charset="-122"/>
              </a:defRPr>
            </a:lvl4pPr>
            <a:lvl5pPr>
              <a:defRPr sz="1500" b="0">
                <a:solidFill>
                  <a:srgbClr val="111111"/>
                </a:solidFill>
                <a:latin typeface="微软雅黑" panose="020B0503020204020204" charset="-122"/>
                <a:ea typeface="微软雅黑" panose="020B0503020204020204" charset="-122"/>
                <a:cs typeface="微软雅黑" panose="020B0503020204020204" charset="-122"/>
              </a:defRPr>
            </a:lvl5pPr>
            <a:lvl6pPr>
              <a:defRPr sz="1500" b="0">
                <a:solidFill>
                  <a:srgbClr val="111111"/>
                </a:solidFill>
                <a:latin typeface="微软雅黑" panose="020B0503020204020204" charset="-122"/>
                <a:ea typeface="微软雅黑" panose="020B0503020204020204" charset="-122"/>
                <a:cs typeface="微软雅黑" panose="020B0503020204020204" charset="-122"/>
              </a:defRPr>
            </a:lvl6pPr>
            <a:lvl7pPr>
              <a:defRPr sz="1500" b="0">
                <a:solidFill>
                  <a:srgbClr val="111111"/>
                </a:solidFill>
                <a:latin typeface="微软雅黑" panose="020B0503020204020204" charset="-122"/>
                <a:ea typeface="微软雅黑" panose="020B0503020204020204" charset="-122"/>
                <a:cs typeface="微软雅黑" panose="020B0503020204020204" charset="-122"/>
              </a:defRPr>
            </a:lvl7pPr>
            <a:lvl8pPr>
              <a:defRPr sz="1500" b="0">
                <a:solidFill>
                  <a:srgbClr val="111111"/>
                </a:solidFill>
                <a:latin typeface="微软雅黑" panose="020B0503020204020204" charset="-122"/>
                <a:ea typeface="微软雅黑" panose="020B0503020204020204" charset="-122"/>
                <a:cs typeface="微软雅黑" panose="020B0503020204020204" charset="-122"/>
              </a:defRPr>
            </a:lvl8pPr>
            <a:lvl9pPr>
              <a:defRPr sz="1500" b="0">
                <a:solidFill>
                  <a:srgbClr val="111111"/>
                </a:solidFill>
                <a:latin typeface="微软雅黑" panose="020B0503020204020204" charset="-122"/>
                <a:ea typeface="微软雅黑" panose="020B0503020204020204" charset="-122"/>
                <a:cs typeface="微软雅黑" panose="020B0503020204020204" charset="-122"/>
              </a:defRPr>
            </a:lvl9pPr>
          </a:lstStyle>
          <a:p>
            <a:pPr>
              <a:defRPr sz="1500" b="0">
                <a:solidFill>
                  <a:srgbClr val="111111"/>
                </a:solidFill>
                <a:latin typeface="微软雅黑" panose="020B0503020204020204" charset="-122"/>
                <a:ea typeface="微软雅黑" panose="020B0503020204020204" charset="-122"/>
                <a:cs typeface="微软雅黑" panose="020B0503020204020204" charset="-122"/>
              </a:defRPr>
            </a:pPr>
            <a:r>
              <a:rPr sz="1500" b="0">
                <a:solidFill>
                  <a:srgbClr val="111111"/>
                </a:solidFill>
                <a:latin typeface="微软雅黑" panose="020B0503020204020204" charset="-122"/>
                <a:ea typeface="微软雅黑" panose="020B0503020204020204" charset="-122"/>
                <a:cs typeface="微软雅黑" panose="020B0503020204020204" charset="-122"/>
              </a:rPr>
              <a:t>i：突触前；</a:t>
            </a:r>
            <a:endParaRPr sz="1500" b="0">
              <a:solidFill>
                <a:srgbClr val="111111"/>
              </a:solidFill>
              <a:latin typeface="微软雅黑" panose="020B0503020204020204" charset="-122"/>
              <a:ea typeface="微软雅黑" panose="020B0503020204020204" charset="-122"/>
              <a:cs typeface="微软雅黑" panose="020B0503020204020204" charset="-122"/>
            </a:endParaRPr>
          </a:p>
          <a:p>
            <a:pPr>
              <a:defRPr sz="1500" b="0">
                <a:solidFill>
                  <a:srgbClr val="111111"/>
                </a:solidFill>
                <a:latin typeface="微软雅黑" panose="020B0503020204020204" charset="-122"/>
                <a:ea typeface="微软雅黑" panose="020B0503020204020204" charset="-122"/>
                <a:cs typeface="微软雅黑" panose="020B0503020204020204" charset="-122"/>
              </a:defRPr>
            </a:pPr>
            <a:endParaRPr sz="1500" b="0">
              <a:solidFill>
                <a:srgbClr val="111111"/>
              </a:solidFill>
              <a:latin typeface="微软雅黑" panose="020B0503020204020204" charset="-122"/>
              <a:ea typeface="微软雅黑" panose="020B0503020204020204" charset="-122"/>
              <a:cs typeface="微软雅黑" panose="020B0503020204020204" charset="-122"/>
            </a:endParaRPr>
          </a:p>
          <a:p>
            <a:pPr>
              <a:defRPr sz="1500" b="0">
                <a:solidFill>
                  <a:srgbClr val="111111"/>
                </a:solidFill>
                <a:latin typeface="微软雅黑" panose="020B0503020204020204" charset="-122"/>
                <a:ea typeface="微软雅黑" panose="020B0503020204020204" charset="-122"/>
                <a:cs typeface="微软雅黑" panose="020B0503020204020204" charset="-122"/>
              </a:defRPr>
            </a:pPr>
            <a:r>
              <a:rPr sz="1500" b="0">
                <a:solidFill>
                  <a:srgbClr val="111111"/>
                </a:solidFill>
                <a:latin typeface="微软雅黑" panose="020B0503020204020204" charset="-122"/>
                <a:ea typeface="微软雅黑" panose="020B0503020204020204" charset="-122"/>
                <a:cs typeface="微软雅黑" panose="020B0503020204020204" charset="-122"/>
              </a:rPr>
              <a:t>j：突触后。</a:t>
            </a:r>
            <a:endParaRPr sz="1500" b="0">
              <a:solidFill>
                <a:srgbClr val="111111"/>
              </a:solidFill>
              <a:latin typeface="微软雅黑" panose="020B0503020204020204" charset="-122"/>
              <a:ea typeface="微软雅黑" panose="020B0503020204020204" charset="-122"/>
              <a:cs typeface="微软雅黑" panose="020B0503020204020204" charset="-122"/>
            </a:endParaRPr>
          </a:p>
          <a:p>
            <a:pPr>
              <a:defRPr sz="1500" b="0">
                <a:solidFill>
                  <a:srgbClr val="111111"/>
                </a:solidFill>
                <a:latin typeface="微软雅黑" panose="020B0503020204020204" charset="-122"/>
                <a:ea typeface="微软雅黑" panose="020B0503020204020204" charset="-122"/>
                <a:cs typeface="微软雅黑" panose="020B0503020204020204" charset="-122"/>
              </a:defRPr>
            </a:pPr>
            <a:endParaRPr sz="1500" b="0">
              <a:solidFill>
                <a:srgbClr val="111111"/>
              </a:solidFill>
              <a:latin typeface="微软雅黑" panose="020B0503020204020204" charset="-122"/>
              <a:ea typeface="微软雅黑" panose="020B0503020204020204" charset="-122"/>
              <a:cs typeface="微软雅黑" panose="020B0503020204020204" charset="-122"/>
            </a:endParaRPr>
          </a:p>
          <a:p>
            <a:pPr>
              <a:defRPr sz="1500" b="0">
                <a:solidFill>
                  <a:srgbClr val="111111"/>
                </a:solidFill>
                <a:latin typeface="微软雅黑" panose="020B0503020204020204" charset="-122"/>
                <a:ea typeface="微软雅黑" panose="020B0503020204020204" charset="-122"/>
                <a:cs typeface="微软雅黑" panose="020B0503020204020204" charset="-122"/>
              </a:defRPr>
            </a:pPr>
            <a:r>
              <a:rPr sz="1500" b="0">
                <a:solidFill>
                  <a:srgbClr val="111111"/>
                </a:solidFill>
                <a:latin typeface="微软雅黑" panose="020B0503020204020204" charset="-122"/>
                <a:ea typeface="微软雅黑" panose="020B0503020204020204" charset="-122"/>
                <a:cs typeface="微软雅黑" panose="020B0503020204020204" charset="-122"/>
              </a:rPr>
              <a:t>Wᴬᴮ：B→A的连接权重。</a:t>
            </a:r>
            <a:endParaRPr sz="1500" b="0">
              <a:solidFill>
                <a:srgbClr val="111111"/>
              </a:solidFill>
              <a:latin typeface="微软雅黑" panose="020B0503020204020204" charset="-122"/>
              <a:ea typeface="微软雅黑" panose="020B0503020204020204" charset="-122"/>
              <a:cs typeface="微软雅黑" panose="020B0503020204020204" charset="-122"/>
            </a:endParaRPr>
          </a:p>
          <a:p>
            <a:pPr>
              <a:defRPr sz="1500" b="0">
                <a:solidFill>
                  <a:srgbClr val="111111"/>
                </a:solidFill>
                <a:latin typeface="微软雅黑" panose="020B0503020204020204" charset="-122"/>
                <a:ea typeface="微软雅黑" panose="020B0503020204020204" charset="-122"/>
                <a:cs typeface="微软雅黑" panose="020B0503020204020204" charset="-122"/>
              </a:defRPr>
            </a:pPr>
            <a:endParaRPr sz="1500" b="0">
              <a:solidFill>
                <a:srgbClr val="111111"/>
              </a:solidFill>
              <a:latin typeface="微软雅黑" panose="020B0503020204020204" charset="-122"/>
              <a:ea typeface="微软雅黑" panose="020B0503020204020204" charset="-122"/>
              <a:cs typeface="微软雅黑" panose="020B0503020204020204" charset="-122"/>
            </a:endParaRPr>
          </a:p>
          <a:p>
            <a:pPr>
              <a:defRPr sz="1500" b="0">
                <a:solidFill>
                  <a:srgbClr val="111111"/>
                </a:solidFill>
                <a:latin typeface="微软雅黑" panose="020B0503020204020204" charset="-122"/>
                <a:ea typeface="微软雅黑" panose="020B0503020204020204" charset="-122"/>
                <a:cs typeface="微软雅黑" panose="020B0503020204020204" charset="-122"/>
              </a:defRPr>
            </a:pPr>
            <a:r>
              <a:rPr sz="1500" b="0">
                <a:solidFill>
                  <a:srgbClr val="111111"/>
                </a:solidFill>
                <a:latin typeface="微软雅黑" panose="020B0503020204020204" charset="-122"/>
                <a:ea typeface="微软雅黑" panose="020B0503020204020204" charset="-122"/>
                <a:cs typeface="微软雅黑" panose="020B0503020204020204" charset="-122"/>
              </a:rPr>
              <a:t>U：指数脉冲迹；快速20 ms，</a:t>
            </a:r>
            <a:endParaRPr sz="1500" b="0">
              <a:solidFill>
                <a:srgbClr val="111111"/>
              </a:solidFill>
              <a:latin typeface="微软雅黑" panose="020B0503020204020204" charset="-122"/>
              <a:ea typeface="微软雅黑" panose="020B0503020204020204" charset="-122"/>
              <a:cs typeface="微软雅黑" panose="020B0503020204020204" charset="-122"/>
            </a:endParaRPr>
          </a:p>
          <a:p>
            <a:pPr>
              <a:defRPr sz="1500" b="0">
                <a:solidFill>
                  <a:srgbClr val="111111"/>
                </a:solidFill>
                <a:latin typeface="微软雅黑" panose="020B0503020204020204" charset="-122"/>
                <a:ea typeface="微软雅黑" panose="020B0503020204020204" charset="-122"/>
                <a:cs typeface="微软雅黑" panose="020B0503020204020204" charset="-122"/>
              </a:defRPr>
            </a:pPr>
            <a:r>
              <a:rPr sz="1500" b="0">
                <a:solidFill>
                  <a:srgbClr val="111111"/>
                </a:solidFill>
                <a:latin typeface="微软雅黑" panose="020B0503020204020204" charset="-122"/>
                <a:ea typeface="微软雅黑" panose="020B0503020204020204" charset="-122"/>
                <a:cs typeface="微软雅黑" panose="020B0503020204020204" charset="-122"/>
              </a:rPr>
              <a:t>慢速50 ms；</a:t>
            </a:r>
            <a:endParaRPr sz="1500" b="0">
              <a:solidFill>
                <a:srgbClr val="111111"/>
              </a:solidFill>
              <a:latin typeface="微软雅黑" panose="020B0503020204020204" charset="-122"/>
              <a:ea typeface="微软雅黑" panose="020B0503020204020204" charset="-122"/>
              <a:cs typeface="微软雅黑" panose="020B0503020204020204" charset="-122"/>
            </a:endParaRPr>
          </a:p>
          <a:p>
            <a:pPr>
              <a:defRPr sz="1500" b="0">
                <a:solidFill>
                  <a:srgbClr val="111111"/>
                </a:solidFill>
                <a:latin typeface="微软雅黑" panose="020B0503020204020204" charset="-122"/>
                <a:ea typeface="微软雅黑" panose="020B0503020204020204" charset="-122"/>
                <a:cs typeface="微软雅黑" panose="020B0503020204020204" charset="-122"/>
              </a:defRPr>
            </a:pPr>
            <a:endParaRPr sz="1500" b="0">
              <a:solidFill>
                <a:srgbClr val="111111"/>
              </a:solidFill>
              <a:latin typeface="微软雅黑" panose="020B0503020204020204" charset="-122"/>
              <a:ea typeface="微软雅黑" panose="020B0503020204020204" charset="-122"/>
              <a:cs typeface="微软雅黑" panose="020B0503020204020204" charset="-122"/>
            </a:endParaRPr>
          </a:p>
          <a:p>
            <a:pPr>
              <a:defRPr sz="1500" b="0">
                <a:solidFill>
                  <a:srgbClr val="111111"/>
                </a:solidFill>
                <a:latin typeface="微软雅黑" panose="020B0503020204020204" charset="-122"/>
                <a:ea typeface="微软雅黑" panose="020B0503020204020204" charset="-122"/>
                <a:cs typeface="微软雅黑" panose="020B0503020204020204" charset="-122"/>
              </a:defRPr>
            </a:pPr>
            <a:r>
              <a:rPr sz="1500" b="0">
                <a:solidFill>
                  <a:srgbClr val="111111"/>
                </a:solidFill>
                <a:latin typeface="微软雅黑" panose="020B0503020204020204" charset="-122"/>
                <a:ea typeface="微软雅黑" panose="020B0503020204020204" charset="-122"/>
                <a:cs typeface="微软雅黑" panose="020B0503020204020204" charset="-122"/>
              </a:rPr>
              <a:t>η：学习率。</a:t>
            </a:r>
            <a:endParaRPr sz="1500" b="0">
              <a:solidFill>
                <a:srgbClr val="111111"/>
              </a:solidFill>
              <a:latin typeface="微软雅黑" panose="020B0503020204020204" charset="-122"/>
              <a:ea typeface="微软雅黑" panose="020B0503020204020204" charset="-122"/>
              <a:cs typeface="微软雅黑" panose="020B0503020204020204" charset="-122"/>
            </a:endParaRPr>
          </a:p>
          <a:p>
            <a:pPr>
              <a:defRPr sz="1500" b="0">
                <a:solidFill>
                  <a:srgbClr val="111111"/>
                </a:solidFill>
                <a:latin typeface="微软雅黑" panose="020B0503020204020204" charset="-122"/>
                <a:ea typeface="微软雅黑" panose="020B0503020204020204" charset="-122"/>
                <a:cs typeface="微软雅黑" panose="020B0503020204020204" charset="-122"/>
              </a:defRPr>
            </a:pPr>
            <a:endParaRPr sz="1500" b="0">
              <a:solidFill>
                <a:srgbClr val="111111"/>
              </a:solidFill>
              <a:latin typeface="微软雅黑" panose="020B0503020204020204" charset="-122"/>
              <a:ea typeface="微软雅黑" panose="020B0503020204020204" charset="-122"/>
              <a:cs typeface="微软雅黑" panose="020B0503020204020204" charset="-122"/>
            </a:endParaRPr>
          </a:p>
          <a:p>
            <a:pPr>
              <a:defRPr sz="1500" b="0">
                <a:solidFill>
                  <a:srgbClr val="111111"/>
                </a:solidFill>
                <a:latin typeface="微软雅黑" panose="020B0503020204020204" charset="-122"/>
                <a:ea typeface="微软雅黑" panose="020B0503020204020204" charset="-122"/>
                <a:cs typeface="微软雅黑" panose="020B0503020204020204" charset="-122"/>
              </a:defRPr>
            </a:pPr>
            <a:r>
              <a:rPr sz="1500" b="0">
                <a:solidFill>
                  <a:srgbClr val="111111"/>
                </a:solidFill>
                <a:latin typeface="微软雅黑" panose="020B0503020204020204" charset="-122"/>
                <a:ea typeface="微软雅黑" panose="020B0503020204020204" charset="-122"/>
                <a:cs typeface="微软雅黑" panose="020B0503020204020204" charset="-122"/>
              </a:rPr>
              <a:t>Aₚ、A𝒹、Aₛᵧₘ：规则幅度。</a:t>
            </a:r>
            <a:endParaRPr sz="1500" b="0">
              <a:solidFill>
                <a:srgbClr val="111111"/>
              </a:solidFill>
              <a:latin typeface="微软雅黑" panose="020B0503020204020204" charset="-122"/>
              <a:ea typeface="微软雅黑" panose="020B0503020204020204" charset="-122"/>
              <a:cs typeface="微软雅黑" panose="020B0503020204020204" charset="-122"/>
            </a:endParaRPr>
          </a:p>
        </p:txBody>
      </p:sp>
      <p:sp>
        <p:nvSpPr>
          <p:cNvPr id="12" name="时间接近的共同放电增强连接。该规则本身不包含Vogels式目"/>
          <p:cNvSpPr>
            <a:spLocks noGrp="1"/>
          </p:cNvSpPr>
          <p:nvPr/>
        </p:nvSpPr>
        <p:spPr>
          <a:xfrm>
            <a:off x="514350" y="5905500"/>
            <a:ext cx="11144250" cy="428625"/>
          </a:xfrm>
          <a:prstGeom prst="rect">
            <a:avLst/>
          </a:prstGeom>
          <a:noFill/>
          <a:ln w="0">
            <a:noFill/>
          </a:ln>
        </p:spPr>
        <p:txBody>
          <a:bodyPr wrap="square" lIns="0" tIns="0" rIns="0" bIns="0" anchor="t">
            <a:noAutofit/>
          </a:bodyPr>
          <a:lstStyle>
            <a:defPPr>
              <a:defRPr sz="1575" b="0">
                <a:solidFill>
                  <a:srgbClr val="111111"/>
                </a:solidFill>
                <a:latin typeface="微软雅黑" panose="020B0503020204020204" charset="-122"/>
                <a:ea typeface="微软雅黑" panose="020B0503020204020204" charset="-122"/>
                <a:cs typeface="微软雅黑" panose="020B0503020204020204" charset="-122"/>
              </a:defRPr>
            </a:defPPr>
            <a:lvl1pPr>
              <a:defRPr sz="1575" b="0">
                <a:solidFill>
                  <a:srgbClr val="111111"/>
                </a:solidFill>
                <a:latin typeface="微软雅黑" panose="020B0503020204020204" charset="-122"/>
                <a:ea typeface="微软雅黑" panose="020B0503020204020204" charset="-122"/>
                <a:cs typeface="微软雅黑" panose="020B0503020204020204" charset="-122"/>
              </a:defRPr>
            </a:lvl1pPr>
            <a:lvl2pPr>
              <a:defRPr sz="1575" b="0">
                <a:solidFill>
                  <a:srgbClr val="111111"/>
                </a:solidFill>
                <a:latin typeface="微软雅黑" panose="020B0503020204020204" charset="-122"/>
                <a:ea typeface="微软雅黑" panose="020B0503020204020204" charset="-122"/>
                <a:cs typeface="微软雅黑" panose="020B0503020204020204" charset="-122"/>
              </a:defRPr>
            </a:lvl2pPr>
            <a:lvl3pPr>
              <a:defRPr sz="1575" b="0">
                <a:solidFill>
                  <a:srgbClr val="111111"/>
                </a:solidFill>
                <a:latin typeface="微软雅黑" panose="020B0503020204020204" charset="-122"/>
                <a:ea typeface="微软雅黑" panose="020B0503020204020204" charset="-122"/>
                <a:cs typeface="微软雅黑" panose="020B0503020204020204" charset="-122"/>
              </a:defRPr>
            </a:lvl3pPr>
            <a:lvl4pPr>
              <a:defRPr sz="1575" b="0">
                <a:solidFill>
                  <a:srgbClr val="111111"/>
                </a:solidFill>
                <a:latin typeface="微软雅黑" panose="020B0503020204020204" charset="-122"/>
                <a:ea typeface="微软雅黑" panose="020B0503020204020204" charset="-122"/>
                <a:cs typeface="微软雅黑" panose="020B0503020204020204" charset="-122"/>
              </a:defRPr>
            </a:lvl4pPr>
            <a:lvl5pPr>
              <a:defRPr sz="1575" b="0">
                <a:solidFill>
                  <a:srgbClr val="111111"/>
                </a:solidFill>
                <a:latin typeface="微软雅黑" panose="020B0503020204020204" charset="-122"/>
                <a:ea typeface="微软雅黑" panose="020B0503020204020204" charset="-122"/>
                <a:cs typeface="微软雅黑" panose="020B0503020204020204" charset="-122"/>
              </a:defRPr>
            </a:lvl5pPr>
            <a:lvl6pPr>
              <a:defRPr sz="1575" b="0">
                <a:solidFill>
                  <a:srgbClr val="111111"/>
                </a:solidFill>
                <a:latin typeface="微软雅黑" panose="020B0503020204020204" charset="-122"/>
                <a:ea typeface="微软雅黑" panose="020B0503020204020204" charset="-122"/>
                <a:cs typeface="微软雅黑" panose="020B0503020204020204" charset="-122"/>
              </a:defRPr>
            </a:lvl6pPr>
            <a:lvl7pPr>
              <a:defRPr sz="1575" b="0">
                <a:solidFill>
                  <a:srgbClr val="111111"/>
                </a:solidFill>
                <a:latin typeface="微软雅黑" panose="020B0503020204020204" charset="-122"/>
                <a:ea typeface="微软雅黑" panose="020B0503020204020204" charset="-122"/>
                <a:cs typeface="微软雅黑" panose="020B0503020204020204" charset="-122"/>
              </a:defRPr>
            </a:lvl7pPr>
            <a:lvl8pPr>
              <a:defRPr sz="1575" b="0">
                <a:solidFill>
                  <a:srgbClr val="111111"/>
                </a:solidFill>
                <a:latin typeface="微软雅黑" panose="020B0503020204020204" charset="-122"/>
                <a:ea typeface="微软雅黑" panose="020B0503020204020204" charset="-122"/>
                <a:cs typeface="微软雅黑" panose="020B0503020204020204" charset="-122"/>
              </a:defRPr>
            </a:lvl8pPr>
            <a:lvl9pPr>
              <a:defRPr sz="1575" b="0">
                <a:solidFill>
                  <a:srgbClr val="111111"/>
                </a:solidFill>
                <a:latin typeface="微软雅黑" panose="020B0503020204020204" charset="-122"/>
                <a:ea typeface="微软雅黑" panose="020B0503020204020204" charset="-122"/>
                <a:cs typeface="微软雅黑" panose="020B0503020204020204" charset="-122"/>
              </a:defRPr>
            </a:lvl9pPr>
          </a:lstStyle>
          <a:p>
            <a:pPr>
              <a:defRPr sz="1575" b="0">
                <a:solidFill>
                  <a:srgbClr val="111111"/>
                </a:solidFill>
                <a:latin typeface="微软雅黑" panose="020B0503020204020204" charset="-122"/>
                <a:ea typeface="微软雅黑" panose="020B0503020204020204" charset="-122"/>
                <a:cs typeface="微软雅黑" panose="020B0503020204020204" charset="-122"/>
              </a:defRPr>
            </a:pPr>
            <a:r>
              <a:rPr sz="1575" b="1">
                <a:solidFill>
                  <a:srgbClr val="111111"/>
                </a:solidFill>
                <a:highlight>
                  <a:srgbClr val="FFFF00"/>
                </a:highlight>
                <a:latin typeface="微软雅黑" panose="020B0503020204020204" charset="-122"/>
                <a:ea typeface="微软雅黑" panose="020B0503020204020204" charset="-122"/>
                <a:cs typeface="微软雅黑" panose="020B0503020204020204" charset="-122"/>
              </a:rPr>
              <a:t>时间接近的共同放电增强连接。</a:t>
            </a:r>
            <a:endParaRPr sz="1575" b="1">
              <a:solidFill>
                <a:srgbClr val="111111"/>
              </a:solidFill>
              <a:highlight>
                <a:srgbClr val="FFFF00"/>
              </a:highlight>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p:cNvSpPr>
            <a:spLocks noGrp="1"/>
          </p:cNvSpPr>
          <p:nvPr/>
        </p:nvSpPr>
        <p:spPr>
          <a:xfrm>
            <a:off x="323850" y="228600"/>
            <a:ext cx="10401300" cy="552450"/>
          </a:xfrm>
          <a:prstGeom prst="rect">
            <a:avLst/>
          </a:prstGeom>
          <a:noFill/>
          <a:ln w="0">
            <a:noFill/>
          </a:ln>
        </p:spPr>
        <p:txBody>
          <a:bodyPr wrap="square" lIns="0" tIns="0" rIns="0" bIns="0" anchor="t">
            <a:noAutofit/>
          </a:bodyPr>
          <a:lstStyle>
            <a:defPPr>
              <a:defRPr sz="2400" b="1">
                <a:solidFill>
                  <a:srgbClr val="000000"/>
                </a:solidFill>
                <a:latin typeface="微软雅黑" panose="020B0503020204020204" charset="-122"/>
                <a:ea typeface="微软雅黑" panose="020B0503020204020204" charset="-122"/>
                <a:cs typeface="微软雅黑" panose="020B0503020204020204" charset="-122"/>
              </a:defRPr>
            </a:defPPr>
            <a:lvl1pPr>
              <a:defRPr sz="2400" b="1">
                <a:solidFill>
                  <a:srgbClr val="000000"/>
                </a:solidFill>
                <a:latin typeface="微软雅黑" panose="020B0503020204020204" charset="-122"/>
                <a:ea typeface="微软雅黑" panose="020B0503020204020204" charset="-122"/>
                <a:cs typeface="微软雅黑" panose="020B0503020204020204" charset="-122"/>
              </a:defRPr>
            </a:lvl1pPr>
            <a:lvl2pPr>
              <a:defRPr sz="2400" b="1">
                <a:solidFill>
                  <a:srgbClr val="000000"/>
                </a:solidFill>
                <a:latin typeface="微软雅黑" panose="020B0503020204020204" charset="-122"/>
                <a:ea typeface="微软雅黑" panose="020B0503020204020204" charset="-122"/>
                <a:cs typeface="微软雅黑" panose="020B0503020204020204" charset="-122"/>
              </a:defRPr>
            </a:lvl2pPr>
            <a:lvl3pPr>
              <a:defRPr sz="2400" b="1">
                <a:solidFill>
                  <a:srgbClr val="000000"/>
                </a:solidFill>
                <a:latin typeface="微软雅黑" panose="020B0503020204020204" charset="-122"/>
                <a:ea typeface="微软雅黑" panose="020B0503020204020204" charset="-122"/>
                <a:cs typeface="微软雅黑" panose="020B0503020204020204" charset="-122"/>
              </a:defRPr>
            </a:lvl3pPr>
            <a:lvl4pPr>
              <a:defRPr sz="2400" b="1">
                <a:solidFill>
                  <a:srgbClr val="000000"/>
                </a:solidFill>
                <a:latin typeface="微软雅黑" panose="020B0503020204020204" charset="-122"/>
                <a:ea typeface="微软雅黑" panose="020B0503020204020204" charset="-122"/>
                <a:cs typeface="微软雅黑" panose="020B0503020204020204" charset="-122"/>
              </a:defRPr>
            </a:lvl4pPr>
            <a:lvl5pPr>
              <a:defRPr sz="2400" b="1">
                <a:solidFill>
                  <a:srgbClr val="000000"/>
                </a:solidFill>
                <a:latin typeface="微软雅黑" panose="020B0503020204020204" charset="-122"/>
                <a:ea typeface="微软雅黑" panose="020B0503020204020204" charset="-122"/>
                <a:cs typeface="微软雅黑" panose="020B0503020204020204" charset="-122"/>
              </a:defRPr>
            </a:lvl5pPr>
            <a:lvl6pPr>
              <a:defRPr sz="2400" b="1">
                <a:solidFill>
                  <a:srgbClr val="000000"/>
                </a:solidFill>
                <a:latin typeface="微软雅黑" panose="020B0503020204020204" charset="-122"/>
                <a:ea typeface="微软雅黑" panose="020B0503020204020204" charset="-122"/>
                <a:cs typeface="微软雅黑" panose="020B0503020204020204" charset="-122"/>
              </a:defRPr>
            </a:lvl6pPr>
            <a:lvl7pPr>
              <a:defRPr sz="2400" b="1">
                <a:solidFill>
                  <a:srgbClr val="000000"/>
                </a:solidFill>
                <a:latin typeface="微软雅黑" panose="020B0503020204020204" charset="-122"/>
                <a:ea typeface="微软雅黑" panose="020B0503020204020204" charset="-122"/>
                <a:cs typeface="微软雅黑" panose="020B0503020204020204" charset="-122"/>
              </a:defRPr>
            </a:lvl7pPr>
            <a:lvl8pPr>
              <a:defRPr sz="2400" b="1">
                <a:solidFill>
                  <a:srgbClr val="000000"/>
                </a:solidFill>
                <a:latin typeface="微软雅黑" panose="020B0503020204020204" charset="-122"/>
                <a:ea typeface="微软雅黑" panose="020B0503020204020204" charset="-122"/>
                <a:cs typeface="微软雅黑" panose="020B0503020204020204" charset="-122"/>
              </a:defRPr>
            </a:lvl8pPr>
            <a:lvl9pPr>
              <a:defRPr sz="2400" b="1">
                <a:solidFill>
                  <a:srgbClr val="000000"/>
                </a:solidFill>
                <a:latin typeface="微软雅黑" panose="020B0503020204020204" charset="-122"/>
                <a:ea typeface="微软雅黑" panose="020B0503020204020204" charset="-122"/>
                <a:cs typeface="微软雅黑" panose="020B0503020204020204" charset="-122"/>
              </a:defRPr>
            </a:lvl9pPr>
          </a:lstStyle>
          <a:p>
            <a:pPr>
              <a:defRPr sz="2400" b="1">
                <a:solidFill>
                  <a:srgbClr val="000000"/>
                </a:solidFill>
                <a:latin typeface="微软雅黑" panose="020B0503020204020204" charset="-122"/>
                <a:ea typeface="微软雅黑" panose="020B0503020204020204" charset="-122"/>
                <a:cs typeface="微软雅黑" panose="020B0503020204020204" charset="-122"/>
              </a:defRPr>
            </a:pPr>
            <a:r>
              <a:rPr lang="en-US">
                <a:sym typeface="+mn-ea"/>
              </a:rPr>
              <a:t>Ruslim</a:t>
            </a:r>
            <a:r>
              <a:rPr lang="zh-CN" altLang="en-US">
                <a:sym typeface="+mn-ea"/>
              </a:rPr>
              <a:t>模型</a:t>
            </a:r>
            <a:r>
              <a:rPr sz="2400" b="1">
                <a:solidFill>
                  <a:srgbClr val="000000"/>
                </a:solidFill>
                <a:latin typeface="微软雅黑" panose="020B0503020204020204" charset="-122"/>
                <a:ea typeface="微软雅黑" panose="020B0503020204020204" charset="-122"/>
                <a:cs typeface="微软雅黑" panose="020B0503020204020204" charset="-122"/>
              </a:rPr>
              <a:t>的L1约束：限制各类入权重总量的上限</a:t>
            </a:r>
            <a:endParaRPr sz="2400" b="1">
              <a:solidFill>
                <a:srgbClr val="000000"/>
              </a:solidFill>
              <a:latin typeface="微软雅黑" panose="020B0503020204020204" charset="-122"/>
              <a:ea typeface="微软雅黑" panose="020B0503020204020204" charset="-122"/>
              <a:cs typeface="微软雅黑" panose="020B0503020204020204" charset="-122"/>
            </a:endParaRPr>
          </a:p>
        </p:txBody>
      </p:sp>
      <p:pic>
        <p:nvPicPr>
          <p:cNvPr id="2" name="图片 1"/>
          <p:cNvPicPr>
            <a:picLocks noChangeAspect="1"/>
          </p:cNvPicPr>
          <p:nvPr/>
        </p:nvPicPr>
        <p:blipFill>
          <a:blip r:embed="rId1"/>
          <a:stretch>
            <a:fillRect/>
          </a:stretch>
        </p:blipFill>
        <p:spPr>
          <a:xfrm>
            <a:off x="10963275" y="38100"/>
            <a:ext cx="1152525" cy="1152525"/>
          </a:xfrm>
          <a:prstGeom prst="rect">
            <a:avLst/>
          </a:prstGeom>
        </p:spPr>
      </p:pic>
      <p:sp>
        <p:nvSpPr>
          <p:cNvPr id="4" name="对每个突触后神经元j，分别限制来自B群体的总入权重，而不只约"/>
          <p:cNvSpPr>
            <a:spLocks noGrp="1"/>
          </p:cNvSpPr>
          <p:nvPr/>
        </p:nvSpPr>
        <p:spPr>
          <a:xfrm>
            <a:off x="419100" y="1219200"/>
            <a:ext cx="11239500" cy="381000"/>
          </a:xfrm>
          <a:prstGeom prst="rect">
            <a:avLst/>
          </a:prstGeom>
          <a:noFill/>
          <a:ln w="0">
            <a:noFill/>
          </a:ln>
        </p:spPr>
        <p:txBody>
          <a:bodyPr wrap="square" lIns="0" tIns="0" rIns="0" bIns="0" anchor="t">
            <a:noAutofit/>
          </a:bodyPr>
          <a:lstStyle>
            <a:defPPr>
              <a:defRPr sz="1725" b="0">
                <a:solidFill>
                  <a:srgbClr val="111111"/>
                </a:solidFill>
                <a:latin typeface="微软雅黑" panose="020B0503020204020204" charset="-122"/>
                <a:ea typeface="微软雅黑" panose="020B0503020204020204" charset="-122"/>
                <a:cs typeface="微软雅黑" panose="020B0503020204020204" charset="-122"/>
              </a:defRPr>
            </a:defPPr>
            <a:lvl1pPr>
              <a:defRPr sz="1725" b="0">
                <a:solidFill>
                  <a:srgbClr val="111111"/>
                </a:solidFill>
                <a:latin typeface="微软雅黑" panose="020B0503020204020204" charset="-122"/>
                <a:ea typeface="微软雅黑" panose="020B0503020204020204" charset="-122"/>
                <a:cs typeface="微软雅黑" panose="020B0503020204020204" charset="-122"/>
              </a:defRPr>
            </a:lvl1pPr>
            <a:lvl2pPr>
              <a:defRPr sz="1725" b="0">
                <a:solidFill>
                  <a:srgbClr val="111111"/>
                </a:solidFill>
                <a:latin typeface="微软雅黑" panose="020B0503020204020204" charset="-122"/>
                <a:ea typeface="微软雅黑" panose="020B0503020204020204" charset="-122"/>
                <a:cs typeface="微软雅黑" panose="020B0503020204020204" charset="-122"/>
              </a:defRPr>
            </a:lvl2pPr>
            <a:lvl3pPr>
              <a:defRPr sz="1725" b="0">
                <a:solidFill>
                  <a:srgbClr val="111111"/>
                </a:solidFill>
                <a:latin typeface="微软雅黑" panose="020B0503020204020204" charset="-122"/>
                <a:ea typeface="微软雅黑" panose="020B0503020204020204" charset="-122"/>
                <a:cs typeface="微软雅黑" panose="020B0503020204020204" charset="-122"/>
              </a:defRPr>
            </a:lvl3pPr>
            <a:lvl4pPr>
              <a:defRPr sz="1725" b="0">
                <a:solidFill>
                  <a:srgbClr val="111111"/>
                </a:solidFill>
                <a:latin typeface="微软雅黑" panose="020B0503020204020204" charset="-122"/>
                <a:ea typeface="微软雅黑" panose="020B0503020204020204" charset="-122"/>
                <a:cs typeface="微软雅黑" panose="020B0503020204020204" charset="-122"/>
              </a:defRPr>
            </a:lvl4pPr>
            <a:lvl5pPr>
              <a:defRPr sz="1725" b="0">
                <a:solidFill>
                  <a:srgbClr val="111111"/>
                </a:solidFill>
                <a:latin typeface="微软雅黑" panose="020B0503020204020204" charset="-122"/>
                <a:ea typeface="微软雅黑" panose="020B0503020204020204" charset="-122"/>
                <a:cs typeface="微软雅黑" panose="020B0503020204020204" charset="-122"/>
              </a:defRPr>
            </a:lvl5pPr>
            <a:lvl6pPr>
              <a:defRPr sz="1725" b="0">
                <a:solidFill>
                  <a:srgbClr val="111111"/>
                </a:solidFill>
                <a:latin typeface="微软雅黑" panose="020B0503020204020204" charset="-122"/>
                <a:ea typeface="微软雅黑" panose="020B0503020204020204" charset="-122"/>
                <a:cs typeface="微软雅黑" panose="020B0503020204020204" charset="-122"/>
              </a:defRPr>
            </a:lvl6pPr>
            <a:lvl7pPr>
              <a:defRPr sz="1725" b="0">
                <a:solidFill>
                  <a:srgbClr val="111111"/>
                </a:solidFill>
                <a:latin typeface="微软雅黑" panose="020B0503020204020204" charset="-122"/>
                <a:ea typeface="微软雅黑" panose="020B0503020204020204" charset="-122"/>
                <a:cs typeface="微软雅黑" panose="020B0503020204020204" charset="-122"/>
              </a:defRPr>
            </a:lvl7pPr>
            <a:lvl8pPr>
              <a:defRPr sz="1725" b="0">
                <a:solidFill>
                  <a:srgbClr val="111111"/>
                </a:solidFill>
                <a:latin typeface="微软雅黑" panose="020B0503020204020204" charset="-122"/>
                <a:ea typeface="微软雅黑" panose="020B0503020204020204" charset="-122"/>
                <a:cs typeface="微软雅黑" panose="020B0503020204020204" charset="-122"/>
              </a:defRPr>
            </a:lvl8pPr>
            <a:lvl9pPr>
              <a:defRPr sz="1725" b="0">
                <a:solidFill>
                  <a:srgbClr val="111111"/>
                </a:solidFill>
                <a:latin typeface="微软雅黑" panose="020B0503020204020204" charset="-122"/>
                <a:ea typeface="微软雅黑" panose="020B0503020204020204" charset="-122"/>
                <a:cs typeface="微软雅黑" panose="020B0503020204020204" charset="-122"/>
              </a:defRPr>
            </a:lvl9pPr>
          </a:lstStyle>
          <a:p>
            <a:pPr>
              <a:defRPr sz="1725" b="0">
                <a:solidFill>
                  <a:srgbClr val="111111"/>
                </a:solidFill>
                <a:latin typeface="微软雅黑" panose="020B0503020204020204" charset="-122"/>
                <a:ea typeface="微软雅黑" panose="020B0503020204020204" charset="-122"/>
                <a:cs typeface="微软雅黑" panose="020B0503020204020204" charset="-122"/>
              </a:defRPr>
            </a:pPr>
            <a:r>
              <a:rPr sz="1725" b="0">
                <a:solidFill>
                  <a:srgbClr val="111111"/>
                </a:solidFill>
                <a:latin typeface="微软雅黑" panose="020B0503020204020204" charset="-122"/>
                <a:ea typeface="微软雅黑" panose="020B0503020204020204" charset="-122"/>
                <a:cs typeface="微软雅黑" panose="020B0503020204020204" charset="-122"/>
              </a:rPr>
              <a:t>对每个突触后神经元j，分别限制来自B群体的总入权重</a:t>
            </a:r>
            <a:endParaRPr sz="1725" b="0">
              <a:solidFill>
                <a:srgbClr val="111111"/>
              </a:solidFill>
              <a:latin typeface="微软雅黑" panose="020B0503020204020204" charset="-122"/>
              <a:ea typeface="微软雅黑" panose="020B0503020204020204" charset="-122"/>
              <a:cs typeface="微软雅黑" panose="020B0503020204020204" charset="-122"/>
            </a:endParaRPr>
          </a:p>
        </p:txBody>
      </p:sp>
      <p:sp>
        <p:nvSpPr>
          <p:cNvPr id="5" name="① 超限后减去平均超额"/>
          <p:cNvSpPr>
            <a:spLocks noGrp="1"/>
          </p:cNvSpPr>
          <p:nvPr/>
        </p:nvSpPr>
        <p:spPr>
          <a:xfrm>
            <a:off x="419100" y="1847850"/>
            <a:ext cx="4095750" cy="323850"/>
          </a:xfrm>
          <a:prstGeom prst="rect">
            <a:avLst/>
          </a:prstGeom>
          <a:noFill/>
          <a:ln w="0">
            <a:noFill/>
          </a:ln>
        </p:spPr>
        <p:txBody>
          <a:bodyPr wrap="square" lIns="0" tIns="0" rIns="0" bIns="0" anchor="t">
            <a:noAutofit/>
          </a:bodyPr>
          <a:lstStyle>
            <a:defPPr>
              <a:defRPr sz="1725" b="1">
                <a:solidFill>
                  <a:srgbClr val="111111"/>
                </a:solidFill>
                <a:latin typeface="微软雅黑" panose="020B0503020204020204" charset="-122"/>
                <a:ea typeface="微软雅黑" panose="020B0503020204020204" charset="-122"/>
                <a:cs typeface="微软雅黑" panose="020B0503020204020204" charset="-122"/>
              </a:defRPr>
            </a:defPPr>
            <a:lvl1pPr>
              <a:defRPr sz="1725" b="1">
                <a:solidFill>
                  <a:srgbClr val="111111"/>
                </a:solidFill>
                <a:latin typeface="微软雅黑" panose="020B0503020204020204" charset="-122"/>
                <a:ea typeface="微软雅黑" panose="020B0503020204020204" charset="-122"/>
                <a:cs typeface="微软雅黑" panose="020B0503020204020204" charset="-122"/>
              </a:defRPr>
            </a:lvl1pPr>
            <a:lvl2pPr>
              <a:defRPr sz="1725" b="1">
                <a:solidFill>
                  <a:srgbClr val="111111"/>
                </a:solidFill>
                <a:latin typeface="微软雅黑" panose="020B0503020204020204" charset="-122"/>
                <a:ea typeface="微软雅黑" panose="020B0503020204020204" charset="-122"/>
                <a:cs typeface="微软雅黑" panose="020B0503020204020204" charset="-122"/>
              </a:defRPr>
            </a:lvl2pPr>
            <a:lvl3pPr>
              <a:defRPr sz="1725" b="1">
                <a:solidFill>
                  <a:srgbClr val="111111"/>
                </a:solidFill>
                <a:latin typeface="微软雅黑" panose="020B0503020204020204" charset="-122"/>
                <a:ea typeface="微软雅黑" panose="020B0503020204020204" charset="-122"/>
                <a:cs typeface="微软雅黑" panose="020B0503020204020204" charset="-122"/>
              </a:defRPr>
            </a:lvl3pPr>
            <a:lvl4pPr>
              <a:defRPr sz="1725" b="1">
                <a:solidFill>
                  <a:srgbClr val="111111"/>
                </a:solidFill>
                <a:latin typeface="微软雅黑" panose="020B0503020204020204" charset="-122"/>
                <a:ea typeface="微软雅黑" panose="020B0503020204020204" charset="-122"/>
                <a:cs typeface="微软雅黑" panose="020B0503020204020204" charset="-122"/>
              </a:defRPr>
            </a:lvl4pPr>
            <a:lvl5pPr>
              <a:defRPr sz="1725" b="1">
                <a:solidFill>
                  <a:srgbClr val="111111"/>
                </a:solidFill>
                <a:latin typeface="微软雅黑" panose="020B0503020204020204" charset="-122"/>
                <a:ea typeface="微软雅黑" panose="020B0503020204020204" charset="-122"/>
                <a:cs typeface="微软雅黑" panose="020B0503020204020204" charset="-122"/>
              </a:defRPr>
            </a:lvl5pPr>
            <a:lvl6pPr>
              <a:defRPr sz="1725" b="1">
                <a:solidFill>
                  <a:srgbClr val="111111"/>
                </a:solidFill>
                <a:latin typeface="微软雅黑" panose="020B0503020204020204" charset="-122"/>
                <a:ea typeface="微软雅黑" panose="020B0503020204020204" charset="-122"/>
                <a:cs typeface="微软雅黑" panose="020B0503020204020204" charset="-122"/>
              </a:defRPr>
            </a:lvl6pPr>
            <a:lvl7pPr>
              <a:defRPr sz="1725" b="1">
                <a:solidFill>
                  <a:srgbClr val="111111"/>
                </a:solidFill>
                <a:latin typeface="微软雅黑" panose="020B0503020204020204" charset="-122"/>
                <a:ea typeface="微软雅黑" panose="020B0503020204020204" charset="-122"/>
                <a:cs typeface="微软雅黑" panose="020B0503020204020204" charset="-122"/>
              </a:defRPr>
            </a:lvl7pPr>
            <a:lvl8pPr>
              <a:defRPr sz="1725" b="1">
                <a:solidFill>
                  <a:srgbClr val="111111"/>
                </a:solidFill>
                <a:latin typeface="微软雅黑" panose="020B0503020204020204" charset="-122"/>
                <a:ea typeface="微软雅黑" panose="020B0503020204020204" charset="-122"/>
                <a:cs typeface="微软雅黑" panose="020B0503020204020204" charset="-122"/>
              </a:defRPr>
            </a:lvl8pPr>
            <a:lvl9pPr>
              <a:defRPr sz="1725" b="1">
                <a:solidFill>
                  <a:srgbClr val="111111"/>
                </a:solidFill>
                <a:latin typeface="微软雅黑" panose="020B0503020204020204" charset="-122"/>
                <a:ea typeface="微软雅黑" panose="020B0503020204020204" charset="-122"/>
                <a:cs typeface="微软雅黑" panose="020B0503020204020204" charset="-122"/>
              </a:defRPr>
            </a:lvl9pPr>
          </a:lstStyle>
          <a:p>
            <a:pPr>
              <a:defRPr sz="1725" b="1">
                <a:solidFill>
                  <a:srgbClr val="111111"/>
                </a:solidFill>
                <a:latin typeface="微软雅黑" panose="020B0503020204020204" charset="-122"/>
                <a:ea typeface="微软雅黑" panose="020B0503020204020204" charset="-122"/>
                <a:cs typeface="微软雅黑" panose="020B0503020204020204" charset="-122"/>
              </a:defRPr>
            </a:pPr>
            <a:r>
              <a:rPr sz="1725" b="1">
                <a:solidFill>
                  <a:srgbClr val="111111"/>
                </a:solidFill>
                <a:latin typeface="微软雅黑" panose="020B0503020204020204" charset="-122"/>
                <a:ea typeface="微软雅黑" panose="020B0503020204020204" charset="-122"/>
                <a:cs typeface="微软雅黑" panose="020B0503020204020204" charset="-122"/>
              </a:rPr>
              <a:t>① 超限后减去平均超额</a:t>
            </a:r>
            <a:endParaRPr sz="1725" b="1">
              <a:solidFill>
                <a:srgbClr val="111111"/>
              </a:solidFill>
              <a:latin typeface="微软雅黑" panose="020B0503020204020204" charset="-122"/>
              <a:ea typeface="微软雅黑" panose="020B0503020204020204" charset="-122"/>
              <a:cs typeface="微软雅黑" panose="020B0503020204020204" charset="-122"/>
            </a:endParaRPr>
          </a:p>
        </p:txBody>
      </p:sp>
      <mc:AlternateContent xmlns:mc="http://schemas.openxmlformats.org/markup-compatibility/2006">
        <mc:Choice xmlns:a14="http://schemas.microsoft.com/office/drawing/2010/main" Requires="a14">
          <p:sp>
            <p:nvSpPr>
              <p:cNvPr id="6" name="EQ_l1_subtract"/>
              <p:cNvSpPr>
                <a:spLocks noGrp="1"/>
              </p:cNvSpPr>
              <p:nvPr/>
            </p:nvSpPr>
            <p:spPr>
              <a:xfrm>
                <a:off x="428625" y="2295525"/>
                <a:ext cx="7400925" cy="628650"/>
              </a:xfrm>
              <a:prstGeom prst="rect">
                <a:avLst/>
              </a:prstGeom>
              <a:noFill/>
              <a:ln w="0">
                <a:noFill/>
              </a:ln>
            </p:spPr>
            <p:txBody>
              <a:bodyPr wrap="square" lIns="0" tIns="0" rIns="0" bIns="0" anchor="t">
                <a:noAutofit/>
              </a:bodyPr>
              <a:lstStyle>
                <a:defPPr>
                  <a:defRPr sz="2175" b="0">
                    <a:solidFill>
                      <a:srgbClr val="000000"/>
                    </a:solidFill>
                    <a:latin typeface="Cambria Math" panose="02040503050406030204"/>
                    <a:ea typeface="Cambria Math" panose="02040503050406030204"/>
                    <a:cs typeface="Cambria Math" panose="02040503050406030204"/>
                  </a:defRPr>
                </a:defPPr>
                <a:lvl1pPr>
                  <a:defRPr sz="2175" b="0">
                    <a:solidFill>
                      <a:srgbClr val="000000"/>
                    </a:solidFill>
                    <a:latin typeface="Cambria Math" panose="02040503050406030204"/>
                    <a:ea typeface="Cambria Math" panose="02040503050406030204"/>
                    <a:cs typeface="Cambria Math" panose="02040503050406030204"/>
                  </a:defRPr>
                </a:lvl1pPr>
                <a:lvl2pPr>
                  <a:defRPr sz="2175" b="0">
                    <a:solidFill>
                      <a:srgbClr val="000000"/>
                    </a:solidFill>
                    <a:latin typeface="Cambria Math" panose="02040503050406030204"/>
                    <a:ea typeface="Cambria Math" panose="02040503050406030204"/>
                    <a:cs typeface="Cambria Math" panose="02040503050406030204"/>
                  </a:defRPr>
                </a:lvl2pPr>
                <a:lvl3pPr>
                  <a:defRPr sz="2175" b="0">
                    <a:solidFill>
                      <a:srgbClr val="000000"/>
                    </a:solidFill>
                    <a:latin typeface="Cambria Math" panose="02040503050406030204"/>
                    <a:ea typeface="Cambria Math" panose="02040503050406030204"/>
                    <a:cs typeface="Cambria Math" panose="02040503050406030204"/>
                  </a:defRPr>
                </a:lvl3pPr>
                <a:lvl4pPr>
                  <a:defRPr sz="2175" b="0">
                    <a:solidFill>
                      <a:srgbClr val="000000"/>
                    </a:solidFill>
                    <a:latin typeface="Cambria Math" panose="02040503050406030204"/>
                    <a:ea typeface="Cambria Math" panose="02040503050406030204"/>
                    <a:cs typeface="Cambria Math" panose="02040503050406030204"/>
                  </a:defRPr>
                </a:lvl4pPr>
                <a:lvl5pPr>
                  <a:defRPr sz="2175" b="0">
                    <a:solidFill>
                      <a:srgbClr val="000000"/>
                    </a:solidFill>
                    <a:latin typeface="Cambria Math" panose="02040503050406030204"/>
                    <a:ea typeface="Cambria Math" panose="02040503050406030204"/>
                    <a:cs typeface="Cambria Math" panose="02040503050406030204"/>
                  </a:defRPr>
                </a:lvl5pPr>
                <a:lvl6pPr>
                  <a:defRPr sz="2175" b="0">
                    <a:solidFill>
                      <a:srgbClr val="000000"/>
                    </a:solidFill>
                    <a:latin typeface="Cambria Math" panose="02040503050406030204"/>
                    <a:ea typeface="Cambria Math" panose="02040503050406030204"/>
                    <a:cs typeface="Cambria Math" panose="02040503050406030204"/>
                  </a:defRPr>
                </a:lvl6pPr>
                <a:lvl7pPr>
                  <a:defRPr sz="2175" b="0">
                    <a:solidFill>
                      <a:srgbClr val="000000"/>
                    </a:solidFill>
                    <a:latin typeface="Cambria Math" panose="02040503050406030204"/>
                    <a:ea typeface="Cambria Math" panose="02040503050406030204"/>
                    <a:cs typeface="Cambria Math" panose="02040503050406030204"/>
                  </a:defRPr>
                </a:lvl7pPr>
                <a:lvl8pPr>
                  <a:defRPr sz="2175" b="0">
                    <a:solidFill>
                      <a:srgbClr val="000000"/>
                    </a:solidFill>
                    <a:latin typeface="Cambria Math" panose="02040503050406030204"/>
                    <a:ea typeface="Cambria Math" panose="02040503050406030204"/>
                    <a:cs typeface="Cambria Math" panose="02040503050406030204"/>
                  </a:defRPr>
                </a:lvl8pPr>
                <a:lvl9pPr>
                  <a:defRPr sz="2175" b="0">
                    <a:solidFill>
                      <a:srgbClr val="000000"/>
                    </a:solidFill>
                    <a:latin typeface="Cambria Math" panose="02040503050406030204"/>
                    <a:ea typeface="Cambria Math" panose="02040503050406030204"/>
                    <a:cs typeface="Cambria Math" panose="02040503050406030204"/>
                  </a:defRPr>
                </a:lvl9pPr>
              </a:lstStyle>
              <a:p>
                <a14:m>
                  <m:oMathPara xmlns:m="http://schemas.openxmlformats.org/officeDocument/2006/math">
                    <m:oMathParaPr>
                      <m:jc m:val="left"/>
                    </m:oMathParaPr>
                    <m:oMath xmlns:m="http://schemas.openxmlformats.org/officeDocument/2006/math">
                      <m:sSubSup>
                        <m:sSubSupPr>
                          <m:ctrlPr>
                            <a:rPr/>
                          </m:ctrlPr>
                        </m:sSubSupPr>
                        <m:e>
                          <m:r>
                            <a:rPr lang="en-US" sz="2100">
                              <a:latin typeface="Cambria Math" panose="02040503050406030204"/>
                              <a:ea typeface="微软雅黑" panose="020B0503020204020204" charset="-122"/>
                            </a:rPr>
                            <m:t>𝑊</m:t>
                          </m:r>
                        </m:e>
                        <m:sub>
                          <m:r>
                            <a:rPr lang="en-US" sz="2100">
                              <a:latin typeface="Cambria Math" panose="02040503050406030204"/>
                              <a:ea typeface="微软雅黑" panose="020B0503020204020204" charset="-122"/>
                            </a:rPr>
                            <m:t>𝑗</m:t>
                          </m:r>
                          <m:r>
                            <a:rPr lang="en-US" sz="2100">
                              <a:latin typeface="Cambria Math" panose="02040503050406030204"/>
                              <a:ea typeface="微软雅黑" panose="020B0503020204020204" charset="-122"/>
                            </a:rPr>
                            <m:t>·</m:t>
                          </m:r>
                        </m:sub>
                        <m:sup>
                          <m:r>
                            <m:rPr>
                              <m:sty m:val="p"/>
                            </m:rPr>
                            <a:rPr lang="en-US" sz="2100">
                              <a:latin typeface="Cambria Math" panose="02040503050406030204"/>
                              <a:ea typeface="微软雅黑" panose="020B0503020204020204" charset="-122"/>
                            </a:rPr>
                            <m:t>AB</m:t>
                          </m:r>
                        </m:sup>
                      </m:sSubSup>
                      <m:r>
                        <a:rPr lang="en-US" sz="2100">
                          <a:latin typeface="Cambria Math" panose="02040503050406030204"/>
                          <a:ea typeface="微软雅黑" panose="020B0503020204020204" charset="-122"/>
                        </a:rPr>
                        <m:t>←</m:t>
                      </m:r>
                      <m:sSubSup>
                        <m:sSubSupPr>
                          <m:ctrlPr>
                            <a:rPr/>
                          </m:ctrlPr>
                        </m:sSubSupPr>
                        <m:e>
                          <m:r>
                            <a:rPr lang="en-US" sz="2100">
                              <a:latin typeface="Cambria Math" panose="02040503050406030204"/>
                              <a:ea typeface="微软雅黑" panose="020B0503020204020204" charset="-122"/>
                            </a:rPr>
                            <m:t>𝑊</m:t>
                          </m:r>
                        </m:e>
                        <m:sub>
                          <m:r>
                            <a:rPr lang="en-US" sz="2100">
                              <a:latin typeface="Cambria Math" panose="02040503050406030204"/>
                              <a:ea typeface="微软雅黑" panose="020B0503020204020204" charset="-122"/>
                            </a:rPr>
                            <m:t>𝑗</m:t>
                          </m:r>
                          <m:r>
                            <a:rPr lang="en-US" sz="2100">
                              <a:latin typeface="Cambria Math" panose="02040503050406030204"/>
                              <a:ea typeface="微软雅黑" panose="020B0503020204020204" charset="-122"/>
                            </a:rPr>
                            <m:t>·</m:t>
                          </m:r>
                        </m:sub>
                        <m:sup>
                          <m:r>
                            <m:rPr>
                              <m:sty m:val="p"/>
                            </m:rPr>
                            <a:rPr lang="en-US" sz="2100">
                              <a:latin typeface="Cambria Math" panose="02040503050406030204"/>
                              <a:ea typeface="微软雅黑" panose="020B0503020204020204" charset="-122"/>
                            </a:rPr>
                            <m:t>AB</m:t>
                          </m:r>
                        </m:sup>
                      </m:sSubSup>
                      <m:r>
                        <a:rPr lang="en-US" sz="2100">
                          <a:latin typeface="Cambria Math" panose="02040503050406030204"/>
                          <a:ea typeface="微软雅黑" panose="020B0503020204020204" charset="-122"/>
                        </a:rPr>
                        <m:t>−</m:t>
                      </m:r>
                      <m:f>
                        <m:fPr>
                          <m:ctrlPr>
                            <a:rPr/>
                          </m:ctrlPr>
                        </m:fPr>
                        <m:num>
                          <m:sSub>
                            <m:sSubPr>
                              <m:ctrlPr>
                                <a:rPr/>
                              </m:ctrlPr>
                            </m:sSubPr>
                            <m:e>
                              <m:d>
                                <m:dPr>
                                  <m:begChr m:val="‖"/>
                                  <m:sepChr m:val=""/>
                                  <m:endChr m:val="‖"/>
                                  <m:ctrlPr>
                                    <a:rPr/>
                                  </m:ctrlPr>
                                </m:dPr>
                                <m:e>
                                  <m:sSubSup>
                                    <m:sSubSupPr>
                                      <m:ctrlPr>
                                        <a:rPr/>
                                      </m:ctrlPr>
                                    </m:sSubSupPr>
                                    <m:e>
                                      <m:r>
                                        <a:rPr lang="en-US" sz="2100">
                                          <a:latin typeface="Cambria Math" panose="02040503050406030204"/>
                                          <a:ea typeface="微软雅黑" panose="020B0503020204020204" charset="-122"/>
                                        </a:rPr>
                                        <m:t>𝑊</m:t>
                                      </m:r>
                                    </m:e>
                                    <m:sub>
                                      <m:r>
                                        <a:rPr lang="en-US" sz="2100">
                                          <a:latin typeface="Cambria Math" panose="02040503050406030204"/>
                                          <a:ea typeface="微软雅黑" panose="020B0503020204020204" charset="-122"/>
                                        </a:rPr>
                                        <m:t>𝑗</m:t>
                                      </m:r>
                                      <m:r>
                                        <a:rPr lang="en-US" sz="2100">
                                          <a:latin typeface="Cambria Math" panose="02040503050406030204"/>
                                          <a:ea typeface="微软雅黑" panose="020B0503020204020204" charset="-122"/>
                                        </a:rPr>
                                        <m:t>·</m:t>
                                      </m:r>
                                    </m:sub>
                                    <m:sup>
                                      <m:r>
                                        <m:rPr>
                                          <m:sty m:val="p"/>
                                        </m:rPr>
                                        <a:rPr lang="en-US" sz="2100">
                                          <a:latin typeface="Cambria Math" panose="02040503050406030204"/>
                                          <a:ea typeface="微软雅黑" panose="020B0503020204020204" charset="-122"/>
                                        </a:rPr>
                                        <m:t>AB</m:t>
                                      </m:r>
                                    </m:sup>
                                  </m:sSubSup>
                                </m:e>
                              </m:d>
                            </m:e>
                            <m:sub>
                              <m:r>
                                <a:rPr lang="en-US" sz="2100">
                                  <a:latin typeface="Cambria Math" panose="02040503050406030204"/>
                                  <a:ea typeface="微软雅黑" panose="020B0503020204020204" charset="-122"/>
                                </a:rPr>
                                <m:t>1</m:t>
                              </m:r>
                            </m:sub>
                          </m:sSub>
                          <m:r>
                            <a:rPr lang="en-US" sz="2100">
                              <a:latin typeface="Cambria Math" panose="02040503050406030204"/>
                              <a:ea typeface="微软雅黑" panose="020B0503020204020204" charset="-122"/>
                            </a:rPr>
                            <m:t>−</m:t>
                          </m:r>
                          <m:sSubSup>
                            <m:sSubSupPr>
                              <m:ctrlPr>
                                <a:rPr/>
                              </m:ctrlPr>
                            </m:sSubSupPr>
                            <m:e>
                              <m:r>
                                <a:rPr lang="en-US" sz="2100">
                                  <a:latin typeface="Cambria Math" panose="02040503050406030204"/>
                                  <a:ea typeface="微软雅黑" panose="020B0503020204020204" charset="-122"/>
                                </a:rPr>
                                <m:t>ℓ</m:t>
                              </m:r>
                            </m:e>
                            <m:sub>
                              <m:r>
                                <a:rPr lang="en-US" sz="2100">
                                  <a:latin typeface="Cambria Math" panose="02040503050406030204"/>
                                  <a:ea typeface="微软雅黑" panose="020B0503020204020204" charset="-122"/>
                                </a:rPr>
                                <m:t>1</m:t>
                              </m:r>
                            </m:sub>
                            <m:sup>
                              <m:r>
                                <m:rPr>
                                  <m:sty m:val="p"/>
                                </m:rPr>
                                <a:rPr lang="en-US" sz="2100">
                                  <a:latin typeface="Cambria Math" panose="02040503050406030204"/>
                                  <a:ea typeface="微软雅黑" panose="020B0503020204020204" charset="-122"/>
                                </a:rPr>
                                <m:t>AB</m:t>
                              </m:r>
                            </m:sup>
                          </m:sSubSup>
                        </m:num>
                        <m:den>
                          <m:sSup>
                            <m:sSupPr>
                              <m:ctrlPr>
                                <a:rPr/>
                              </m:ctrlPr>
                            </m:sSupPr>
                            <m:e>
                              <m:r>
                                <a:rPr lang="en-US" sz="2100">
                                  <a:latin typeface="Cambria Math" panose="02040503050406030204"/>
                                  <a:ea typeface="微软雅黑" panose="020B0503020204020204" charset="-122"/>
                                </a:rPr>
                                <m:t>𝑁</m:t>
                              </m:r>
                            </m:e>
                            <m:sup>
                              <m:r>
                                <a:rPr lang="en-US" sz="2100">
                                  <a:latin typeface="Cambria Math" panose="02040503050406030204"/>
                                  <a:ea typeface="微软雅黑" panose="020B0503020204020204" charset="-122"/>
                                </a:rPr>
                                <m:t>𝐵</m:t>
                              </m:r>
                            </m:sup>
                          </m:sSup>
                        </m:den>
                      </m:f>
                    </m:oMath>
                  </m:oMathPara>
                </a14:m>
                <a:endParaRPr lang="en-US" sz="2100"/>
              </a:p>
            </p:txBody>
          </p:sp>
        </mc:Choice>
        <mc:Fallback>
          <p:sp>
            <p:nvSpPr>
              <p:cNvPr id="6" name="EQ_l1_subtract"/>
              <p:cNvSpPr>
                <a:spLocks noRot="1" noChangeAspect="1" noMove="1" noResize="1" noEditPoints="1" noAdjustHandles="1" noChangeArrowheads="1" noChangeShapeType="1" noTextEdit="1"/>
              </p:cNvSpPr>
              <p:nvPr/>
            </p:nvSpPr>
            <p:spPr>
              <a:xfrm>
                <a:off x="428625" y="2295525"/>
                <a:ext cx="7400925" cy="628650"/>
              </a:xfrm>
              <a:prstGeom prst="rect">
                <a:avLst/>
              </a:prstGeom>
              <a:blipFill rotWithShape="1">
                <a:blip r:embed="rId2"/>
                <a:stretch>
                  <a:fillRect b="-16667"/>
                </a:stretch>
              </a:blipFill>
              <a:ln w="0">
                <a:noFill/>
              </a:ln>
            </p:spPr>
            <p:txBody>
              <a:bodyPr/>
              <a:lstStyle/>
              <a:p>
                <a:r>
                  <a:rPr lang="zh-CN" altLang="en-US">
                    <a:noFill/>
                  </a:rPr>
                  <a:t> </a:t>
                </a:r>
              </a:p>
            </p:txBody>
          </p:sp>
        </mc:Fallback>
      </mc:AlternateContent>
      <p:sp>
        <p:nvSpPr>
          <p:cNvPr id="7" name="② 负权重截断为0"/>
          <p:cNvSpPr>
            <a:spLocks noGrp="1"/>
          </p:cNvSpPr>
          <p:nvPr/>
        </p:nvSpPr>
        <p:spPr>
          <a:xfrm>
            <a:off x="419100" y="3095625"/>
            <a:ext cx="4095750" cy="323850"/>
          </a:xfrm>
          <a:prstGeom prst="rect">
            <a:avLst/>
          </a:prstGeom>
          <a:noFill/>
          <a:ln w="0">
            <a:noFill/>
          </a:ln>
        </p:spPr>
        <p:txBody>
          <a:bodyPr wrap="square" lIns="0" tIns="0" rIns="0" bIns="0" anchor="t">
            <a:noAutofit/>
          </a:bodyPr>
          <a:lstStyle>
            <a:defPPr>
              <a:defRPr sz="1725" b="1">
                <a:solidFill>
                  <a:srgbClr val="111111"/>
                </a:solidFill>
                <a:latin typeface="微软雅黑" panose="020B0503020204020204" charset="-122"/>
                <a:ea typeface="微软雅黑" panose="020B0503020204020204" charset="-122"/>
                <a:cs typeface="微软雅黑" panose="020B0503020204020204" charset="-122"/>
              </a:defRPr>
            </a:defPPr>
            <a:lvl1pPr>
              <a:defRPr sz="1725" b="1">
                <a:solidFill>
                  <a:srgbClr val="111111"/>
                </a:solidFill>
                <a:latin typeface="微软雅黑" panose="020B0503020204020204" charset="-122"/>
                <a:ea typeface="微软雅黑" panose="020B0503020204020204" charset="-122"/>
                <a:cs typeface="微软雅黑" panose="020B0503020204020204" charset="-122"/>
              </a:defRPr>
            </a:lvl1pPr>
            <a:lvl2pPr>
              <a:defRPr sz="1725" b="1">
                <a:solidFill>
                  <a:srgbClr val="111111"/>
                </a:solidFill>
                <a:latin typeface="微软雅黑" panose="020B0503020204020204" charset="-122"/>
                <a:ea typeface="微软雅黑" panose="020B0503020204020204" charset="-122"/>
                <a:cs typeface="微软雅黑" panose="020B0503020204020204" charset="-122"/>
              </a:defRPr>
            </a:lvl2pPr>
            <a:lvl3pPr>
              <a:defRPr sz="1725" b="1">
                <a:solidFill>
                  <a:srgbClr val="111111"/>
                </a:solidFill>
                <a:latin typeface="微软雅黑" panose="020B0503020204020204" charset="-122"/>
                <a:ea typeface="微软雅黑" panose="020B0503020204020204" charset="-122"/>
                <a:cs typeface="微软雅黑" panose="020B0503020204020204" charset="-122"/>
              </a:defRPr>
            </a:lvl3pPr>
            <a:lvl4pPr>
              <a:defRPr sz="1725" b="1">
                <a:solidFill>
                  <a:srgbClr val="111111"/>
                </a:solidFill>
                <a:latin typeface="微软雅黑" panose="020B0503020204020204" charset="-122"/>
                <a:ea typeface="微软雅黑" panose="020B0503020204020204" charset="-122"/>
                <a:cs typeface="微软雅黑" panose="020B0503020204020204" charset="-122"/>
              </a:defRPr>
            </a:lvl4pPr>
            <a:lvl5pPr>
              <a:defRPr sz="1725" b="1">
                <a:solidFill>
                  <a:srgbClr val="111111"/>
                </a:solidFill>
                <a:latin typeface="微软雅黑" panose="020B0503020204020204" charset="-122"/>
                <a:ea typeface="微软雅黑" panose="020B0503020204020204" charset="-122"/>
                <a:cs typeface="微软雅黑" panose="020B0503020204020204" charset="-122"/>
              </a:defRPr>
            </a:lvl5pPr>
            <a:lvl6pPr>
              <a:defRPr sz="1725" b="1">
                <a:solidFill>
                  <a:srgbClr val="111111"/>
                </a:solidFill>
                <a:latin typeface="微软雅黑" panose="020B0503020204020204" charset="-122"/>
                <a:ea typeface="微软雅黑" panose="020B0503020204020204" charset="-122"/>
                <a:cs typeface="微软雅黑" panose="020B0503020204020204" charset="-122"/>
              </a:defRPr>
            </a:lvl6pPr>
            <a:lvl7pPr>
              <a:defRPr sz="1725" b="1">
                <a:solidFill>
                  <a:srgbClr val="111111"/>
                </a:solidFill>
                <a:latin typeface="微软雅黑" panose="020B0503020204020204" charset="-122"/>
                <a:ea typeface="微软雅黑" panose="020B0503020204020204" charset="-122"/>
                <a:cs typeface="微软雅黑" panose="020B0503020204020204" charset="-122"/>
              </a:defRPr>
            </a:lvl7pPr>
            <a:lvl8pPr>
              <a:defRPr sz="1725" b="1">
                <a:solidFill>
                  <a:srgbClr val="111111"/>
                </a:solidFill>
                <a:latin typeface="微软雅黑" panose="020B0503020204020204" charset="-122"/>
                <a:ea typeface="微软雅黑" panose="020B0503020204020204" charset="-122"/>
                <a:cs typeface="微软雅黑" panose="020B0503020204020204" charset="-122"/>
              </a:defRPr>
            </a:lvl8pPr>
            <a:lvl9pPr>
              <a:defRPr sz="1725" b="1">
                <a:solidFill>
                  <a:srgbClr val="111111"/>
                </a:solidFill>
                <a:latin typeface="微软雅黑" panose="020B0503020204020204" charset="-122"/>
                <a:ea typeface="微软雅黑" panose="020B0503020204020204" charset="-122"/>
                <a:cs typeface="微软雅黑" panose="020B0503020204020204" charset="-122"/>
              </a:defRPr>
            </a:lvl9pPr>
          </a:lstStyle>
          <a:p>
            <a:pPr>
              <a:defRPr sz="1725" b="1">
                <a:solidFill>
                  <a:srgbClr val="111111"/>
                </a:solidFill>
                <a:latin typeface="微软雅黑" panose="020B0503020204020204" charset="-122"/>
                <a:ea typeface="微软雅黑" panose="020B0503020204020204" charset="-122"/>
                <a:cs typeface="微软雅黑" panose="020B0503020204020204" charset="-122"/>
              </a:defRPr>
            </a:pPr>
            <a:r>
              <a:rPr sz="1725" b="1">
                <a:solidFill>
                  <a:srgbClr val="111111"/>
                </a:solidFill>
                <a:latin typeface="微软雅黑" panose="020B0503020204020204" charset="-122"/>
                <a:ea typeface="微软雅黑" panose="020B0503020204020204" charset="-122"/>
                <a:cs typeface="微软雅黑" panose="020B0503020204020204" charset="-122"/>
              </a:rPr>
              <a:t>② 负权重截断为0</a:t>
            </a:r>
            <a:endParaRPr sz="1725" b="1">
              <a:solidFill>
                <a:srgbClr val="111111"/>
              </a:solidFill>
              <a:latin typeface="微软雅黑" panose="020B0503020204020204" charset="-122"/>
              <a:ea typeface="微软雅黑" panose="020B0503020204020204" charset="-122"/>
              <a:cs typeface="微软雅黑" panose="020B0503020204020204" charset="-122"/>
            </a:endParaRPr>
          </a:p>
        </p:txBody>
      </p:sp>
      <mc:AlternateContent xmlns:mc="http://schemas.openxmlformats.org/markup-compatibility/2006">
        <mc:Choice xmlns:a14="http://schemas.microsoft.com/office/drawing/2010/main" Requires="a14">
          <p:sp>
            <p:nvSpPr>
              <p:cNvPr id="8" name="EQ_weight_clip"/>
              <p:cNvSpPr>
                <a:spLocks noGrp="1"/>
              </p:cNvSpPr>
              <p:nvPr/>
            </p:nvSpPr>
            <p:spPr>
              <a:xfrm>
                <a:off x="428625" y="3514725"/>
                <a:ext cx="7400925" cy="571500"/>
              </a:xfrm>
              <a:prstGeom prst="rect">
                <a:avLst/>
              </a:prstGeom>
              <a:noFill/>
              <a:ln w="0">
                <a:noFill/>
              </a:ln>
            </p:spPr>
            <p:txBody>
              <a:bodyPr wrap="square" lIns="0" tIns="0" rIns="0" bIns="0" anchor="t">
                <a:noAutofit/>
              </a:bodyPr>
              <a:lstStyle>
                <a:defPPr>
                  <a:defRPr sz="2175" b="0">
                    <a:solidFill>
                      <a:srgbClr val="000000"/>
                    </a:solidFill>
                    <a:latin typeface="Cambria Math" panose="02040503050406030204"/>
                    <a:ea typeface="Cambria Math" panose="02040503050406030204"/>
                    <a:cs typeface="Cambria Math" panose="02040503050406030204"/>
                  </a:defRPr>
                </a:defPPr>
                <a:lvl1pPr>
                  <a:defRPr sz="2175" b="0">
                    <a:solidFill>
                      <a:srgbClr val="000000"/>
                    </a:solidFill>
                    <a:latin typeface="Cambria Math" panose="02040503050406030204"/>
                    <a:ea typeface="Cambria Math" panose="02040503050406030204"/>
                    <a:cs typeface="Cambria Math" panose="02040503050406030204"/>
                  </a:defRPr>
                </a:lvl1pPr>
                <a:lvl2pPr>
                  <a:defRPr sz="2175" b="0">
                    <a:solidFill>
                      <a:srgbClr val="000000"/>
                    </a:solidFill>
                    <a:latin typeface="Cambria Math" panose="02040503050406030204"/>
                    <a:ea typeface="Cambria Math" panose="02040503050406030204"/>
                    <a:cs typeface="Cambria Math" panose="02040503050406030204"/>
                  </a:defRPr>
                </a:lvl2pPr>
                <a:lvl3pPr>
                  <a:defRPr sz="2175" b="0">
                    <a:solidFill>
                      <a:srgbClr val="000000"/>
                    </a:solidFill>
                    <a:latin typeface="Cambria Math" panose="02040503050406030204"/>
                    <a:ea typeface="Cambria Math" panose="02040503050406030204"/>
                    <a:cs typeface="Cambria Math" panose="02040503050406030204"/>
                  </a:defRPr>
                </a:lvl3pPr>
                <a:lvl4pPr>
                  <a:defRPr sz="2175" b="0">
                    <a:solidFill>
                      <a:srgbClr val="000000"/>
                    </a:solidFill>
                    <a:latin typeface="Cambria Math" panose="02040503050406030204"/>
                    <a:ea typeface="Cambria Math" panose="02040503050406030204"/>
                    <a:cs typeface="Cambria Math" panose="02040503050406030204"/>
                  </a:defRPr>
                </a:lvl4pPr>
                <a:lvl5pPr>
                  <a:defRPr sz="2175" b="0">
                    <a:solidFill>
                      <a:srgbClr val="000000"/>
                    </a:solidFill>
                    <a:latin typeface="Cambria Math" panose="02040503050406030204"/>
                    <a:ea typeface="Cambria Math" panose="02040503050406030204"/>
                    <a:cs typeface="Cambria Math" panose="02040503050406030204"/>
                  </a:defRPr>
                </a:lvl5pPr>
                <a:lvl6pPr>
                  <a:defRPr sz="2175" b="0">
                    <a:solidFill>
                      <a:srgbClr val="000000"/>
                    </a:solidFill>
                    <a:latin typeface="Cambria Math" panose="02040503050406030204"/>
                    <a:ea typeface="Cambria Math" panose="02040503050406030204"/>
                    <a:cs typeface="Cambria Math" panose="02040503050406030204"/>
                  </a:defRPr>
                </a:lvl6pPr>
                <a:lvl7pPr>
                  <a:defRPr sz="2175" b="0">
                    <a:solidFill>
                      <a:srgbClr val="000000"/>
                    </a:solidFill>
                    <a:latin typeface="Cambria Math" panose="02040503050406030204"/>
                    <a:ea typeface="Cambria Math" panose="02040503050406030204"/>
                    <a:cs typeface="Cambria Math" panose="02040503050406030204"/>
                  </a:defRPr>
                </a:lvl7pPr>
                <a:lvl8pPr>
                  <a:defRPr sz="2175" b="0">
                    <a:solidFill>
                      <a:srgbClr val="000000"/>
                    </a:solidFill>
                    <a:latin typeface="Cambria Math" panose="02040503050406030204"/>
                    <a:ea typeface="Cambria Math" panose="02040503050406030204"/>
                    <a:cs typeface="Cambria Math" panose="02040503050406030204"/>
                  </a:defRPr>
                </a:lvl8pPr>
                <a:lvl9pPr>
                  <a:defRPr sz="2175" b="0">
                    <a:solidFill>
                      <a:srgbClr val="000000"/>
                    </a:solidFill>
                    <a:latin typeface="Cambria Math" panose="02040503050406030204"/>
                    <a:ea typeface="Cambria Math" panose="02040503050406030204"/>
                    <a:cs typeface="Cambria Math" panose="02040503050406030204"/>
                  </a:defRPr>
                </a:lvl9pPr>
              </a:lstStyle>
              <a:p>
                <a14:m>
                  <m:oMathPara xmlns:m="http://schemas.openxmlformats.org/officeDocument/2006/math">
                    <m:oMathParaPr>
                      <m:jc m:val="left"/>
                    </m:oMathParaPr>
                    <m:oMath xmlns:m="http://schemas.openxmlformats.org/officeDocument/2006/math">
                      <m:sSubSup>
                        <m:sSubSupPr>
                          <m:ctrlPr>
                            <a:rPr/>
                          </m:ctrlPr>
                        </m:sSubSupPr>
                        <m:e>
                          <m:r>
                            <a:rPr lang="en-US" sz="2100">
                              <a:latin typeface="Cambria Math" panose="02040503050406030204"/>
                              <a:ea typeface="微软雅黑" panose="020B0503020204020204" charset="-122"/>
                            </a:rPr>
                            <m:t>𝑊</m:t>
                          </m:r>
                        </m:e>
                        <m:sub>
                          <m:r>
                            <a:rPr lang="en-US" sz="2100">
                              <a:latin typeface="Cambria Math" panose="02040503050406030204"/>
                              <a:ea typeface="微软雅黑" panose="020B0503020204020204" charset="-122"/>
                            </a:rPr>
                            <m:t>𝑗𝑖</m:t>
                          </m:r>
                        </m:sub>
                        <m:sup>
                          <m:r>
                            <m:rPr>
                              <m:sty m:val="p"/>
                            </m:rPr>
                            <a:rPr lang="en-US" sz="2100">
                              <a:latin typeface="Cambria Math" panose="02040503050406030204"/>
                              <a:ea typeface="微软雅黑" panose="020B0503020204020204" charset="-122"/>
                            </a:rPr>
                            <m:t>AB</m:t>
                          </m:r>
                        </m:sup>
                      </m:sSubSup>
                      <m:r>
                        <a:rPr lang="en-US" sz="2100">
                          <a:latin typeface="Cambria Math" panose="02040503050406030204"/>
                          <a:ea typeface="微软雅黑" panose="020B0503020204020204" charset="-122"/>
                        </a:rPr>
                        <m:t>←</m:t>
                      </m:r>
                      <m:r>
                        <m:rPr>
                          <m:sty m:val="p"/>
                        </m:rPr>
                        <a:rPr lang="en-US" sz="2100">
                          <a:latin typeface="Cambria Math" panose="02040503050406030204"/>
                          <a:ea typeface="微软雅黑" panose="020B0503020204020204" charset="-122"/>
                        </a:rPr>
                        <m:t>max</m:t>
                      </m:r>
                      <m:d>
                        <m:dPr>
                          <m:sepChr m:val=""/>
                          <m:ctrlPr>
                            <a:rPr/>
                          </m:ctrlPr>
                        </m:dPr>
                        <m:e>
                          <m:sSubSup>
                            <m:sSubSupPr>
                              <m:ctrlPr>
                                <a:rPr/>
                              </m:ctrlPr>
                            </m:sSubSupPr>
                            <m:e>
                              <m:r>
                                <a:rPr lang="en-US" sz="2100">
                                  <a:latin typeface="Cambria Math" panose="02040503050406030204"/>
                                  <a:ea typeface="微软雅黑" panose="020B0503020204020204" charset="-122"/>
                                </a:rPr>
                                <m:t>𝑊</m:t>
                              </m:r>
                            </m:e>
                            <m:sub>
                              <m:r>
                                <a:rPr lang="en-US" sz="2100">
                                  <a:latin typeface="Cambria Math" panose="02040503050406030204"/>
                                  <a:ea typeface="微软雅黑" panose="020B0503020204020204" charset="-122"/>
                                </a:rPr>
                                <m:t>𝑗𝑖</m:t>
                              </m:r>
                            </m:sub>
                            <m:sup>
                              <m:r>
                                <m:rPr>
                                  <m:sty m:val="p"/>
                                </m:rPr>
                                <a:rPr lang="en-US" sz="2100">
                                  <a:latin typeface="Cambria Math" panose="02040503050406030204"/>
                                  <a:ea typeface="微软雅黑" panose="020B0503020204020204" charset="-122"/>
                                </a:rPr>
                                <m:t>AB</m:t>
                              </m:r>
                            </m:sup>
                          </m:sSubSup>
                          <m:r>
                            <a:rPr lang="en-US" sz="2100">
                              <a:latin typeface="Cambria Math" panose="02040503050406030204"/>
                              <a:ea typeface="微软雅黑" panose="020B0503020204020204" charset="-122"/>
                            </a:rPr>
                            <m:t>,</m:t>
                          </m:r>
                          <m:r>
                            <a:rPr lang="en-US" sz="2100">
                              <a:latin typeface="Cambria Math" panose="02040503050406030204"/>
                              <a:ea typeface="微软雅黑" panose="020B0503020204020204" charset="-122"/>
                            </a:rPr>
                            <m:t>0</m:t>
                          </m:r>
                        </m:e>
                      </m:d>
                    </m:oMath>
                  </m:oMathPara>
                </a14:m>
                <a:endParaRPr lang="en-US" sz="2100"/>
              </a:p>
            </p:txBody>
          </p:sp>
        </mc:Choice>
        <mc:Fallback>
          <p:sp>
            <p:nvSpPr>
              <p:cNvPr id="8" name="EQ_weight_clip"/>
              <p:cNvSpPr>
                <a:spLocks noRot="1" noChangeAspect="1" noMove="1" noResize="1" noEditPoints="1" noAdjustHandles="1" noChangeArrowheads="1" noChangeShapeType="1" noTextEdit="1"/>
              </p:cNvSpPr>
              <p:nvPr/>
            </p:nvSpPr>
            <p:spPr>
              <a:xfrm>
                <a:off x="428625" y="3514725"/>
                <a:ext cx="7400925" cy="571500"/>
              </a:xfrm>
              <a:prstGeom prst="rect">
                <a:avLst/>
              </a:prstGeom>
              <a:blipFill rotWithShape="1">
                <a:blip r:embed="rId3"/>
                <a:stretch>
                  <a:fillRect/>
                </a:stretch>
              </a:blipFill>
              <a:ln w="0">
                <a:noFill/>
              </a:ln>
            </p:spPr>
            <p:txBody>
              <a:bodyPr/>
              <a:lstStyle/>
              <a:p>
                <a:r>
                  <a:rPr lang="zh-CN" altLang="en-US">
                    <a:noFill/>
                  </a:rPr>
                  <a:t> </a:t>
                </a:r>
              </a:p>
            </p:txBody>
          </p:sp>
        </mc:Fallback>
      </mc:AlternateContent>
      <p:sp>
        <p:nvSpPr>
          <p:cNvPr id="9" name="③ 乘法归一化到上限"/>
          <p:cNvSpPr>
            <a:spLocks noGrp="1"/>
          </p:cNvSpPr>
          <p:nvPr/>
        </p:nvSpPr>
        <p:spPr>
          <a:xfrm>
            <a:off x="419100" y="4295775"/>
            <a:ext cx="4095750" cy="323850"/>
          </a:xfrm>
          <a:prstGeom prst="rect">
            <a:avLst/>
          </a:prstGeom>
          <a:noFill/>
          <a:ln w="0">
            <a:noFill/>
          </a:ln>
        </p:spPr>
        <p:txBody>
          <a:bodyPr wrap="square" lIns="0" tIns="0" rIns="0" bIns="0" anchor="t">
            <a:noAutofit/>
          </a:bodyPr>
          <a:lstStyle>
            <a:defPPr>
              <a:defRPr sz="1725" b="1">
                <a:solidFill>
                  <a:srgbClr val="111111"/>
                </a:solidFill>
                <a:latin typeface="微软雅黑" panose="020B0503020204020204" charset="-122"/>
                <a:ea typeface="微软雅黑" panose="020B0503020204020204" charset="-122"/>
                <a:cs typeface="微软雅黑" panose="020B0503020204020204" charset="-122"/>
              </a:defRPr>
            </a:defPPr>
            <a:lvl1pPr>
              <a:defRPr sz="1725" b="1">
                <a:solidFill>
                  <a:srgbClr val="111111"/>
                </a:solidFill>
                <a:latin typeface="微软雅黑" panose="020B0503020204020204" charset="-122"/>
                <a:ea typeface="微软雅黑" panose="020B0503020204020204" charset="-122"/>
                <a:cs typeface="微软雅黑" panose="020B0503020204020204" charset="-122"/>
              </a:defRPr>
            </a:lvl1pPr>
            <a:lvl2pPr>
              <a:defRPr sz="1725" b="1">
                <a:solidFill>
                  <a:srgbClr val="111111"/>
                </a:solidFill>
                <a:latin typeface="微软雅黑" panose="020B0503020204020204" charset="-122"/>
                <a:ea typeface="微软雅黑" panose="020B0503020204020204" charset="-122"/>
                <a:cs typeface="微软雅黑" panose="020B0503020204020204" charset="-122"/>
              </a:defRPr>
            </a:lvl2pPr>
            <a:lvl3pPr>
              <a:defRPr sz="1725" b="1">
                <a:solidFill>
                  <a:srgbClr val="111111"/>
                </a:solidFill>
                <a:latin typeface="微软雅黑" panose="020B0503020204020204" charset="-122"/>
                <a:ea typeface="微软雅黑" panose="020B0503020204020204" charset="-122"/>
                <a:cs typeface="微软雅黑" panose="020B0503020204020204" charset="-122"/>
              </a:defRPr>
            </a:lvl3pPr>
            <a:lvl4pPr>
              <a:defRPr sz="1725" b="1">
                <a:solidFill>
                  <a:srgbClr val="111111"/>
                </a:solidFill>
                <a:latin typeface="微软雅黑" panose="020B0503020204020204" charset="-122"/>
                <a:ea typeface="微软雅黑" panose="020B0503020204020204" charset="-122"/>
                <a:cs typeface="微软雅黑" panose="020B0503020204020204" charset="-122"/>
              </a:defRPr>
            </a:lvl4pPr>
            <a:lvl5pPr>
              <a:defRPr sz="1725" b="1">
                <a:solidFill>
                  <a:srgbClr val="111111"/>
                </a:solidFill>
                <a:latin typeface="微软雅黑" panose="020B0503020204020204" charset="-122"/>
                <a:ea typeface="微软雅黑" panose="020B0503020204020204" charset="-122"/>
                <a:cs typeface="微软雅黑" panose="020B0503020204020204" charset="-122"/>
              </a:defRPr>
            </a:lvl5pPr>
            <a:lvl6pPr>
              <a:defRPr sz="1725" b="1">
                <a:solidFill>
                  <a:srgbClr val="111111"/>
                </a:solidFill>
                <a:latin typeface="微软雅黑" panose="020B0503020204020204" charset="-122"/>
                <a:ea typeface="微软雅黑" panose="020B0503020204020204" charset="-122"/>
                <a:cs typeface="微软雅黑" panose="020B0503020204020204" charset="-122"/>
              </a:defRPr>
            </a:lvl6pPr>
            <a:lvl7pPr>
              <a:defRPr sz="1725" b="1">
                <a:solidFill>
                  <a:srgbClr val="111111"/>
                </a:solidFill>
                <a:latin typeface="微软雅黑" panose="020B0503020204020204" charset="-122"/>
                <a:ea typeface="微软雅黑" panose="020B0503020204020204" charset="-122"/>
                <a:cs typeface="微软雅黑" panose="020B0503020204020204" charset="-122"/>
              </a:defRPr>
            </a:lvl7pPr>
            <a:lvl8pPr>
              <a:defRPr sz="1725" b="1">
                <a:solidFill>
                  <a:srgbClr val="111111"/>
                </a:solidFill>
                <a:latin typeface="微软雅黑" panose="020B0503020204020204" charset="-122"/>
                <a:ea typeface="微软雅黑" panose="020B0503020204020204" charset="-122"/>
                <a:cs typeface="微软雅黑" panose="020B0503020204020204" charset="-122"/>
              </a:defRPr>
            </a:lvl8pPr>
            <a:lvl9pPr>
              <a:defRPr sz="1725" b="1">
                <a:solidFill>
                  <a:srgbClr val="111111"/>
                </a:solidFill>
                <a:latin typeface="微软雅黑" panose="020B0503020204020204" charset="-122"/>
                <a:ea typeface="微软雅黑" panose="020B0503020204020204" charset="-122"/>
                <a:cs typeface="微软雅黑" panose="020B0503020204020204" charset="-122"/>
              </a:defRPr>
            </a:lvl9pPr>
          </a:lstStyle>
          <a:p>
            <a:pPr>
              <a:defRPr sz="1725" b="1">
                <a:solidFill>
                  <a:srgbClr val="111111"/>
                </a:solidFill>
                <a:latin typeface="微软雅黑" panose="020B0503020204020204" charset="-122"/>
                <a:ea typeface="微软雅黑" panose="020B0503020204020204" charset="-122"/>
                <a:cs typeface="微软雅黑" panose="020B0503020204020204" charset="-122"/>
              </a:defRPr>
            </a:pPr>
            <a:r>
              <a:rPr sz="1725" b="1">
                <a:solidFill>
                  <a:srgbClr val="111111"/>
                </a:solidFill>
                <a:latin typeface="微软雅黑" panose="020B0503020204020204" charset="-122"/>
                <a:ea typeface="微软雅黑" panose="020B0503020204020204" charset="-122"/>
                <a:cs typeface="微软雅黑" panose="020B0503020204020204" charset="-122"/>
              </a:rPr>
              <a:t>③ 乘法归一化到上限</a:t>
            </a:r>
            <a:endParaRPr sz="1725" b="1">
              <a:solidFill>
                <a:srgbClr val="111111"/>
              </a:solidFill>
              <a:latin typeface="微软雅黑" panose="020B0503020204020204" charset="-122"/>
              <a:ea typeface="微软雅黑" panose="020B0503020204020204" charset="-122"/>
              <a:cs typeface="微软雅黑" panose="020B0503020204020204" charset="-122"/>
            </a:endParaRPr>
          </a:p>
        </p:txBody>
      </p:sp>
      <mc:AlternateContent xmlns:mc="http://schemas.openxmlformats.org/markup-compatibility/2006">
        <mc:Choice xmlns:a14="http://schemas.microsoft.com/office/drawing/2010/main" Requires="a14">
          <p:sp>
            <p:nvSpPr>
              <p:cNvPr id="10" name="EQ_l1_multiply"/>
              <p:cNvSpPr>
                <a:spLocks noGrp="1"/>
              </p:cNvSpPr>
              <p:nvPr/>
            </p:nvSpPr>
            <p:spPr>
              <a:xfrm>
                <a:off x="428625" y="4695825"/>
                <a:ext cx="7400925" cy="581025"/>
              </a:xfrm>
              <a:prstGeom prst="rect">
                <a:avLst/>
              </a:prstGeom>
              <a:noFill/>
              <a:ln w="0">
                <a:noFill/>
              </a:ln>
            </p:spPr>
            <p:txBody>
              <a:bodyPr wrap="square" lIns="0" tIns="0" rIns="0" bIns="0" anchor="t">
                <a:noAutofit/>
              </a:bodyPr>
              <a:lstStyle>
                <a:defPPr>
                  <a:defRPr sz="2175" b="0">
                    <a:solidFill>
                      <a:srgbClr val="000000"/>
                    </a:solidFill>
                    <a:latin typeface="Cambria Math" panose="02040503050406030204"/>
                    <a:ea typeface="Cambria Math" panose="02040503050406030204"/>
                    <a:cs typeface="Cambria Math" panose="02040503050406030204"/>
                  </a:defRPr>
                </a:defPPr>
                <a:lvl1pPr>
                  <a:defRPr sz="2175" b="0">
                    <a:solidFill>
                      <a:srgbClr val="000000"/>
                    </a:solidFill>
                    <a:latin typeface="Cambria Math" panose="02040503050406030204"/>
                    <a:ea typeface="Cambria Math" panose="02040503050406030204"/>
                    <a:cs typeface="Cambria Math" panose="02040503050406030204"/>
                  </a:defRPr>
                </a:lvl1pPr>
                <a:lvl2pPr>
                  <a:defRPr sz="2175" b="0">
                    <a:solidFill>
                      <a:srgbClr val="000000"/>
                    </a:solidFill>
                    <a:latin typeface="Cambria Math" panose="02040503050406030204"/>
                    <a:ea typeface="Cambria Math" panose="02040503050406030204"/>
                    <a:cs typeface="Cambria Math" panose="02040503050406030204"/>
                  </a:defRPr>
                </a:lvl2pPr>
                <a:lvl3pPr>
                  <a:defRPr sz="2175" b="0">
                    <a:solidFill>
                      <a:srgbClr val="000000"/>
                    </a:solidFill>
                    <a:latin typeface="Cambria Math" panose="02040503050406030204"/>
                    <a:ea typeface="Cambria Math" panose="02040503050406030204"/>
                    <a:cs typeface="Cambria Math" panose="02040503050406030204"/>
                  </a:defRPr>
                </a:lvl3pPr>
                <a:lvl4pPr>
                  <a:defRPr sz="2175" b="0">
                    <a:solidFill>
                      <a:srgbClr val="000000"/>
                    </a:solidFill>
                    <a:latin typeface="Cambria Math" panose="02040503050406030204"/>
                    <a:ea typeface="Cambria Math" panose="02040503050406030204"/>
                    <a:cs typeface="Cambria Math" panose="02040503050406030204"/>
                  </a:defRPr>
                </a:lvl4pPr>
                <a:lvl5pPr>
                  <a:defRPr sz="2175" b="0">
                    <a:solidFill>
                      <a:srgbClr val="000000"/>
                    </a:solidFill>
                    <a:latin typeface="Cambria Math" panose="02040503050406030204"/>
                    <a:ea typeface="Cambria Math" panose="02040503050406030204"/>
                    <a:cs typeface="Cambria Math" panose="02040503050406030204"/>
                  </a:defRPr>
                </a:lvl5pPr>
                <a:lvl6pPr>
                  <a:defRPr sz="2175" b="0">
                    <a:solidFill>
                      <a:srgbClr val="000000"/>
                    </a:solidFill>
                    <a:latin typeface="Cambria Math" panose="02040503050406030204"/>
                    <a:ea typeface="Cambria Math" panose="02040503050406030204"/>
                    <a:cs typeface="Cambria Math" panose="02040503050406030204"/>
                  </a:defRPr>
                </a:lvl6pPr>
                <a:lvl7pPr>
                  <a:defRPr sz="2175" b="0">
                    <a:solidFill>
                      <a:srgbClr val="000000"/>
                    </a:solidFill>
                    <a:latin typeface="Cambria Math" panose="02040503050406030204"/>
                    <a:ea typeface="Cambria Math" panose="02040503050406030204"/>
                    <a:cs typeface="Cambria Math" panose="02040503050406030204"/>
                  </a:defRPr>
                </a:lvl7pPr>
                <a:lvl8pPr>
                  <a:defRPr sz="2175" b="0">
                    <a:solidFill>
                      <a:srgbClr val="000000"/>
                    </a:solidFill>
                    <a:latin typeface="Cambria Math" panose="02040503050406030204"/>
                    <a:ea typeface="Cambria Math" panose="02040503050406030204"/>
                    <a:cs typeface="Cambria Math" panose="02040503050406030204"/>
                  </a:defRPr>
                </a:lvl8pPr>
                <a:lvl9pPr>
                  <a:defRPr sz="2175" b="0">
                    <a:solidFill>
                      <a:srgbClr val="000000"/>
                    </a:solidFill>
                    <a:latin typeface="Cambria Math" panose="02040503050406030204"/>
                    <a:ea typeface="Cambria Math" panose="02040503050406030204"/>
                    <a:cs typeface="Cambria Math" panose="02040503050406030204"/>
                  </a:defRPr>
                </a:lvl9pPr>
              </a:lstStyle>
              <a:p>
                <a14:m>
                  <m:oMathPara xmlns:m="http://schemas.openxmlformats.org/officeDocument/2006/math">
                    <m:oMathParaPr>
                      <m:jc m:val="left"/>
                    </m:oMathParaPr>
                    <m:oMath xmlns:m="http://schemas.openxmlformats.org/officeDocument/2006/math">
                      <m:sSubSup>
                        <m:sSubSupPr>
                          <m:ctrlPr>
                            <a:rPr/>
                          </m:ctrlPr>
                        </m:sSubSupPr>
                        <m:e>
                          <m:r>
                            <a:rPr lang="en-US" sz="2100">
                              <a:latin typeface="Cambria Math" panose="02040503050406030204"/>
                              <a:ea typeface="微软雅黑" panose="020B0503020204020204" charset="-122"/>
                            </a:rPr>
                            <m:t>𝑊</m:t>
                          </m:r>
                        </m:e>
                        <m:sub>
                          <m:r>
                            <a:rPr lang="en-US" sz="2100">
                              <a:latin typeface="Cambria Math" panose="02040503050406030204"/>
                              <a:ea typeface="微软雅黑" panose="020B0503020204020204" charset="-122"/>
                            </a:rPr>
                            <m:t>𝑗</m:t>
                          </m:r>
                          <m:r>
                            <a:rPr lang="en-US" sz="2100">
                              <a:latin typeface="Cambria Math" panose="02040503050406030204"/>
                              <a:ea typeface="微软雅黑" panose="020B0503020204020204" charset="-122"/>
                            </a:rPr>
                            <m:t>·</m:t>
                          </m:r>
                        </m:sub>
                        <m:sup>
                          <m:r>
                            <m:rPr>
                              <m:sty m:val="p"/>
                            </m:rPr>
                            <a:rPr lang="en-US" sz="2100">
                              <a:latin typeface="Cambria Math" panose="02040503050406030204"/>
                              <a:ea typeface="微软雅黑" panose="020B0503020204020204" charset="-122"/>
                            </a:rPr>
                            <m:t>AB</m:t>
                          </m:r>
                        </m:sup>
                      </m:sSubSup>
                      <m:r>
                        <a:rPr lang="en-US" sz="2100">
                          <a:latin typeface="Cambria Math" panose="02040503050406030204"/>
                          <a:ea typeface="微软雅黑" panose="020B0503020204020204" charset="-122"/>
                        </a:rPr>
                        <m:t>←</m:t>
                      </m:r>
                      <m:sSubSup>
                        <m:sSubSupPr>
                          <m:ctrlPr>
                            <a:rPr/>
                          </m:ctrlPr>
                        </m:sSubSupPr>
                        <m:e>
                          <m:r>
                            <a:rPr lang="en-US" sz="2100">
                              <a:latin typeface="Cambria Math" panose="02040503050406030204"/>
                              <a:ea typeface="微软雅黑" panose="020B0503020204020204" charset="-122"/>
                            </a:rPr>
                            <m:t>𝑊</m:t>
                          </m:r>
                        </m:e>
                        <m:sub>
                          <m:r>
                            <a:rPr lang="en-US" sz="2100">
                              <a:latin typeface="Cambria Math" panose="02040503050406030204"/>
                              <a:ea typeface="微软雅黑" panose="020B0503020204020204" charset="-122"/>
                            </a:rPr>
                            <m:t>𝑗</m:t>
                          </m:r>
                          <m:r>
                            <a:rPr lang="en-US" sz="2100">
                              <a:latin typeface="Cambria Math" panose="02040503050406030204"/>
                              <a:ea typeface="微软雅黑" panose="020B0503020204020204" charset="-122"/>
                            </a:rPr>
                            <m:t>·</m:t>
                          </m:r>
                        </m:sub>
                        <m:sup>
                          <m:r>
                            <m:rPr>
                              <m:sty m:val="p"/>
                            </m:rPr>
                            <a:rPr lang="en-US" sz="2100">
                              <a:latin typeface="Cambria Math" panose="02040503050406030204"/>
                              <a:ea typeface="微软雅黑" panose="020B0503020204020204" charset="-122"/>
                            </a:rPr>
                            <m:t>AB</m:t>
                          </m:r>
                        </m:sup>
                      </m:sSubSup>
                      <m:f>
                        <m:fPr>
                          <m:ctrlPr>
                            <a:rPr/>
                          </m:ctrlPr>
                        </m:fPr>
                        <m:num>
                          <m:sSubSup>
                            <m:sSubSupPr>
                              <m:ctrlPr>
                                <a:rPr/>
                              </m:ctrlPr>
                            </m:sSubSupPr>
                            <m:e>
                              <m:r>
                                <a:rPr lang="en-US" sz="2100">
                                  <a:latin typeface="Cambria Math" panose="02040503050406030204"/>
                                  <a:ea typeface="微软雅黑" panose="020B0503020204020204" charset="-122"/>
                                </a:rPr>
                                <m:t>ℓ</m:t>
                              </m:r>
                            </m:e>
                            <m:sub>
                              <m:r>
                                <a:rPr lang="en-US" sz="2100">
                                  <a:latin typeface="Cambria Math" panose="02040503050406030204"/>
                                  <a:ea typeface="微软雅黑" panose="020B0503020204020204" charset="-122"/>
                                </a:rPr>
                                <m:t>1</m:t>
                              </m:r>
                            </m:sub>
                            <m:sup>
                              <m:r>
                                <m:rPr>
                                  <m:sty m:val="p"/>
                                </m:rPr>
                                <a:rPr lang="en-US" sz="2100">
                                  <a:latin typeface="Cambria Math" panose="02040503050406030204"/>
                                  <a:ea typeface="微软雅黑" panose="020B0503020204020204" charset="-122"/>
                                </a:rPr>
                                <m:t>AB</m:t>
                              </m:r>
                            </m:sup>
                          </m:sSubSup>
                        </m:num>
                        <m:den>
                          <m:sSub>
                            <m:sSubPr>
                              <m:ctrlPr>
                                <a:rPr/>
                              </m:ctrlPr>
                            </m:sSubPr>
                            <m:e>
                              <m:d>
                                <m:dPr>
                                  <m:begChr m:val="‖"/>
                                  <m:sepChr m:val=""/>
                                  <m:endChr m:val="‖"/>
                                  <m:ctrlPr>
                                    <a:rPr/>
                                  </m:ctrlPr>
                                </m:dPr>
                                <m:e>
                                  <m:sSubSup>
                                    <m:sSubSupPr>
                                      <m:ctrlPr>
                                        <a:rPr/>
                                      </m:ctrlPr>
                                    </m:sSubSupPr>
                                    <m:e>
                                      <m:r>
                                        <a:rPr lang="en-US" sz="2100">
                                          <a:latin typeface="Cambria Math" panose="02040503050406030204"/>
                                          <a:ea typeface="微软雅黑" panose="020B0503020204020204" charset="-122"/>
                                        </a:rPr>
                                        <m:t>𝑊</m:t>
                                      </m:r>
                                    </m:e>
                                    <m:sub>
                                      <m:r>
                                        <a:rPr lang="en-US" sz="2100">
                                          <a:latin typeface="Cambria Math" panose="02040503050406030204"/>
                                          <a:ea typeface="微软雅黑" panose="020B0503020204020204" charset="-122"/>
                                        </a:rPr>
                                        <m:t>𝑗</m:t>
                                      </m:r>
                                      <m:r>
                                        <a:rPr lang="en-US" sz="2100">
                                          <a:latin typeface="Cambria Math" panose="02040503050406030204"/>
                                          <a:ea typeface="微软雅黑" panose="020B0503020204020204" charset="-122"/>
                                        </a:rPr>
                                        <m:t>·</m:t>
                                      </m:r>
                                    </m:sub>
                                    <m:sup>
                                      <m:r>
                                        <m:rPr>
                                          <m:sty m:val="p"/>
                                        </m:rPr>
                                        <a:rPr lang="en-US" sz="2100">
                                          <a:latin typeface="Cambria Math" panose="02040503050406030204"/>
                                          <a:ea typeface="微软雅黑" panose="020B0503020204020204" charset="-122"/>
                                        </a:rPr>
                                        <m:t>AB</m:t>
                                      </m:r>
                                    </m:sup>
                                  </m:sSubSup>
                                </m:e>
                              </m:d>
                            </m:e>
                            <m:sub>
                              <m:r>
                                <a:rPr lang="en-US" sz="2100">
                                  <a:latin typeface="Cambria Math" panose="02040503050406030204"/>
                                  <a:ea typeface="微软雅黑" panose="020B0503020204020204" charset="-122"/>
                                </a:rPr>
                                <m:t>1</m:t>
                              </m:r>
                            </m:sub>
                          </m:sSub>
                        </m:den>
                      </m:f>
                    </m:oMath>
                  </m:oMathPara>
                </a14:m>
                <a:endParaRPr lang="en-US" sz="2100"/>
              </a:p>
            </p:txBody>
          </p:sp>
        </mc:Choice>
        <mc:Fallback>
          <p:sp>
            <p:nvSpPr>
              <p:cNvPr id="10" name="EQ_l1_multiply"/>
              <p:cNvSpPr>
                <a:spLocks noRot="1" noChangeAspect="1" noMove="1" noResize="1" noEditPoints="1" noAdjustHandles="1" noChangeArrowheads="1" noChangeShapeType="1" noTextEdit="1"/>
              </p:cNvSpPr>
              <p:nvPr/>
            </p:nvSpPr>
            <p:spPr>
              <a:xfrm>
                <a:off x="428625" y="4695825"/>
                <a:ext cx="7400925" cy="581025"/>
              </a:xfrm>
              <a:prstGeom prst="rect">
                <a:avLst/>
              </a:prstGeom>
              <a:blipFill rotWithShape="1">
                <a:blip r:embed="rId4"/>
                <a:stretch>
                  <a:fillRect b="-43060"/>
                </a:stretch>
              </a:blipFill>
              <a:ln w="0">
                <a:noFill/>
              </a:ln>
            </p:spPr>
            <p:txBody>
              <a:bodyPr/>
              <a:lstStyle/>
              <a:p>
                <a:r>
                  <a:rPr lang="zh-CN" altLang="en-US">
                    <a:noFill/>
                  </a:rPr>
                  <a:t> </a:t>
                </a:r>
              </a:p>
            </p:txBody>
          </p:sp>
        </mc:Fallback>
      </mc:AlternateContent>
      <p:graphicFrame>
        <p:nvGraphicFramePr>
          <p:cNvPr id="11" name="表格 10"/>
          <p:cNvGraphicFramePr/>
          <p:nvPr/>
        </p:nvGraphicFramePr>
        <p:xfrm>
          <a:off x="6297930" y="1847850"/>
          <a:ext cx="3267075" cy="3400425"/>
        </p:xfrm>
        <a:graphic>
          <a:graphicData uri="http://schemas.openxmlformats.org/drawingml/2006/table">
            <a:tbl>
              <a:tblPr/>
              <a:tblGrid>
                <a:gridCol w="1952625"/>
                <a:gridCol w="1314450"/>
              </a:tblGrid>
              <a:tr h="485775">
                <a:tc>
                  <a:txBody>
                    <a:bodyPr/>
                    <a:lstStyle/>
                    <a:p>
                      <a:pPr algn="ctr"/>
                      <a:r>
                        <a:rPr sz="1575" b="1">
                          <a:solidFill>
                            <a:srgbClr val="111111"/>
                          </a:solidFill>
                          <a:latin typeface="微软雅黑" panose="020B0503020204020204" charset="-122"/>
                          <a:ea typeface="微软雅黑" panose="020B0503020204020204" charset="-122"/>
                          <a:cs typeface="微软雅黑" panose="020B0503020204020204" charset="-122"/>
                        </a:rPr>
                        <a:t>连接</a:t>
                      </a:r>
                      <a:r>
                        <a:rPr lang="zh-CN" sz="1575" b="1">
                          <a:solidFill>
                            <a:srgbClr val="111111"/>
                          </a:solidFill>
                          <a:latin typeface="微软雅黑" panose="020B0503020204020204" charset="-122"/>
                          <a:ea typeface="微软雅黑" panose="020B0503020204020204" charset="-122"/>
                          <a:cs typeface="微软雅黑" panose="020B0503020204020204" charset="-122"/>
                        </a:rPr>
                        <a:t>类型</a:t>
                      </a:r>
                      <a:endParaRPr lang="zh-CN" sz="1575" b="1">
                        <a:solidFill>
                          <a:srgbClr val="111111"/>
                        </a:solidFill>
                        <a:latin typeface="微软雅黑" panose="020B0503020204020204" charset="-122"/>
                        <a:ea typeface="微软雅黑" panose="020B0503020204020204" charset="-122"/>
                        <a:cs typeface="微软雅黑" panose="020B0503020204020204" charset="-122"/>
                      </a:endParaRPr>
                    </a:p>
                  </a:txBody>
                  <a:tcPr anchor="ctr">
                    <a:lnL w="7620">
                      <a:solidFill>
                        <a:srgbClr val="D9DEE4"/>
                      </a:solidFill>
                      <a:prstDash val="solid"/>
                    </a:lnL>
                    <a:lnR w="7620">
                      <a:solidFill>
                        <a:srgbClr val="D9DEE4"/>
                      </a:solidFill>
                      <a:prstDash val="solid"/>
                    </a:lnR>
                    <a:lnT w="7620">
                      <a:solidFill>
                        <a:srgbClr val="D9DEE4"/>
                      </a:solidFill>
                      <a:prstDash val="solid"/>
                    </a:lnT>
                    <a:lnB w="7620">
                      <a:solidFill>
                        <a:srgbClr val="D9DEE4"/>
                      </a:solidFill>
                      <a:prstDash val="solid"/>
                    </a:lnB>
                    <a:solidFill>
                      <a:schemeClr val="bg2"/>
                    </a:solidFill>
                  </a:tcPr>
                </a:tc>
                <a:tc>
                  <a:txBody>
                    <a:bodyPr/>
                    <a:lstStyle/>
                    <a:p>
                      <a:pPr algn="ctr"/>
                      <a:r>
                        <a:rPr sz="1575" b="1">
                          <a:solidFill>
                            <a:srgbClr val="111111"/>
                          </a:solidFill>
                          <a:latin typeface="微软雅黑" panose="020B0503020204020204" charset="-122"/>
                          <a:ea typeface="微软雅黑" panose="020B0503020204020204" charset="-122"/>
                          <a:cs typeface="微软雅黑" panose="020B0503020204020204" charset="-122"/>
                        </a:rPr>
                        <a:t>L1上限</a:t>
                      </a:r>
                      <a:endParaRPr sz="1575" b="1">
                        <a:solidFill>
                          <a:srgbClr val="111111"/>
                        </a:solidFill>
                        <a:latin typeface="微软雅黑" panose="020B0503020204020204" charset="-122"/>
                        <a:ea typeface="微软雅黑" panose="020B0503020204020204" charset="-122"/>
                        <a:cs typeface="微软雅黑" panose="020B0503020204020204" charset="-122"/>
                      </a:endParaRPr>
                    </a:p>
                  </a:txBody>
                  <a:tcPr anchor="ctr">
                    <a:lnL w="7620" cap="flat" cmpd="sng" algn="ctr">
                      <a:solidFill>
                        <a:srgbClr val="D9DEE4"/>
                      </a:solidFill>
                      <a:prstDash val="solid"/>
                      <a:round/>
                      <a:headEnd type="none" w="med" len="med"/>
                      <a:tailEnd type="none" w="med" len="med"/>
                    </a:lnL>
                    <a:lnR w="7620">
                      <a:solidFill>
                        <a:srgbClr val="D9DEE4"/>
                      </a:solidFill>
                      <a:prstDash val="solid"/>
                    </a:lnR>
                    <a:lnT w="7620">
                      <a:solidFill>
                        <a:srgbClr val="D9DEE4"/>
                      </a:solidFill>
                      <a:prstDash val="solid"/>
                    </a:lnT>
                    <a:lnB w="7620">
                      <a:solidFill>
                        <a:srgbClr val="D9DEE4"/>
                      </a:solidFill>
                      <a:prstDash val="solid"/>
                    </a:lnB>
                    <a:solidFill>
                      <a:schemeClr val="bg2"/>
                    </a:solidFill>
                  </a:tcPr>
                </a:tc>
              </a:tr>
              <a:tr h="485775">
                <a:tc>
                  <a:txBody>
                    <a:bodyPr/>
                    <a:lstStyle/>
                    <a:p>
                      <a:pPr algn="ctr"/>
                      <a:r>
                        <a:rPr sz="1575" b="0">
                          <a:solidFill>
                            <a:srgbClr val="111111"/>
                          </a:solidFill>
                          <a:latin typeface="微软雅黑" panose="020B0503020204020204" charset="-122"/>
                          <a:ea typeface="微软雅黑" panose="020B0503020204020204" charset="-122"/>
                          <a:cs typeface="微软雅黑" panose="020B0503020204020204" charset="-122"/>
                        </a:rPr>
                        <a:t>X→E</a:t>
                      </a:r>
                      <a:endParaRPr sz="1575" b="0">
                        <a:solidFill>
                          <a:srgbClr val="111111"/>
                        </a:solidFill>
                        <a:latin typeface="微软雅黑" panose="020B0503020204020204" charset="-122"/>
                        <a:ea typeface="微软雅黑" panose="020B0503020204020204" charset="-122"/>
                        <a:cs typeface="微软雅黑" panose="020B0503020204020204" charset="-122"/>
                      </a:endParaRPr>
                    </a:p>
                  </a:txBody>
                  <a:tcPr anchor="ctr">
                    <a:lnL w="7620">
                      <a:solidFill>
                        <a:srgbClr val="D9DEE4"/>
                      </a:solidFill>
                      <a:prstDash val="solid"/>
                    </a:lnL>
                    <a:lnR w="7620">
                      <a:solidFill>
                        <a:srgbClr val="D9DEE4"/>
                      </a:solidFill>
                      <a:prstDash val="solid"/>
                    </a:lnR>
                    <a:lnT w="7620" cap="flat" cmpd="sng" algn="ctr">
                      <a:solidFill>
                        <a:srgbClr val="D9DEE4"/>
                      </a:solidFill>
                      <a:prstDash val="solid"/>
                      <a:round/>
                      <a:headEnd type="none" w="med" len="med"/>
                      <a:tailEnd type="none" w="med" len="med"/>
                    </a:lnT>
                    <a:lnB w="7620">
                      <a:solidFill>
                        <a:srgbClr val="D9DEE4"/>
                      </a:solidFill>
                      <a:prstDash val="solid"/>
                    </a:lnB>
                    <a:solidFill>
                      <a:srgbClr val="FFFFFF"/>
                    </a:solidFill>
                  </a:tcPr>
                </a:tc>
                <a:tc>
                  <a:txBody>
                    <a:bodyPr/>
                    <a:lstStyle/>
                    <a:p>
                      <a:pPr algn="ctr"/>
                      <a:r>
                        <a:rPr sz="1575" b="0">
                          <a:solidFill>
                            <a:srgbClr val="111111"/>
                          </a:solidFill>
                          <a:latin typeface="微软雅黑" panose="020B0503020204020204" charset="-122"/>
                          <a:ea typeface="微软雅黑" panose="020B0503020204020204" charset="-122"/>
                          <a:cs typeface="微软雅黑" panose="020B0503020204020204" charset="-122"/>
                        </a:rPr>
                        <a:t>100</a:t>
                      </a:r>
                      <a:endParaRPr sz="1575" b="0">
                        <a:solidFill>
                          <a:srgbClr val="111111"/>
                        </a:solidFill>
                        <a:latin typeface="微软雅黑" panose="020B0503020204020204" charset="-122"/>
                        <a:ea typeface="微软雅黑" panose="020B0503020204020204" charset="-122"/>
                        <a:cs typeface="微软雅黑" panose="020B0503020204020204" charset="-122"/>
                      </a:endParaRPr>
                    </a:p>
                  </a:txBody>
                  <a:tcPr anchor="ctr">
                    <a:lnL w="7620" cap="flat" cmpd="sng" algn="ctr">
                      <a:solidFill>
                        <a:srgbClr val="D9DEE4"/>
                      </a:solidFill>
                      <a:prstDash val="solid"/>
                      <a:round/>
                      <a:headEnd type="none" w="med" len="med"/>
                      <a:tailEnd type="none" w="med" len="med"/>
                    </a:lnL>
                    <a:lnR w="7620">
                      <a:solidFill>
                        <a:srgbClr val="D9DEE4"/>
                      </a:solidFill>
                      <a:prstDash val="solid"/>
                    </a:lnR>
                    <a:lnT w="7620" cap="flat" cmpd="sng" algn="ctr">
                      <a:solidFill>
                        <a:srgbClr val="D9DEE4"/>
                      </a:solidFill>
                      <a:prstDash val="solid"/>
                      <a:round/>
                      <a:headEnd type="none" w="med" len="med"/>
                      <a:tailEnd type="none" w="med" len="med"/>
                    </a:lnT>
                    <a:lnB w="7620">
                      <a:solidFill>
                        <a:srgbClr val="D9DEE4"/>
                      </a:solidFill>
                      <a:prstDash val="solid"/>
                    </a:lnB>
                    <a:solidFill>
                      <a:srgbClr val="FFFFFF"/>
                    </a:solidFill>
                  </a:tcPr>
                </a:tc>
              </a:tr>
              <a:tr h="485775">
                <a:tc>
                  <a:txBody>
                    <a:bodyPr/>
                    <a:lstStyle/>
                    <a:p>
                      <a:pPr algn="ctr"/>
                      <a:r>
                        <a:rPr sz="1575" b="0">
                          <a:solidFill>
                            <a:srgbClr val="111111"/>
                          </a:solidFill>
                          <a:latin typeface="微软雅黑" panose="020B0503020204020204" charset="-122"/>
                          <a:ea typeface="微软雅黑" panose="020B0503020204020204" charset="-122"/>
                          <a:cs typeface="微软雅黑" panose="020B0503020204020204" charset="-122"/>
                        </a:rPr>
                        <a:t>E→E</a:t>
                      </a:r>
                      <a:endParaRPr sz="1575" b="0">
                        <a:solidFill>
                          <a:srgbClr val="111111"/>
                        </a:solidFill>
                        <a:latin typeface="微软雅黑" panose="020B0503020204020204" charset="-122"/>
                        <a:ea typeface="微软雅黑" panose="020B0503020204020204" charset="-122"/>
                        <a:cs typeface="微软雅黑" panose="020B0503020204020204" charset="-122"/>
                      </a:endParaRPr>
                    </a:p>
                  </a:txBody>
                  <a:tcPr anchor="ctr">
                    <a:lnL w="7620">
                      <a:solidFill>
                        <a:srgbClr val="D9DEE4"/>
                      </a:solidFill>
                      <a:prstDash val="solid"/>
                    </a:lnL>
                    <a:lnR w="7620">
                      <a:solidFill>
                        <a:srgbClr val="D9DEE4"/>
                      </a:solidFill>
                      <a:prstDash val="solid"/>
                    </a:lnR>
                    <a:lnT w="7620" cap="flat" cmpd="sng" algn="ctr">
                      <a:solidFill>
                        <a:srgbClr val="D9DEE4"/>
                      </a:solidFill>
                      <a:prstDash val="solid"/>
                      <a:round/>
                      <a:headEnd type="none" w="med" len="med"/>
                      <a:tailEnd type="none" w="med" len="med"/>
                    </a:lnT>
                    <a:lnB w="7620">
                      <a:solidFill>
                        <a:srgbClr val="D9DEE4"/>
                      </a:solidFill>
                      <a:prstDash val="solid"/>
                    </a:lnB>
                    <a:solidFill>
                      <a:srgbClr val="FFFFFF"/>
                    </a:solidFill>
                  </a:tcPr>
                </a:tc>
                <a:tc>
                  <a:txBody>
                    <a:bodyPr/>
                    <a:lstStyle/>
                    <a:p>
                      <a:pPr algn="ctr"/>
                      <a:r>
                        <a:rPr sz="1575" b="0">
                          <a:solidFill>
                            <a:srgbClr val="111111"/>
                          </a:solidFill>
                          <a:latin typeface="微软雅黑" panose="020B0503020204020204" charset="-122"/>
                          <a:ea typeface="微软雅黑" panose="020B0503020204020204" charset="-122"/>
                          <a:cs typeface="微软雅黑" panose="020B0503020204020204" charset="-122"/>
                        </a:rPr>
                        <a:t>10</a:t>
                      </a:r>
                      <a:endParaRPr sz="1575" b="0">
                        <a:solidFill>
                          <a:srgbClr val="111111"/>
                        </a:solidFill>
                        <a:latin typeface="微软雅黑" panose="020B0503020204020204" charset="-122"/>
                        <a:ea typeface="微软雅黑" panose="020B0503020204020204" charset="-122"/>
                        <a:cs typeface="微软雅黑" panose="020B0503020204020204" charset="-122"/>
                      </a:endParaRPr>
                    </a:p>
                  </a:txBody>
                  <a:tcPr anchor="ctr">
                    <a:lnL w="7620" cap="flat" cmpd="sng" algn="ctr">
                      <a:solidFill>
                        <a:srgbClr val="D9DEE4"/>
                      </a:solidFill>
                      <a:prstDash val="solid"/>
                      <a:round/>
                      <a:headEnd type="none" w="med" len="med"/>
                      <a:tailEnd type="none" w="med" len="med"/>
                    </a:lnL>
                    <a:lnR w="7620">
                      <a:solidFill>
                        <a:srgbClr val="D9DEE4"/>
                      </a:solidFill>
                      <a:prstDash val="solid"/>
                    </a:lnR>
                    <a:lnT w="7620" cap="flat" cmpd="sng" algn="ctr">
                      <a:solidFill>
                        <a:srgbClr val="D9DEE4"/>
                      </a:solidFill>
                      <a:prstDash val="solid"/>
                      <a:round/>
                      <a:headEnd type="none" w="med" len="med"/>
                      <a:tailEnd type="none" w="med" len="med"/>
                    </a:lnT>
                    <a:lnB w="7620">
                      <a:solidFill>
                        <a:srgbClr val="D9DEE4"/>
                      </a:solidFill>
                      <a:prstDash val="solid"/>
                    </a:lnB>
                    <a:solidFill>
                      <a:srgbClr val="FFFFFF"/>
                    </a:solidFill>
                  </a:tcPr>
                </a:tc>
              </a:tr>
              <a:tr h="485775">
                <a:tc>
                  <a:txBody>
                    <a:bodyPr/>
                    <a:lstStyle/>
                    <a:p>
                      <a:pPr algn="ctr"/>
                      <a:r>
                        <a:rPr sz="1575" b="0">
                          <a:solidFill>
                            <a:srgbClr val="111111"/>
                          </a:solidFill>
                          <a:latin typeface="微软雅黑" panose="020B0503020204020204" charset="-122"/>
                          <a:ea typeface="微软雅黑" panose="020B0503020204020204" charset="-122"/>
                          <a:cs typeface="微软雅黑" panose="020B0503020204020204" charset="-122"/>
                        </a:rPr>
                        <a:t>I→E</a:t>
                      </a:r>
                      <a:endParaRPr sz="1575" b="0">
                        <a:solidFill>
                          <a:srgbClr val="111111"/>
                        </a:solidFill>
                        <a:latin typeface="微软雅黑" panose="020B0503020204020204" charset="-122"/>
                        <a:ea typeface="微软雅黑" panose="020B0503020204020204" charset="-122"/>
                        <a:cs typeface="微软雅黑" panose="020B0503020204020204" charset="-122"/>
                      </a:endParaRPr>
                    </a:p>
                  </a:txBody>
                  <a:tcPr anchor="ctr">
                    <a:lnL w="7620">
                      <a:solidFill>
                        <a:srgbClr val="D9DEE4"/>
                      </a:solidFill>
                      <a:prstDash val="solid"/>
                    </a:lnL>
                    <a:lnR w="7620">
                      <a:solidFill>
                        <a:srgbClr val="D9DEE4"/>
                      </a:solidFill>
                      <a:prstDash val="solid"/>
                    </a:lnR>
                    <a:lnT w="7620" cap="flat" cmpd="sng" algn="ctr">
                      <a:solidFill>
                        <a:srgbClr val="D9DEE4"/>
                      </a:solidFill>
                      <a:prstDash val="solid"/>
                      <a:round/>
                      <a:headEnd type="none" w="med" len="med"/>
                      <a:tailEnd type="none" w="med" len="med"/>
                    </a:lnT>
                    <a:lnB w="7620">
                      <a:solidFill>
                        <a:srgbClr val="D9DEE4"/>
                      </a:solidFill>
                      <a:prstDash val="solid"/>
                    </a:lnB>
                    <a:solidFill>
                      <a:srgbClr val="FFFFFF"/>
                    </a:solidFill>
                  </a:tcPr>
                </a:tc>
                <a:tc>
                  <a:txBody>
                    <a:bodyPr/>
                    <a:lstStyle/>
                    <a:p>
                      <a:pPr algn="ctr"/>
                      <a:r>
                        <a:rPr sz="1575" b="0">
                          <a:solidFill>
                            <a:srgbClr val="111111"/>
                          </a:solidFill>
                          <a:latin typeface="微软雅黑" panose="020B0503020204020204" charset="-122"/>
                          <a:ea typeface="微软雅黑" panose="020B0503020204020204" charset="-122"/>
                          <a:cs typeface="微软雅黑" panose="020B0503020204020204" charset="-122"/>
                        </a:rPr>
                        <a:t>120</a:t>
                      </a:r>
                      <a:endParaRPr sz="1575" b="0">
                        <a:solidFill>
                          <a:srgbClr val="111111"/>
                        </a:solidFill>
                        <a:latin typeface="微软雅黑" panose="020B0503020204020204" charset="-122"/>
                        <a:ea typeface="微软雅黑" panose="020B0503020204020204" charset="-122"/>
                        <a:cs typeface="微软雅黑" panose="020B0503020204020204" charset="-122"/>
                      </a:endParaRPr>
                    </a:p>
                  </a:txBody>
                  <a:tcPr anchor="ctr">
                    <a:lnL w="7620" cap="flat" cmpd="sng" algn="ctr">
                      <a:solidFill>
                        <a:srgbClr val="D9DEE4"/>
                      </a:solidFill>
                      <a:prstDash val="solid"/>
                      <a:round/>
                      <a:headEnd type="none" w="med" len="med"/>
                      <a:tailEnd type="none" w="med" len="med"/>
                    </a:lnL>
                    <a:lnR w="7620">
                      <a:solidFill>
                        <a:srgbClr val="D9DEE4"/>
                      </a:solidFill>
                      <a:prstDash val="solid"/>
                    </a:lnR>
                    <a:lnT w="7620" cap="flat" cmpd="sng" algn="ctr">
                      <a:solidFill>
                        <a:srgbClr val="D9DEE4"/>
                      </a:solidFill>
                      <a:prstDash val="solid"/>
                      <a:round/>
                      <a:headEnd type="none" w="med" len="med"/>
                      <a:tailEnd type="none" w="med" len="med"/>
                    </a:lnT>
                    <a:lnB w="7620">
                      <a:solidFill>
                        <a:srgbClr val="D9DEE4"/>
                      </a:solidFill>
                      <a:prstDash val="solid"/>
                    </a:lnB>
                    <a:solidFill>
                      <a:srgbClr val="FFFFFF"/>
                    </a:solidFill>
                  </a:tcPr>
                </a:tc>
              </a:tr>
              <a:tr h="485775">
                <a:tc>
                  <a:txBody>
                    <a:bodyPr/>
                    <a:lstStyle/>
                    <a:p>
                      <a:pPr algn="ctr"/>
                      <a:r>
                        <a:rPr sz="1575" b="0">
                          <a:solidFill>
                            <a:srgbClr val="111111"/>
                          </a:solidFill>
                          <a:latin typeface="微软雅黑" panose="020B0503020204020204" charset="-122"/>
                          <a:ea typeface="微软雅黑" panose="020B0503020204020204" charset="-122"/>
                          <a:cs typeface="微软雅黑" panose="020B0503020204020204" charset="-122"/>
                        </a:rPr>
                        <a:t>X→I</a:t>
                      </a:r>
                      <a:endParaRPr sz="1575" b="0">
                        <a:solidFill>
                          <a:srgbClr val="111111"/>
                        </a:solidFill>
                        <a:latin typeface="微软雅黑" panose="020B0503020204020204" charset="-122"/>
                        <a:ea typeface="微软雅黑" panose="020B0503020204020204" charset="-122"/>
                        <a:cs typeface="微软雅黑" panose="020B0503020204020204" charset="-122"/>
                      </a:endParaRPr>
                    </a:p>
                  </a:txBody>
                  <a:tcPr anchor="ctr">
                    <a:lnL w="7620">
                      <a:solidFill>
                        <a:srgbClr val="D9DEE4"/>
                      </a:solidFill>
                      <a:prstDash val="solid"/>
                    </a:lnL>
                    <a:lnR w="7620">
                      <a:solidFill>
                        <a:srgbClr val="D9DEE4"/>
                      </a:solidFill>
                      <a:prstDash val="solid"/>
                    </a:lnR>
                    <a:lnT w="7620" cap="flat" cmpd="sng" algn="ctr">
                      <a:solidFill>
                        <a:srgbClr val="D9DEE4"/>
                      </a:solidFill>
                      <a:prstDash val="solid"/>
                      <a:round/>
                      <a:headEnd type="none" w="med" len="med"/>
                      <a:tailEnd type="none" w="med" len="med"/>
                    </a:lnT>
                    <a:lnB w="7620">
                      <a:solidFill>
                        <a:srgbClr val="D9DEE4"/>
                      </a:solidFill>
                      <a:prstDash val="solid"/>
                    </a:lnB>
                    <a:solidFill>
                      <a:srgbClr val="FFFFFF"/>
                    </a:solidFill>
                  </a:tcPr>
                </a:tc>
                <a:tc>
                  <a:txBody>
                    <a:bodyPr/>
                    <a:lstStyle/>
                    <a:p>
                      <a:pPr algn="ctr"/>
                      <a:r>
                        <a:rPr sz="1575" b="0">
                          <a:solidFill>
                            <a:srgbClr val="111111"/>
                          </a:solidFill>
                          <a:latin typeface="微软雅黑" panose="020B0503020204020204" charset="-122"/>
                          <a:ea typeface="微软雅黑" panose="020B0503020204020204" charset="-122"/>
                          <a:cs typeface="微软雅黑" panose="020B0503020204020204" charset="-122"/>
                        </a:rPr>
                        <a:t>80</a:t>
                      </a:r>
                      <a:endParaRPr sz="1575" b="0">
                        <a:solidFill>
                          <a:srgbClr val="111111"/>
                        </a:solidFill>
                        <a:latin typeface="微软雅黑" panose="020B0503020204020204" charset="-122"/>
                        <a:ea typeface="微软雅黑" panose="020B0503020204020204" charset="-122"/>
                        <a:cs typeface="微软雅黑" panose="020B0503020204020204" charset="-122"/>
                      </a:endParaRPr>
                    </a:p>
                  </a:txBody>
                  <a:tcPr anchor="ctr">
                    <a:lnL w="7620" cap="flat" cmpd="sng" algn="ctr">
                      <a:solidFill>
                        <a:srgbClr val="D9DEE4"/>
                      </a:solidFill>
                      <a:prstDash val="solid"/>
                      <a:round/>
                      <a:headEnd type="none" w="med" len="med"/>
                      <a:tailEnd type="none" w="med" len="med"/>
                    </a:lnL>
                    <a:lnR w="7620">
                      <a:solidFill>
                        <a:srgbClr val="D9DEE4"/>
                      </a:solidFill>
                      <a:prstDash val="solid"/>
                    </a:lnR>
                    <a:lnT w="7620" cap="flat" cmpd="sng" algn="ctr">
                      <a:solidFill>
                        <a:srgbClr val="D9DEE4"/>
                      </a:solidFill>
                      <a:prstDash val="solid"/>
                      <a:round/>
                      <a:headEnd type="none" w="med" len="med"/>
                      <a:tailEnd type="none" w="med" len="med"/>
                    </a:lnT>
                    <a:lnB w="7620">
                      <a:solidFill>
                        <a:srgbClr val="D9DEE4"/>
                      </a:solidFill>
                      <a:prstDash val="solid"/>
                    </a:lnB>
                    <a:solidFill>
                      <a:srgbClr val="FFFFFF"/>
                    </a:solidFill>
                  </a:tcPr>
                </a:tc>
              </a:tr>
              <a:tr h="485775">
                <a:tc>
                  <a:txBody>
                    <a:bodyPr/>
                    <a:lstStyle/>
                    <a:p>
                      <a:pPr algn="ctr"/>
                      <a:r>
                        <a:rPr sz="1575" b="0">
                          <a:solidFill>
                            <a:srgbClr val="111111"/>
                          </a:solidFill>
                          <a:latin typeface="微软雅黑" panose="020B0503020204020204" charset="-122"/>
                          <a:ea typeface="微软雅黑" panose="020B0503020204020204" charset="-122"/>
                          <a:cs typeface="微软雅黑" panose="020B0503020204020204" charset="-122"/>
                        </a:rPr>
                        <a:t>E→I</a:t>
                      </a:r>
                      <a:endParaRPr sz="1575" b="0">
                        <a:solidFill>
                          <a:srgbClr val="111111"/>
                        </a:solidFill>
                        <a:latin typeface="微软雅黑" panose="020B0503020204020204" charset="-122"/>
                        <a:ea typeface="微软雅黑" panose="020B0503020204020204" charset="-122"/>
                        <a:cs typeface="微软雅黑" panose="020B0503020204020204" charset="-122"/>
                      </a:endParaRPr>
                    </a:p>
                  </a:txBody>
                  <a:tcPr anchor="ctr">
                    <a:lnL w="7620">
                      <a:solidFill>
                        <a:srgbClr val="D9DEE4"/>
                      </a:solidFill>
                      <a:prstDash val="solid"/>
                    </a:lnL>
                    <a:lnR w="7620">
                      <a:solidFill>
                        <a:srgbClr val="D9DEE4"/>
                      </a:solidFill>
                      <a:prstDash val="solid"/>
                    </a:lnR>
                    <a:lnT w="7620" cap="flat" cmpd="sng" algn="ctr">
                      <a:solidFill>
                        <a:srgbClr val="D9DEE4"/>
                      </a:solidFill>
                      <a:prstDash val="solid"/>
                      <a:round/>
                      <a:headEnd type="none" w="med" len="med"/>
                      <a:tailEnd type="none" w="med" len="med"/>
                    </a:lnT>
                    <a:lnB w="7620">
                      <a:solidFill>
                        <a:srgbClr val="D9DEE4"/>
                      </a:solidFill>
                      <a:prstDash val="solid"/>
                    </a:lnB>
                    <a:solidFill>
                      <a:srgbClr val="FFFFFF"/>
                    </a:solidFill>
                  </a:tcPr>
                </a:tc>
                <a:tc>
                  <a:txBody>
                    <a:bodyPr/>
                    <a:lstStyle/>
                    <a:p>
                      <a:pPr algn="ctr"/>
                      <a:r>
                        <a:rPr sz="1575" b="0">
                          <a:solidFill>
                            <a:srgbClr val="111111"/>
                          </a:solidFill>
                          <a:latin typeface="微软雅黑" panose="020B0503020204020204" charset="-122"/>
                          <a:ea typeface="微软雅黑" panose="020B0503020204020204" charset="-122"/>
                          <a:cs typeface="微软雅黑" panose="020B0503020204020204" charset="-122"/>
                        </a:rPr>
                        <a:t>240</a:t>
                      </a:r>
                      <a:endParaRPr sz="1575" b="0">
                        <a:solidFill>
                          <a:srgbClr val="111111"/>
                        </a:solidFill>
                        <a:latin typeface="微软雅黑" panose="020B0503020204020204" charset="-122"/>
                        <a:ea typeface="微软雅黑" panose="020B0503020204020204" charset="-122"/>
                        <a:cs typeface="微软雅黑" panose="020B0503020204020204" charset="-122"/>
                      </a:endParaRPr>
                    </a:p>
                  </a:txBody>
                  <a:tcPr anchor="ctr">
                    <a:lnL w="7620" cap="flat" cmpd="sng" algn="ctr">
                      <a:solidFill>
                        <a:srgbClr val="D9DEE4"/>
                      </a:solidFill>
                      <a:prstDash val="solid"/>
                      <a:round/>
                      <a:headEnd type="none" w="med" len="med"/>
                      <a:tailEnd type="none" w="med" len="med"/>
                    </a:lnL>
                    <a:lnR w="7620">
                      <a:solidFill>
                        <a:srgbClr val="D9DEE4"/>
                      </a:solidFill>
                      <a:prstDash val="solid"/>
                    </a:lnR>
                    <a:lnT w="7620" cap="flat" cmpd="sng" algn="ctr">
                      <a:solidFill>
                        <a:srgbClr val="D9DEE4"/>
                      </a:solidFill>
                      <a:prstDash val="solid"/>
                      <a:round/>
                      <a:headEnd type="none" w="med" len="med"/>
                      <a:tailEnd type="none" w="med" len="med"/>
                    </a:lnT>
                    <a:lnB w="7620">
                      <a:solidFill>
                        <a:srgbClr val="D9DEE4"/>
                      </a:solidFill>
                      <a:prstDash val="solid"/>
                    </a:lnB>
                    <a:solidFill>
                      <a:srgbClr val="FFFFFF"/>
                    </a:solidFill>
                  </a:tcPr>
                </a:tc>
              </a:tr>
              <a:tr h="485775">
                <a:tc>
                  <a:txBody>
                    <a:bodyPr/>
                    <a:lstStyle/>
                    <a:p>
                      <a:pPr algn="ctr"/>
                      <a:r>
                        <a:rPr sz="1575" b="0">
                          <a:solidFill>
                            <a:srgbClr val="111111"/>
                          </a:solidFill>
                          <a:latin typeface="微软雅黑" panose="020B0503020204020204" charset="-122"/>
                          <a:ea typeface="微软雅黑" panose="020B0503020204020204" charset="-122"/>
                          <a:cs typeface="微软雅黑" panose="020B0503020204020204" charset="-122"/>
                        </a:rPr>
                        <a:t>I→I</a:t>
                      </a:r>
                      <a:endParaRPr sz="1575" b="0">
                        <a:solidFill>
                          <a:srgbClr val="111111"/>
                        </a:solidFill>
                        <a:latin typeface="微软雅黑" panose="020B0503020204020204" charset="-122"/>
                        <a:ea typeface="微软雅黑" panose="020B0503020204020204" charset="-122"/>
                        <a:cs typeface="微软雅黑" panose="020B0503020204020204" charset="-122"/>
                      </a:endParaRPr>
                    </a:p>
                  </a:txBody>
                  <a:tcPr anchor="ctr">
                    <a:lnL w="7620">
                      <a:solidFill>
                        <a:srgbClr val="D9DEE4"/>
                      </a:solidFill>
                      <a:prstDash val="solid"/>
                    </a:lnL>
                    <a:lnR w="7620">
                      <a:solidFill>
                        <a:srgbClr val="D9DEE4"/>
                      </a:solidFill>
                      <a:prstDash val="solid"/>
                    </a:lnR>
                    <a:lnT w="7620" cap="flat" cmpd="sng" algn="ctr">
                      <a:solidFill>
                        <a:srgbClr val="D9DEE4"/>
                      </a:solidFill>
                      <a:prstDash val="solid"/>
                      <a:round/>
                      <a:headEnd type="none" w="med" len="med"/>
                      <a:tailEnd type="none" w="med" len="med"/>
                    </a:lnT>
                    <a:lnB w="7620">
                      <a:solidFill>
                        <a:srgbClr val="D9DEE4"/>
                      </a:solidFill>
                      <a:prstDash val="solid"/>
                    </a:lnB>
                    <a:solidFill>
                      <a:srgbClr val="FFFFFF"/>
                    </a:solidFill>
                  </a:tcPr>
                </a:tc>
                <a:tc>
                  <a:txBody>
                    <a:bodyPr/>
                    <a:lstStyle/>
                    <a:p>
                      <a:pPr algn="ctr"/>
                      <a:r>
                        <a:rPr sz="1575" b="0">
                          <a:solidFill>
                            <a:srgbClr val="111111"/>
                          </a:solidFill>
                          <a:latin typeface="微软雅黑" panose="020B0503020204020204" charset="-122"/>
                          <a:ea typeface="微软雅黑" panose="020B0503020204020204" charset="-122"/>
                          <a:cs typeface="微软雅黑" panose="020B0503020204020204" charset="-122"/>
                        </a:rPr>
                        <a:t>120</a:t>
                      </a:r>
                      <a:endParaRPr sz="1575" b="0">
                        <a:solidFill>
                          <a:srgbClr val="111111"/>
                        </a:solidFill>
                        <a:latin typeface="微软雅黑" panose="020B0503020204020204" charset="-122"/>
                        <a:ea typeface="微软雅黑" panose="020B0503020204020204" charset="-122"/>
                        <a:cs typeface="微软雅黑" panose="020B0503020204020204" charset="-122"/>
                      </a:endParaRPr>
                    </a:p>
                  </a:txBody>
                  <a:tcPr anchor="ctr">
                    <a:lnL w="7620" cap="flat" cmpd="sng" algn="ctr">
                      <a:solidFill>
                        <a:srgbClr val="D9DEE4"/>
                      </a:solidFill>
                      <a:prstDash val="solid"/>
                      <a:round/>
                      <a:headEnd type="none" w="med" len="med"/>
                      <a:tailEnd type="none" w="med" len="med"/>
                    </a:lnL>
                    <a:lnR w="7620">
                      <a:solidFill>
                        <a:srgbClr val="D9DEE4"/>
                      </a:solidFill>
                      <a:prstDash val="solid"/>
                    </a:lnR>
                    <a:lnT w="7620" cap="flat" cmpd="sng" algn="ctr">
                      <a:solidFill>
                        <a:srgbClr val="D9DEE4"/>
                      </a:solidFill>
                      <a:prstDash val="solid"/>
                      <a:round/>
                      <a:headEnd type="none" w="med" len="med"/>
                      <a:tailEnd type="none" w="med" len="med"/>
                    </a:lnT>
                    <a:lnB w="7620">
                      <a:solidFill>
                        <a:srgbClr val="D9DEE4"/>
                      </a:solidFill>
                      <a:prstDash val="solid"/>
                    </a:lnB>
                    <a:solidFill>
                      <a:srgbClr val="FFFFFF"/>
                    </a:solidFill>
                  </a:tcPr>
                </a:tc>
              </a:tr>
            </a:tbl>
          </a:graphicData>
        </a:graphic>
      </p:graphicFrame>
      <p:sp>
        <p:nvSpPr>
          <p:cNvPr id="12" name="作用：允许连接重新分配，同时限制STDP引起的整体权重增长。"/>
          <p:cNvSpPr>
            <a:spLocks noGrp="1"/>
          </p:cNvSpPr>
          <p:nvPr/>
        </p:nvSpPr>
        <p:spPr>
          <a:xfrm>
            <a:off x="428625" y="5724525"/>
            <a:ext cx="11144250" cy="542925"/>
          </a:xfrm>
          <a:prstGeom prst="rect">
            <a:avLst/>
          </a:prstGeom>
          <a:noFill/>
          <a:ln w="0">
            <a:noFill/>
          </a:ln>
        </p:spPr>
        <p:txBody>
          <a:bodyPr wrap="square" lIns="0" tIns="0" rIns="0" bIns="0" anchor="t">
            <a:noAutofit/>
          </a:bodyPr>
          <a:lstStyle>
            <a:defPPr>
              <a:defRPr sz="1800" b="1">
                <a:solidFill>
                  <a:srgbClr val="0072B2"/>
                </a:solidFill>
                <a:latin typeface="微软雅黑" panose="020B0503020204020204" charset="-122"/>
                <a:ea typeface="微软雅黑" panose="020B0503020204020204" charset="-122"/>
                <a:cs typeface="微软雅黑" panose="020B0503020204020204" charset="-122"/>
              </a:defRPr>
            </a:defPPr>
            <a:lvl1pPr>
              <a:defRPr sz="1800" b="1">
                <a:solidFill>
                  <a:srgbClr val="0072B2"/>
                </a:solidFill>
                <a:latin typeface="微软雅黑" panose="020B0503020204020204" charset="-122"/>
                <a:ea typeface="微软雅黑" panose="020B0503020204020204" charset="-122"/>
                <a:cs typeface="微软雅黑" panose="020B0503020204020204" charset="-122"/>
              </a:defRPr>
            </a:lvl1pPr>
            <a:lvl2pPr>
              <a:defRPr sz="1800" b="1">
                <a:solidFill>
                  <a:srgbClr val="0072B2"/>
                </a:solidFill>
                <a:latin typeface="微软雅黑" panose="020B0503020204020204" charset="-122"/>
                <a:ea typeface="微软雅黑" panose="020B0503020204020204" charset="-122"/>
                <a:cs typeface="微软雅黑" panose="020B0503020204020204" charset="-122"/>
              </a:defRPr>
            </a:lvl2pPr>
            <a:lvl3pPr>
              <a:defRPr sz="1800" b="1">
                <a:solidFill>
                  <a:srgbClr val="0072B2"/>
                </a:solidFill>
                <a:latin typeface="微软雅黑" panose="020B0503020204020204" charset="-122"/>
                <a:ea typeface="微软雅黑" panose="020B0503020204020204" charset="-122"/>
                <a:cs typeface="微软雅黑" panose="020B0503020204020204" charset="-122"/>
              </a:defRPr>
            </a:lvl3pPr>
            <a:lvl4pPr>
              <a:defRPr sz="1800" b="1">
                <a:solidFill>
                  <a:srgbClr val="0072B2"/>
                </a:solidFill>
                <a:latin typeface="微软雅黑" panose="020B0503020204020204" charset="-122"/>
                <a:ea typeface="微软雅黑" panose="020B0503020204020204" charset="-122"/>
                <a:cs typeface="微软雅黑" panose="020B0503020204020204" charset="-122"/>
              </a:defRPr>
            </a:lvl4pPr>
            <a:lvl5pPr>
              <a:defRPr sz="1800" b="1">
                <a:solidFill>
                  <a:srgbClr val="0072B2"/>
                </a:solidFill>
                <a:latin typeface="微软雅黑" panose="020B0503020204020204" charset="-122"/>
                <a:ea typeface="微软雅黑" panose="020B0503020204020204" charset="-122"/>
                <a:cs typeface="微软雅黑" panose="020B0503020204020204" charset="-122"/>
              </a:defRPr>
            </a:lvl5pPr>
            <a:lvl6pPr>
              <a:defRPr sz="1800" b="1">
                <a:solidFill>
                  <a:srgbClr val="0072B2"/>
                </a:solidFill>
                <a:latin typeface="微软雅黑" panose="020B0503020204020204" charset="-122"/>
                <a:ea typeface="微软雅黑" panose="020B0503020204020204" charset="-122"/>
                <a:cs typeface="微软雅黑" panose="020B0503020204020204" charset="-122"/>
              </a:defRPr>
            </a:lvl6pPr>
            <a:lvl7pPr>
              <a:defRPr sz="1800" b="1">
                <a:solidFill>
                  <a:srgbClr val="0072B2"/>
                </a:solidFill>
                <a:latin typeface="微软雅黑" panose="020B0503020204020204" charset="-122"/>
                <a:ea typeface="微软雅黑" panose="020B0503020204020204" charset="-122"/>
                <a:cs typeface="微软雅黑" panose="020B0503020204020204" charset="-122"/>
              </a:defRPr>
            </a:lvl7pPr>
            <a:lvl8pPr>
              <a:defRPr sz="1800" b="1">
                <a:solidFill>
                  <a:srgbClr val="0072B2"/>
                </a:solidFill>
                <a:latin typeface="微软雅黑" panose="020B0503020204020204" charset="-122"/>
                <a:ea typeface="微软雅黑" panose="020B0503020204020204" charset="-122"/>
                <a:cs typeface="微软雅黑" panose="020B0503020204020204" charset="-122"/>
              </a:defRPr>
            </a:lvl8pPr>
            <a:lvl9pPr>
              <a:defRPr sz="1800" b="1">
                <a:solidFill>
                  <a:srgbClr val="0072B2"/>
                </a:solidFill>
                <a:latin typeface="微软雅黑" panose="020B0503020204020204" charset="-122"/>
                <a:ea typeface="微软雅黑" panose="020B0503020204020204" charset="-122"/>
                <a:cs typeface="微软雅黑" panose="020B0503020204020204" charset="-122"/>
              </a:defRPr>
            </a:lvl9pPr>
          </a:lstStyle>
          <a:p>
            <a:pPr>
              <a:defRPr sz="1800" b="1">
                <a:solidFill>
                  <a:srgbClr val="0072B2"/>
                </a:solidFill>
                <a:latin typeface="微软雅黑" panose="020B0503020204020204" charset="-122"/>
                <a:ea typeface="微软雅黑" panose="020B0503020204020204" charset="-122"/>
                <a:cs typeface="微软雅黑" panose="020B0503020204020204" charset="-122"/>
              </a:defRPr>
            </a:pPr>
            <a:r>
              <a:rPr sz="1800">
                <a:solidFill>
                  <a:schemeClr val="tx1"/>
                </a:solidFill>
                <a:highlight>
                  <a:srgbClr val="FFFF00"/>
                </a:highlight>
                <a:latin typeface="微软雅黑" panose="020B0503020204020204" charset="-122"/>
                <a:ea typeface="微软雅黑" panose="020B0503020204020204" charset="-122"/>
                <a:cs typeface="微软雅黑" panose="020B0503020204020204" charset="-122"/>
              </a:rPr>
              <a:t>作用：允许连接</a:t>
            </a:r>
            <a:r>
              <a:rPr lang="zh-CN" sz="1800">
                <a:solidFill>
                  <a:schemeClr val="tx1"/>
                </a:solidFill>
                <a:highlight>
                  <a:srgbClr val="FFFF00"/>
                </a:highlight>
                <a:latin typeface="微软雅黑" panose="020B0503020204020204" charset="-122"/>
                <a:ea typeface="微软雅黑" panose="020B0503020204020204" charset="-122"/>
                <a:cs typeface="微软雅黑" panose="020B0503020204020204" charset="-122"/>
              </a:rPr>
              <a:t>权重</a:t>
            </a:r>
            <a:r>
              <a:rPr lang="en-US" altLang="zh-CN" sz="1800">
                <a:solidFill>
                  <a:schemeClr val="tx1"/>
                </a:solidFill>
                <a:highlight>
                  <a:srgbClr val="FFFF00"/>
                </a:highlight>
                <a:latin typeface="微软雅黑" panose="020B0503020204020204" charset="-122"/>
                <a:ea typeface="微软雅黑" panose="020B0503020204020204" charset="-122"/>
                <a:cs typeface="微软雅黑" panose="020B0503020204020204" charset="-122"/>
              </a:rPr>
              <a:t> </a:t>
            </a:r>
            <a:r>
              <a:rPr sz="1800">
                <a:solidFill>
                  <a:schemeClr val="tx1"/>
                </a:solidFill>
                <a:highlight>
                  <a:srgbClr val="FFFF00"/>
                </a:highlight>
                <a:latin typeface="微软雅黑" panose="020B0503020204020204" charset="-122"/>
                <a:ea typeface="微软雅黑" panose="020B0503020204020204" charset="-122"/>
                <a:cs typeface="微软雅黑" panose="020B0503020204020204" charset="-122"/>
              </a:rPr>
              <a:t>重新分配，同时限制STDP引起的整体权重增长</a:t>
            </a:r>
            <a:r>
              <a:rPr sz="1800" b="1">
                <a:solidFill>
                  <a:srgbClr val="0072B2"/>
                </a:solidFill>
                <a:latin typeface="微软雅黑" panose="020B0503020204020204" charset="-122"/>
                <a:ea typeface="微软雅黑" panose="020B0503020204020204" charset="-122"/>
                <a:cs typeface="微软雅黑" panose="020B0503020204020204" charset="-122"/>
              </a:rPr>
              <a:t>。</a:t>
            </a:r>
            <a:endParaRPr sz="1800" b="1">
              <a:solidFill>
                <a:srgbClr val="0072B2"/>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p:cNvSpPr>
            <a:spLocks noGrp="1"/>
          </p:cNvSpPr>
          <p:nvPr/>
        </p:nvSpPr>
        <p:spPr>
          <a:xfrm>
            <a:off x="323850" y="228600"/>
            <a:ext cx="10401300" cy="552450"/>
          </a:xfrm>
          <a:prstGeom prst="rect">
            <a:avLst/>
          </a:prstGeom>
          <a:noFill/>
          <a:ln w="0">
            <a:noFill/>
          </a:ln>
        </p:spPr>
        <p:txBody>
          <a:bodyPr wrap="square" lIns="0" tIns="0" rIns="0" bIns="0" anchor="t">
            <a:noAutofit/>
          </a:bodyPr>
          <a:lstStyle>
            <a:defPPr>
              <a:defRPr sz="2400" b="1">
                <a:solidFill>
                  <a:srgbClr val="000000"/>
                </a:solidFill>
                <a:latin typeface="微软雅黑" panose="020B0503020204020204" charset="-122"/>
                <a:ea typeface="微软雅黑" panose="020B0503020204020204" charset="-122"/>
                <a:cs typeface="微软雅黑" panose="020B0503020204020204" charset="-122"/>
              </a:defRPr>
            </a:defPPr>
            <a:lvl1pPr>
              <a:defRPr sz="2400" b="1">
                <a:solidFill>
                  <a:srgbClr val="000000"/>
                </a:solidFill>
                <a:latin typeface="微软雅黑" panose="020B0503020204020204" charset="-122"/>
                <a:ea typeface="微软雅黑" panose="020B0503020204020204" charset="-122"/>
                <a:cs typeface="微软雅黑" panose="020B0503020204020204" charset="-122"/>
              </a:defRPr>
            </a:lvl1pPr>
            <a:lvl2pPr>
              <a:defRPr sz="2400" b="1">
                <a:solidFill>
                  <a:srgbClr val="000000"/>
                </a:solidFill>
                <a:latin typeface="微软雅黑" panose="020B0503020204020204" charset="-122"/>
                <a:ea typeface="微软雅黑" panose="020B0503020204020204" charset="-122"/>
                <a:cs typeface="微软雅黑" panose="020B0503020204020204" charset="-122"/>
              </a:defRPr>
            </a:lvl2pPr>
            <a:lvl3pPr>
              <a:defRPr sz="2400" b="1">
                <a:solidFill>
                  <a:srgbClr val="000000"/>
                </a:solidFill>
                <a:latin typeface="微软雅黑" panose="020B0503020204020204" charset="-122"/>
                <a:ea typeface="微软雅黑" panose="020B0503020204020204" charset="-122"/>
                <a:cs typeface="微软雅黑" panose="020B0503020204020204" charset="-122"/>
              </a:defRPr>
            </a:lvl3pPr>
            <a:lvl4pPr>
              <a:defRPr sz="2400" b="1">
                <a:solidFill>
                  <a:srgbClr val="000000"/>
                </a:solidFill>
                <a:latin typeface="微软雅黑" panose="020B0503020204020204" charset="-122"/>
                <a:ea typeface="微软雅黑" panose="020B0503020204020204" charset="-122"/>
                <a:cs typeface="微软雅黑" panose="020B0503020204020204" charset="-122"/>
              </a:defRPr>
            </a:lvl4pPr>
            <a:lvl5pPr>
              <a:defRPr sz="2400" b="1">
                <a:solidFill>
                  <a:srgbClr val="000000"/>
                </a:solidFill>
                <a:latin typeface="微软雅黑" panose="020B0503020204020204" charset="-122"/>
                <a:ea typeface="微软雅黑" panose="020B0503020204020204" charset="-122"/>
                <a:cs typeface="微软雅黑" panose="020B0503020204020204" charset="-122"/>
              </a:defRPr>
            </a:lvl5pPr>
            <a:lvl6pPr>
              <a:defRPr sz="2400" b="1">
                <a:solidFill>
                  <a:srgbClr val="000000"/>
                </a:solidFill>
                <a:latin typeface="微软雅黑" panose="020B0503020204020204" charset="-122"/>
                <a:ea typeface="微软雅黑" panose="020B0503020204020204" charset="-122"/>
                <a:cs typeface="微软雅黑" panose="020B0503020204020204" charset="-122"/>
              </a:defRPr>
            </a:lvl6pPr>
            <a:lvl7pPr>
              <a:defRPr sz="2400" b="1">
                <a:solidFill>
                  <a:srgbClr val="000000"/>
                </a:solidFill>
                <a:latin typeface="微软雅黑" panose="020B0503020204020204" charset="-122"/>
                <a:ea typeface="微软雅黑" panose="020B0503020204020204" charset="-122"/>
                <a:cs typeface="微软雅黑" panose="020B0503020204020204" charset="-122"/>
              </a:defRPr>
            </a:lvl7pPr>
            <a:lvl8pPr>
              <a:defRPr sz="2400" b="1">
                <a:solidFill>
                  <a:srgbClr val="000000"/>
                </a:solidFill>
                <a:latin typeface="微软雅黑" panose="020B0503020204020204" charset="-122"/>
                <a:ea typeface="微软雅黑" panose="020B0503020204020204" charset="-122"/>
                <a:cs typeface="微软雅黑" panose="020B0503020204020204" charset="-122"/>
              </a:defRPr>
            </a:lvl8pPr>
            <a:lvl9pPr>
              <a:defRPr sz="2400" b="1">
                <a:solidFill>
                  <a:srgbClr val="000000"/>
                </a:solidFill>
                <a:latin typeface="微软雅黑" panose="020B0503020204020204" charset="-122"/>
                <a:ea typeface="微软雅黑" panose="020B0503020204020204" charset="-122"/>
                <a:cs typeface="微软雅黑" panose="020B0503020204020204" charset="-122"/>
              </a:defRPr>
            </a:lvl9pPr>
          </a:lstStyle>
          <a:p>
            <a:pPr>
              <a:defRPr sz="2400" b="1">
                <a:solidFill>
                  <a:srgbClr val="000000"/>
                </a:solidFill>
                <a:latin typeface="微软雅黑" panose="020B0503020204020204" charset="-122"/>
                <a:ea typeface="微软雅黑" panose="020B0503020204020204" charset="-122"/>
                <a:cs typeface="微软雅黑" panose="020B0503020204020204" charset="-122"/>
              </a:defRPr>
            </a:pPr>
            <a:r>
              <a:rPr lang="en-US">
                <a:sym typeface="+mn-ea"/>
              </a:rPr>
              <a:t>Ruslim</a:t>
            </a:r>
            <a:r>
              <a:rPr lang="zh-CN" altLang="en-US">
                <a:sym typeface="+mn-ea"/>
              </a:rPr>
              <a:t>模型的</a:t>
            </a:r>
            <a:r>
              <a:rPr lang="en-US" altLang="zh-CN">
                <a:sym typeface="+mn-ea"/>
              </a:rPr>
              <a:t>adaptive threshold</a:t>
            </a:r>
            <a:r>
              <a:rPr sz="2400" b="1">
                <a:solidFill>
                  <a:srgbClr val="000000"/>
                </a:solidFill>
                <a:latin typeface="微软雅黑" panose="020B0503020204020204" charset="-122"/>
                <a:ea typeface="微软雅黑" panose="020B0503020204020204" charset="-122"/>
                <a:cs typeface="微软雅黑" panose="020B0503020204020204" charset="-122"/>
              </a:rPr>
              <a:t>：调节单</a:t>
            </a:r>
            <a:r>
              <a:rPr lang="zh-CN" sz="2400" b="1">
                <a:solidFill>
                  <a:srgbClr val="000000"/>
                </a:solidFill>
                <a:latin typeface="微软雅黑" panose="020B0503020204020204" charset="-122"/>
                <a:ea typeface="微软雅黑" panose="020B0503020204020204" charset="-122"/>
                <a:cs typeface="微软雅黑" panose="020B0503020204020204" charset="-122"/>
              </a:rPr>
              <a:t>个神经元的</a:t>
            </a:r>
            <a:r>
              <a:rPr sz="2400" b="1">
                <a:solidFill>
                  <a:srgbClr val="000000"/>
                </a:solidFill>
                <a:latin typeface="微软雅黑" panose="020B0503020204020204" charset="-122"/>
                <a:ea typeface="微软雅黑" panose="020B0503020204020204" charset="-122"/>
                <a:cs typeface="微软雅黑" panose="020B0503020204020204" charset="-122"/>
              </a:rPr>
              <a:t>兴奋性</a:t>
            </a:r>
            <a:endParaRPr sz="2400" b="1">
              <a:solidFill>
                <a:srgbClr val="000000"/>
              </a:solidFill>
              <a:latin typeface="微软雅黑" panose="020B0503020204020204" charset="-122"/>
              <a:ea typeface="微软雅黑" panose="020B0503020204020204" charset="-122"/>
              <a:cs typeface="微软雅黑" panose="020B0503020204020204" charset="-122"/>
            </a:endParaRPr>
          </a:p>
        </p:txBody>
      </p:sp>
      <p:pic>
        <p:nvPicPr>
          <p:cNvPr id="2" name="图片 1"/>
          <p:cNvPicPr>
            <a:picLocks noChangeAspect="1"/>
          </p:cNvPicPr>
          <p:nvPr/>
        </p:nvPicPr>
        <p:blipFill>
          <a:blip r:embed="rId1"/>
          <a:stretch>
            <a:fillRect/>
          </a:stretch>
        </p:blipFill>
        <p:spPr>
          <a:xfrm>
            <a:off x="10963275" y="38100"/>
            <a:ext cx="1152525" cy="1152525"/>
          </a:xfrm>
          <a:prstGeom prst="rect">
            <a:avLst/>
          </a:prstGeom>
        </p:spPr>
      </p:pic>
      <mc:AlternateContent xmlns:mc="http://schemas.openxmlformats.org/markup-compatibility/2006">
        <mc:Choice xmlns:a14="http://schemas.microsoft.com/office/drawing/2010/main" Requires="a14">
          <p:sp>
            <p:nvSpPr>
              <p:cNvPr id="4" name="EQ_threshold"/>
              <p:cNvSpPr>
                <a:spLocks noGrp="1"/>
              </p:cNvSpPr>
              <p:nvPr/>
            </p:nvSpPr>
            <p:spPr>
              <a:xfrm>
                <a:off x="476250" y="1619250"/>
                <a:ext cx="11049000" cy="1000125"/>
              </a:xfrm>
              <a:prstGeom prst="rect">
                <a:avLst/>
              </a:prstGeom>
              <a:noFill/>
              <a:ln w="0">
                <a:noFill/>
              </a:ln>
            </p:spPr>
            <p:txBody>
              <a:bodyPr wrap="square" lIns="0" tIns="0" rIns="0" bIns="0" anchor="t">
                <a:noAutofit/>
              </a:bodyPr>
              <a:lstStyle>
                <a:defPPr>
                  <a:defRPr sz="2550" b="0">
                    <a:solidFill>
                      <a:srgbClr val="000000"/>
                    </a:solidFill>
                    <a:latin typeface="Cambria Math" panose="02040503050406030204"/>
                    <a:ea typeface="Cambria Math" panose="02040503050406030204"/>
                    <a:cs typeface="Cambria Math" panose="02040503050406030204"/>
                  </a:defRPr>
                </a:defPPr>
                <a:lvl1pPr>
                  <a:defRPr sz="2550" b="0">
                    <a:solidFill>
                      <a:srgbClr val="000000"/>
                    </a:solidFill>
                    <a:latin typeface="Cambria Math" panose="02040503050406030204"/>
                    <a:ea typeface="Cambria Math" panose="02040503050406030204"/>
                    <a:cs typeface="Cambria Math" panose="02040503050406030204"/>
                  </a:defRPr>
                </a:lvl1pPr>
                <a:lvl2pPr>
                  <a:defRPr sz="2550" b="0">
                    <a:solidFill>
                      <a:srgbClr val="000000"/>
                    </a:solidFill>
                    <a:latin typeface="Cambria Math" panose="02040503050406030204"/>
                    <a:ea typeface="Cambria Math" panose="02040503050406030204"/>
                    <a:cs typeface="Cambria Math" panose="02040503050406030204"/>
                  </a:defRPr>
                </a:lvl2pPr>
                <a:lvl3pPr>
                  <a:defRPr sz="2550" b="0">
                    <a:solidFill>
                      <a:srgbClr val="000000"/>
                    </a:solidFill>
                    <a:latin typeface="Cambria Math" panose="02040503050406030204"/>
                    <a:ea typeface="Cambria Math" panose="02040503050406030204"/>
                    <a:cs typeface="Cambria Math" panose="02040503050406030204"/>
                  </a:defRPr>
                </a:lvl3pPr>
                <a:lvl4pPr>
                  <a:defRPr sz="2550" b="0">
                    <a:solidFill>
                      <a:srgbClr val="000000"/>
                    </a:solidFill>
                    <a:latin typeface="Cambria Math" panose="02040503050406030204"/>
                    <a:ea typeface="Cambria Math" panose="02040503050406030204"/>
                    <a:cs typeface="Cambria Math" panose="02040503050406030204"/>
                  </a:defRPr>
                </a:lvl4pPr>
                <a:lvl5pPr>
                  <a:defRPr sz="2550" b="0">
                    <a:solidFill>
                      <a:srgbClr val="000000"/>
                    </a:solidFill>
                    <a:latin typeface="Cambria Math" panose="02040503050406030204"/>
                    <a:ea typeface="Cambria Math" panose="02040503050406030204"/>
                    <a:cs typeface="Cambria Math" panose="02040503050406030204"/>
                  </a:defRPr>
                </a:lvl5pPr>
                <a:lvl6pPr>
                  <a:defRPr sz="2550" b="0">
                    <a:solidFill>
                      <a:srgbClr val="000000"/>
                    </a:solidFill>
                    <a:latin typeface="Cambria Math" panose="02040503050406030204"/>
                    <a:ea typeface="Cambria Math" panose="02040503050406030204"/>
                    <a:cs typeface="Cambria Math" panose="02040503050406030204"/>
                  </a:defRPr>
                </a:lvl6pPr>
                <a:lvl7pPr>
                  <a:defRPr sz="2550" b="0">
                    <a:solidFill>
                      <a:srgbClr val="000000"/>
                    </a:solidFill>
                    <a:latin typeface="Cambria Math" panose="02040503050406030204"/>
                    <a:ea typeface="Cambria Math" panose="02040503050406030204"/>
                    <a:cs typeface="Cambria Math" panose="02040503050406030204"/>
                  </a:defRPr>
                </a:lvl7pPr>
                <a:lvl8pPr>
                  <a:defRPr sz="2550" b="0">
                    <a:solidFill>
                      <a:srgbClr val="000000"/>
                    </a:solidFill>
                    <a:latin typeface="Cambria Math" panose="02040503050406030204"/>
                    <a:ea typeface="Cambria Math" panose="02040503050406030204"/>
                    <a:cs typeface="Cambria Math" panose="02040503050406030204"/>
                  </a:defRPr>
                </a:lvl8pPr>
                <a:lvl9pPr>
                  <a:defRPr sz="2550" b="0">
                    <a:solidFill>
                      <a:srgbClr val="000000"/>
                    </a:solidFill>
                    <a:latin typeface="Cambria Math" panose="02040503050406030204"/>
                    <a:ea typeface="Cambria Math" panose="02040503050406030204"/>
                    <a:cs typeface="Cambria Math" panose="02040503050406030204"/>
                  </a:defRPr>
                </a:lvl9pPr>
              </a:lstStyle>
              <a:p>
                <a14:m>
                  <m:oMathPara xmlns:m="http://schemas.openxmlformats.org/officeDocument/2006/math">
                    <m:oMathParaPr>
                      <m:jc m:val="left"/>
                    </m:oMathParaPr>
                    <m:oMath xmlns:m="http://schemas.openxmlformats.org/officeDocument/2006/math">
                      <m:r>
                        <a:rPr lang="en-US" sz="2400">
                          <a:latin typeface="Cambria Math" panose="02040503050406030204"/>
                          <a:ea typeface="微软雅黑" panose="020B0503020204020204" charset="-122"/>
                        </a:rPr>
                        <m:t>𝛥</m:t>
                      </m:r>
                      <m:sSubSup>
                        <m:sSubSupPr>
                          <m:ctrlPr>
                            <a:rPr/>
                          </m:ctrlPr>
                        </m:sSubSupPr>
                        <m:e>
                          <m:r>
                            <a:rPr lang="en-US" sz="2400">
                              <a:latin typeface="Cambria Math" panose="02040503050406030204"/>
                              <a:ea typeface="微软雅黑" panose="020B0503020204020204" charset="-122"/>
                            </a:rPr>
                            <m:t>𝜃</m:t>
                          </m:r>
                        </m:e>
                        <m:sub>
                          <m:r>
                            <a:rPr lang="en-US" sz="2400">
                              <a:latin typeface="Cambria Math" panose="02040503050406030204"/>
                              <a:ea typeface="微软雅黑" panose="020B0503020204020204" charset="-122"/>
                            </a:rPr>
                            <m:t>𝑗</m:t>
                          </m:r>
                        </m:sub>
                        <m:sup>
                          <m:r>
                            <a:rPr lang="en-US" sz="2400">
                              <a:latin typeface="Cambria Math" panose="02040503050406030204"/>
                              <a:ea typeface="微软雅黑" panose="020B0503020204020204" charset="-122"/>
                            </a:rPr>
                            <m:t>𝐴</m:t>
                          </m:r>
                        </m:sup>
                      </m:sSubSup>
                      <m:r>
                        <a:rPr lang="en-US" sz="2400">
                          <a:latin typeface="Cambria Math" panose="02040503050406030204"/>
                          <a:ea typeface="微软雅黑" panose="020B0503020204020204" charset="-122"/>
                        </a:rPr>
                        <m:t>=</m:t>
                      </m:r>
                      <m:sSubSup>
                        <m:sSubSupPr>
                          <m:ctrlPr>
                            <a:rPr/>
                          </m:ctrlPr>
                        </m:sSubSupPr>
                        <m:e>
                          <m:r>
                            <a:rPr lang="en-US" sz="2400">
                              <a:latin typeface="Cambria Math" panose="02040503050406030204"/>
                              <a:ea typeface="微软雅黑" panose="020B0503020204020204" charset="-122"/>
                            </a:rPr>
                            <m:t>𝜂</m:t>
                          </m:r>
                        </m:e>
                        <m:sub>
                          <m:r>
                            <a:rPr lang="en-US" sz="2400">
                              <a:latin typeface="Cambria Math" panose="02040503050406030204"/>
                              <a:ea typeface="微软雅黑" panose="020B0503020204020204" charset="-122"/>
                            </a:rPr>
                            <m:t>𝜃</m:t>
                          </m:r>
                        </m:sub>
                        <m:sup>
                          <m:r>
                            <a:rPr lang="en-US" sz="2400">
                              <a:latin typeface="Cambria Math" panose="02040503050406030204"/>
                              <a:ea typeface="微软雅黑" panose="020B0503020204020204" charset="-122"/>
                            </a:rPr>
                            <m:t>𝐴</m:t>
                          </m:r>
                        </m:sup>
                      </m:sSubSup>
                      <m:r>
                        <a:rPr lang="en-US" sz="2400">
                          <a:latin typeface="Cambria Math" panose="02040503050406030204"/>
                          <a:ea typeface="微软雅黑" panose="020B0503020204020204" charset="-122"/>
                        </a:rPr>
                        <m:t>[</m:t>
                      </m:r>
                      <m:f>
                        <m:fPr>
                          <m:ctrlPr>
                            <a:rPr/>
                          </m:ctrlPr>
                        </m:fPr>
                        <m:num>
                          <m:r>
                            <a:rPr lang="en-US" sz="2400">
                              <a:latin typeface="Cambria Math" panose="02040503050406030204"/>
                              <a:ea typeface="微软雅黑" panose="020B0503020204020204" charset="-122"/>
                            </a:rPr>
                            <m:t>1</m:t>
                          </m:r>
                        </m:num>
                        <m:den>
                          <m:r>
                            <a:rPr lang="en-US" sz="2400">
                              <a:latin typeface="Cambria Math" panose="02040503050406030204"/>
                              <a:ea typeface="微软雅黑" panose="020B0503020204020204" charset="-122"/>
                            </a:rPr>
                            <m:t>𝑇</m:t>
                          </m:r>
                        </m:den>
                      </m:f>
                      <m:nary>
                        <m:naryPr>
                          <m:grow m:val="on"/>
                          <m:limLoc m:val="subSup"/>
                          <m:ctrlPr>
                            <a:rPr/>
                          </m:ctrlPr>
                        </m:naryPr>
                        <m:sub>
                          <m:r>
                            <a:rPr lang="en-US" sz="2400">
                              <a:latin typeface="Cambria Math" panose="02040503050406030204"/>
                              <a:ea typeface="微软雅黑" panose="020B0503020204020204" charset="-122"/>
                            </a:rPr>
                            <m:t>0</m:t>
                          </m:r>
                        </m:sub>
                        <m:sup>
                          <m:r>
                            <a:rPr lang="en-US" sz="2400">
                              <a:latin typeface="Cambria Math" panose="02040503050406030204"/>
                              <a:ea typeface="微软雅黑" panose="020B0503020204020204" charset="-122"/>
                            </a:rPr>
                            <m:t>𝑇</m:t>
                          </m:r>
                        </m:sup>
                        <m:e>
                          <m:sSubSup>
                            <m:sSubSupPr>
                              <m:ctrlPr>
                                <a:rPr/>
                              </m:ctrlPr>
                            </m:sSubSupPr>
                            <m:e>
                              <m:r>
                                <a:rPr lang="en-US" sz="2400">
                                  <a:latin typeface="Cambria Math" panose="02040503050406030204"/>
                                  <a:ea typeface="微软雅黑" panose="020B0503020204020204" charset="-122"/>
                                </a:rPr>
                                <m:t>𝑆</m:t>
                              </m:r>
                            </m:e>
                            <m:sub>
                              <m:r>
                                <a:rPr lang="en-US" sz="2400">
                                  <a:latin typeface="Cambria Math" panose="02040503050406030204"/>
                                  <a:ea typeface="微软雅黑" panose="020B0503020204020204" charset="-122"/>
                                </a:rPr>
                                <m:t>𝑗</m:t>
                              </m:r>
                            </m:sub>
                            <m:sup>
                              <m:r>
                                <a:rPr lang="en-US" sz="2400">
                                  <a:latin typeface="Cambria Math" panose="02040503050406030204"/>
                                  <a:ea typeface="微软雅黑" panose="020B0503020204020204" charset="-122"/>
                                </a:rPr>
                                <m:t>𝐴</m:t>
                              </m:r>
                            </m:sup>
                          </m:sSubSup>
                        </m:e>
                      </m:nary>
                      <m:d>
                        <m:dPr>
                          <m:sepChr m:val=""/>
                          <m:ctrlPr>
                            <a:rPr/>
                          </m:ctrlPr>
                        </m:dPr>
                        <m:e>
                          <m:r>
                            <a:rPr lang="en-US" sz="2400">
                              <a:latin typeface="Cambria Math" panose="02040503050406030204"/>
                              <a:ea typeface="微软雅黑" panose="020B0503020204020204" charset="-122"/>
                            </a:rPr>
                            <m:t>𝑡</m:t>
                          </m:r>
                        </m:e>
                      </m:d>
                      <m:r>
                        <a:rPr lang="en-US" sz="2400">
                          <a:latin typeface="Cambria Math" panose="02040503050406030204"/>
                          <a:ea typeface="微软雅黑" panose="020B0503020204020204" charset="-122"/>
                        </a:rPr>
                        <m:t>𝑑𝑡</m:t>
                      </m:r>
                      <m:r>
                        <a:rPr lang="en-US" sz="2400">
                          <a:latin typeface="Cambria Math" panose="02040503050406030204"/>
                          <a:ea typeface="微软雅黑" panose="020B0503020204020204" charset="-122"/>
                        </a:rPr>
                        <m:t>−</m:t>
                      </m:r>
                      <m:sSup>
                        <m:sSupPr>
                          <m:ctrlPr>
                            <a:rPr/>
                          </m:ctrlPr>
                        </m:sSupPr>
                        <m:e>
                          <m:r>
                            <a:rPr lang="en-US" sz="2400">
                              <a:latin typeface="Cambria Math" panose="02040503050406030204"/>
                              <a:ea typeface="微软雅黑" panose="020B0503020204020204" charset="-122"/>
                            </a:rPr>
                            <m:t>𝜌</m:t>
                          </m:r>
                        </m:e>
                        <m:sup>
                          <m:r>
                            <a:rPr lang="en-US" sz="2400">
                              <a:latin typeface="Cambria Math" panose="02040503050406030204"/>
                              <a:ea typeface="微软雅黑" panose="020B0503020204020204" charset="-122"/>
                            </a:rPr>
                            <m:t>𝐴</m:t>
                          </m:r>
                        </m:sup>
                      </m:sSup>
                      <m:r>
                        <a:rPr lang="en-US" sz="2400">
                          <a:latin typeface="Cambria Math" panose="02040503050406030204"/>
                          <a:ea typeface="微软雅黑" panose="020B0503020204020204" charset="-122"/>
                        </a:rPr>
                        <m:t>]</m:t>
                      </m:r>
                    </m:oMath>
                  </m:oMathPara>
                </a14:m>
                <a:endParaRPr lang="en-US" sz="2100"/>
              </a:p>
            </p:txBody>
          </p:sp>
        </mc:Choice>
        <mc:Fallback>
          <p:sp>
            <p:nvSpPr>
              <p:cNvPr id="4" name="EQ_threshold"/>
              <p:cNvSpPr>
                <a:spLocks noRot="1" noChangeAspect="1" noMove="1" noResize="1" noEditPoints="1" noAdjustHandles="1" noChangeArrowheads="1" noChangeShapeType="1" noTextEdit="1"/>
              </p:cNvSpPr>
              <p:nvPr/>
            </p:nvSpPr>
            <p:spPr>
              <a:xfrm>
                <a:off x="476250" y="1619250"/>
                <a:ext cx="11049000" cy="1000125"/>
              </a:xfrm>
              <a:prstGeom prst="rect">
                <a:avLst/>
              </a:prstGeom>
              <a:blipFill rotWithShape="1">
                <a:blip r:embed="rId2"/>
                <a:stretch>
                  <a:fillRect/>
                </a:stretch>
              </a:blipFill>
              <a:ln w="0">
                <a:noFill/>
              </a:ln>
            </p:spPr>
            <p:txBody>
              <a:bodyPr/>
              <a:lstStyle/>
              <a:p>
                <a:r>
                  <a:rPr lang="zh-CN" altLang="en-US">
                    <a:noFill/>
                  </a:rPr>
                  <a:t> </a:t>
                </a:r>
              </a:p>
            </p:txBody>
          </p:sp>
        </mc:Fallback>
      </mc:AlternateContent>
      <p:graphicFrame>
        <p:nvGraphicFramePr>
          <p:cNvPr id="5" name="表格 4"/>
          <p:cNvGraphicFramePr/>
          <p:nvPr/>
        </p:nvGraphicFramePr>
        <p:xfrm>
          <a:off x="571500" y="3086100"/>
          <a:ext cx="11001375" cy="2047876"/>
        </p:xfrm>
        <a:graphic>
          <a:graphicData uri="http://schemas.openxmlformats.org/drawingml/2006/table">
            <a:tbl>
              <a:tblPr/>
              <a:tblGrid>
                <a:gridCol w="2476500"/>
                <a:gridCol w="8524875"/>
              </a:tblGrid>
              <a:tr h="511969">
                <a:tc>
                  <a:txBody>
                    <a:bodyPr/>
                    <a:lstStyle/>
                    <a:p>
                      <a:pPr algn="ctr"/>
                      <a:r>
                        <a:rPr sz="1725" b="1">
                          <a:solidFill>
                            <a:srgbClr val="111111"/>
                          </a:solidFill>
                          <a:latin typeface="微软雅黑" panose="020B0503020204020204" charset="-122"/>
                          <a:ea typeface="微软雅黑" panose="020B0503020204020204" charset="-122"/>
                          <a:cs typeface="微软雅黑" panose="020B0503020204020204" charset="-122"/>
                        </a:rPr>
                        <a:t>变量</a:t>
                      </a:r>
                      <a:endParaRPr sz="1725" b="1">
                        <a:solidFill>
                          <a:srgbClr val="111111"/>
                        </a:solidFill>
                        <a:latin typeface="微软雅黑" panose="020B0503020204020204" charset="-122"/>
                        <a:ea typeface="微软雅黑" panose="020B0503020204020204" charset="-122"/>
                        <a:cs typeface="微软雅黑" panose="020B0503020204020204" charset="-122"/>
                      </a:endParaRPr>
                    </a:p>
                  </a:txBody>
                  <a:tcPr anchor="ctr">
                    <a:lnL w="7620">
                      <a:solidFill>
                        <a:srgbClr val="D9DEE4"/>
                      </a:solidFill>
                      <a:prstDash val="solid"/>
                    </a:lnL>
                    <a:lnR w="7620">
                      <a:solidFill>
                        <a:srgbClr val="D9DEE4"/>
                      </a:solidFill>
                      <a:prstDash val="solid"/>
                    </a:lnR>
                    <a:lnT w="7620">
                      <a:solidFill>
                        <a:srgbClr val="D9DEE4"/>
                      </a:solidFill>
                      <a:prstDash val="solid"/>
                    </a:lnT>
                    <a:lnB w="7620">
                      <a:solidFill>
                        <a:srgbClr val="D9DEE4"/>
                      </a:solidFill>
                      <a:prstDash val="solid"/>
                    </a:lnB>
                    <a:solidFill>
                      <a:schemeClr val="bg2"/>
                    </a:solidFill>
                  </a:tcPr>
                </a:tc>
                <a:tc>
                  <a:txBody>
                    <a:bodyPr/>
                    <a:lstStyle/>
                    <a:p>
                      <a:pPr algn="ctr"/>
                      <a:r>
                        <a:rPr sz="1725" b="1">
                          <a:solidFill>
                            <a:srgbClr val="111111"/>
                          </a:solidFill>
                          <a:latin typeface="微软雅黑" panose="020B0503020204020204" charset="-122"/>
                          <a:ea typeface="微软雅黑" panose="020B0503020204020204" charset="-122"/>
                          <a:cs typeface="微软雅黑" panose="020B0503020204020204" charset="-122"/>
                        </a:rPr>
                        <a:t>含义</a:t>
                      </a:r>
                      <a:endParaRPr sz="1725" b="1">
                        <a:solidFill>
                          <a:srgbClr val="111111"/>
                        </a:solidFill>
                        <a:latin typeface="微软雅黑" panose="020B0503020204020204" charset="-122"/>
                        <a:ea typeface="微软雅黑" panose="020B0503020204020204" charset="-122"/>
                        <a:cs typeface="微软雅黑" panose="020B0503020204020204" charset="-122"/>
                      </a:endParaRPr>
                    </a:p>
                  </a:txBody>
                  <a:tcPr anchor="ctr">
                    <a:lnL w="7620" cap="flat" cmpd="sng" algn="ctr">
                      <a:solidFill>
                        <a:srgbClr val="D9DEE4"/>
                      </a:solidFill>
                      <a:prstDash val="solid"/>
                      <a:round/>
                      <a:headEnd type="none" w="med" len="med"/>
                      <a:tailEnd type="none" w="med" len="med"/>
                    </a:lnL>
                    <a:lnR w="7620">
                      <a:solidFill>
                        <a:srgbClr val="D9DEE4"/>
                      </a:solidFill>
                      <a:prstDash val="solid"/>
                    </a:lnR>
                    <a:lnT w="7620">
                      <a:solidFill>
                        <a:srgbClr val="D9DEE4"/>
                      </a:solidFill>
                      <a:prstDash val="solid"/>
                    </a:lnT>
                    <a:lnB w="7620">
                      <a:solidFill>
                        <a:srgbClr val="D9DEE4"/>
                      </a:solidFill>
                      <a:prstDash val="solid"/>
                    </a:lnB>
                    <a:solidFill>
                      <a:schemeClr val="bg2"/>
                    </a:solidFill>
                  </a:tcPr>
                </a:tc>
              </a:tr>
              <a:tr h="511969">
                <a:tc>
                  <a:txBody>
                    <a:bodyPr/>
                    <a:lstStyle/>
                    <a:p>
                      <a:pPr algn="ctr"/>
                      <a:r>
                        <a:rPr sz="1725" b="0">
                          <a:solidFill>
                            <a:srgbClr val="111111"/>
                          </a:solidFill>
                          <a:latin typeface="微软雅黑" panose="020B0503020204020204" charset="-122"/>
                          <a:ea typeface="微软雅黑" panose="020B0503020204020204" charset="-122"/>
                          <a:cs typeface="微软雅黑" panose="020B0503020204020204" charset="-122"/>
                        </a:rPr>
                        <a:t>θ（阈值）</a:t>
                      </a:r>
                      <a:endParaRPr sz="1725" b="0">
                        <a:solidFill>
                          <a:srgbClr val="111111"/>
                        </a:solidFill>
                        <a:latin typeface="微软雅黑" panose="020B0503020204020204" charset="-122"/>
                        <a:ea typeface="微软雅黑" panose="020B0503020204020204" charset="-122"/>
                        <a:cs typeface="微软雅黑" panose="020B0503020204020204" charset="-122"/>
                      </a:endParaRPr>
                    </a:p>
                  </a:txBody>
                  <a:tcPr anchor="ctr">
                    <a:lnL w="7620">
                      <a:solidFill>
                        <a:srgbClr val="D9DEE4"/>
                      </a:solidFill>
                      <a:prstDash val="solid"/>
                    </a:lnL>
                    <a:lnR w="7620">
                      <a:solidFill>
                        <a:srgbClr val="D9DEE4"/>
                      </a:solidFill>
                      <a:prstDash val="solid"/>
                    </a:lnR>
                    <a:lnT w="7620" cap="flat" cmpd="sng" algn="ctr">
                      <a:solidFill>
                        <a:srgbClr val="D9DEE4"/>
                      </a:solidFill>
                      <a:prstDash val="solid"/>
                      <a:round/>
                      <a:headEnd type="none" w="med" len="med"/>
                      <a:tailEnd type="none" w="med" len="med"/>
                    </a:lnT>
                    <a:lnB w="7620">
                      <a:solidFill>
                        <a:srgbClr val="D9DEE4"/>
                      </a:solidFill>
                      <a:prstDash val="solid"/>
                    </a:lnB>
                    <a:solidFill>
                      <a:srgbClr val="FFFFFF"/>
                    </a:solidFill>
                  </a:tcPr>
                </a:tc>
                <a:tc>
                  <a:txBody>
                    <a:bodyPr/>
                    <a:lstStyle/>
                    <a:p>
                      <a:pPr algn="ctr"/>
                      <a:r>
                        <a:rPr sz="1725" b="0">
                          <a:solidFill>
                            <a:srgbClr val="111111"/>
                          </a:solidFill>
                          <a:latin typeface="微软雅黑" panose="020B0503020204020204" charset="-122"/>
                          <a:ea typeface="微软雅黑" panose="020B0503020204020204" charset="-122"/>
                          <a:cs typeface="微软雅黑" panose="020B0503020204020204" charset="-122"/>
                        </a:rPr>
                        <a:t>A群体中第j个神经元的放电阈值；A为E或I</a:t>
                      </a:r>
                      <a:endParaRPr sz="1725" b="0">
                        <a:solidFill>
                          <a:srgbClr val="111111"/>
                        </a:solidFill>
                        <a:latin typeface="微软雅黑" panose="020B0503020204020204" charset="-122"/>
                        <a:ea typeface="微软雅黑" panose="020B0503020204020204" charset="-122"/>
                        <a:cs typeface="微软雅黑" panose="020B0503020204020204" charset="-122"/>
                      </a:endParaRPr>
                    </a:p>
                  </a:txBody>
                  <a:tcPr anchor="ctr">
                    <a:lnL w="7620" cap="flat" cmpd="sng" algn="ctr">
                      <a:solidFill>
                        <a:srgbClr val="D9DEE4"/>
                      </a:solidFill>
                      <a:prstDash val="solid"/>
                      <a:round/>
                      <a:headEnd type="none" w="med" len="med"/>
                      <a:tailEnd type="none" w="med" len="med"/>
                    </a:lnL>
                    <a:lnR w="7620">
                      <a:solidFill>
                        <a:srgbClr val="D9DEE4"/>
                      </a:solidFill>
                      <a:prstDash val="solid"/>
                    </a:lnR>
                    <a:lnT w="7620" cap="flat" cmpd="sng" algn="ctr">
                      <a:solidFill>
                        <a:srgbClr val="D9DEE4"/>
                      </a:solidFill>
                      <a:prstDash val="solid"/>
                      <a:round/>
                      <a:headEnd type="none" w="med" len="med"/>
                      <a:tailEnd type="none" w="med" len="med"/>
                    </a:lnT>
                    <a:lnB w="7620">
                      <a:solidFill>
                        <a:srgbClr val="D9DEE4"/>
                      </a:solidFill>
                      <a:prstDash val="solid"/>
                    </a:lnB>
                    <a:solidFill>
                      <a:srgbClr val="FFFFFF"/>
                    </a:solidFill>
                  </a:tcPr>
                </a:tc>
              </a:tr>
              <a:tr h="511969">
                <a:tc>
                  <a:txBody>
                    <a:bodyPr/>
                    <a:lstStyle/>
                    <a:p>
                      <a:pPr algn="ctr"/>
                      <a:r>
                        <a:rPr sz="1725" b="0">
                          <a:solidFill>
                            <a:srgbClr val="111111"/>
                          </a:solidFill>
                          <a:latin typeface="微软雅黑" panose="020B0503020204020204" charset="-122"/>
                          <a:ea typeface="微软雅黑" panose="020B0503020204020204" charset="-122"/>
                          <a:cs typeface="微软雅黑" panose="020B0503020204020204" charset="-122"/>
                        </a:rPr>
                        <a:t>S(t)、T</a:t>
                      </a:r>
                      <a:endParaRPr sz="1725" b="0">
                        <a:solidFill>
                          <a:srgbClr val="111111"/>
                        </a:solidFill>
                        <a:latin typeface="微软雅黑" panose="020B0503020204020204" charset="-122"/>
                        <a:ea typeface="微软雅黑" panose="020B0503020204020204" charset="-122"/>
                        <a:cs typeface="微软雅黑" panose="020B0503020204020204" charset="-122"/>
                      </a:endParaRPr>
                    </a:p>
                  </a:txBody>
                  <a:tcPr anchor="ctr">
                    <a:lnL w="7620">
                      <a:solidFill>
                        <a:srgbClr val="D9DEE4"/>
                      </a:solidFill>
                      <a:prstDash val="solid"/>
                    </a:lnL>
                    <a:lnR w="7620">
                      <a:solidFill>
                        <a:srgbClr val="D9DEE4"/>
                      </a:solidFill>
                      <a:prstDash val="solid"/>
                    </a:lnR>
                    <a:lnT w="7620" cap="flat" cmpd="sng" algn="ctr">
                      <a:solidFill>
                        <a:srgbClr val="D9DEE4"/>
                      </a:solidFill>
                      <a:prstDash val="solid"/>
                      <a:round/>
                      <a:headEnd type="none" w="med" len="med"/>
                      <a:tailEnd type="none" w="med" len="med"/>
                    </a:lnT>
                    <a:lnB w="7620">
                      <a:solidFill>
                        <a:srgbClr val="D9DEE4"/>
                      </a:solidFill>
                      <a:prstDash val="solid"/>
                    </a:lnB>
                    <a:solidFill>
                      <a:srgbClr val="FFFFFF"/>
                    </a:solidFill>
                  </a:tcPr>
                </a:tc>
                <a:tc>
                  <a:txBody>
                    <a:bodyPr/>
                    <a:lstStyle/>
                    <a:p>
                      <a:pPr algn="ctr"/>
                      <a:r>
                        <a:rPr sz="1725" b="0">
                          <a:solidFill>
                            <a:srgbClr val="111111"/>
                          </a:solidFill>
                          <a:latin typeface="微软雅黑" panose="020B0503020204020204" charset="-122"/>
                          <a:ea typeface="微软雅黑" panose="020B0503020204020204" charset="-122"/>
                          <a:cs typeface="微软雅黑" panose="020B0503020204020204" charset="-122"/>
                        </a:rPr>
                        <a:t>该神经元的脉冲序列与活动统计时段</a:t>
                      </a:r>
                      <a:endParaRPr sz="1725" b="0">
                        <a:solidFill>
                          <a:srgbClr val="111111"/>
                        </a:solidFill>
                        <a:latin typeface="微软雅黑" panose="020B0503020204020204" charset="-122"/>
                        <a:ea typeface="微软雅黑" panose="020B0503020204020204" charset="-122"/>
                        <a:cs typeface="微软雅黑" panose="020B0503020204020204" charset="-122"/>
                      </a:endParaRPr>
                    </a:p>
                  </a:txBody>
                  <a:tcPr anchor="ctr">
                    <a:lnL w="7620" cap="flat" cmpd="sng" algn="ctr">
                      <a:solidFill>
                        <a:srgbClr val="D9DEE4"/>
                      </a:solidFill>
                      <a:prstDash val="solid"/>
                      <a:round/>
                      <a:headEnd type="none" w="med" len="med"/>
                      <a:tailEnd type="none" w="med" len="med"/>
                    </a:lnL>
                    <a:lnR w="7620">
                      <a:solidFill>
                        <a:srgbClr val="D9DEE4"/>
                      </a:solidFill>
                      <a:prstDash val="solid"/>
                    </a:lnR>
                    <a:lnT w="7620" cap="flat" cmpd="sng" algn="ctr">
                      <a:solidFill>
                        <a:srgbClr val="D9DEE4"/>
                      </a:solidFill>
                      <a:prstDash val="solid"/>
                      <a:round/>
                      <a:headEnd type="none" w="med" len="med"/>
                      <a:tailEnd type="none" w="med" len="med"/>
                    </a:lnT>
                    <a:lnB w="7620">
                      <a:solidFill>
                        <a:srgbClr val="D9DEE4"/>
                      </a:solidFill>
                      <a:prstDash val="solid"/>
                    </a:lnB>
                    <a:solidFill>
                      <a:srgbClr val="FFFFFF"/>
                    </a:solidFill>
                  </a:tcPr>
                </a:tc>
              </a:tr>
              <a:tr h="511969">
                <a:tc>
                  <a:txBody>
                    <a:bodyPr/>
                    <a:lstStyle/>
                    <a:p>
                      <a:pPr algn="ctr"/>
                      <a:r>
                        <a:rPr sz="1725" b="0">
                          <a:solidFill>
                            <a:srgbClr val="111111"/>
                          </a:solidFill>
                          <a:latin typeface="微软雅黑" panose="020B0503020204020204" charset="-122"/>
                          <a:ea typeface="微软雅黑" panose="020B0503020204020204" charset="-122"/>
                          <a:cs typeface="微软雅黑" panose="020B0503020204020204" charset="-122"/>
                        </a:rPr>
                        <a:t>ρ、ηθ</a:t>
                      </a:r>
                      <a:endParaRPr sz="1725" b="0">
                        <a:solidFill>
                          <a:srgbClr val="111111"/>
                        </a:solidFill>
                        <a:latin typeface="微软雅黑" panose="020B0503020204020204" charset="-122"/>
                        <a:ea typeface="微软雅黑" panose="020B0503020204020204" charset="-122"/>
                        <a:cs typeface="微软雅黑" panose="020B0503020204020204" charset="-122"/>
                      </a:endParaRPr>
                    </a:p>
                  </a:txBody>
                  <a:tcPr anchor="ctr">
                    <a:lnL w="7620">
                      <a:solidFill>
                        <a:srgbClr val="D9DEE4"/>
                      </a:solidFill>
                      <a:prstDash val="solid"/>
                    </a:lnL>
                    <a:lnR w="7620">
                      <a:solidFill>
                        <a:srgbClr val="D9DEE4"/>
                      </a:solidFill>
                      <a:prstDash val="solid"/>
                    </a:lnR>
                    <a:lnT w="7620" cap="flat" cmpd="sng" algn="ctr">
                      <a:solidFill>
                        <a:srgbClr val="D9DEE4"/>
                      </a:solidFill>
                      <a:prstDash val="solid"/>
                      <a:round/>
                      <a:headEnd type="none" w="med" len="med"/>
                      <a:tailEnd type="none" w="med" len="med"/>
                    </a:lnT>
                    <a:lnB w="7620">
                      <a:solidFill>
                        <a:srgbClr val="D9DEE4"/>
                      </a:solidFill>
                      <a:prstDash val="solid"/>
                    </a:lnB>
                    <a:solidFill>
                      <a:srgbClr val="FFFFFF"/>
                    </a:solidFill>
                  </a:tcPr>
                </a:tc>
                <a:tc>
                  <a:txBody>
                    <a:bodyPr/>
                    <a:lstStyle/>
                    <a:p>
                      <a:pPr algn="ctr"/>
                      <a:r>
                        <a:rPr sz="1725" b="0">
                          <a:solidFill>
                            <a:srgbClr val="111111"/>
                          </a:solidFill>
                          <a:latin typeface="微软雅黑" panose="020B0503020204020204" charset="-122"/>
                          <a:ea typeface="微软雅黑" panose="020B0503020204020204" charset="-122"/>
                          <a:cs typeface="微软雅黑" panose="020B0503020204020204" charset="-122"/>
                        </a:rPr>
                        <a:t>对应群体的目标放电率与阈值学习率</a:t>
                      </a:r>
                      <a:endParaRPr sz="1725" b="0">
                        <a:solidFill>
                          <a:srgbClr val="111111"/>
                        </a:solidFill>
                        <a:latin typeface="微软雅黑" panose="020B0503020204020204" charset="-122"/>
                        <a:ea typeface="微软雅黑" panose="020B0503020204020204" charset="-122"/>
                        <a:cs typeface="微软雅黑" panose="020B0503020204020204" charset="-122"/>
                      </a:endParaRPr>
                    </a:p>
                  </a:txBody>
                  <a:tcPr anchor="ctr">
                    <a:lnL w="7620" cap="flat" cmpd="sng" algn="ctr">
                      <a:solidFill>
                        <a:srgbClr val="D9DEE4"/>
                      </a:solidFill>
                      <a:prstDash val="solid"/>
                      <a:round/>
                      <a:headEnd type="none" w="med" len="med"/>
                      <a:tailEnd type="none" w="med" len="med"/>
                    </a:lnL>
                    <a:lnR w="7620">
                      <a:solidFill>
                        <a:srgbClr val="D9DEE4"/>
                      </a:solidFill>
                      <a:prstDash val="solid"/>
                    </a:lnR>
                    <a:lnT w="7620" cap="flat" cmpd="sng" algn="ctr">
                      <a:solidFill>
                        <a:srgbClr val="D9DEE4"/>
                      </a:solidFill>
                      <a:prstDash val="solid"/>
                      <a:round/>
                      <a:headEnd type="none" w="med" len="med"/>
                      <a:tailEnd type="none" w="med" len="med"/>
                    </a:lnT>
                    <a:lnB w="7620">
                      <a:solidFill>
                        <a:srgbClr val="D9DEE4"/>
                      </a:solidFill>
                      <a:prstDash val="solid"/>
                    </a:lnB>
                    <a:solidFill>
                      <a:srgbClr val="FFFFFF"/>
                    </a:solidFill>
                  </a:tcPr>
                </a:tc>
              </a:tr>
            </a:tbl>
          </a:graphicData>
        </a:graphic>
      </p:graphicFrame>
      <p:sp>
        <p:nvSpPr>
          <p:cNvPr id="6" name="平均放电高于目标时提高阈值，低于目标时降低阈值。&#10;E、I细胞"/>
          <p:cNvSpPr>
            <a:spLocks noGrp="1"/>
          </p:cNvSpPr>
          <p:nvPr/>
        </p:nvSpPr>
        <p:spPr>
          <a:xfrm>
            <a:off x="571500" y="5400675"/>
            <a:ext cx="11001375" cy="647700"/>
          </a:xfrm>
          <a:prstGeom prst="rect">
            <a:avLst/>
          </a:prstGeom>
          <a:noFill/>
          <a:ln w="0">
            <a:noFill/>
          </a:ln>
        </p:spPr>
        <p:txBody>
          <a:bodyPr wrap="square" lIns="0" tIns="0" rIns="0" bIns="0" anchor="t">
            <a:noAutofit/>
          </a:bodyPr>
          <a:lstStyle>
            <a:defPPr>
              <a:defRPr sz="1875" b="0">
                <a:solidFill>
                  <a:srgbClr val="111111"/>
                </a:solidFill>
                <a:latin typeface="微软雅黑" panose="020B0503020204020204" charset="-122"/>
                <a:ea typeface="微软雅黑" panose="020B0503020204020204" charset="-122"/>
                <a:cs typeface="微软雅黑" panose="020B0503020204020204" charset="-122"/>
              </a:defRPr>
            </a:defPPr>
            <a:lvl1pPr>
              <a:defRPr sz="1875" b="0">
                <a:solidFill>
                  <a:srgbClr val="111111"/>
                </a:solidFill>
                <a:latin typeface="微软雅黑" panose="020B0503020204020204" charset="-122"/>
                <a:ea typeface="微软雅黑" panose="020B0503020204020204" charset="-122"/>
                <a:cs typeface="微软雅黑" panose="020B0503020204020204" charset="-122"/>
              </a:defRPr>
            </a:lvl1pPr>
            <a:lvl2pPr>
              <a:defRPr sz="1875" b="0">
                <a:solidFill>
                  <a:srgbClr val="111111"/>
                </a:solidFill>
                <a:latin typeface="微软雅黑" panose="020B0503020204020204" charset="-122"/>
                <a:ea typeface="微软雅黑" panose="020B0503020204020204" charset="-122"/>
                <a:cs typeface="微软雅黑" panose="020B0503020204020204" charset="-122"/>
              </a:defRPr>
            </a:lvl2pPr>
            <a:lvl3pPr>
              <a:defRPr sz="1875" b="0">
                <a:solidFill>
                  <a:srgbClr val="111111"/>
                </a:solidFill>
                <a:latin typeface="微软雅黑" panose="020B0503020204020204" charset="-122"/>
                <a:ea typeface="微软雅黑" panose="020B0503020204020204" charset="-122"/>
                <a:cs typeface="微软雅黑" panose="020B0503020204020204" charset="-122"/>
              </a:defRPr>
            </a:lvl3pPr>
            <a:lvl4pPr>
              <a:defRPr sz="1875" b="0">
                <a:solidFill>
                  <a:srgbClr val="111111"/>
                </a:solidFill>
                <a:latin typeface="微软雅黑" panose="020B0503020204020204" charset="-122"/>
                <a:ea typeface="微软雅黑" panose="020B0503020204020204" charset="-122"/>
                <a:cs typeface="微软雅黑" panose="020B0503020204020204" charset="-122"/>
              </a:defRPr>
            </a:lvl4pPr>
            <a:lvl5pPr>
              <a:defRPr sz="1875" b="0">
                <a:solidFill>
                  <a:srgbClr val="111111"/>
                </a:solidFill>
                <a:latin typeface="微软雅黑" panose="020B0503020204020204" charset="-122"/>
                <a:ea typeface="微软雅黑" panose="020B0503020204020204" charset="-122"/>
                <a:cs typeface="微软雅黑" panose="020B0503020204020204" charset="-122"/>
              </a:defRPr>
            </a:lvl5pPr>
            <a:lvl6pPr>
              <a:defRPr sz="1875" b="0">
                <a:solidFill>
                  <a:srgbClr val="111111"/>
                </a:solidFill>
                <a:latin typeface="微软雅黑" panose="020B0503020204020204" charset="-122"/>
                <a:ea typeface="微软雅黑" panose="020B0503020204020204" charset="-122"/>
                <a:cs typeface="微软雅黑" panose="020B0503020204020204" charset="-122"/>
              </a:defRPr>
            </a:lvl6pPr>
            <a:lvl7pPr>
              <a:defRPr sz="1875" b="0">
                <a:solidFill>
                  <a:srgbClr val="111111"/>
                </a:solidFill>
                <a:latin typeface="微软雅黑" panose="020B0503020204020204" charset="-122"/>
                <a:ea typeface="微软雅黑" panose="020B0503020204020204" charset="-122"/>
                <a:cs typeface="微软雅黑" panose="020B0503020204020204" charset="-122"/>
              </a:defRPr>
            </a:lvl7pPr>
            <a:lvl8pPr>
              <a:defRPr sz="1875" b="0">
                <a:solidFill>
                  <a:srgbClr val="111111"/>
                </a:solidFill>
                <a:latin typeface="微软雅黑" panose="020B0503020204020204" charset="-122"/>
                <a:ea typeface="微软雅黑" panose="020B0503020204020204" charset="-122"/>
                <a:cs typeface="微软雅黑" panose="020B0503020204020204" charset="-122"/>
              </a:defRPr>
            </a:lvl8pPr>
            <a:lvl9pPr>
              <a:defRPr sz="1875" b="0">
                <a:solidFill>
                  <a:srgbClr val="111111"/>
                </a:solidFill>
                <a:latin typeface="微软雅黑" panose="020B0503020204020204" charset="-122"/>
                <a:ea typeface="微软雅黑" panose="020B0503020204020204" charset="-122"/>
                <a:cs typeface="微软雅黑" panose="020B0503020204020204" charset="-122"/>
              </a:defRPr>
            </a:lvl9pPr>
          </a:lstStyle>
          <a:p>
            <a:pPr>
              <a:defRPr sz="1875" b="0">
                <a:solidFill>
                  <a:srgbClr val="111111"/>
                </a:solidFill>
                <a:latin typeface="微软雅黑" panose="020B0503020204020204" charset="-122"/>
                <a:ea typeface="微软雅黑" panose="020B0503020204020204" charset="-122"/>
                <a:cs typeface="微软雅黑" panose="020B0503020204020204" charset="-122"/>
              </a:defRPr>
            </a:pPr>
            <a:r>
              <a:rPr sz="1875" b="0">
                <a:solidFill>
                  <a:srgbClr val="111111"/>
                </a:solidFill>
                <a:latin typeface="微软雅黑" panose="020B0503020204020204" charset="-122"/>
                <a:ea typeface="微软雅黑" panose="020B0503020204020204" charset="-122"/>
                <a:cs typeface="微软雅黑" panose="020B0503020204020204" charset="-122"/>
              </a:rPr>
              <a:t>平均放电高于目标时提高阈值，低于目标时降低阈值。</a:t>
            </a:r>
            <a:endParaRPr sz="1875" b="0">
              <a:solidFill>
                <a:srgbClr val="111111"/>
              </a:solidFill>
              <a:latin typeface="微软雅黑" panose="020B0503020204020204" charset="-122"/>
              <a:ea typeface="微软雅黑" panose="020B0503020204020204" charset="-122"/>
              <a:cs typeface="微软雅黑" panose="020B0503020204020204" charset="-122"/>
            </a:endParaRPr>
          </a:p>
          <a:p>
            <a:pPr>
              <a:defRPr sz="1875" b="0">
                <a:solidFill>
                  <a:srgbClr val="111111"/>
                </a:solidFill>
                <a:latin typeface="微软雅黑" panose="020B0503020204020204" charset="-122"/>
                <a:ea typeface="微软雅黑" panose="020B0503020204020204" charset="-122"/>
                <a:cs typeface="微软雅黑" panose="020B0503020204020204" charset="-122"/>
              </a:defRPr>
            </a:pPr>
            <a:r>
              <a:rPr sz="1875" b="0">
                <a:solidFill>
                  <a:srgbClr val="111111"/>
                </a:solidFill>
                <a:latin typeface="微软雅黑" panose="020B0503020204020204" charset="-122"/>
                <a:ea typeface="微软雅黑" panose="020B0503020204020204" charset="-122"/>
                <a:cs typeface="微软雅黑" panose="020B0503020204020204" charset="-122"/>
              </a:rPr>
              <a:t>目标</a:t>
            </a:r>
            <a:r>
              <a:rPr lang="zh-CN" sz="1875" b="0">
                <a:solidFill>
                  <a:srgbClr val="111111"/>
                </a:solidFill>
                <a:latin typeface="微软雅黑" panose="020B0503020204020204" charset="-122"/>
                <a:ea typeface="微软雅黑" panose="020B0503020204020204" charset="-122"/>
                <a:cs typeface="微软雅黑" panose="020B0503020204020204" charset="-122"/>
              </a:rPr>
              <a:t>整体放电率</a:t>
            </a:r>
            <a:r>
              <a:rPr sz="1875" b="0">
                <a:solidFill>
                  <a:srgbClr val="111111"/>
                </a:solidFill>
                <a:latin typeface="微软雅黑" panose="020B0503020204020204" charset="-122"/>
                <a:ea typeface="微软雅黑" panose="020B0503020204020204" charset="-122"/>
                <a:cs typeface="微软雅黑" panose="020B0503020204020204" charset="-122"/>
              </a:rPr>
              <a:t>为E：2 Hz，I：4 Hz。</a:t>
            </a:r>
            <a:endParaRPr sz="1875" b="0">
              <a:solidFill>
                <a:srgbClr val="111111"/>
              </a:solidFill>
              <a:latin typeface="微软雅黑" panose="020B0503020204020204" charset="-122"/>
              <a:ea typeface="微软雅黑" panose="020B0503020204020204" charset="-122"/>
              <a:cs typeface="微软雅黑" panose="020B0503020204020204" charset="-122"/>
            </a:endParaRPr>
          </a:p>
        </p:txBody>
      </p:sp>
      <p:sp>
        <p:nvSpPr>
          <p:cNvPr id="7" name="阈值调节限制输出活动，但不直接限制输入权重的总量。"/>
          <p:cNvSpPr>
            <a:spLocks noGrp="1"/>
          </p:cNvSpPr>
          <p:nvPr/>
        </p:nvSpPr>
        <p:spPr>
          <a:xfrm>
            <a:off x="571500" y="6153150"/>
            <a:ext cx="11001375" cy="323850"/>
          </a:xfrm>
          <a:prstGeom prst="rect">
            <a:avLst/>
          </a:prstGeom>
          <a:noFill/>
          <a:ln w="0">
            <a:noFill/>
          </a:ln>
        </p:spPr>
        <p:txBody>
          <a:bodyPr wrap="square" lIns="0" tIns="0" rIns="0" bIns="0" anchor="t">
            <a:noAutofit/>
          </a:bodyPr>
          <a:lstStyle>
            <a:defPPr>
              <a:defRPr sz="1800" b="1">
                <a:solidFill>
                  <a:srgbClr val="0072B2"/>
                </a:solidFill>
                <a:latin typeface="微软雅黑" panose="020B0503020204020204" charset="-122"/>
                <a:ea typeface="微软雅黑" panose="020B0503020204020204" charset="-122"/>
                <a:cs typeface="微软雅黑" panose="020B0503020204020204" charset="-122"/>
              </a:defRPr>
            </a:defPPr>
            <a:lvl1pPr>
              <a:defRPr sz="1800" b="1">
                <a:solidFill>
                  <a:srgbClr val="0072B2"/>
                </a:solidFill>
                <a:latin typeface="微软雅黑" panose="020B0503020204020204" charset="-122"/>
                <a:ea typeface="微软雅黑" panose="020B0503020204020204" charset="-122"/>
                <a:cs typeface="微软雅黑" panose="020B0503020204020204" charset="-122"/>
              </a:defRPr>
            </a:lvl1pPr>
            <a:lvl2pPr>
              <a:defRPr sz="1800" b="1">
                <a:solidFill>
                  <a:srgbClr val="0072B2"/>
                </a:solidFill>
                <a:latin typeface="微软雅黑" panose="020B0503020204020204" charset="-122"/>
                <a:ea typeface="微软雅黑" panose="020B0503020204020204" charset="-122"/>
                <a:cs typeface="微软雅黑" panose="020B0503020204020204" charset="-122"/>
              </a:defRPr>
            </a:lvl2pPr>
            <a:lvl3pPr>
              <a:defRPr sz="1800" b="1">
                <a:solidFill>
                  <a:srgbClr val="0072B2"/>
                </a:solidFill>
                <a:latin typeface="微软雅黑" panose="020B0503020204020204" charset="-122"/>
                <a:ea typeface="微软雅黑" panose="020B0503020204020204" charset="-122"/>
                <a:cs typeface="微软雅黑" panose="020B0503020204020204" charset="-122"/>
              </a:defRPr>
            </a:lvl3pPr>
            <a:lvl4pPr>
              <a:defRPr sz="1800" b="1">
                <a:solidFill>
                  <a:srgbClr val="0072B2"/>
                </a:solidFill>
                <a:latin typeface="微软雅黑" panose="020B0503020204020204" charset="-122"/>
                <a:ea typeface="微软雅黑" panose="020B0503020204020204" charset="-122"/>
                <a:cs typeface="微软雅黑" panose="020B0503020204020204" charset="-122"/>
              </a:defRPr>
            </a:lvl4pPr>
            <a:lvl5pPr>
              <a:defRPr sz="1800" b="1">
                <a:solidFill>
                  <a:srgbClr val="0072B2"/>
                </a:solidFill>
                <a:latin typeface="微软雅黑" panose="020B0503020204020204" charset="-122"/>
                <a:ea typeface="微软雅黑" panose="020B0503020204020204" charset="-122"/>
                <a:cs typeface="微软雅黑" panose="020B0503020204020204" charset="-122"/>
              </a:defRPr>
            </a:lvl5pPr>
            <a:lvl6pPr>
              <a:defRPr sz="1800" b="1">
                <a:solidFill>
                  <a:srgbClr val="0072B2"/>
                </a:solidFill>
                <a:latin typeface="微软雅黑" panose="020B0503020204020204" charset="-122"/>
                <a:ea typeface="微软雅黑" panose="020B0503020204020204" charset="-122"/>
                <a:cs typeface="微软雅黑" panose="020B0503020204020204" charset="-122"/>
              </a:defRPr>
            </a:lvl6pPr>
            <a:lvl7pPr>
              <a:defRPr sz="1800" b="1">
                <a:solidFill>
                  <a:srgbClr val="0072B2"/>
                </a:solidFill>
                <a:latin typeface="微软雅黑" panose="020B0503020204020204" charset="-122"/>
                <a:ea typeface="微软雅黑" panose="020B0503020204020204" charset="-122"/>
                <a:cs typeface="微软雅黑" panose="020B0503020204020204" charset="-122"/>
              </a:defRPr>
            </a:lvl7pPr>
            <a:lvl8pPr>
              <a:defRPr sz="1800" b="1">
                <a:solidFill>
                  <a:srgbClr val="0072B2"/>
                </a:solidFill>
                <a:latin typeface="微软雅黑" panose="020B0503020204020204" charset="-122"/>
                <a:ea typeface="微软雅黑" panose="020B0503020204020204" charset="-122"/>
                <a:cs typeface="微软雅黑" panose="020B0503020204020204" charset="-122"/>
              </a:defRPr>
            </a:lvl8pPr>
            <a:lvl9pPr>
              <a:defRPr sz="1800" b="1">
                <a:solidFill>
                  <a:srgbClr val="0072B2"/>
                </a:solidFill>
                <a:latin typeface="微软雅黑" panose="020B0503020204020204" charset="-122"/>
                <a:ea typeface="微软雅黑" panose="020B0503020204020204" charset="-122"/>
                <a:cs typeface="微软雅黑" panose="020B0503020204020204" charset="-122"/>
              </a:defRPr>
            </a:lvl9pPr>
          </a:lstStyle>
          <a:p>
            <a:pPr>
              <a:defRPr sz="1800" b="1">
                <a:solidFill>
                  <a:srgbClr val="0072B2"/>
                </a:solidFill>
                <a:latin typeface="微软雅黑" panose="020B0503020204020204" charset="-122"/>
                <a:ea typeface="微软雅黑" panose="020B0503020204020204" charset="-122"/>
                <a:cs typeface="微软雅黑" panose="020B0503020204020204" charset="-122"/>
              </a:defRPr>
            </a:pPr>
            <a:r>
              <a:rPr sz="1800" b="1">
                <a:solidFill>
                  <a:schemeClr val="tx1"/>
                </a:solidFill>
                <a:latin typeface="微软雅黑" panose="020B0503020204020204" charset="-122"/>
                <a:ea typeface="微软雅黑" panose="020B0503020204020204" charset="-122"/>
                <a:cs typeface="微软雅黑" panose="020B0503020204020204" charset="-122"/>
              </a:rPr>
              <a:t>阈值调节</a:t>
            </a:r>
            <a:r>
              <a:rPr lang="zh-CN" sz="1800" b="1">
                <a:solidFill>
                  <a:schemeClr val="tx1"/>
                </a:solidFill>
                <a:latin typeface="微软雅黑" panose="020B0503020204020204" charset="-122"/>
                <a:ea typeface="微软雅黑" panose="020B0503020204020204" charset="-122"/>
                <a:cs typeface="微软雅黑" panose="020B0503020204020204" charset="-122"/>
              </a:rPr>
              <a:t>间接调整神经元的放电率，使网络中的神经元放电率整体维持在预设值</a:t>
            </a:r>
            <a:endParaRPr lang="zh-CN" sz="1800" b="1">
              <a:solidFill>
                <a:schemeClr val="tx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p:nvPr/>
        </p:nvPicPr>
        <p:blipFill>
          <a:blip r:embed="rId1"/>
          <a:stretch>
            <a:fillRect/>
          </a:stretch>
        </p:blipFill>
        <p:spPr>
          <a:xfrm>
            <a:off x="10922000" y="0"/>
            <a:ext cx="1270000" cy="1270000"/>
          </a:xfrm>
          <a:prstGeom prst="rect">
            <a:avLst/>
          </a:prstGeom>
        </p:spPr>
      </p:pic>
      <p:sp>
        <p:nvSpPr>
          <p:cNvPr id="16" name="标题 1"/>
          <p:cNvSpPr txBox="1"/>
          <p:nvPr/>
        </p:nvSpPr>
        <p:spPr>
          <a:xfrm>
            <a:off x="1243330" y="368300"/>
            <a:ext cx="8213725" cy="5334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a:ea typeface="微软雅黑" panose="020B0503020204020204" charset="-122"/>
                <a:cs typeface="Arial" panose="020B0604020202020204"/>
              </a:defRPr>
            </a:lvl1pPr>
          </a:lstStyle>
          <a:p>
            <a:endParaRPr lang="zh-CN" altLang="en-US" sz="2400" b="1" dirty="0">
              <a:latin typeface="Arial" panose="020B0604020202020204"/>
              <a:ea typeface="微软雅黑" panose="020B0503020204020204" charset="-122"/>
              <a:cs typeface="Arial" panose="020B0604020202020204"/>
            </a:endParaRPr>
          </a:p>
          <a:p>
            <a:endParaRPr lang="zh-CN" altLang="en-US" sz="2400" b="1" dirty="0">
              <a:latin typeface="Arial" panose="020B0604020202020204"/>
              <a:ea typeface="微软雅黑" panose="020B0503020204020204" charset="-122"/>
              <a:cs typeface="Arial" panose="020B0604020202020204"/>
            </a:endParaRPr>
          </a:p>
          <a:p>
            <a:r>
              <a:rPr lang="zh-CN" altLang="en-US" sz="2400" b="1" dirty="0">
                <a:latin typeface="Arial" panose="020B0604020202020204"/>
                <a:ea typeface="微软雅黑" panose="020B0503020204020204" charset="-122"/>
                <a:cs typeface="Arial" panose="020B0604020202020204"/>
              </a:rPr>
              <a:t>本研究的具体问题：</a:t>
            </a:r>
            <a:endParaRPr lang="zh-CN" altLang="en-US" sz="2400" b="1" dirty="0">
              <a:latin typeface="Arial" panose="020B0604020202020204"/>
              <a:ea typeface="微软雅黑" panose="020B0503020204020204" charset="-122"/>
              <a:cs typeface="Arial" panose="020B0604020202020204"/>
            </a:endParaRPr>
          </a:p>
          <a:p>
            <a:r>
              <a:rPr lang="zh-CN" altLang="en-US" sz="2400" b="1" dirty="0">
                <a:latin typeface="Arial" panose="020B0604020202020204"/>
                <a:ea typeface="微软雅黑" panose="020B0503020204020204" charset="-122"/>
                <a:cs typeface="Arial" panose="020B0604020202020204"/>
              </a:rPr>
              <a:t>不同抑制性回路和稳态机制分别控制表征的哪个方面？</a:t>
            </a:r>
            <a:endParaRPr lang="zh-CN" altLang="en-US" sz="2400" b="1" dirty="0">
              <a:latin typeface="Arial" panose="020B0604020202020204"/>
              <a:ea typeface="微软雅黑" panose="020B0503020204020204" charset="-122"/>
              <a:cs typeface="Arial" panose="020B0604020202020204"/>
            </a:endParaRPr>
          </a:p>
        </p:txBody>
      </p:sp>
      <p:sp>
        <p:nvSpPr>
          <p:cNvPr id="2" name="文本框 1"/>
          <p:cNvSpPr txBox="1"/>
          <p:nvPr/>
        </p:nvSpPr>
        <p:spPr>
          <a:xfrm>
            <a:off x="788035" y="1270000"/>
            <a:ext cx="9307195" cy="2183765"/>
          </a:xfrm>
          <a:prstGeom prst="rect">
            <a:avLst/>
          </a:prstGeom>
          <a:noFill/>
        </p:spPr>
        <p:txBody>
          <a:bodyPr wrap="square" rtlCol="0">
            <a:spAutoFit/>
          </a:bodyPr>
          <a:lstStyle/>
          <a:p>
            <a:r>
              <a:rPr lang="zh-CN" altLang="en-US" sz="2000" b="1">
                <a:latin typeface="Arial" panose="020B0604020202020204"/>
                <a:ea typeface="微软雅黑" panose="020B0503020204020204" charset="-122"/>
                <a:cs typeface="Arial" panose="020B0604020202020204"/>
              </a:rPr>
              <a:t>子问题</a:t>
            </a:r>
            <a:r>
              <a:rPr lang="zh-CN" altLang="en-US" sz="2000">
                <a:latin typeface="Arial" panose="020B0604020202020204"/>
                <a:ea typeface="微软雅黑" panose="020B0503020204020204" charset="-122"/>
                <a:cs typeface="Arial" panose="020B0604020202020204"/>
              </a:rPr>
              <a:t>如下：</a:t>
            </a:r>
            <a:endParaRPr lang="zh-CN" altLang="en-US" sz="2000">
              <a:latin typeface="Arial" panose="020B0604020202020204"/>
              <a:ea typeface="微软雅黑" panose="020B0503020204020204" charset="-122"/>
              <a:cs typeface="Arial" panose="020B0604020202020204"/>
            </a:endParaRPr>
          </a:p>
          <a:p>
            <a:endParaRPr lang="zh-CN" altLang="en-US" sz="2000">
              <a:latin typeface="Arial" panose="020B0604020202020204"/>
              <a:ea typeface="微软雅黑" panose="020B0503020204020204" charset="-122"/>
              <a:cs typeface="Arial" panose="020B0604020202020204"/>
            </a:endParaRPr>
          </a:p>
          <a:p>
            <a:r>
              <a:rPr lang="en-US" altLang="zh-CN" sz="3200" b="1">
                <a:latin typeface="Arial" panose="020B0604020202020204"/>
                <a:ea typeface="微软雅黑" panose="020B0503020204020204" charset="-122"/>
                <a:cs typeface="Arial" panose="020B0604020202020204"/>
              </a:rPr>
              <a:t>·  </a:t>
            </a:r>
            <a:r>
              <a:rPr lang="zh-CN" altLang="en-US" sz="2000">
                <a:latin typeface="Arial" panose="020B0604020202020204"/>
                <a:ea typeface="微软雅黑" panose="020B0503020204020204" charset="-122"/>
                <a:cs typeface="Arial" panose="020B0604020202020204"/>
              </a:rPr>
              <a:t>抑制性传递和抑制性连接的可塑性机制分别有什么作用？</a:t>
            </a:r>
            <a:endParaRPr lang="en-US" altLang="zh-CN" sz="2000">
              <a:latin typeface="Arial" panose="020B0604020202020204"/>
              <a:ea typeface="微软雅黑" panose="020B0503020204020204" charset="-122"/>
              <a:cs typeface="Arial" panose="020B0604020202020204"/>
            </a:endParaRPr>
          </a:p>
          <a:p>
            <a:r>
              <a:rPr lang="en-US" altLang="zh-CN" sz="3200" b="1">
                <a:latin typeface="Arial" panose="020B0604020202020204"/>
                <a:ea typeface="微软雅黑" panose="020B0503020204020204" charset="-122"/>
                <a:cs typeface="Arial" panose="020B0604020202020204"/>
              </a:rPr>
              <a:t>·  </a:t>
            </a:r>
            <a:r>
              <a:rPr lang="en-US" altLang="zh-CN" sz="2000">
                <a:latin typeface="Arial" panose="020B0604020202020204"/>
                <a:ea typeface="微软雅黑" panose="020B0503020204020204" charset="-122"/>
                <a:cs typeface="Arial" panose="020B0604020202020204"/>
              </a:rPr>
              <a:t>L1</a:t>
            </a:r>
            <a:r>
              <a:rPr lang="zh-CN" altLang="en-US" sz="2000">
                <a:latin typeface="Arial" panose="020B0604020202020204"/>
                <a:ea typeface="微软雅黑" panose="020B0503020204020204" charset="-122"/>
                <a:cs typeface="Arial" panose="020B0604020202020204"/>
              </a:rPr>
              <a:t>归一化和自适应阈值</a:t>
            </a:r>
            <a:r>
              <a:rPr lang="zh-CN" altLang="en-US" sz="2000">
                <a:latin typeface="Arial" panose="020B0604020202020204"/>
                <a:ea typeface="微软雅黑" panose="020B0503020204020204" charset="-122"/>
                <a:cs typeface="Arial" panose="020B0604020202020204"/>
                <a:sym typeface="+mn-ea"/>
              </a:rPr>
              <a:t>分别有什么作用？且</a:t>
            </a:r>
            <a:r>
              <a:rPr lang="zh-CN" altLang="en-US" sz="2000">
                <a:latin typeface="Arial" panose="020B0604020202020204"/>
                <a:ea typeface="微软雅黑" panose="020B0503020204020204" charset="-122"/>
                <a:cs typeface="Arial" panose="020B0604020202020204"/>
              </a:rPr>
              <a:t>能否相互补偿？</a:t>
            </a:r>
            <a:endParaRPr lang="zh-CN" altLang="en-US" sz="2000">
              <a:latin typeface="Arial" panose="020B0604020202020204"/>
              <a:ea typeface="微软雅黑" panose="020B0503020204020204" charset="-122"/>
              <a:cs typeface="Arial" panose="020B0604020202020204"/>
            </a:endParaRPr>
          </a:p>
          <a:p>
            <a:r>
              <a:rPr lang="en-US" altLang="zh-CN" sz="3200" b="1">
                <a:latin typeface="Arial" panose="020B0604020202020204"/>
                <a:ea typeface="微软雅黑" panose="020B0503020204020204" charset="-122"/>
                <a:cs typeface="Arial" panose="020B0604020202020204"/>
                <a:sym typeface="+mn-ea"/>
              </a:rPr>
              <a:t>·  </a:t>
            </a:r>
            <a:r>
              <a:rPr lang="zh-CN" altLang="en-US" sz="2000">
                <a:latin typeface="Arial" panose="020B0604020202020204"/>
                <a:ea typeface="微软雅黑" panose="020B0503020204020204" charset="-122"/>
                <a:cs typeface="Arial" panose="020B0604020202020204"/>
              </a:rPr>
              <a:t>这些作用是否会随网络规模扩大而改变？</a:t>
            </a:r>
            <a:endParaRPr lang="zh-CN" altLang="en-US" sz="2000">
              <a:latin typeface="Arial" panose="020B0604020202020204"/>
              <a:ea typeface="微软雅黑" panose="020B0503020204020204" charset="-122"/>
              <a:cs typeface="Arial" panose="020B0604020202020204"/>
            </a:endParaRPr>
          </a:p>
        </p:txBody>
      </p:sp>
      <p:sp>
        <p:nvSpPr>
          <p:cNvPr id="3" name="文本框 2"/>
          <p:cNvSpPr txBox="1"/>
          <p:nvPr/>
        </p:nvSpPr>
        <p:spPr>
          <a:xfrm>
            <a:off x="775335" y="3429000"/>
            <a:ext cx="10923905" cy="3046095"/>
          </a:xfrm>
          <a:prstGeom prst="rect">
            <a:avLst/>
          </a:prstGeom>
        </p:spPr>
        <p:txBody>
          <a:bodyPr wrap="square">
            <a:spAutoFit/>
          </a:bodyPr>
          <a:lstStyle/>
          <a:p>
            <a:r>
              <a:rPr lang="zh-CN" altLang="en-US" sz="2400" b="1">
                <a:solidFill>
                  <a:srgbClr val="FF0000"/>
                </a:solidFill>
                <a:latin typeface="Arial" panose="020B0604020202020204"/>
                <a:ea typeface="微软雅黑" panose="020B0503020204020204" charset="-122"/>
                <a:cs typeface="Arial" panose="020B0604020202020204"/>
              </a:rPr>
              <a:t>核心评价指标</a:t>
            </a:r>
            <a:r>
              <a:rPr lang="en-US" altLang="zh-CN" sz="2400" b="1">
                <a:solidFill>
                  <a:srgbClr val="FF0000"/>
                </a:solidFill>
                <a:latin typeface="Arial" panose="020B0604020202020204"/>
                <a:ea typeface="微软雅黑" panose="020B0503020204020204" charset="-122"/>
                <a:cs typeface="Arial" panose="020B0604020202020204"/>
              </a:rPr>
              <a:t>:</a:t>
            </a:r>
            <a:endParaRPr lang="en-US" altLang="zh-CN" sz="2400" b="1">
              <a:solidFill>
                <a:srgbClr val="FF0000"/>
              </a:solidFill>
              <a:latin typeface="Arial" panose="020B0604020202020204"/>
              <a:ea typeface="微软雅黑" panose="020B0503020204020204" charset="-122"/>
              <a:cs typeface="Arial" panose="020B0604020202020204"/>
            </a:endParaRPr>
          </a:p>
          <a:p>
            <a:endParaRPr lang="en-US" altLang="zh-CN" sz="2400" b="1">
              <a:solidFill>
                <a:srgbClr val="FF0000"/>
              </a:solidFill>
              <a:latin typeface="Arial" panose="020B0604020202020204"/>
              <a:ea typeface="微软雅黑" panose="020B0503020204020204" charset="-122"/>
              <a:cs typeface="Arial" panose="020B0604020202020204"/>
            </a:endParaRPr>
          </a:p>
          <a:p>
            <a:r>
              <a:rPr lang="en-US" altLang="zh-CN">
                <a:solidFill>
                  <a:schemeClr val="tx1"/>
                </a:solidFill>
                <a:latin typeface="Arial" panose="020B0604020202020204"/>
                <a:ea typeface="微软雅黑" panose="020B0503020204020204" charset="-122"/>
                <a:cs typeface="Arial" panose="020B0604020202020204"/>
              </a:rPr>
              <a:t>1.</a:t>
            </a:r>
            <a:r>
              <a:rPr lang="zh-CN" altLang="en-US" b="1">
                <a:solidFill>
                  <a:schemeClr val="tx1"/>
                </a:solidFill>
                <a:latin typeface="Arial" panose="020B0604020202020204"/>
                <a:ea typeface="微软雅黑" panose="020B0503020204020204" charset="-122"/>
                <a:cs typeface="Arial" panose="020B0604020202020204"/>
              </a:rPr>
              <a:t>时间稀疏性</a:t>
            </a:r>
            <a:r>
              <a:rPr lang="en-US" altLang="zh-CN">
                <a:solidFill>
                  <a:schemeClr val="tx1"/>
                </a:solidFill>
                <a:latin typeface="Arial" panose="020B0604020202020204"/>
                <a:ea typeface="微软雅黑" panose="020B0503020204020204" charset="-122"/>
                <a:cs typeface="Arial" panose="020B0604020202020204"/>
              </a:rPr>
              <a:t>(Lifetime sparseness</a:t>
            </a:r>
            <a:r>
              <a:rPr lang="zh-CN" altLang="en-US">
                <a:solidFill>
                  <a:schemeClr val="tx1"/>
                </a:solidFill>
                <a:latin typeface="Arial" panose="020B0604020202020204"/>
                <a:ea typeface="微软雅黑" panose="020B0503020204020204" charset="-122"/>
                <a:cs typeface="Arial" panose="020B0604020202020204"/>
              </a:rPr>
              <a:t>，后称</a:t>
            </a:r>
            <a:r>
              <a:rPr lang="en-US" altLang="zh-CN" b="1">
                <a:solidFill>
                  <a:schemeClr val="tx1"/>
                </a:solidFill>
                <a:latin typeface="Arial" panose="020B0604020202020204"/>
                <a:ea typeface="微软雅黑" panose="020B0503020204020204" charset="-122"/>
                <a:cs typeface="Arial" panose="020B0604020202020204"/>
              </a:rPr>
              <a:t>LS</a:t>
            </a:r>
            <a:r>
              <a:rPr lang="en-US" altLang="zh-CN">
                <a:solidFill>
                  <a:schemeClr val="tx1"/>
                </a:solidFill>
                <a:latin typeface="Arial" panose="020B0604020202020204"/>
                <a:ea typeface="微软雅黑" panose="020B0503020204020204" charset="-122"/>
                <a:cs typeface="Arial" panose="020B0604020202020204"/>
              </a:rPr>
              <a:t>):</a:t>
            </a:r>
            <a:endParaRPr lang="en-US" altLang="zh-CN">
              <a:solidFill>
                <a:schemeClr val="tx1"/>
              </a:solidFill>
              <a:latin typeface="Arial" panose="020B0604020202020204"/>
              <a:ea typeface="微软雅黑" panose="020B0503020204020204" charset="-122"/>
              <a:cs typeface="Arial" panose="020B0604020202020204"/>
            </a:endParaRPr>
          </a:p>
          <a:p>
            <a:r>
              <a:rPr lang="zh-CN" altLang="en-US">
                <a:solidFill>
                  <a:schemeClr val="tx1"/>
                </a:solidFill>
                <a:latin typeface="Arial" panose="020B0604020202020204"/>
                <a:ea typeface="微软雅黑" panose="020B0503020204020204" charset="-122"/>
                <a:cs typeface="Arial" panose="020B0604020202020204"/>
              </a:rPr>
              <a:t>衡量单个神经元在一段时间内的放电集中度</a:t>
            </a:r>
            <a:r>
              <a:rPr lang="en-US" altLang="zh-CN">
                <a:solidFill>
                  <a:schemeClr val="tx1"/>
                </a:solidFill>
                <a:latin typeface="Arial" panose="020B0604020202020204"/>
                <a:ea typeface="微软雅黑" panose="020B0503020204020204" charset="-122"/>
                <a:cs typeface="Arial" panose="020B0604020202020204"/>
              </a:rPr>
              <a:t>.</a:t>
            </a:r>
            <a:endParaRPr lang="zh-CN" altLang="en-US">
              <a:solidFill>
                <a:schemeClr val="tx1"/>
              </a:solidFill>
              <a:latin typeface="Arial" panose="020B0604020202020204"/>
              <a:ea typeface="微软雅黑" panose="020B0503020204020204" charset="-122"/>
              <a:cs typeface="Arial" panose="020B0604020202020204"/>
            </a:endParaRPr>
          </a:p>
          <a:p>
            <a:endParaRPr lang="en-US" altLang="zh-CN">
              <a:solidFill>
                <a:schemeClr val="tx1"/>
              </a:solidFill>
              <a:latin typeface="Arial" panose="020B0604020202020204"/>
              <a:ea typeface="微软雅黑" panose="020B0503020204020204" charset="-122"/>
              <a:cs typeface="Arial" panose="020B0604020202020204"/>
            </a:endParaRPr>
          </a:p>
          <a:p>
            <a:r>
              <a:rPr lang="en-US" altLang="zh-CN">
                <a:solidFill>
                  <a:schemeClr val="tx1"/>
                </a:solidFill>
                <a:latin typeface="Arial" panose="020B0604020202020204"/>
                <a:ea typeface="微软雅黑" panose="020B0503020204020204" charset="-122"/>
                <a:cs typeface="Arial" panose="020B0604020202020204"/>
              </a:rPr>
              <a:t>2.</a:t>
            </a:r>
            <a:r>
              <a:rPr lang="zh-CN" altLang="en-US" b="1">
                <a:solidFill>
                  <a:schemeClr val="tx1"/>
                </a:solidFill>
                <a:latin typeface="Arial" panose="020B0604020202020204"/>
                <a:ea typeface="微软雅黑" panose="020B0503020204020204" charset="-122"/>
                <a:cs typeface="Arial" panose="020B0604020202020204"/>
              </a:rPr>
              <a:t>群体稀疏性</a:t>
            </a:r>
            <a:r>
              <a:rPr lang="en-US" altLang="zh-CN">
                <a:solidFill>
                  <a:schemeClr val="tx1"/>
                </a:solidFill>
                <a:latin typeface="Arial" panose="020B0604020202020204"/>
                <a:ea typeface="微软雅黑" panose="020B0503020204020204" charset="-122"/>
                <a:cs typeface="Arial" panose="020B0604020202020204"/>
              </a:rPr>
              <a:t>(population sparseness</a:t>
            </a:r>
            <a:r>
              <a:rPr lang="zh-CN" altLang="en-US">
                <a:solidFill>
                  <a:schemeClr val="tx1"/>
                </a:solidFill>
                <a:latin typeface="Arial" panose="020B0604020202020204"/>
                <a:ea typeface="微软雅黑" panose="020B0503020204020204" charset="-122"/>
                <a:cs typeface="Arial" panose="020B0604020202020204"/>
              </a:rPr>
              <a:t>，后称</a:t>
            </a:r>
            <a:r>
              <a:rPr lang="en-US" altLang="zh-CN" b="1">
                <a:solidFill>
                  <a:schemeClr val="tx1"/>
                </a:solidFill>
                <a:latin typeface="Arial" panose="020B0604020202020204"/>
                <a:ea typeface="微软雅黑" panose="020B0503020204020204" charset="-122"/>
                <a:cs typeface="Arial" panose="020B0604020202020204"/>
              </a:rPr>
              <a:t>PS</a:t>
            </a:r>
            <a:r>
              <a:rPr lang="en-US" altLang="zh-CN">
                <a:solidFill>
                  <a:schemeClr val="tx1"/>
                </a:solidFill>
                <a:latin typeface="Arial" panose="020B0604020202020204"/>
                <a:ea typeface="微软雅黑" panose="020B0503020204020204" charset="-122"/>
                <a:cs typeface="Arial" panose="020B0604020202020204"/>
              </a:rPr>
              <a:t>):</a:t>
            </a:r>
            <a:endParaRPr lang="en-US" altLang="zh-CN">
              <a:solidFill>
                <a:schemeClr val="tx1"/>
              </a:solidFill>
              <a:latin typeface="Arial" panose="020B0604020202020204"/>
              <a:ea typeface="微软雅黑" panose="020B0503020204020204" charset="-122"/>
              <a:cs typeface="Arial" panose="020B0604020202020204"/>
            </a:endParaRPr>
          </a:p>
          <a:p>
            <a:r>
              <a:rPr lang="zh-CN" altLang="en-US">
                <a:solidFill>
                  <a:schemeClr val="tx1"/>
                </a:solidFill>
                <a:latin typeface="Arial" panose="020B0604020202020204"/>
                <a:ea typeface="微软雅黑" panose="020B0503020204020204" charset="-122"/>
                <a:cs typeface="Arial" panose="020B0604020202020204"/>
              </a:rPr>
              <a:t>衡量的是整个神经元群体在同一瞬间的放电集中度</a:t>
            </a:r>
            <a:r>
              <a:rPr lang="en-US" altLang="zh-CN">
                <a:solidFill>
                  <a:schemeClr val="tx1"/>
                </a:solidFill>
                <a:latin typeface="Arial" panose="020B0604020202020204"/>
                <a:ea typeface="微软雅黑" panose="020B0503020204020204" charset="-122"/>
                <a:cs typeface="Arial" panose="020B0604020202020204"/>
              </a:rPr>
              <a:t>.</a:t>
            </a:r>
            <a:endParaRPr lang="zh-CN" altLang="en-US">
              <a:solidFill>
                <a:schemeClr val="tx1"/>
              </a:solidFill>
              <a:latin typeface="Arial" panose="020B0604020202020204"/>
              <a:ea typeface="微软雅黑" panose="020B0503020204020204" charset="-122"/>
              <a:cs typeface="Arial" panose="020B0604020202020204"/>
            </a:endParaRPr>
          </a:p>
          <a:p>
            <a:endParaRPr lang="en-US" altLang="zh-CN">
              <a:solidFill>
                <a:schemeClr val="tx1"/>
              </a:solidFill>
              <a:latin typeface="Arial" panose="020B0604020202020204"/>
              <a:ea typeface="微软雅黑" panose="020B0503020204020204" charset="-122"/>
              <a:cs typeface="Arial" panose="020B0604020202020204"/>
            </a:endParaRPr>
          </a:p>
          <a:p>
            <a:r>
              <a:rPr lang="en-US" altLang="zh-CN">
                <a:solidFill>
                  <a:schemeClr val="tx1"/>
                </a:solidFill>
                <a:latin typeface="Arial" panose="020B0604020202020204"/>
                <a:ea typeface="微软雅黑" panose="020B0503020204020204" charset="-122"/>
                <a:cs typeface="Arial" panose="020B0604020202020204"/>
              </a:rPr>
              <a:t>3.</a:t>
            </a:r>
            <a:r>
              <a:rPr lang="zh-CN" altLang="en-US" b="1">
                <a:solidFill>
                  <a:schemeClr val="tx1"/>
                </a:solidFill>
                <a:latin typeface="Arial" panose="020B0604020202020204"/>
                <a:ea typeface="微软雅黑" panose="020B0503020204020204" charset="-122"/>
                <a:cs typeface="Arial" panose="020B0604020202020204"/>
              </a:rPr>
              <a:t>感受野</a:t>
            </a:r>
            <a:r>
              <a:rPr lang="en-US" altLang="zh-CN">
                <a:solidFill>
                  <a:schemeClr val="tx1"/>
                </a:solidFill>
                <a:latin typeface="Arial" panose="020B0604020202020204"/>
                <a:ea typeface="微软雅黑" panose="020B0503020204020204" charset="-122"/>
                <a:cs typeface="Arial" panose="020B0604020202020204"/>
              </a:rPr>
              <a:t>(RF)</a:t>
            </a:r>
            <a:r>
              <a:rPr lang="zh-CN" altLang="en-US" b="1">
                <a:solidFill>
                  <a:schemeClr val="tx1"/>
                </a:solidFill>
                <a:latin typeface="Arial" panose="020B0604020202020204"/>
                <a:ea typeface="微软雅黑" panose="020B0503020204020204" charset="-122"/>
                <a:cs typeface="Arial" panose="020B0604020202020204"/>
              </a:rPr>
              <a:t>相关性系数的均方根</a:t>
            </a:r>
            <a:r>
              <a:rPr lang="en-US" altLang="zh-CN">
                <a:solidFill>
                  <a:schemeClr val="tx1"/>
                </a:solidFill>
                <a:latin typeface="Arial" panose="020B0604020202020204"/>
                <a:ea typeface="微软雅黑" panose="020B0503020204020204" charset="-122"/>
                <a:cs typeface="Arial" panose="020B0604020202020204"/>
              </a:rPr>
              <a:t>(RF pairwise correlation RMS):</a:t>
            </a:r>
            <a:endParaRPr lang="en-US" altLang="zh-CN">
              <a:solidFill>
                <a:schemeClr val="tx1"/>
              </a:solidFill>
              <a:latin typeface="Arial" panose="020B0604020202020204"/>
              <a:ea typeface="微软雅黑" panose="020B0503020204020204" charset="-122"/>
              <a:cs typeface="Arial" panose="020B0604020202020204"/>
            </a:endParaRPr>
          </a:p>
          <a:p>
            <a:r>
              <a:rPr lang="zh-CN" altLang="en-US">
                <a:solidFill>
                  <a:schemeClr val="tx1"/>
                </a:solidFill>
                <a:latin typeface="Arial" panose="020B0604020202020204"/>
                <a:ea typeface="微软雅黑" panose="020B0503020204020204" charset="-122"/>
                <a:cs typeface="Arial" panose="020B0604020202020204"/>
              </a:rPr>
              <a:t>衡量不同兴奋性神经元感受野之间的整体相似程度</a:t>
            </a:r>
            <a:endParaRPr lang="zh-CN" altLang="en-US">
              <a:solidFill>
                <a:schemeClr val="tx1"/>
              </a:solidFill>
              <a:latin typeface="Arial" panose="020B0604020202020204"/>
              <a:ea typeface="微软雅黑" panose="020B0503020204020204" charset="-122"/>
              <a:cs typeface="Arial" panose="020B0604020202020204"/>
            </a:endParaRPr>
          </a:p>
        </p:txBody>
      </p:sp>
      <p:pic>
        <p:nvPicPr>
          <p:cNvPr id="5" name="图片 4"/>
          <p:cNvPicPr>
            <a:picLocks noChangeAspect="1"/>
          </p:cNvPicPr>
          <p:nvPr/>
        </p:nvPicPr>
        <p:blipFill>
          <a:blip r:embed="rId2"/>
          <a:stretch>
            <a:fillRect/>
          </a:stretch>
        </p:blipFill>
        <p:spPr>
          <a:xfrm>
            <a:off x="5596255" y="3637915"/>
            <a:ext cx="2258060" cy="1129030"/>
          </a:xfrm>
          <a:prstGeom prst="rect">
            <a:avLst/>
          </a:prstGeom>
        </p:spPr>
      </p:pic>
      <p:pic>
        <p:nvPicPr>
          <p:cNvPr id="6" name="图片 5"/>
          <p:cNvPicPr>
            <a:picLocks noChangeAspect="1"/>
          </p:cNvPicPr>
          <p:nvPr/>
        </p:nvPicPr>
        <p:blipFill>
          <a:blip r:embed="rId3"/>
          <a:stretch>
            <a:fillRect/>
          </a:stretch>
        </p:blipFill>
        <p:spPr>
          <a:xfrm>
            <a:off x="6102350" y="4766945"/>
            <a:ext cx="2095500" cy="1123950"/>
          </a:xfrm>
          <a:prstGeom prst="rect">
            <a:avLst/>
          </a:prstGeom>
        </p:spPr>
      </p:pic>
      <p:pic>
        <p:nvPicPr>
          <p:cNvPr id="7" name="图片 6"/>
          <p:cNvPicPr>
            <a:picLocks noChangeAspect="1"/>
          </p:cNvPicPr>
          <p:nvPr/>
        </p:nvPicPr>
        <p:blipFill>
          <a:blip r:embed="rId4"/>
          <a:stretch>
            <a:fillRect/>
          </a:stretch>
        </p:blipFill>
        <p:spPr>
          <a:xfrm>
            <a:off x="6000115" y="6069330"/>
            <a:ext cx="4095115" cy="71247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p:nvPr/>
        </p:nvPicPr>
        <p:blipFill>
          <a:blip r:embed="rId1"/>
          <a:stretch>
            <a:fillRect/>
          </a:stretch>
        </p:blipFill>
        <p:spPr>
          <a:xfrm>
            <a:off x="10922000" y="0"/>
            <a:ext cx="1270000" cy="1270000"/>
          </a:xfrm>
          <a:prstGeom prst="rect">
            <a:avLst/>
          </a:prstGeom>
        </p:spPr>
      </p:pic>
      <p:sp>
        <p:nvSpPr>
          <p:cNvPr id="16" name="标题 1"/>
          <p:cNvSpPr txBox="1"/>
          <p:nvPr/>
        </p:nvSpPr>
        <p:spPr>
          <a:xfrm>
            <a:off x="500380" y="236220"/>
            <a:ext cx="5914390" cy="46609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a:ea typeface="微软雅黑" panose="020B0503020204020204" charset="-122"/>
                <a:cs typeface="Arial" panose="020B0604020202020204"/>
              </a:defRPr>
            </a:lvl1pPr>
          </a:lstStyle>
          <a:p>
            <a:pPr algn="l"/>
            <a:r>
              <a:rPr lang="zh-CN" altLang="en-US" sz="2400" b="1" dirty="0">
                <a:latin typeface="Arial" panose="020B0604020202020204"/>
                <a:ea typeface="微软雅黑" panose="020B0503020204020204" charset="-122"/>
                <a:cs typeface="Arial" panose="020B0604020202020204"/>
              </a:rPr>
              <a:t>对于模型训练早期的研究</a:t>
            </a:r>
            <a:endParaRPr lang="zh-CN" altLang="en-US" sz="2400" b="1" dirty="0">
              <a:latin typeface="Arial" panose="020B0604020202020204"/>
              <a:ea typeface="微软雅黑" panose="020B0503020204020204" charset="-122"/>
              <a:cs typeface="Arial" panose="020B0604020202020204"/>
            </a:endParaRPr>
          </a:p>
        </p:txBody>
      </p:sp>
      <p:cxnSp>
        <p:nvCxnSpPr>
          <p:cNvPr id="28" name="直接箭头连接符 27"/>
          <p:cNvCxnSpPr/>
          <p:nvPr>
            <p:custDataLst>
              <p:tags r:id="rId2"/>
            </p:custDataLst>
          </p:nvPr>
        </p:nvCxnSpPr>
        <p:spPr>
          <a:xfrm flipV="1">
            <a:off x="2556510" y="2183130"/>
            <a:ext cx="7078980" cy="26035"/>
          </a:xfrm>
          <a:prstGeom prst="straightConnector1">
            <a:avLst/>
          </a:prstGeom>
          <a:ln w="19050">
            <a:solidFill>
              <a:srgbClr val="000000"/>
            </a:solidFill>
            <a:prstDash val="solid"/>
          </a:ln>
        </p:spPr>
      </p:cxnSp>
      <p:sp>
        <p:nvSpPr>
          <p:cNvPr id="9" name="椭圆 8"/>
          <p:cNvSpPr>
            <a:spLocks noGrp="1"/>
          </p:cNvSpPr>
          <p:nvPr>
            <p:custDataLst>
              <p:tags r:id="rId3"/>
            </p:custDataLst>
          </p:nvPr>
        </p:nvSpPr>
        <p:spPr>
          <a:xfrm>
            <a:off x="2450465" y="2110105"/>
            <a:ext cx="171450" cy="171450"/>
          </a:xfrm>
          <a:prstGeom prst="ellipse">
            <a:avLst/>
          </a:prstGeom>
          <a:solidFill>
            <a:srgbClr val="000000"/>
          </a:solidFill>
          <a:ln w="0">
            <a:noFill/>
            <a:prstDash val="solid"/>
          </a:ln>
        </p:spPr>
        <p:txBody>
          <a:bodyPr/>
          <a:lstStyle/>
          <a:p>
            <a:endParaRPr lang="zh-CN" altLang="en-US">
              <a:latin typeface="Arial" panose="020B0604020202020204"/>
              <a:ea typeface="微软雅黑" panose="020B0503020204020204" charset="-122"/>
              <a:cs typeface="Arial" panose="020B0604020202020204"/>
            </a:endParaRPr>
          </a:p>
        </p:txBody>
      </p:sp>
      <p:sp>
        <p:nvSpPr>
          <p:cNvPr id="2" name="文本框 1"/>
          <p:cNvSpPr txBox="1"/>
          <p:nvPr/>
        </p:nvSpPr>
        <p:spPr>
          <a:xfrm>
            <a:off x="0" y="811530"/>
            <a:ext cx="4064000" cy="368300"/>
          </a:xfrm>
          <a:prstGeom prst="rect">
            <a:avLst/>
          </a:prstGeom>
          <a:noFill/>
        </p:spPr>
        <p:txBody>
          <a:bodyPr wrap="square" rtlCol="0">
            <a:spAutoFit/>
          </a:bodyPr>
          <a:lstStyle/>
          <a:p>
            <a:pPr algn="ctr"/>
            <a:r>
              <a:rPr lang="zh-CN" altLang="en-US">
                <a:latin typeface="Arial" panose="020B0604020202020204"/>
                <a:ea typeface="微软雅黑" panose="020B0503020204020204" charset="-122"/>
                <a:cs typeface="Arial" panose="020B0604020202020204"/>
              </a:rPr>
              <a:t>网络共训练</a:t>
            </a:r>
            <a:r>
              <a:rPr lang="en-US" altLang="zh-CN">
                <a:latin typeface="Arial" panose="020B0604020202020204"/>
                <a:ea typeface="微软雅黑" panose="020B0503020204020204" charset="-122"/>
                <a:cs typeface="Arial" panose="020B0604020202020204"/>
              </a:rPr>
              <a:t>1200batch</a:t>
            </a:r>
            <a:endParaRPr lang="en-US" altLang="zh-CN">
              <a:latin typeface="Arial" panose="020B0604020202020204"/>
              <a:ea typeface="微软雅黑" panose="020B0503020204020204" charset="-122"/>
              <a:cs typeface="Arial" panose="020B0604020202020204"/>
            </a:endParaRPr>
          </a:p>
        </p:txBody>
      </p:sp>
      <p:sp>
        <p:nvSpPr>
          <p:cNvPr id="3" name="文本框 2"/>
          <p:cNvSpPr txBox="1"/>
          <p:nvPr/>
        </p:nvSpPr>
        <p:spPr>
          <a:xfrm>
            <a:off x="2380615" y="1576070"/>
            <a:ext cx="311785" cy="372745"/>
          </a:xfrm>
          <a:prstGeom prst="rect">
            <a:avLst/>
          </a:prstGeom>
          <a:noFill/>
        </p:spPr>
        <p:txBody>
          <a:bodyPr wrap="square" rtlCol="0">
            <a:noAutofit/>
          </a:bodyPr>
          <a:lstStyle/>
          <a:p>
            <a:r>
              <a:rPr lang="en-US" altLang="zh-CN">
                <a:latin typeface="Arial" panose="020B0604020202020204"/>
                <a:ea typeface="微软雅黑" panose="020B0503020204020204" charset="-122"/>
                <a:cs typeface="Arial" panose="020B0604020202020204"/>
              </a:rPr>
              <a:t>0</a:t>
            </a:r>
            <a:endParaRPr lang="en-US" altLang="zh-CN">
              <a:latin typeface="Arial" panose="020B0604020202020204"/>
              <a:ea typeface="微软雅黑" panose="020B0503020204020204" charset="-122"/>
              <a:cs typeface="Arial" panose="020B0604020202020204"/>
            </a:endParaRPr>
          </a:p>
        </p:txBody>
      </p:sp>
      <p:sp>
        <p:nvSpPr>
          <p:cNvPr id="6" name="文本框 5"/>
          <p:cNvSpPr txBox="1"/>
          <p:nvPr/>
        </p:nvSpPr>
        <p:spPr>
          <a:xfrm>
            <a:off x="78740" y="1602105"/>
            <a:ext cx="1456690" cy="384810"/>
          </a:xfrm>
          <a:prstGeom prst="rect">
            <a:avLst/>
          </a:prstGeom>
          <a:noFill/>
        </p:spPr>
        <p:txBody>
          <a:bodyPr wrap="square" rtlCol="0">
            <a:noAutofit/>
          </a:bodyPr>
          <a:lstStyle/>
          <a:p>
            <a:r>
              <a:rPr lang="zh-CN" altLang="en-US" sz="1600" b="1">
                <a:solidFill>
                  <a:srgbClr val="FF0000"/>
                </a:solidFill>
                <a:latin typeface="Arial" panose="020B0604020202020204"/>
                <a:ea typeface="微软雅黑" panose="020B0503020204020204" charset="-122"/>
                <a:cs typeface="Arial" panose="020B0604020202020204"/>
              </a:rPr>
              <a:t>训练</a:t>
            </a:r>
            <a:r>
              <a:rPr lang="en-US" altLang="zh-CN" sz="1600" b="1">
                <a:solidFill>
                  <a:srgbClr val="FF0000"/>
                </a:solidFill>
                <a:latin typeface="Arial" panose="020B0604020202020204"/>
                <a:ea typeface="微软雅黑" panose="020B0503020204020204" charset="-122"/>
                <a:cs typeface="Arial" panose="020B0604020202020204"/>
              </a:rPr>
              <a:t>batch</a:t>
            </a:r>
            <a:r>
              <a:rPr lang="zh-CN" altLang="en-US" sz="1600" b="1">
                <a:solidFill>
                  <a:srgbClr val="FF0000"/>
                </a:solidFill>
                <a:latin typeface="Arial" panose="020B0604020202020204"/>
                <a:ea typeface="微软雅黑" panose="020B0503020204020204" charset="-122"/>
                <a:cs typeface="Arial" panose="020B0604020202020204"/>
              </a:rPr>
              <a:t>数</a:t>
            </a:r>
            <a:endParaRPr lang="zh-CN" altLang="en-US" sz="1600" b="1">
              <a:solidFill>
                <a:srgbClr val="FF0000"/>
              </a:solidFill>
              <a:latin typeface="Arial" panose="020B0604020202020204"/>
              <a:ea typeface="微软雅黑" panose="020B0503020204020204" charset="-122"/>
              <a:cs typeface="Arial" panose="020B0604020202020204"/>
            </a:endParaRPr>
          </a:p>
        </p:txBody>
      </p:sp>
      <p:sp>
        <p:nvSpPr>
          <p:cNvPr id="7" name="文本框 6"/>
          <p:cNvSpPr txBox="1"/>
          <p:nvPr/>
        </p:nvSpPr>
        <p:spPr>
          <a:xfrm>
            <a:off x="0" y="2468880"/>
            <a:ext cx="1794510" cy="444500"/>
          </a:xfrm>
          <a:prstGeom prst="rect">
            <a:avLst/>
          </a:prstGeom>
          <a:noFill/>
        </p:spPr>
        <p:txBody>
          <a:bodyPr wrap="square" rtlCol="0">
            <a:noAutofit/>
          </a:bodyPr>
          <a:lstStyle/>
          <a:p>
            <a:r>
              <a:rPr lang="zh-CN" altLang="en-US" sz="1600" b="1">
                <a:solidFill>
                  <a:srgbClr val="FF0000"/>
                </a:solidFill>
                <a:latin typeface="Arial" panose="020B0604020202020204"/>
                <a:ea typeface="微软雅黑" panose="020B0503020204020204" charset="-122"/>
                <a:cs typeface="Arial" panose="020B0604020202020204"/>
              </a:rPr>
              <a:t>各机制运行情况</a:t>
            </a:r>
            <a:endParaRPr lang="zh-CN" altLang="en-US" sz="1600" b="1">
              <a:solidFill>
                <a:srgbClr val="FF0000"/>
              </a:solidFill>
              <a:latin typeface="Arial" panose="020B0604020202020204"/>
              <a:ea typeface="微软雅黑" panose="020B0503020204020204" charset="-122"/>
              <a:cs typeface="Arial" panose="020B0604020202020204"/>
            </a:endParaRPr>
          </a:p>
        </p:txBody>
      </p:sp>
      <p:sp>
        <p:nvSpPr>
          <p:cNvPr id="8" name="文本框 7"/>
          <p:cNvSpPr txBox="1"/>
          <p:nvPr/>
        </p:nvSpPr>
        <p:spPr>
          <a:xfrm>
            <a:off x="1534160" y="2345055"/>
            <a:ext cx="2159000" cy="645160"/>
          </a:xfrm>
          <a:prstGeom prst="rect">
            <a:avLst/>
          </a:prstGeom>
          <a:noFill/>
        </p:spPr>
        <p:txBody>
          <a:bodyPr wrap="square" rtlCol="0">
            <a:spAutoFit/>
          </a:bodyPr>
          <a:lstStyle/>
          <a:p>
            <a:pPr algn="ctr"/>
            <a:r>
              <a:rPr lang="en-US" altLang="zh-CN" sz="1200">
                <a:latin typeface="Arial" panose="020B0604020202020204"/>
                <a:ea typeface="微软雅黑" panose="020B0503020204020204" charset="-122"/>
                <a:cs typeface="Arial" panose="020B0604020202020204"/>
              </a:rPr>
              <a:t>STDP</a:t>
            </a:r>
            <a:r>
              <a:rPr lang="zh-CN" altLang="en-US" sz="1200">
                <a:latin typeface="Arial" panose="020B0604020202020204"/>
                <a:ea typeface="微软雅黑" panose="020B0503020204020204" charset="-122"/>
                <a:cs typeface="Arial" panose="020B0604020202020204"/>
              </a:rPr>
              <a:t>关闭</a:t>
            </a:r>
            <a:endParaRPr lang="zh-CN" altLang="en-US" sz="1200">
              <a:latin typeface="Arial" panose="020B0604020202020204"/>
              <a:ea typeface="微软雅黑" panose="020B0503020204020204" charset="-122"/>
              <a:cs typeface="Arial" panose="020B0604020202020204"/>
            </a:endParaRPr>
          </a:p>
          <a:p>
            <a:pPr algn="ctr"/>
            <a:r>
              <a:rPr lang="en-US" altLang="zh-CN" sz="1200">
                <a:latin typeface="Arial" panose="020B0604020202020204"/>
                <a:ea typeface="微软雅黑" panose="020B0503020204020204" charset="-122"/>
                <a:cs typeface="Arial" panose="020B0604020202020204"/>
              </a:rPr>
              <a:t>L1 </a:t>
            </a:r>
            <a:r>
              <a:rPr lang="zh-CN" altLang="en-US" sz="1200">
                <a:latin typeface="Arial" panose="020B0604020202020204"/>
                <a:ea typeface="微软雅黑" panose="020B0503020204020204" charset="-122"/>
                <a:cs typeface="Arial" panose="020B0604020202020204"/>
              </a:rPr>
              <a:t>权重归一化</a:t>
            </a:r>
            <a:r>
              <a:rPr lang="zh-CN" altLang="en-US" sz="1200">
                <a:latin typeface="Arial" panose="020B0604020202020204"/>
                <a:ea typeface="微软雅黑" panose="020B0503020204020204" charset="-122"/>
                <a:cs typeface="Arial" panose="020B0604020202020204"/>
              </a:rPr>
              <a:t>关闭</a:t>
            </a:r>
            <a:endParaRPr lang="zh-CN" altLang="en-US" sz="1200">
              <a:latin typeface="Arial" panose="020B0604020202020204"/>
              <a:ea typeface="微软雅黑" panose="020B0503020204020204" charset="-122"/>
              <a:cs typeface="Arial" panose="020B0604020202020204"/>
            </a:endParaRPr>
          </a:p>
          <a:p>
            <a:pPr algn="ctr"/>
            <a:r>
              <a:rPr lang="zh-CN" altLang="en-US" sz="1200">
                <a:latin typeface="Arial" panose="020B0604020202020204"/>
                <a:ea typeface="微软雅黑" panose="020B0503020204020204" charset="-122"/>
                <a:cs typeface="Arial" panose="020B0604020202020204"/>
              </a:rPr>
              <a:t>动态阈值</a:t>
            </a:r>
            <a:r>
              <a:rPr lang="zh-CN" altLang="en-US" sz="1200">
                <a:latin typeface="Arial" panose="020B0604020202020204"/>
                <a:ea typeface="微软雅黑" panose="020B0503020204020204" charset="-122"/>
                <a:cs typeface="Arial" panose="020B0604020202020204"/>
              </a:rPr>
              <a:t>启用</a:t>
            </a:r>
            <a:endParaRPr lang="zh-CN" altLang="en-US" sz="1200">
              <a:latin typeface="Arial" panose="020B0604020202020204"/>
              <a:ea typeface="微软雅黑" panose="020B0503020204020204" charset="-122"/>
              <a:cs typeface="Arial" panose="020B0604020202020204"/>
            </a:endParaRPr>
          </a:p>
        </p:txBody>
      </p:sp>
      <p:sp>
        <p:nvSpPr>
          <p:cNvPr id="10" name="椭圆 9"/>
          <p:cNvSpPr>
            <a:spLocks noGrp="1"/>
          </p:cNvSpPr>
          <p:nvPr>
            <p:custDataLst>
              <p:tags r:id="rId4"/>
            </p:custDataLst>
          </p:nvPr>
        </p:nvSpPr>
        <p:spPr>
          <a:xfrm>
            <a:off x="4064000" y="2110105"/>
            <a:ext cx="171450" cy="171450"/>
          </a:xfrm>
          <a:prstGeom prst="ellipse">
            <a:avLst/>
          </a:prstGeom>
          <a:solidFill>
            <a:srgbClr val="000000"/>
          </a:solidFill>
          <a:ln w="0">
            <a:noFill/>
            <a:prstDash val="solid"/>
          </a:ln>
        </p:spPr>
        <p:txBody>
          <a:bodyPr/>
          <a:lstStyle/>
          <a:p>
            <a:endParaRPr lang="zh-CN" altLang="en-US">
              <a:latin typeface="Arial" panose="020B0604020202020204"/>
              <a:ea typeface="微软雅黑" panose="020B0503020204020204" charset="-122"/>
              <a:cs typeface="Arial" panose="020B0604020202020204"/>
            </a:endParaRPr>
          </a:p>
        </p:txBody>
      </p:sp>
      <p:sp>
        <p:nvSpPr>
          <p:cNvPr id="11" name="文本框 10"/>
          <p:cNvSpPr txBox="1"/>
          <p:nvPr/>
        </p:nvSpPr>
        <p:spPr>
          <a:xfrm>
            <a:off x="3834765" y="1576070"/>
            <a:ext cx="629285" cy="372745"/>
          </a:xfrm>
          <a:prstGeom prst="rect">
            <a:avLst/>
          </a:prstGeom>
          <a:noFill/>
        </p:spPr>
        <p:txBody>
          <a:bodyPr wrap="square" rtlCol="0">
            <a:noAutofit/>
          </a:bodyPr>
          <a:lstStyle/>
          <a:p>
            <a:r>
              <a:rPr lang="en-US" altLang="zh-CN">
                <a:latin typeface="Arial" panose="020B0604020202020204"/>
                <a:ea typeface="微软雅黑" panose="020B0503020204020204" charset="-122"/>
                <a:cs typeface="Arial" panose="020B0604020202020204"/>
              </a:rPr>
              <a:t>100</a:t>
            </a:r>
            <a:endParaRPr lang="en-US" altLang="zh-CN">
              <a:latin typeface="Arial" panose="020B0604020202020204"/>
              <a:ea typeface="微软雅黑" panose="020B0503020204020204" charset="-122"/>
              <a:cs typeface="Arial" panose="020B0604020202020204"/>
            </a:endParaRPr>
          </a:p>
        </p:txBody>
      </p:sp>
      <p:sp>
        <p:nvSpPr>
          <p:cNvPr id="12" name="文本框 11"/>
          <p:cNvSpPr txBox="1"/>
          <p:nvPr/>
        </p:nvSpPr>
        <p:spPr>
          <a:xfrm>
            <a:off x="3094355" y="2345055"/>
            <a:ext cx="2159000" cy="645160"/>
          </a:xfrm>
          <a:prstGeom prst="rect">
            <a:avLst/>
          </a:prstGeom>
          <a:noFill/>
        </p:spPr>
        <p:txBody>
          <a:bodyPr wrap="square" rtlCol="0">
            <a:spAutoFit/>
          </a:bodyPr>
          <a:lstStyle/>
          <a:p>
            <a:pPr algn="ctr"/>
            <a:r>
              <a:rPr lang="en-US" altLang="zh-CN" sz="1200">
                <a:latin typeface="Arial" panose="020B0604020202020204"/>
                <a:ea typeface="微软雅黑" panose="020B0503020204020204" charset="-122"/>
                <a:cs typeface="Arial" panose="020B0604020202020204"/>
              </a:rPr>
              <a:t>STDP</a:t>
            </a:r>
            <a:r>
              <a:rPr lang="zh-CN" altLang="en-US" sz="1200">
                <a:latin typeface="Arial" panose="020B0604020202020204"/>
                <a:ea typeface="微软雅黑" panose="020B0503020204020204" charset="-122"/>
                <a:cs typeface="Arial" panose="020B0604020202020204"/>
              </a:rPr>
              <a:t>启用</a:t>
            </a:r>
            <a:endParaRPr lang="zh-CN" altLang="en-US" sz="1200">
              <a:latin typeface="Arial" panose="020B0604020202020204"/>
              <a:ea typeface="微软雅黑" panose="020B0503020204020204" charset="-122"/>
              <a:cs typeface="Arial" panose="020B0604020202020204"/>
            </a:endParaRPr>
          </a:p>
          <a:p>
            <a:pPr algn="ctr"/>
            <a:r>
              <a:rPr lang="en-US" altLang="zh-CN" sz="1200">
                <a:latin typeface="Arial" panose="020B0604020202020204"/>
                <a:ea typeface="微软雅黑" panose="020B0503020204020204" charset="-122"/>
                <a:cs typeface="Arial" panose="020B0604020202020204"/>
              </a:rPr>
              <a:t>L1 </a:t>
            </a:r>
            <a:r>
              <a:rPr lang="zh-CN" altLang="en-US" sz="1200">
                <a:latin typeface="Arial" panose="020B0604020202020204"/>
                <a:ea typeface="微软雅黑" panose="020B0503020204020204" charset="-122"/>
                <a:cs typeface="Arial" panose="020B0604020202020204"/>
              </a:rPr>
              <a:t>权重归一化</a:t>
            </a:r>
            <a:r>
              <a:rPr lang="zh-CN" altLang="en-US" sz="1200">
                <a:latin typeface="Arial" panose="020B0604020202020204"/>
                <a:ea typeface="微软雅黑" panose="020B0503020204020204" charset="-122"/>
                <a:cs typeface="Arial" panose="020B0604020202020204"/>
              </a:rPr>
              <a:t>启用</a:t>
            </a:r>
            <a:endParaRPr lang="zh-CN" altLang="en-US" sz="1200">
              <a:latin typeface="Arial" panose="020B0604020202020204"/>
              <a:ea typeface="微软雅黑" panose="020B0503020204020204" charset="-122"/>
              <a:cs typeface="Arial" panose="020B0604020202020204"/>
            </a:endParaRPr>
          </a:p>
          <a:p>
            <a:pPr algn="ctr"/>
            <a:r>
              <a:rPr lang="zh-CN" altLang="en-US" sz="1200">
                <a:latin typeface="Arial" panose="020B0604020202020204"/>
                <a:ea typeface="微软雅黑" panose="020B0503020204020204" charset="-122"/>
                <a:cs typeface="Arial" panose="020B0604020202020204"/>
              </a:rPr>
              <a:t>动态阈值</a:t>
            </a:r>
            <a:r>
              <a:rPr lang="zh-CN" altLang="en-US" sz="1200">
                <a:latin typeface="Arial" panose="020B0604020202020204"/>
                <a:ea typeface="微软雅黑" panose="020B0503020204020204" charset="-122"/>
                <a:cs typeface="Arial" panose="020B0604020202020204"/>
              </a:rPr>
              <a:t>启用</a:t>
            </a:r>
            <a:endParaRPr lang="zh-CN" altLang="en-US" sz="1200">
              <a:latin typeface="Arial" panose="020B0604020202020204"/>
              <a:ea typeface="微软雅黑" panose="020B0503020204020204" charset="-122"/>
              <a:cs typeface="Arial" panose="020B0604020202020204"/>
            </a:endParaRPr>
          </a:p>
        </p:txBody>
      </p:sp>
      <p:sp>
        <p:nvSpPr>
          <p:cNvPr id="13" name="椭圆 12"/>
          <p:cNvSpPr>
            <a:spLocks noGrp="1"/>
          </p:cNvSpPr>
          <p:nvPr>
            <p:custDataLst>
              <p:tags r:id="rId5"/>
            </p:custDataLst>
          </p:nvPr>
        </p:nvSpPr>
        <p:spPr>
          <a:xfrm>
            <a:off x="5677535" y="2110105"/>
            <a:ext cx="171450" cy="171450"/>
          </a:xfrm>
          <a:prstGeom prst="ellipse">
            <a:avLst/>
          </a:prstGeom>
          <a:solidFill>
            <a:srgbClr val="000000"/>
          </a:solidFill>
          <a:ln w="0">
            <a:noFill/>
            <a:prstDash val="solid"/>
          </a:ln>
        </p:spPr>
        <p:txBody>
          <a:bodyPr/>
          <a:lstStyle/>
          <a:p>
            <a:endParaRPr lang="zh-CN" altLang="en-US">
              <a:latin typeface="Arial" panose="020B0604020202020204"/>
              <a:ea typeface="微软雅黑" panose="020B0503020204020204" charset="-122"/>
              <a:cs typeface="Arial" panose="020B0604020202020204"/>
            </a:endParaRPr>
          </a:p>
        </p:txBody>
      </p:sp>
      <p:sp>
        <p:nvSpPr>
          <p:cNvPr id="14" name="文本框 13"/>
          <p:cNvSpPr txBox="1"/>
          <p:nvPr/>
        </p:nvSpPr>
        <p:spPr>
          <a:xfrm>
            <a:off x="5496560" y="1576070"/>
            <a:ext cx="716280" cy="372745"/>
          </a:xfrm>
          <a:prstGeom prst="rect">
            <a:avLst/>
          </a:prstGeom>
          <a:noFill/>
        </p:spPr>
        <p:txBody>
          <a:bodyPr wrap="square" rtlCol="0">
            <a:noAutofit/>
          </a:bodyPr>
          <a:lstStyle/>
          <a:p>
            <a:r>
              <a:rPr lang="en-US" altLang="zh-CN">
                <a:latin typeface="Arial" panose="020B0604020202020204"/>
                <a:ea typeface="微软雅黑" panose="020B0503020204020204" charset="-122"/>
                <a:cs typeface="Arial" panose="020B0604020202020204"/>
              </a:rPr>
              <a:t>400</a:t>
            </a:r>
            <a:endParaRPr lang="en-US" altLang="zh-CN">
              <a:latin typeface="Arial" panose="020B0604020202020204"/>
              <a:ea typeface="微软雅黑" panose="020B0503020204020204" charset="-122"/>
              <a:cs typeface="Arial" panose="020B0604020202020204"/>
            </a:endParaRPr>
          </a:p>
        </p:txBody>
      </p:sp>
      <p:sp>
        <p:nvSpPr>
          <p:cNvPr id="15" name="文本框 14"/>
          <p:cNvSpPr txBox="1"/>
          <p:nvPr/>
        </p:nvSpPr>
        <p:spPr>
          <a:xfrm>
            <a:off x="4683760" y="2345055"/>
            <a:ext cx="2159000" cy="460375"/>
          </a:xfrm>
          <a:prstGeom prst="rect">
            <a:avLst/>
          </a:prstGeom>
          <a:noFill/>
        </p:spPr>
        <p:txBody>
          <a:bodyPr wrap="square" rtlCol="0">
            <a:spAutoFit/>
          </a:bodyPr>
          <a:lstStyle/>
          <a:p>
            <a:pPr algn="ctr"/>
            <a:r>
              <a:rPr lang="en-US" altLang="zh-CN" sz="1200">
                <a:latin typeface="Arial" panose="020B0604020202020204"/>
                <a:ea typeface="微软雅黑" panose="020B0503020204020204" charset="-122"/>
                <a:cs typeface="Arial" panose="020B0604020202020204"/>
              </a:rPr>
              <a:t>STDP </a:t>
            </a:r>
            <a:r>
              <a:rPr lang="zh-CN" altLang="en-US" sz="1200">
                <a:latin typeface="Arial" panose="020B0604020202020204"/>
                <a:ea typeface="微软雅黑" panose="020B0503020204020204" charset="-122"/>
                <a:cs typeface="Arial" panose="020B0604020202020204"/>
              </a:rPr>
              <a:t>＆</a:t>
            </a:r>
            <a:r>
              <a:rPr lang="zh-CN" altLang="en-US" sz="1200">
                <a:latin typeface="Arial" panose="020B0604020202020204"/>
                <a:ea typeface="微软雅黑" panose="020B0503020204020204" charset="-122"/>
                <a:cs typeface="Arial" panose="020B0604020202020204"/>
              </a:rPr>
              <a:t>动态阈值</a:t>
            </a:r>
            <a:endParaRPr lang="zh-CN" altLang="en-US" sz="1200">
              <a:latin typeface="Arial" panose="020B0604020202020204"/>
              <a:ea typeface="微软雅黑" panose="020B0503020204020204" charset="-122"/>
              <a:cs typeface="Arial" panose="020B0604020202020204"/>
            </a:endParaRPr>
          </a:p>
          <a:p>
            <a:pPr algn="ctr"/>
            <a:r>
              <a:rPr lang="zh-CN" altLang="en-US" sz="1200">
                <a:latin typeface="Arial" panose="020B0604020202020204"/>
                <a:ea typeface="微软雅黑" panose="020B0503020204020204" charset="-122"/>
                <a:cs typeface="Arial" panose="020B0604020202020204"/>
              </a:rPr>
              <a:t>学习率减半</a:t>
            </a:r>
            <a:endParaRPr lang="zh-CN" altLang="en-US" sz="1200">
              <a:latin typeface="Arial" panose="020B0604020202020204"/>
              <a:ea typeface="微软雅黑" panose="020B0503020204020204" charset="-122"/>
              <a:cs typeface="Arial" panose="020B0604020202020204"/>
            </a:endParaRPr>
          </a:p>
        </p:txBody>
      </p:sp>
      <p:sp>
        <p:nvSpPr>
          <p:cNvPr id="17" name="文本框 16"/>
          <p:cNvSpPr txBox="1"/>
          <p:nvPr/>
        </p:nvSpPr>
        <p:spPr>
          <a:xfrm>
            <a:off x="6553200" y="2345055"/>
            <a:ext cx="2159000" cy="460375"/>
          </a:xfrm>
          <a:prstGeom prst="rect">
            <a:avLst/>
          </a:prstGeom>
          <a:noFill/>
        </p:spPr>
        <p:txBody>
          <a:bodyPr wrap="square" rtlCol="0">
            <a:spAutoFit/>
          </a:bodyPr>
          <a:lstStyle/>
          <a:p>
            <a:pPr algn="ctr"/>
            <a:r>
              <a:rPr lang="en-US" altLang="zh-CN" sz="1200">
                <a:latin typeface="Arial" panose="020B0604020202020204"/>
                <a:ea typeface="微软雅黑" panose="020B0503020204020204" charset="-122"/>
                <a:cs typeface="Arial" panose="020B0604020202020204"/>
              </a:rPr>
              <a:t>STDP </a:t>
            </a:r>
            <a:r>
              <a:rPr lang="zh-CN" altLang="en-US" sz="1200">
                <a:latin typeface="Arial" panose="020B0604020202020204"/>
                <a:ea typeface="微软雅黑" panose="020B0503020204020204" charset="-122"/>
                <a:cs typeface="Arial" panose="020B0604020202020204"/>
              </a:rPr>
              <a:t>＆</a:t>
            </a:r>
            <a:r>
              <a:rPr lang="zh-CN" altLang="en-US" sz="1200">
                <a:latin typeface="Arial" panose="020B0604020202020204"/>
                <a:ea typeface="微软雅黑" panose="020B0503020204020204" charset="-122"/>
                <a:cs typeface="Arial" panose="020B0604020202020204"/>
              </a:rPr>
              <a:t>动态阈值</a:t>
            </a:r>
            <a:endParaRPr lang="zh-CN" altLang="en-US" sz="1200">
              <a:latin typeface="Arial" panose="020B0604020202020204"/>
              <a:ea typeface="微软雅黑" panose="020B0503020204020204" charset="-122"/>
              <a:cs typeface="Arial" panose="020B0604020202020204"/>
            </a:endParaRPr>
          </a:p>
          <a:p>
            <a:pPr algn="ctr"/>
            <a:r>
              <a:rPr lang="zh-CN" altLang="en-US" sz="1200">
                <a:latin typeface="Arial" panose="020B0604020202020204"/>
                <a:ea typeface="微软雅黑" panose="020B0503020204020204" charset="-122"/>
                <a:cs typeface="Arial" panose="020B0604020202020204"/>
              </a:rPr>
              <a:t>学习率再次减半</a:t>
            </a:r>
            <a:endParaRPr lang="zh-CN" altLang="en-US" sz="1200">
              <a:latin typeface="Arial" panose="020B0604020202020204"/>
              <a:ea typeface="微软雅黑" panose="020B0503020204020204" charset="-122"/>
              <a:cs typeface="Arial" panose="020B0604020202020204"/>
            </a:endParaRPr>
          </a:p>
        </p:txBody>
      </p:sp>
      <p:sp>
        <p:nvSpPr>
          <p:cNvPr id="18" name="椭圆 17"/>
          <p:cNvSpPr>
            <a:spLocks noGrp="1"/>
          </p:cNvSpPr>
          <p:nvPr>
            <p:custDataLst>
              <p:tags r:id="rId6"/>
            </p:custDataLst>
          </p:nvPr>
        </p:nvSpPr>
        <p:spPr>
          <a:xfrm>
            <a:off x="7545070" y="2110105"/>
            <a:ext cx="171450" cy="171450"/>
          </a:xfrm>
          <a:prstGeom prst="ellipse">
            <a:avLst/>
          </a:prstGeom>
          <a:solidFill>
            <a:srgbClr val="000000"/>
          </a:solidFill>
          <a:ln w="0">
            <a:noFill/>
            <a:prstDash val="solid"/>
          </a:ln>
        </p:spPr>
        <p:txBody>
          <a:bodyPr/>
          <a:lstStyle/>
          <a:p>
            <a:endParaRPr lang="zh-CN" altLang="en-US">
              <a:latin typeface="Arial" panose="020B0604020202020204"/>
              <a:ea typeface="微软雅黑" panose="020B0503020204020204" charset="-122"/>
              <a:cs typeface="Arial" panose="020B0604020202020204"/>
            </a:endParaRPr>
          </a:p>
        </p:txBody>
      </p:sp>
      <p:sp>
        <p:nvSpPr>
          <p:cNvPr id="20" name="文本框 19"/>
          <p:cNvSpPr txBox="1"/>
          <p:nvPr/>
        </p:nvSpPr>
        <p:spPr>
          <a:xfrm>
            <a:off x="7366000" y="1602105"/>
            <a:ext cx="716280" cy="372745"/>
          </a:xfrm>
          <a:prstGeom prst="rect">
            <a:avLst/>
          </a:prstGeom>
          <a:noFill/>
        </p:spPr>
        <p:txBody>
          <a:bodyPr wrap="square" rtlCol="0">
            <a:noAutofit/>
          </a:bodyPr>
          <a:lstStyle/>
          <a:p>
            <a:r>
              <a:rPr lang="en-US" altLang="zh-CN">
                <a:latin typeface="Arial" panose="020B0604020202020204"/>
                <a:ea typeface="微软雅黑" panose="020B0503020204020204" charset="-122"/>
                <a:cs typeface="Arial" panose="020B0604020202020204"/>
              </a:rPr>
              <a:t>800</a:t>
            </a:r>
            <a:endParaRPr lang="en-US" altLang="zh-CN">
              <a:latin typeface="Arial" panose="020B0604020202020204"/>
              <a:ea typeface="微软雅黑" panose="020B0503020204020204" charset="-122"/>
              <a:cs typeface="Arial" panose="020B0604020202020204"/>
            </a:endParaRPr>
          </a:p>
        </p:txBody>
      </p:sp>
      <p:sp>
        <p:nvSpPr>
          <p:cNvPr id="21" name="椭圆 20"/>
          <p:cNvSpPr>
            <a:spLocks noGrp="1"/>
          </p:cNvSpPr>
          <p:nvPr>
            <p:custDataLst>
              <p:tags r:id="rId7"/>
            </p:custDataLst>
          </p:nvPr>
        </p:nvSpPr>
        <p:spPr>
          <a:xfrm>
            <a:off x="9528810" y="2110105"/>
            <a:ext cx="171450" cy="171450"/>
          </a:xfrm>
          <a:prstGeom prst="ellipse">
            <a:avLst/>
          </a:prstGeom>
          <a:solidFill>
            <a:srgbClr val="000000"/>
          </a:solidFill>
          <a:ln w="0">
            <a:noFill/>
            <a:prstDash val="solid"/>
          </a:ln>
        </p:spPr>
        <p:txBody>
          <a:bodyPr/>
          <a:lstStyle/>
          <a:p>
            <a:endParaRPr lang="zh-CN" altLang="en-US">
              <a:latin typeface="Arial" panose="020B0604020202020204"/>
              <a:ea typeface="微软雅黑" panose="020B0503020204020204" charset="-122"/>
              <a:cs typeface="Arial" panose="020B0604020202020204"/>
            </a:endParaRPr>
          </a:p>
        </p:txBody>
      </p:sp>
      <p:sp>
        <p:nvSpPr>
          <p:cNvPr id="22" name="文本框 21"/>
          <p:cNvSpPr txBox="1"/>
          <p:nvPr/>
        </p:nvSpPr>
        <p:spPr>
          <a:xfrm>
            <a:off x="9266555" y="1602105"/>
            <a:ext cx="716280" cy="372745"/>
          </a:xfrm>
          <a:prstGeom prst="rect">
            <a:avLst/>
          </a:prstGeom>
          <a:noFill/>
        </p:spPr>
        <p:txBody>
          <a:bodyPr wrap="square" rtlCol="0">
            <a:noAutofit/>
          </a:bodyPr>
          <a:lstStyle/>
          <a:p>
            <a:r>
              <a:rPr lang="en-US" altLang="zh-CN">
                <a:latin typeface="Arial" panose="020B0604020202020204"/>
                <a:ea typeface="微软雅黑" panose="020B0503020204020204" charset="-122"/>
                <a:cs typeface="Arial" panose="020B0604020202020204"/>
              </a:rPr>
              <a:t>1200</a:t>
            </a:r>
            <a:endParaRPr lang="en-US" altLang="zh-CN">
              <a:latin typeface="Arial" panose="020B0604020202020204"/>
              <a:ea typeface="微软雅黑" panose="020B0503020204020204" charset="-122"/>
              <a:cs typeface="Arial" panose="020B0604020202020204"/>
            </a:endParaRPr>
          </a:p>
        </p:txBody>
      </p:sp>
      <p:sp>
        <p:nvSpPr>
          <p:cNvPr id="23" name="文本框 22"/>
          <p:cNvSpPr txBox="1"/>
          <p:nvPr/>
        </p:nvSpPr>
        <p:spPr>
          <a:xfrm>
            <a:off x="9202420" y="2345055"/>
            <a:ext cx="861695" cy="285750"/>
          </a:xfrm>
          <a:prstGeom prst="rect">
            <a:avLst/>
          </a:prstGeom>
          <a:noFill/>
        </p:spPr>
        <p:txBody>
          <a:bodyPr wrap="square" rtlCol="0">
            <a:noAutofit/>
          </a:bodyPr>
          <a:lstStyle/>
          <a:p>
            <a:r>
              <a:rPr lang="zh-CN" altLang="en-US" sz="1200">
                <a:latin typeface="Arial" panose="020B0604020202020204"/>
                <a:ea typeface="微软雅黑" panose="020B0503020204020204" charset="-122"/>
                <a:cs typeface="Arial" panose="020B0604020202020204"/>
              </a:rPr>
              <a:t>训练结束</a:t>
            </a:r>
            <a:endParaRPr lang="zh-CN" altLang="en-US" sz="1200">
              <a:latin typeface="Arial" panose="020B0604020202020204"/>
              <a:ea typeface="微软雅黑" panose="020B0503020204020204" charset="-122"/>
              <a:cs typeface="Arial" panose="020B0604020202020204"/>
            </a:endParaRPr>
          </a:p>
        </p:txBody>
      </p:sp>
      <p:pic>
        <p:nvPicPr>
          <p:cNvPr id="25" name="图片 24"/>
          <p:cNvPicPr/>
          <p:nvPr/>
        </p:nvPicPr>
        <p:blipFill>
          <a:blip r:embed="rId8"/>
          <a:stretch>
            <a:fillRect/>
          </a:stretch>
        </p:blipFill>
        <p:spPr>
          <a:xfrm>
            <a:off x="0" y="3053715"/>
            <a:ext cx="2880000" cy="1800000"/>
          </a:xfrm>
          <a:prstGeom prst="rect">
            <a:avLst/>
          </a:prstGeom>
        </p:spPr>
      </p:pic>
      <p:sp>
        <p:nvSpPr>
          <p:cNvPr id="26" name="文本框 25"/>
          <p:cNvSpPr txBox="1"/>
          <p:nvPr/>
        </p:nvSpPr>
        <p:spPr>
          <a:xfrm>
            <a:off x="7366000" y="3622040"/>
            <a:ext cx="4064000" cy="1753235"/>
          </a:xfrm>
          <a:prstGeom prst="rect">
            <a:avLst/>
          </a:prstGeom>
          <a:noFill/>
        </p:spPr>
        <p:txBody>
          <a:bodyPr wrap="square" rtlCol="0">
            <a:spAutoFit/>
          </a:bodyPr>
          <a:lstStyle/>
          <a:p>
            <a:pPr algn="ctr"/>
            <a:r>
              <a:rPr lang="zh-CN" altLang="en-US">
                <a:latin typeface="Arial" panose="020B0604020202020204"/>
                <a:ea typeface="微软雅黑" panose="020B0503020204020204" charset="-122"/>
                <a:cs typeface="Arial" panose="020B0604020202020204"/>
              </a:rPr>
              <a:t>经过测试发现</a:t>
            </a:r>
            <a:r>
              <a:rPr lang="en-US" altLang="zh-CN">
                <a:latin typeface="Arial" panose="020B0604020202020204"/>
                <a:ea typeface="微软雅黑" panose="020B0503020204020204" charset="-122"/>
                <a:cs typeface="Arial" panose="020B0604020202020204"/>
              </a:rPr>
              <a:t>STDP</a:t>
            </a:r>
            <a:r>
              <a:rPr lang="zh-CN" altLang="en-US">
                <a:latin typeface="Arial" panose="020B0604020202020204"/>
                <a:ea typeface="微软雅黑" panose="020B0503020204020204" charset="-122"/>
                <a:cs typeface="Arial" panose="020B0604020202020204"/>
              </a:rPr>
              <a:t>与</a:t>
            </a:r>
            <a:r>
              <a:rPr lang="en-US" altLang="zh-CN">
                <a:latin typeface="Arial" panose="020B0604020202020204"/>
                <a:ea typeface="微软雅黑" panose="020B0503020204020204" charset="-122"/>
                <a:cs typeface="Arial" panose="020B0604020202020204"/>
              </a:rPr>
              <a:t>L1</a:t>
            </a:r>
            <a:r>
              <a:rPr lang="zh-CN" altLang="en-US">
                <a:latin typeface="Arial" panose="020B0604020202020204"/>
                <a:ea typeface="微软雅黑" panose="020B0503020204020204" charset="-122"/>
                <a:cs typeface="Arial" panose="020B0604020202020204"/>
              </a:rPr>
              <a:t>权重归一化机制在一开始并未开启是为了更好让</a:t>
            </a:r>
            <a:r>
              <a:rPr lang="zh-CN" altLang="en-US" b="1">
                <a:latin typeface="Arial" panose="020B0604020202020204"/>
                <a:ea typeface="微软雅黑" panose="020B0503020204020204" charset="-122"/>
                <a:cs typeface="Arial" panose="020B0604020202020204"/>
              </a:rPr>
              <a:t>放电阈值学习并达到稳定</a:t>
            </a:r>
            <a:r>
              <a:rPr lang="zh-CN" altLang="en-US">
                <a:latin typeface="Arial" panose="020B0604020202020204"/>
                <a:ea typeface="微软雅黑" panose="020B0503020204020204" charset="-122"/>
                <a:cs typeface="Arial" panose="020B0604020202020204"/>
              </a:rPr>
              <a:t>，以便后续网络学习更迭，且最后训练结束后的网络几乎没有差别</a:t>
            </a:r>
            <a:endParaRPr lang="zh-CN" altLang="en-US">
              <a:latin typeface="Arial" panose="020B0604020202020204"/>
              <a:ea typeface="微软雅黑" panose="020B0503020204020204" charset="-122"/>
              <a:cs typeface="Arial" panose="020B0604020202020204"/>
            </a:endParaRPr>
          </a:p>
          <a:p>
            <a:pPr algn="ctr"/>
            <a:r>
              <a:rPr lang="zh-CN" altLang="en-US">
                <a:latin typeface="Arial" panose="020B0604020202020204"/>
                <a:ea typeface="微软雅黑" panose="020B0503020204020204" charset="-122"/>
                <a:cs typeface="Arial" panose="020B0604020202020204"/>
              </a:rPr>
              <a:t>因此在后续实验中，延续原模型思路</a:t>
            </a:r>
            <a:endParaRPr lang="zh-CN" altLang="en-US">
              <a:latin typeface="Arial" panose="020B0604020202020204"/>
              <a:ea typeface="微软雅黑" panose="020B0503020204020204" charset="-122"/>
              <a:cs typeface="Arial" panose="020B0604020202020204"/>
            </a:endParaRPr>
          </a:p>
        </p:txBody>
      </p:sp>
      <p:pic>
        <p:nvPicPr>
          <p:cNvPr id="27" name="图片 26"/>
          <p:cNvPicPr/>
          <p:nvPr/>
        </p:nvPicPr>
        <p:blipFill>
          <a:blip r:embed="rId9"/>
          <a:stretch>
            <a:fillRect/>
          </a:stretch>
        </p:blipFill>
        <p:spPr>
          <a:xfrm>
            <a:off x="-4445" y="4917440"/>
            <a:ext cx="2880000" cy="1800000"/>
          </a:xfrm>
          <a:prstGeom prst="rect">
            <a:avLst/>
          </a:prstGeom>
        </p:spPr>
      </p:pic>
      <p:pic>
        <p:nvPicPr>
          <p:cNvPr id="31" name="图片 30"/>
          <p:cNvPicPr/>
          <p:nvPr/>
        </p:nvPicPr>
        <p:blipFill>
          <a:blip r:embed="rId10"/>
          <a:stretch>
            <a:fillRect/>
          </a:stretch>
        </p:blipFill>
        <p:spPr>
          <a:xfrm>
            <a:off x="2875280" y="3049905"/>
            <a:ext cx="2880000" cy="1800000"/>
          </a:xfrm>
          <a:prstGeom prst="rect">
            <a:avLst/>
          </a:prstGeom>
        </p:spPr>
      </p:pic>
      <p:pic>
        <p:nvPicPr>
          <p:cNvPr id="32" name="图片 31"/>
          <p:cNvPicPr/>
          <p:nvPr/>
        </p:nvPicPr>
        <p:blipFill>
          <a:blip r:embed="rId11"/>
          <a:stretch>
            <a:fillRect/>
          </a:stretch>
        </p:blipFill>
        <p:spPr>
          <a:xfrm>
            <a:off x="2969514" y="4951857"/>
            <a:ext cx="2880000" cy="1800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p:nvPr/>
        </p:nvPicPr>
        <p:blipFill>
          <a:blip r:embed="rId1"/>
          <a:stretch>
            <a:fillRect/>
          </a:stretch>
        </p:blipFill>
        <p:spPr>
          <a:xfrm>
            <a:off x="10922000" y="0"/>
            <a:ext cx="1270000" cy="1270000"/>
          </a:xfrm>
          <a:prstGeom prst="rect">
            <a:avLst/>
          </a:prstGeom>
        </p:spPr>
      </p:pic>
      <p:sp>
        <p:nvSpPr>
          <p:cNvPr id="16" name="标题 1"/>
          <p:cNvSpPr txBox="1"/>
          <p:nvPr/>
        </p:nvSpPr>
        <p:spPr>
          <a:xfrm>
            <a:off x="436880" y="209550"/>
            <a:ext cx="3134360" cy="36322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a:ea typeface="微软雅黑" panose="020B0503020204020204" charset="-122"/>
                <a:cs typeface="Arial" panose="020B0604020202020204"/>
              </a:defRPr>
            </a:lvl1pPr>
          </a:lstStyle>
          <a:p>
            <a:pPr algn="l"/>
            <a:r>
              <a:rPr lang="zh-CN" sz="2400" b="1" dirty="0">
                <a:latin typeface="Arial" panose="020B0604020202020204"/>
                <a:ea typeface="微软雅黑" panose="020B0503020204020204" charset="-122"/>
                <a:cs typeface="Arial" panose="020B0604020202020204"/>
              </a:rPr>
              <a:t>消融实验设计</a:t>
            </a:r>
            <a:endParaRPr lang="zh-CN" sz="2400" b="1" dirty="0">
              <a:latin typeface="Arial" panose="020B0604020202020204"/>
              <a:ea typeface="微软雅黑" panose="020B0503020204020204" charset="-122"/>
              <a:cs typeface="Arial" panose="020B0604020202020204"/>
            </a:endParaRPr>
          </a:p>
        </p:txBody>
      </p:sp>
      <p:graphicFrame>
        <p:nvGraphicFramePr>
          <p:cNvPr id="20" name="表格 19"/>
          <p:cNvGraphicFramePr/>
          <p:nvPr>
            <p:custDataLst>
              <p:tags r:id="rId2"/>
            </p:custDataLst>
          </p:nvPr>
        </p:nvGraphicFramePr>
        <p:xfrm>
          <a:off x="2476500" y="1539240"/>
          <a:ext cx="6584950" cy="3219769"/>
        </p:xfrm>
        <a:graphic>
          <a:graphicData uri="http://schemas.openxmlformats.org/drawingml/2006/table">
            <a:tbl>
              <a:tblPr/>
              <a:tblGrid>
                <a:gridCol w="1923415"/>
                <a:gridCol w="1201420"/>
                <a:gridCol w="1085850"/>
                <a:gridCol w="1250315"/>
                <a:gridCol w="1123950"/>
              </a:tblGrid>
              <a:tr h="862330">
                <a:tc>
                  <a:txBody>
                    <a:bodyPr/>
                    <a:lstStyle/>
                    <a:p>
                      <a:r>
                        <a:rPr lang="en-US" sz="1425" b="1">
                          <a:solidFill>
                            <a:schemeClr val="tx1"/>
                          </a:solidFill>
                          <a:latin typeface="Arial" panose="020B0604020202020204"/>
                          <a:ea typeface="微软雅黑" panose="020B0503020204020204" charset="-122"/>
                          <a:cs typeface="Arial" panose="020B0604020202020204"/>
                        </a:rPr>
                        <a:t>θ-</a:t>
                      </a:r>
                      <a:r>
                        <a:rPr lang="zh-CN" altLang="en-US" sz="1425" b="1">
                          <a:solidFill>
                            <a:schemeClr val="tx1"/>
                          </a:solidFill>
                          <a:latin typeface="Arial" panose="020B0604020202020204"/>
                          <a:ea typeface="微软雅黑" panose="020B0503020204020204" charset="-122"/>
                          <a:cs typeface="Arial" panose="020B0604020202020204"/>
                        </a:rPr>
                        <a:t>动态阈值机制</a:t>
                      </a:r>
                      <a:endParaRPr lang="zh-CN" altLang="en-US" sz="1425" b="1">
                        <a:solidFill>
                          <a:schemeClr val="tx1"/>
                        </a:solidFill>
                        <a:latin typeface="Arial" panose="020B0604020202020204"/>
                        <a:ea typeface="微软雅黑" panose="020B0503020204020204" charset="-122"/>
                        <a:cs typeface="Arial" panose="020B0604020202020204"/>
                      </a:endParaRPr>
                    </a:p>
                    <a:p>
                      <a:r>
                        <a:rPr lang="en-US" altLang="zh-CN" sz="1425" b="1">
                          <a:solidFill>
                            <a:schemeClr val="tx1"/>
                          </a:solidFill>
                          <a:latin typeface="Arial" panose="020B0604020202020204"/>
                          <a:ea typeface="微软雅黑" panose="020B0503020204020204" charset="-122"/>
                          <a:cs typeface="Arial" panose="020B0604020202020204"/>
                        </a:rPr>
                        <a:t>L1-</a:t>
                      </a:r>
                      <a:r>
                        <a:rPr lang="zh-CN" altLang="en-US" sz="1425" b="1">
                          <a:solidFill>
                            <a:schemeClr val="tx1"/>
                          </a:solidFill>
                          <a:latin typeface="Arial" panose="020B0604020202020204"/>
                          <a:ea typeface="微软雅黑" panose="020B0503020204020204" charset="-122"/>
                          <a:cs typeface="Arial" panose="020B0604020202020204"/>
                        </a:rPr>
                        <a:t>权重归一化机制</a:t>
                      </a:r>
                      <a:endParaRPr lang="zh-CN" altLang="en-US" sz="1425" b="1">
                        <a:solidFill>
                          <a:schemeClr val="tx1"/>
                        </a:solidFill>
                        <a:latin typeface="Arial" panose="020B0604020202020204"/>
                        <a:ea typeface="微软雅黑" panose="020B0503020204020204" charset="-122"/>
                        <a:cs typeface="Arial" panose="020B0604020202020204"/>
                      </a:endParaRPr>
                    </a:p>
                  </a:txBody>
                  <a:tcPr anchor="ctr">
                    <a:noFill/>
                  </a:tcPr>
                </a:tc>
                <a:tc>
                  <a:txBody>
                    <a:bodyPr/>
                    <a:lstStyle/>
                    <a:p>
                      <a:pPr algn="ctr"/>
                      <a:r>
                        <a:rPr sz="1425" b="1">
                          <a:solidFill>
                            <a:schemeClr val="tx1"/>
                          </a:solidFill>
                          <a:latin typeface="Arial" panose="020B0604020202020204"/>
                          <a:ea typeface="微软雅黑" panose="020B0503020204020204" charset="-122"/>
                          <a:cs typeface="Arial" panose="020B0604020202020204"/>
                        </a:rPr>
                        <a:t>D</a:t>
                      </a:r>
                      <a:endParaRPr sz="1425" b="1">
                        <a:solidFill>
                          <a:schemeClr val="tx1"/>
                        </a:solidFill>
                        <a:latin typeface="Arial" panose="020B0604020202020204"/>
                        <a:ea typeface="微软雅黑" panose="020B0503020204020204" charset="-122"/>
                        <a:cs typeface="Arial" panose="020B0604020202020204"/>
                      </a:endParaRPr>
                    </a:p>
                    <a:p>
                      <a:pPr algn="ctr"/>
                      <a:r>
                        <a:rPr sz="1425" b="1">
                          <a:solidFill>
                            <a:schemeClr val="tx1"/>
                          </a:solidFill>
                          <a:latin typeface="Arial" panose="020B0604020202020204"/>
                          <a:ea typeface="微软雅黑" panose="020B0503020204020204" charset="-122"/>
                          <a:cs typeface="Arial" panose="020B0604020202020204"/>
                        </a:rPr>
                        <a:t>θ ON</a:t>
                      </a:r>
                      <a:endParaRPr sz="1425" b="1">
                        <a:solidFill>
                          <a:schemeClr val="tx1"/>
                        </a:solidFill>
                        <a:latin typeface="Arial" panose="020B0604020202020204"/>
                        <a:ea typeface="微软雅黑" panose="020B0503020204020204" charset="-122"/>
                        <a:cs typeface="Arial" panose="020B0604020202020204"/>
                      </a:endParaRPr>
                    </a:p>
                    <a:p>
                      <a:pPr algn="ctr"/>
                      <a:r>
                        <a:rPr sz="1425" b="1">
                          <a:solidFill>
                            <a:schemeClr val="tx1"/>
                          </a:solidFill>
                          <a:latin typeface="Arial" panose="020B0604020202020204"/>
                          <a:ea typeface="微软雅黑" panose="020B0503020204020204" charset="-122"/>
                          <a:cs typeface="Arial" panose="020B0604020202020204"/>
                        </a:rPr>
                        <a:t>L1 ON</a:t>
                      </a:r>
                      <a:endParaRPr sz="1425" b="1">
                        <a:solidFill>
                          <a:schemeClr val="tx1"/>
                        </a:solidFill>
                        <a:latin typeface="Arial" panose="020B0604020202020204"/>
                        <a:ea typeface="微软雅黑" panose="020B0503020204020204" charset="-122"/>
                        <a:cs typeface="Arial" panose="020B0604020202020204"/>
                      </a:endParaRPr>
                    </a:p>
                  </a:txBody>
                  <a:tcPr anchor="ctr">
                    <a:noFill/>
                  </a:tcPr>
                </a:tc>
                <a:tc>
                  <a:txBody>
                    <a:bodyPr/>
                    <a:lstStyle/>
                    <a:p>
                      <a:pPr algn="ctr"/>
                      <a:r>
                        <a:rPr sz="1425" b="1">
                          <a:solidFill>
                            <a:schemeClr val="tx1"/>
                          </a:solidFill>
                          <a:latin typeface="Arial" panose="020B0604020202020204"/>
                          <a:ea typeface="微软雅黑" panose="020B0503020204020204" charset="-122"/>
                          <a:cs typeface="Arial" panose="020B0604020202020204"/>
                        </a:rPr>
                        <a:t>E</a:t>
                      </a:r>
                      <a:endParaRPr sz="1425" b="1">
                        <a:solidFill>
                          <a:schemeClr val="tx1"/>
                        </a:solidFill>
                        <a:latin typeface="Arial" panose="020B0604020202020204"/>
                        <a:ea typeface="微软雅黑" panose="020B0503020204020204" charset="-122"/>
                        <a:cs typeface="Arial" panose="020B0604020202020204"/>
                      </a:endParaRPr>
                    </a:p>
                    <a:p>
                      <a:pPr algn="ctr"/>
                      <a:r>
                        <a:rPr sz="1425" b="1">
                          <a:solidFill>
                            <a:schemeClr val="tx1"/>
                          </a:solidFill>
                          <a:latin typeface="Arial" panose="020B0604020202020204"/>
                          <a:ea typeface="微软雅黑" panose="020B0503020204020204" charset="-122"/>
                          <a:cs typeface="Arial" panose="020B0604020202020204"/>
                        </a:rPr>
                        <a:t>θ ON</a:t>
                      </a:r>
                      <a:endParaRPr sz="1425" b="1">
                        <a:solidFill>
                          <a:schemeClr val="tx1"/>
                        </a:solidFill>
                        <a:latin typeface="Arial" panose="020B0604020202020204"/>
                        <a:ea typeface="微软雅黑" panose="020B0503020204020204" charset="-122"/>
                        <a:cs typeface="Arial" panose="020B0604020202020204"/>
                      </a:endParaRPr>
                    </a:p>
                    <a:p>
                      <a:pPr algn="ctr"/>
                      <a:r>
                        <a:rPr sz="1425" b="1">
                          <a:solidFill>
                            <a:schemeClr val="tx1"/>
                          </a:solidFill>
                          <a:latin typeface="Arial" panose="020B0604020202020204"/>
                          <a:ea typeface="微软雅黑" panose="020B0503020204020204" charset="-122"/>
                          <a:cs typeface="Arial" panose="020B0604020202020204"/>
                        </a:rPr>
                        <a:t>L1 OFF</a:t>
                      </a:r>
                      <a:endParaRPr sz="1425" b="1">
                        <a:solidFill>
                          <a:schemeClr val="tx1"/>
                        </a:solidFill>
                        <a:latin typeface="Arial" panose="020B0604020202020204"/>
                        <a:ea typeface="微软雅黑" panose="020B0503020204020204" charset="-122"/>
                        <a:cs typeface="Arial" panose="020B0604020202020204"/>
                      </a:endParaRPr>
                    </a:p>
                  </a:txBody>
                  <a:tcPr anchor="ctr">
                    <a:noFill/>
                  </a:tcPr>
                </a:tc>
                <a:tc>
                  <a:txBody>
                    <a:bodyPr/>
                    <a:lstStyle/>
                    <a:p>
                      <a:pPr algn="ctr"/>
                      <a:r>
                        <a:rPr sz="1425" b="1">
                          <a:solidFill>
                            <a:schemeClr val="tx1"/>
                          </a:solidFill>
                          <a:latin typeface="Arial" panose="020B0604020202020204"/>
                          <a:ea typeface="微软雅黑" panose="020B0503020204020204" charset="-122"/>
                          <a:cs typeface="Arial" panose="020B0604020202020204"/>
                        </a:rPr>
                        <a:t>F</a:t>
                      </a:r>
                      <a:endParaRPr sz="1425" b="1">
                        <a:solidFill>
                          <a:schemeClr val="tx1"/>
                        </a:solidFill>
                        <a:latin typeface="Arial" panose="020B0604020202020204"/>
                        <a:ea typeface="微软雅黑" panose="020B0503020204020204" charset="-122"/>
                        <a:cs typeface="Arial" panose="020B0604020202020204"/>
                      </a:endParaRPr>
                    </a:p>
                    <a:p>
                      <a:pPr algn="ctr"/>
                      <a:r>
                        <a:rPr sz="1425" b="1">
                          <a:solidFill>
                            <a:schemeClr val="tx1"/>
                          </a:solidFill>
                          <a:latin typeface="Arial" panose="020B0604020202020204"/>
                          <a:ea typeface="微软雅黑" panose="020B0503020204020204" charset="-122"/>
                          <a:cs typeface="Arial" panose="020B0604020202020204"/>
                        </a:rPr>
                        <a:t>θ OFF</a:t>
                      </a:r>
                      <a:endParaRPr sz="1425" b="1">
                        <a:solidFill>
                          <a:schemeClr val="tx1"/>
                        </a:solidFill>
                        <a:latin typeface="Arial" panose="020B0604020202020204"/>
                        <a:ea typeface="微软雅黑" panose="020B0503020204020204" charset="-122"/>
                        <a:cs typeface="Arial" panose="020B0604020202020204"/>
                      </a:endParaRPr>
                    </a:p>
                    <a:p>
                      <a:pPr algn="ctr"/>
                      <a:r>
                        <a:rPr sz="1425" b="1">
                          <a:solidFill>
                            <a:schemeClr val="tx1"/>
                          </a:solidFill>
                          <a:latin typeface="Arial" panose="020B0604020202020204"/>
                          <a:ea typeface="微软雅黑" panose="020B0503020204020204" charset="-122"/>
                          <a:cs typeface="Arial" panose="020B0604020202020204"/>
                        </a:rPr>
                        <a:t>L1 ON</a:t>
                      </a:r>
                      <a:endParaRPr sz="1425" b="1">
                        <a:solidFill>
                          <a:schemeClr val="tx1"/>
                        </a:solidFill>
                        <a:latin typeface="Arial" panose="020B0604020202020204"/>
                        <a:ea typeface="微软雅黑" panose="020B0503020204020204" charset="-122"/>
                        <a:cs typeface="Arial" panose="020B0604020202020204"/>
                      </a:endParaRPr>
                    </a:p>
                  </a:txBody>
                  <a:tcPr anchor="ctr">
                    <a:noFill/>
                  </a:tcPr>
                </a:tc>
                <a:tc>
                  <a:txBody>
                    <a:bodyPr/>
                    <a:lstStyle/>
                    <a:p>
                      <a:pPr algn="ctr"/>
                      <a:r>
                        <a:rPr sz="1425" b="1">
                          <a:solidFill>
                            <a:schemeClr val="tx1"/>
                          </a:solidFill>
                          <a:latin typeface="Arial" panose="020B0604020202020204"/>
                          <a:ea typeface="微软雅黑" panose="020B0503020204020204" charset="-122"/>
                          <a:cs typeface="Arial" panose="020B0604020202020204"/>
                        </a:rPr>
                        <a:t>G</a:t>
                      </a:r>
                      <a:endParaRPr sz="1425" b="1">
                        <a:solidFill>
                          <a:schemeClr val="tx1"/>
                        </a:solidFill>
                        <a:latin typeface="Arial" panose="020B0604020202020204"/>
                        <a:ea typeface="微软雅黑" panose="020B0503020204020204" charset="-122"/>
                        <a:cs typeface="Arial" panose="020B0604020202020204"/>
                      </a:endParaRPr>
                    </a:p>
                    <a:p>
                      <a:pPr algn="ctr"/>
                      <a:r>
                        <a:rPr sz="1425" b="1">
                          <a:solidFill>
                            <a:schemeClr val="tx1"/>
                          </a:solidFill>
                          <a:latin typeface="Arial" panose="020B0604020202020204"/>
                          <a:ea typeface="微软雅黑" panose="020B0503020204020204" charset="-122"/>
                          <a:cs typeface="Arial" panose="020B0604020202020204"/>
                        </a:rPr>
                        <a:t>θ OFF</a:t>
                      </a:r>
                      <a:endParaRPr sz="1425" b="1">
                        <a:solidFill>
                          <a:schemeClr val="tx1"/>
                        </a:solidFill>
                        <a:latin typeface="Arial" panose="020B0604020202020204"/>
                        <a:ea typeface="微软雅黑" panose="020B0503020204020204" charset="-122"/>
                        <a:cs typeface="Arial" panose="020B0604020202020204"/>
                      </a:endParaRPr>
                    </a:p>
                    <a:p>
                      <a:pPr algn="ctr"/>
                      <a:r>
                        <a:rPr sz="1425" b="1">
                          <a:solidFill>
                            <a:schemeClr val="tx1"/>
                          </a:solidFill>
                          <a:latin typeface="Arial" panose="020B0604020202020204"/>
                          <a:ea typeface="微软雅黑" panose="020B0503020204020204" charset="-122"/>
                          <a:cs typeface="Arial" panose="020B0604020202020204"/>
                        </a:rPr>
                        <a:t>L1</a:t>
                      </a:r>
                      <a:r>
                        <a:rPr sz="1425" b="1">
                          <a:solidFill>
                            <a:schemeClr val="tx1"/>
                          </a:solidFill>
                          <a:latin typeface="Arial" panose="020B0604020202020204"/>
                          <a:ea typeface="微软雅黑" panose="020B0503020204020204" charset="-122"/>
                          <a:cs typeface="Arial" panose="020B0604020202020204"/>
                        </a:rPr>
                        <a:t>OFF</a:t>
                      </a:r>
                      <a:endParaRPr sz="1425" b="1">
                        <a:solidFill>
                          <a:schemeClr val="tx1"/>
                        </a:solidFill>
                        <a:latin typeface="Arial" panose="020B0604020202020204"/>
                        <a:ea typeface="微软雅黑" panose="020B0503020204020204" charset="-122"/>
                        <a:cs typeface="Arial" panose="020B0604020202020204"/>
                      </a:endParaRPr>
                    </a:p>
                  </a:txBody>
                  <a:tcPr anchor="ctr">
                    <a:noFill/>
                  </a:tcPr>
                </a:tc>
              </a:tr>
              <a:tr h="785813">
                <a:tc>
                  <a:txBody>
                    <a:bodyPr/>
                    <a:lstStyle/>
                    <a:p>
                      <a:pPr algn="ctr"/>
                      <a:r>
                        <a:rPr sz="1350" b="1">
                          <a:solidFill>
                            <a:schemeClr val="tx1"/>
                          </a:solidFill>
                          <a:latin typeface="Arial" panose="020B0604020202020204"/>
                          <a:ea typeface="微软雅黑" panose="020B0503020204020204" charset="-122"/>
                          <a:cs typeface="Arial" panose="020B0604020202020204"/>
                        </a:rPr>
                        <a:t>A</a:t>
                      </a:r>
                      <a:endParaRPr sz="1350" b="1">
                        <a:solidFill>
                          <a:schemeClr val="tx1"/>
                        </a:solidFill>
                        <a:latin typeface="Arial" panose="020B0604020202020204"/>
                        <a:ea typeface="微软雅黑" panose="020B0503020204020204" charset="-122"/>
                        <a:cs typeface="Arial" panose="020B0604020202020204"/>
                      </a:endParaRPr>
                    </a:p>
                    <a:p>
                      <a:pPr algn="ctr"/>
                      <a:r>
                        <a:rPr lang="en-US" sz="1350" b="1">
                          <a:solidFill>
                            <a:schemeClr val="tx1"/>
                          </a:solidFill>
                          <a:latin typeface="Arial" panose="020B0604020202020204"/>
                          <a:ea typeface="微软雅黑" panose="020B0503020204020204" charset="-122"/>
                          <a:cs typeface="Arial" panose="020B0604020202020204"/>
                        </a:rPr>
                        <a:t>IE</a:t>
                      </a:r>
                      <a:r>
                        <a:rPr lang="zh-CN" altLang="en-US" sz="1350" b="1">
                          <a:solidFill>
                            <a:schemeClr val="tx1"/>
                          </a:solidFill>
                          <a:latin typeface="Arial" panose="020B0604020202020204"/>
                          <a:ea typeface="微软雅黑" panose="020B0503020204020204" charset="-122"/>
                          <a:cs typeface="Arial" panose="020B0604020202020204"/>
                        </a:rPr>
                        <a:t>连接</a:t>
                      </a:r>
                      <a:r>
                        <a:rPr sz="1350" b="1">
                          <a:solidFill>
                            <a:schemeClr val="tx1"/>
                          </a:solidFill>
                          <a:latin typeface="Arial" panose="020B0604020202020204"/>
                          <a:ea typeface="微软雅黑" panose="020B0503020204020204" charset="-122"/>
                          <a:cs typeface="Arial" panose="020B0604020202020204"/>
                        </a:rPr>
                        <a:t>O</a:t>
                      </a:r>
                      <a:r>
                        <a:rPr lang="en-US" sz="1350" b="1">
                          <a:solidFill>
                            <a:schemeClr val="tx1"/>
                          </a:solidFill>
                          <a:latin typeface="Arial" panose="020B0604020202020204"/>
                          <a:ea typeface="微软雅黑" panose="020B0503020204020204" charset="-122"/>
                          <a:cs typeface="Arial" panose="020B0604020202020204"/>
                        </a:rPr>
                        <a:t>N </a:t>
                      </a:r>
                      <a:endParaRPr lang="en-US" sz="1350" b="1">
                        <a:solidFill>
                          <a:schemeClr val="tx1"/>
                        </a:solidFill>
                        <a:latin typeface="Arial" panose="020B0604020202020204"/>
                        <a:ea typeface="微软雅黑" panose="020B0503020204020204" charset="-122"/>
                        <a:cs typeface="Arial" panose="020B0604020202020204"/>
                      </a:endParaRPr>
                    </a:p>
                    <a:p>
                      <a:pPr algn="ctr"/>
                      <a:r>
                        <a:rPr lang="en-US" sz="1350" b="1">
                          <a:solidFill>
                            <a:schemeClr val="tx1"/>
                          </a:solidFill>
                          <a:latin typeface="Arial" panose="020B0604020202020204"/>
                          <a:ea typeface="微软雅黑" panose="020B0503020204020204" charset="-122"/>
                          <a:cs typeface="Arial" panose="020B0604020202020204"/>
                        </a:rPr>
                        <a:t>IE</a:t>
                      </a:r>
                      <a:r>
                        <a:rPr lang="zh-CN" altLang="en-US" sz="1350" b="1">
                          <a:solidFill>
                            <a:schemeClr val="tx1"/>
                          </a:solidFill>
                          <a:latin typeface="Arial" panose="020B0604020202020204"/>
                          <a:ea typeface="微软雅黑" panose="020B0503020204020204" charset="-122"/>
                          <a:cs typeface="Arial" panose="020B0604020202020204"/>
                        </a:rPr>
                        <a:t>可</a:t>
                      </a:r>
                      <a:r>
                        <a:rPr sz="1350" b="1">
                          <a:solidFill>
                            <a:schemeClr val="tx1"/>
                          </a:solidFill>
                          <a:latin typeface="Arial" panose="020B0604020202020204"/>
                          <a:ea typeface="微软雅黑" panose="020B0503020204020204" charset="-122"/>
                          <a:cs typeface="Arial" panose="020B0604020202020204"/>
                        </a:rPr>
                        <a:t>塑性ON</a:t>
                      </a:r>
                      <a:endParaRPr sz="1350" b="1">
                        <a:solidFill>
                          <a:schemeClr val="tx1"/>
                        </a:solidFill>
                        <a:latin typeface="Arial" panose="020B0604020202020204"/>
                        <a:ea typeface="微软雅黑" panose="020B0503020204020204" charset="-122"/>
                        <a:cs typeface="Arial" panose="020B0604020202020204"/>
                      </a:endParaRPr>
                    </a:p>
                  </a:txBody>
                  <a:tcPr anchor="ctr">
                    <a:noFill/>
                  </a:tcPr>
                </a:tc>
                <a:tc>
                  <a:txBody>
                    <a:bodyPr/>
                    <a:lstStyle/>
                    <a:p>
                      <a:pPr algn="ctr"/>
                      <a:r>
                        <a:rPr sz="1425">
                          <a:solidFill>
                            <a:schemeClr val="tx1"/>
                          </a:solidFill>
                          <a:latin typeface="Arial" panose="020B0604020202020204"/>
                          <a:ea typeface="微软雅黑" panose="020B0503020204020204" charset="-122"/>
                          <a:cs typeface="Arial" panose="020B0604020202020204"/>
                        </a:rPr>
                        <a:t>AD</a:t>
                      </a:r>
                      <a:endParaRPr sz="1425">
                        <a:solidFill>
                          <a:schemeClr val="tx1"/>
                        </a:solidFill>
                        <a:latin typeface="Arial" panose="020B0604020202020204"/>
                        <a:ea typeface="微软雅黑" panose="020B0503020204020204" charset="-122"/>
                        <a:cs typeface="Arial" panose="020B0604020202020204"/>
                      </a:endParaRPr>
                    </a:p>
                  </a:txBody>
                  <a:tcPr anchor="ctr">
                    <a:noFill/>
                  </a:tcPr>
                </a:tc>
                <a:tc>
                  <a:txBody>
                    <a:bodyPr/>
                    <a:lstStyle/>
                    <a:p>
                      <a:pPr algn="ctr"/>
                      <a:r>
                        <a:rPr sz="1425">
                          <a:solidFill>
                            <a:schemeClr val="tx1"/>
                          </a:solidFill>
                          <a:latin typeface="Arial" panose="020B0604020202020204"/>
                          <a:ea typeface="微软雅黑" panose="020B0503020204020204" charset="-122"/>
                          <a:cs typeface="Arial" panose="020B0604020202020204"/>
                        </a:rPr>
                        <a:t>AE</a:t>
                      </a:r>
                      <a:endParaRPr sz="1425">
                        <a:solidFill>
                          <a:schemeClr val="tx1"/>
                        </a:solidFill>
                        <a:latin typeface="Arial" panose="020B0604020202020204"/>
                        <a:ea typeface="微软雅黑" panose="020B0503020204020204" charset="-122"/>
                        <a:cs typeface="Arial" panose="020B0604020202020204"/>
                      </a:endParaRPr>
                    </a:p>
                  </a:txBody>
                  <a:tcPr anchor="ctr">
                    <a:noFill/>
                  </a:tcPr>
                </a:tc>
                <a:tc>
                  <a:txBody>
                    <a:bodyPr/>
                    <a:lstStyle/>
                    <a:p>
                      <a:pPr algn="ctr"/>
                      <a:r>
                        <a:rPr sz="1425">
                          <a:solidFill>
                            <a:schemeClr val="tx1"/>
                          </a:solidFill>
                          <a:latin typeface="Arial" panose="020B0604020202020204"/>
                          <a:ea typeface="微软雅黑" panose="020B0503020204020204" charset="-122"/>
                          <a:cs typeface="Arial" panose="020B0604020202020204"/>
                        </a:rPr>
                        <a:t>AF</a:t>
                      </a:r>
                      <a:endParaRPr sz="1425">
                        <a:solidFill>
                          <a:schemeClr val="tx1"/>
                        </a:solidFill>
                        <a:latin typeface="Arial" panose="020B0604020202020204"/>
                        <a:ea typeface="微软雅黑" panose="020B0503020204020204" charset="-122"/>
                        <a:cs typeface="Arial" panose="020B0604020202020204"/>
                      </a:endParaRPr>
                    </a:p>
                  </a:txBody>
                  <a:tcPr anchor="ctr">
                    <a:noFill/>
                  </a:tcPr>
                </a:tc>
                <a:tc>
                  <a:txBody>
                    <a:bodyPr/>
                    <a:lstStyle/>
                    <a:p>
                      <a:pPr algn="ctr"/>
                      <a:r>
                        <a:rPr sz="1425">
                          <a:solidFill>
                            <a:schemeClr val="tx1"/>
                          </a:solidFill>
                          <a:latin typeface="Arial" panose="020B0604020202020204"/>
                          <a:ea typeface="微软雅黑" panose="020B0503020204020204" charset="-122"/>
                          <a:cs typeface="Arial" panose="020B0604020202020204"/>
                        </a:rPr>
                        <a:t>AG</a:t>
                      </a:r>
                      <a:endParaRPr sz="1425">
                        <a:solidFill>
                          <a:schemeClr val="tx1"/>
                        </a:solidFill>
                        <a:latin typeface="Arial" panose="020B0604020202020204"/>
                        <a:ea typeface="微软雅黑" panose="020B0503020204020204" charset="-122"/>
                        <a:cs typeface="Arial" panose="020B0604020202020204"/>
                      </a:endParaRPr>
                    </a:p>
                  </a:txBody>
                  <a:tcPr anchor="ctr">
                    <a:noFill/>
                  </a:tcPr>
                </a:tc>
              </a:tr>
              <a:tr h="785813">
                <a:tc>
                  <a:txBody>
                    <a:bodyPr/>
                    <a:lstStyle/>
                    <a:p>
                      <a:pPr algn="ctr"/>
                      <a:r>
                        <a:rPr sz="1350" b="1">
                          <a:solidFill>
                            <a:schemeClr val="tx1"/>
                          </a:solidFill>
                          <a:latin typeface="Arial" panose="020B0604020202020204"/>
                          <a:ea typeface="微软雅黑" panose="020B0503020204020204" charset="-122"/>
                          <a:cs typeface="Arial" panose="020B0604020202020204"/>
                        </a:rPr>
                        <a:t>B</a:t>
                      </a:r>
                      <a:endParaRPr sz="1350" b="1">
                        <a:solidFill>
                          <a:schemeClr val="tx1"/>
                        </a:solidFill>
                        <a:latin typeface="Arial" panose="020B0604020202020204"/>
                        <a:ea typeface="微软雅黑" panose="020B0503020204020204" charset="-122"/>
                        <a:cs typeface="Arial" panose="020B0604020202020204"/>
                      </a:endParaRPr>
                    </a:p>
                    <a:p>
                      <a:pPr algn="ctr"/>
                      <a:r>
                        <a:rPr lang="en-US" sz="1350" b="1">
                          <a:solidFill>
                            <a:schemeClr val="tx1"/>
                          </a:solidFill>
                          <a:latin typeface="Arial" panose="020B0604020202020204"/>
                          <a:ea typeface="微软雅黑" panose="020B0503020204020204" charset="-122"/>
                          <a:cs typeface="Arial" panose="020B0604020202020204"/>
                        </a:rPr>
                        <a:t>IE</a:t>
                      </a:r>
                      <a:r>
                        <a:rPr lang="zh-CN" altLang="en-US" sz="1350" b="1">
                          <a:solidFill>
                            <a:schemeClr val="tx1"/>
                          </a:solidFill>
                          <a:latin typeface="Arial" panose="020B0604020202020204"/>
                          <a:ea typeface="微软雅黑" panose="020B0503020204020204" charset="-122"/>
                          <a:cs typeface="Arial" panose="020B0604020202020204"/>
                          <a:sym typeface="+mn-ea"/>
                        </a:rPr>
                        <a:t>连接</a:t>
                      </a:r>
                      <a:r>
                        <a:rPr sz="1350" b="1">
                          <a:solidFill>
                            <a:schemeClr val="tx1"/>
                          </a:solidFill>
                          <a:latin typeface="Arial" panose="020B0604020202020204"/>
                          <a:ea typeface="微软雅黑" panose="020B0503020204020204" charset="-122"/>
                          <a:cs typeface="Arial" panose="020B0604020202020204"/>
                        </a:rPr>
                        <a:t>ON</a:t>
                      </a:r>
                      <a:endParaRPr sz="1350" b="1">
                        <a:solidFill>
                          <a:schemeClr val="tx1"/>
                        </a:solidFill>
                        <a:latin typeface="Arial" panose="020B0604020202020204"/>
                        <a:ea typeface="微软雅黑" panose="020B0503020204020204" charset="-122"/>
                        <a:cs typeface="Arial" panose="020B0604020202020204"/>
                      </a:endParaRPr>
                    </a:p>
                    <a:p>
                      <a:pPr algn="ctr"/>
                      <a:r>
                        <a:rPr lang="en-US" sz="1350" b="1">
                          <a:solidFill>
                            <a:schemeClr val="tx1"/>
                          </a:solidFill>
                          <a:latin typeface="Arial" panose="020B0604020202020204"/>
                          <a:ea typeface="微软雅黑" panose="020B0503020204020204" charset="-122"/>
                          <a:cs typeface="Arial" panose="020B0604020202020204"/>
                        </a:rPr>
                        <a:t>IE</a:t>
                      </a:r>
                      <a:r>
                        <a:rPr lang="zh-CN" altLang="en-US" sz="1350" b="1">
                          <a:solidFill>
                            <a:schemeClr val="tx1"/>
                          </a:solidFill>
                          <a:latin typeface="Arial" panose="020B0604020202020204"/>
                          <a:ea typeface="微软雅黑" panose="020B0503020204020204" charset="-122"/>
                          <a:cs typeface="Arial" panose="020B0604020202020204"/>
                        </a:rPr>
                        <a:t>可</a:t>
                      </a:r>
                      <a:r>
                        <a:rPr sz="1350" b="1">
                          <a:solidFill>
                            <a:schemeClr val="tx1"/>
                          </a:solidFill>
                          <a:latin typeface="Arial" panose="020B0604020202020204"/>
                          <a:ea typeface="微软雅黑" panose="020B0503020204020204" charset="-122"/>
                          <a:cs typeface="Arial" panose="020B0604020202020204"/>
                        </a:rPr>
                        <a:t>塑性OFF</a:t>
                      </a:r>
                      <a:endParaRPr sz="1350" b="1">
                        <a:solidFill>
                          <a:schemeClr val="tx1"/>
                        </a:solidFill>
                        <a:latin typeface="Arial" panose="020B0604020202020204"/>
                        <a:ea typeface="微软雅黑" panose="020B0503020204020204" charset="-122"/>
                        <a:cs typeface="Arial" panose="020B0604020202020204"/>
                      </a:endParaRPr>
                    </a:p>
                  </a:txBody>
                  <a:tcPr anchor="ctr">
                    <a:noFill/>
                  </a:tcPr>
                </a:tc>
                <a:tc>
                  <a:txBody>
                    <a:bodyPr/>
                    <a:lstStyle/>
                    <a:p>
                      <a:pPr algn="ctr"/>
                      <a:r>
                        <a:rPr sz="1425">
                          <a:solidFill>
                            <a:schemeClr val="tx1"/>
                          </a:solidFill>
                          <a:latin typeface="Arial" panose="020B0604020202020204"/>
                          <a:ea typeface="微软雅黑" panose="020B0503020204020204" charset="-122"/>
                          <a:cs typeface="Arial" panose="020B0604020202020204"/>
                        </a:rPr>
                        <a:t>BD</a:t>
                      </a:r>
                      <a:endParaRPr sz="1425">
                        <a:solidFill>
                          <a:schemeClr val="tx1"/>
                        </a:solidFill>
                        <a:latin typeface="Arial" panose="020B0604020202020204"/>
                        <a:ea typeface="微软雅黑" panose="020B0503020204020204" charset="-122"/>
                        <a:cs typeface="Arial" panose="020B0604020202020204"/>
                      </a:endParaRPr>
                    </a:p>
                  </a:txBody>
                  <a:tcPr anchor="ctr">
                    <a:noFill/>
                  </a:tcPr>
                </a:tc>
                <a:tc>
                  <a:txBody>
                    <a:bodyPr/>
                    <a:lstStyle/>
                    <a:p>
                      <a:pPr algn="ctr"/>
                      <a:r>
                        <a:rPr sz="1425">
                          <a:solidFill>
                            <a:schemeClr val="tx1"/>
                          </a:solidFill>
                          <a:latin typeface="Arial" panose="020B0604020202020204"/>
                          <a:ea typeface="微软雅黑" panose="020B0503020204020204" charset="-122"/>
                          <a:cs typeface="Arial" panose="020B0604020202020204"/>
                        </a:rPr>
                        <a:t>BE</a:t>
                      </a:r>
                      <a:endParaRPr sz="1425">
                        <a:solidFill>
                          <a:schemeClr val="tx1"/>
                        </a:solidFill>
                        <a:latin typeface="Arial" panose="020B0604020202020204"/>
                        <a:ea typeface="微软雅黑" panose="020B0503020204020204" charset="-122"/>
                        <a:cs typeface="Arial" panose="020B0604020202020204"/>
                      </a:endParaRPr>
                    </a:p>
                  </a:txBody>
                  <a:tcPr anchor="ctr">
                    <a:noFill/>
                  </a:tcPr>
                </a:tc>
                <a:tc>
                  <a:txBody>
                    <a:bodyPr/>
                    <a:lstStyle/>
                    <a:p>
                      <a:pPr algn="ctr"/>
                      <a:r>
                        <a:rPr sz="1425">
                          <a:solidFill>
                            <a:schemeClr val="tx1"/>
                          </a:solidFill>
                          <a:latin typeface="Arial" panose="020B0604020202020204"/>
                          <a:ea typeface="微软雅黑" panose="020B0503020204020204" charset="-122"/>
                          <a:cs typeface="Arial" panose="020B0604020202020204"/>
                        </a:rPr>
                        <a:t>BF</a:t>
                      </a:r>
                      <a:endParaRPr sz="1425">
                        <a:solidFill>
                          <a:schemeClr val="tx1"/>
                        </a:solidFill>
                        <a:latin typeface="Arial" panose="020B0604020202020204"/>
                        <a:ea typeface="微软雅黑" panose="020B0503020204020204" charset="-122"/>
                        <a:cs typeface="Arial" panose="020B0604020202020204"/>
                      </a:endParaRPr>
                    </a:p>
                  </a:txBody>
                  <a:tcPr anchor="ctr">
                    <a:noFill/>
                  </a:tcPr>
                </a:tc>
                <a:tc>
                  <a:txBody>
                    <a:bodyPr/>
                    <a:lstStyle/>
                    <a:p>
                      <a:pPr algn="ctr"/>
                      <a:r>
                        <a:rPr sz="1425">
                          <a:solidFill>
                            <a:schemeClr val="tx1"/>
                          </a:solidFill>
                          <a:latin typeface="Arial" panose="020B0604020202020204"/>
                          <a:ea typeface="微软雅黑" panose="020B0503020204020204" charset="-122"/>
                          <a:cs typeface="Arial" panose="020B0604020202020204"/>
                        </a:rPr>
                        <a:t>BG</a:t>
                      </a:r>
                      <a:endParaRPr sz="1425">
                        <a:solidFill>
                          <a:schemeClr val="tx1"/>
                        </a:solidFill>
                        <a:latin typeface="Arial" panose="020B0604020202020204"/>
                        <a:ea typeface="微软雅黑" panose="020B0503020204020204" charset="-122"/>
                        <a:cs typeface="Arial" panose="020B0604020202020204"/>
                      </a:endParaRPr>
                    </a:p>
                  </a:txBody>
                  <a:tcPr anchor="ctr">
                    <a:noFill/>
                  </a:tcPr>
                </a:tc>
              </a:tr>
              <a:tr h="785813">
                <a:tc>
                  <a:txBody>
                    <a:bodyPr/>
                    <a:lstStyle/>
                    <a:p>
                      <a:pPr algn="ctr"/>
                      <a:r>
                        <a:rPr sz="1350" b="1">
                          <a:solidFill>
                            <a:schemeClr val="tx1"/>
                          </a:solidFill>
                          <a:latin typeface="Arial" panose="020B0604020202020204"/>
                          <a:ea typeface="微软雅黑" panose="020B0503020204020204" charset="-122"/>
                          <a:cs typeface="Arial" panose="020B0604020202020204"/>
                        </a:rPr>
                        <a:t>C</a:t>
                      </a:r>
                      <a:endParaRPr sz="1350" b="1">
                        <a:solidFill>
                          <a:schemeClr val="tx1"/>
                        </a:solidFill>
                        <a:latin typeface="Arial" panose="020B0604020202020204"/>
                        <a:ea typeface="微软雅黑" panose="020B0503020204020204" charset="-122"/>
                        <a:cs typeface="Arial" panose="020B0604020202020204"/>
                      </a:endParaRPr>
                    </a:p>
                    <a:p>
                      <a:pPr algn="ctr"/>
                      <a:r>
                        <a:rPr lang="en-US" sz="1350" b="1">
                          <a:solidFill>
                            <a:schemeClr val="tx1"/>
                          </a:solidFill>
                          <a:latin typeface="Arial" panose="020B0604020202020204"/>
                          <a:ea typeface="微软雅黑" panose="020B0503020204020204" charset="-122"/>
                          <a:cs typeface="Arial" panose="020B0604020202020204"/>
                        </a:rPr>
                        <a:t>IE</a:t>
                      </a:r>
                      <a:r>
                        <a:rPr lang="zh-CN" altLang="en-US" sz="1350" b="1">
                          <a:solidFill>
                            <a:schemeClr val="tx1"/>
                          </a:solidFill>
                          <a:latin typeface="Arial" panose="020B0604020202020204"/>
                          <a:ea typeface="微软雅黑" panose="020B0503020204020204" charset="-122"/>
                          <a:cs typeface="Arial" panose="020B0604020202020204"/>
                          <a:sym typeface="+mn-ea"/>
                        </a:rPr>
                        <a:t>连接</a:t>
                      </a:r>
                      <a:r>
                        <a:rPr sz="1350" b="1">
                          <a:solidFill>
                            <a:schemeClr val="tx1"/>
                          </a:solidFill>
                          <a:latin typeface="Arial" panose="020B0604020202020204"/>
                          <a:ea typeface="微软雅黑" panose="020B0503020204020204" charset="-122"/>
                          <a:cs typeface="Arial" panose="020B0604020202020204"/>
                        </a:rPr>
                        <a:t>OFF</a:t>
                      </a:r>
                      <a:endParaRPr sz="1350" b="1">
                        <a:solidFill>
                          <a:schemeClr val="tx1"/>
                        </a:solidFill>
                        <a:latin typeface="Arial" panose="020B0604020202020204"/>
                        <a:ea typeface="微软雅黑" panose="020B0503020204020204" charset="-122"/>
                        <a:cs typeface="Arial" panose="020B0604020202020204"/>
                      </a:endParaRPr>
                    </a:p>
                    <a:p>
                      <a:pPr algn="ctr"/>
                      <a:r>
                        <a:rPr lang="en-US" sz="1350" b="1">
                          <a:solidFill>
                            <a:schemeClr val="tx1"/>
                          </a:solidFill>
                          <a:latin typeface="Arial" panose="020B0604020202020204"/>
                          <a:ea typeface="微软雅黑" panose="020B0503020204020204" charset="-122"/>
                          <a:cs typeface="Arial" panose="020B0604020202020204"/>
                        </a:rPr>
                        <a:t>IE</a:t>
                      </a:r>
                      <a:r>
                        <a:rPr lang="zh-CN" altLang="en-US" sz="1350" b="1">
                          <a:solidFill>
                            <a:schemeClr val="tx1"/>
                          </a:solidFill>
                          <a:latin typeface="Arial" panose="020B0604020202020204"/>
                          <a:ea typeface="微软雅黑" panose="020B0503020204020204" charset="-122"/>
                          <a:cs typeface="Arial" panose="020B0604020202020204"/>
                        </a:rPr>
                        <a:t>可</a:t>
                      </a:r>
                      <a:r>
                        <a:rPr sz="1350" b="1">
                          <a:solidFill>
                            <a:schemeClr val="tx1"/>
                          </a:solidFill>
                          <a:latin typeface="Arial" panose="020B0604020202020204"/>
                          <a:ea typeface="微软雅黑" panose="020B0503020204020204" charset="-122"/>
                          <a:cs typeface="Arial" panose="020B0604020202020204"/>
                        </a:rPr>
                        <a:t>塑性OFF</a:t>
                      </a:r>
                      <a:endParaRPr sz="1350" b="1">
                        <a:solidFill>
                          <a:schemeClr val="tx1"/>
                        </a:solidFill>
                        <a:latin typeface="Arial" panose="020B0604020202020204"/>
                        <a:ea typeface="微软雅黑" panose="020B0503020204020204" charset="-122"/>
                        <a:cs typeface="Arial" panose="020B0604020202020204"/>
                      </a:endParaRPr>
                    </a:p>
                  </a:txBody>
                  <a:tcPr anchor="ctr">
                    <a:noFill/>
                  </a:tcPr>
                </a:tc>
                <a:tc>
                  <a:txBody>
                    <a:bodyPr/>
                    <a:lstStyle/>
                    <a:p>
                      <a:pPr algn="ctr"/>
                      <a:r>
                        <a:rPr sz="1425">
                          <a:solidFill>
                            <a:schemeClr val="tx1"/>
                          </a:solidFill>
                          <a:latin typeface="Arial" panose="020B0604020202020204"/>
                          <a:ea typeface="微软雅黑" panose="020B0503020204020204" charset="-122"/>
                          <a:cs typeface="Arial" panose="020B0604020202020204"/>
                        </a:rPr>
                        <a:t>CD</a:t>
                      </a:r>
                      <a:endParaRPr sz="1425">
                        <a:solidFill>
                          <a:schemeClr val="tx1"/>
                        </a:solidFill>
                        <a:latin typeface="Arial" panose="020B0604020202020204"/>
                        <a:ea typeface="微软雅黑" panose="020B0503020204020204" charset="-122"/>
                        <a:cs typeface="Arial" panose="020B0604020202020204"/>
                      </a:endParaRPr>
                    </a:p>
                  </a:txBody>
                  <a:tcPr anchor="ctr">
                    <a:noFill/>
                  </a:tcPr>
                </a:tc>
                <a:tc>
                  <a:txBody>
                    <a:bodyPr/>
                    <a:lstStyle/>
                    <a:p>
                      <a:pPr algn="ctr"/>
                      <a:r>
                        <a:rPr sz="1425">
                          <a:solidFill>
                            <a:schemeClr val="tx1"/>
                          </a:solidFill>
                          <a:latin typeface="Arial" panose="020B0604020202020204"/>
                          <a:ea typeface="微软雅黑" panose="020B0503020204020204" charset="-122"/>
                          <a:cs typeface="Arial" panose="020B0604020202020204"/>
                        </a:rPr>
                        <a:t>CE</a:t>
                      </a:r>
                      <a:endParaRPr sz="1425">
                        <a:solidFill>
                          <a:schemeClr val="tx1"/>
                        </a:solidFill>
                        <a:latin typeface="Arial" panose="020B0604020202020204"/>
                        <a:ea typeface="微软雅黑" panose="020B0503020204020204" charset="-122"/>
                        <a:cs typeface="Arial" panose="020B0604020202020204"/>
                      </a:endParaRPr>
                    </a:p>
                  </a:txBody>
                  <a:tcPr anchor="ctr">
                    <a:noFill/>
                  </a:tcPr>
                </a:tc>
                <a:tc>
                  <a:txBody>
                    <a:bodyPr/>
                    <a:lstStyle/>
                    <a:p>
                      <a:pPr algn="ctr"/>
                      <a:r>
                        <a:rPr sz="1425">
                          <a:solidFill>
                            <a:schemeClr val="tx1"/>
                          </a:solidFill>
                          <a:latin typeface="Arial" panose="020B0604020202020204"/>
                          <a:ea typeface="微软雅黑" panose="020B0503020204020204" charset="-122"/>
                          <a:cs typeface="Arial" panose="020B0604020202020204"/>
                        </a:rPr>
                        <a:t>CF</a:t>
                      </a:r>
                      <a:endParaRPr sz="1425">
                        <a:solidFill>
                          <a:schemeClr val="tx1"/>
                        </a:solidFill>
                        <a:latin typeface="Arial" panose="020B0604020202020204"/>
                        <a:ea typeface="微软雅黑" panose="020B0503020204020204" charset="-122"/>
                        <a:cs typeface="Arial" panose="020B0604020202020204"/>
                      </a:endParaRPr>
                    </a:p>
                  </a:txBody>
                  <a:tcPr anchor="ctr">
                    <a:noFill/>
                  </a:tcPr>
                </a:tc>
                <a:tc>
                  <a:txBody>
                    <a:bodyPr/>
                    <a:lstStyle/>
                    <a:p>
                      <a:pPr algn="ctr"/>
                      <a:r>
                        <a:rPr sz="1425">
                          <a:solidFill>
                            <a:schemeClr val="tx1"/>
                          </a:solidFill>
                          <a:latin typeface="Arial" panose="020B0604020202020204"/>
                          <a:ea typeface="微软雅黑" panose="020B0503020204020204" charset="-122"/>
                          <a:cs typeface="Arial" panose="020B0604020202020204"/>
                        </a:rPr>
                        <a:t>CG</a:t>
                      </a:r>
                      <a:endParaRPr sz="1425">
                        <a:solidFill>
                          <a:schemeClr val="tx1"/>
                        </a:solidFill>
                        <a:latin typeface="Arial" panose="020B0604020202020204"/>
                        <a:ea typeface="微软雅黑" panose="020B0503020204020204" charset="-122"/>
                        <a:cs typeface="Arial" panose="020B0604020202020204"/>
                      </a:endParaRPr>
                    </a:p>
                  </a:txBody>
                  <a:tcPr anchor="ctr">
                    <a:noFill/>
                  </a:tcPr>
                </a:tc>
              </a:tr>
            </a:tbl>
          </a:graphicData>
        </a:graphic>
      </p:graphicFrame>
      <p:sp>
        <p:nvSpPr>
          <p:cNvPr id="5" name="矩形 4"/>
          <p:cNvSpPr/>
          <p:nvPr/>
        </p:nvSpPr>
        <p:spPr>
          <a:xfrm>
            <a:off x="4704715" y="2503805"/>
            <a:ext cx="596900" cy="2108835"/>
          </a:xfrm>
          <a:prstGeom prst="rect">
            <a:avLst/>
          </a:prstGeom>
          <a:noFill/>
          <a:ln w="25400">
            <a:solidFill>
              <a:schemeClr val="accent6"/>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a:ea typeface="微软雅黑" panose="020B0503020204020204" charset="-122"/>
              <a:cs typeface="Arial" panose="020B0604020202020204"/>
            </a:endParaRPr>
          </a:p>
        </p:txBody>
      </p:sp>
      <p:sp>
        <p:nvSpPr>
          <p:cNvPr id="6" name="矩形 5"/>
          <p:cNvSpPr/>
          <p:nvPr/>
        </p:nvSpPr>
        <p:spPr>
          <a:xfrm>
            <a:off x="4704715" y="2503805"/>
            <a:ext cx="4319905" cy="559435"/>
          </a:xfrm>
          <a:prstGeom prst="rect">
            <a:avLst/>
          </a:prstGeom>
          <a:noFill/>
          <a:ln w="25400">
            <a:solidFill>
              <a:schemeClr val="accent6"/>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a:ea typeface="微软雅黑" panose="020B0503020204020204" charset="-122"/>
              <a:cs typeface="Arial" panose="020B0604020202020204"/>
            </a:endParaRPr>
          </a:p>
        </p:txBody>
      </p:sp>
      <p:cxnSp>
        <p:nvCxnSpPr>
          <p:cNvPr id="8" name="直接连接符 7"/>
          <p:cNvCxnSpPr/>
          <p:nvPr/>
        </p:nvCxnSpPr>
        <p:spPr>
          <a:xfrm flipH="1">
            <a:off x="5041900" y="1099820"/>
            <a:ext cx="932815" cy="1635760"/>
          </a:xfrm>
          <a:prstGeom prst="line">
            <a:avLst/>
          </a:prstGeom>
          <a:ln w="25400" cmpd="sng">
            <a:solidFill>
              <a:schemeClr val="accent1">
                <a:shade val="50000"/>
              </a:schemeClr>
            </a:solidFill>
            <a:prstDash val="sysDot"/>
          </a:ln>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5301615" y="821055"/>
            <a:ext cx="1678305" cy="211455"/>
          </a:xfrm>
          <a:prstGeom prst="rect">
            <a:avLst/>
          </a:prstGeom>
          <a:noFill/>
        </p:spPr>
        <p:txBody>
          <a:bodyPr wrap="square" rtlCol="0">
            <a:noAutofit/>
          </a:bodyPr>
          <a:lstStyle/>
          <a:p>
            <a:r>
              <a:rPr lang="zh-CN" altLang="en-US">
                <a:solidFill>
                  <a:schemeClr val="accent1"/>
                </a:solidFill>
                <a:latin typeface="Arial" panose="020B0604020202020204"/>
                <a:ea typeface="微软雅黑" panose="020B0503020204020204" charset="-122"/>
                <a:cs typeface="Arial" panose="020B0604020202020204"/>
              </a:rPr>
              <a:t>原完整程序</a:t>
            </a:r>
            <a:endParaRPr lang="zh-CN" altLang="en-US">
              <a:solidFill>
                <a:schemeClr val="accent1"/>
              </a:solidFill>
              <a:latin typeface="Arial" panose="020B0604020202020204"/>
              <a:ea typeface="微软雅黑" panose="020B0503020204020204" charset="-122"/>
              <a:cs typeface="Arial" panose="020B0604020202020204"/>
            </a:endParaRPr>
          </a:p>
        </p:txBody>
      </p:sp>
      <p:sp>
        <p:nvSpPr>
          <p:cNvPr id="10" name="文本框 9"/>
          <p:cNvSpPr txBox="1"/>
          <p:nvPr/>
        </p:nvSpPr>
        <p:spPr>
          <a:xfrm>
            <a:off x="3983990" y="4909820"/>
            <a:ext cx="2112010" cy="922020"/>
          </a:xfrm>
          <a:prstGeom prst="rect">
            <a:avLst/>
          </a:prstGeom>
          <a:noFill/>
        </p:spPr>
        <p:txBody>
          <a:bodyPr wrap="square" rtlCol="0">
            <a:spAutoFit/>
          </a:bodyPr>
          <a:lstStyle/>
          <a:p>
            <a:r>
              <a:rPr lang="zh-CN" altLang="en-US">
                <a:latin typeface="Arial" panose="020B0604020202020204"/>
                <a:ea typeface="微软雅黑" panose="020B0503020204020204" charset="-122"/>
                <a:cs typeface="Arial" panose="020B0604020202020204"/>
              </a:rPr>
              <a:t>纵向比较</a:t>
            </a:r>
            <a:r>
              <a:rPr lang="en-US" altLang="zh-CN">
                <a:latin typeface="Arial" panose="020B0604020202020204"/>
                <a:ea typeface="微软雅黑" panose="020B0503020204020204" charset="-122"/>
                <a:cs typeface="Arial" panose="020B0604020202020204"/>
              </a:rPr>
              <a:t>A–C，</a:t>
            </a:r>
            <a:r>
              <a:rPr lang="zh-CN" altLang="en-US">
                <a:latin typeface="Arial" panose="020B0604020202020204"/>
                <a:ea typeface="微软雅黑" panose="020B0503020204020204" charset="-122"/>
                <a:cs typeface="Arial" panose="020B0604020202020204"/>
              </a:rPr>
              <a:t>可分析</a:t>
            </a:r>
            <a:r>
              <a:rPr lang="en-US" altLang="zh-CN" b="1">
                <a:latin typeface="Arial" panose="020B0604020202020204"/>
                <a:ea typeface="微软雅黑" panose="020B0503020204020204" charset="-122"/>
                <a:cs typeface="Arial" panose="020B0604020202020204"/>
              </a:rPr>
              <a:t>I→E</a:t>
            </a:r>
            <a:r>
              <a:rPr lang="zh-CN" altLang="en-US" b="1">
                <a:latin typeface="Arial" panose="020B0604020202020204"/>
                <a:ea typeface="微软雅黑" panose="020B0503020204020204" charset="-122"/>
                <a:cs typeface="Arial" panose="020B0604020202020204"/>
              </a:rPr>
              <a:t>抑制传递</a:t>
            </a:r>
            <a:r>
              <a:rPr lang="zh-CN" altLang="en-US">
                <a:latin typeface="Arial" panose="020B0604020202020204"/>
                <a:ea typeface="微软雅黑" panose="020B0503020204020204" charset="-122"/>
                <a:cs typeface="Arial" panose="020B0604020202020204"/>
              </a:rPr>
              <a:t>及其</a:t>
            </a:r>
            <a:r>
              <a:rPr lang="zh-CN" altLang="en-US" b="1">
                <a:latin typeface="Arial" panose="020B0604020202020204"/>
                <a:ea typeface="微软雅黑" panose="020B0503020204020204" charset="-122"/>
                <a:cs typeface="Arial" panose="020B0604020202020204"/>
              </a:rPr>
              <a:t>可塑性</a:t>
            </a:r>
            <a:r>
              <a:rPr lang="zh-CN" altLang="en-US">
                <a:latin typeface="Arial" panose="020B0604020202020204"/>
                <a:ea typeface="微软雅黑" panose="020B0503020204020204" charset="-122"/>
                <a:cs typeface="Arial" panose="020B0604020202020204"/>
              </a:rPr>
              <a:t>的作用</a:t>
            </a:r>
            <a:endParaRPr lang="zh-CN" altLang="en-US">
              <a:latin typeface="Arial" panose="020B0604020202020204"/>
              <a:ea typeface="微软雅黑" panose="020B0503020204020204" charset="-122"/>
              <a:cs typeface="Arial" panose="020B0604020202020204"/>
            </a:endParaRPr>
          </a:p>
        </p:txBody>
      </p:sp>
      <p:sp>
        <p:nvSpPr>
          <p:cNvPr id="11" name="文本框 10"/>
          <p:cNvSpPr txBox="1"/>
          <p:nvPr/>
        </p:nvSpPr>
        <p:spPr>
          <a:xfrm>
            <a:off x="9224645" y="2409825"/>
            <a:ext cx="1972310" cy="169545"/>
          </a:xfrm>
          <a:prstGeom prst="rect">
            <a:avLst/>
          </a:prstGeom>
        </p:spPr>
        <p:txBody>
          <a:bodyPr>
            <a:noAutofit/>
          </a:bodyPr>
          <a:lstStyle/>
          <a:p>
            <a:r>
              <a:rPr lang="zh-CN" altLang="en-US">
                <a:latin typeface="Arial" panose="020B0604020202020204"/>
                <a:ea typeface="微软雅黑" panose="020B0503020204020204" charset="-122"/>
                <a:cs typeface="Arial" panose="020B0604020202020204"/>
              </a:rPr>
              <a:t>横向比较</a:t>
            </a:r>
            <a:r>
              <a:rPr lang="en-US" altLang="zh-CN">
                <a:latin typeface="Arial" panose="020B0604020202020204"/>
                <a:ea typeface="微软雅黑" panose="020B0503020204020204" charset="-122"/>
                <a:cs typeface="Arial" panose="020B0604020202020204"/>
              </a:rPr>
              <a:t>D–G</a:t>
            </a:r>
            <a:r>
              <a:rPr lang="zh-CN" altLang="en-US">
                <a:latin typeface="Arial" panose="020B0604020202020204"/>
                <a:ea typeface="微软雅黑" panose="020B0503020204020204" charset="-122"/>
                <a:cs typeface="Arial" panose="020B0604020202020204"/>
              </a:rPr>
              <a:t>，可分析</a:t>
            </a:r>
            <a:r>
              <a:rPr lang="zh-CN" altLang="en-US" b="1">
                <a:latin typeface="Arial" panose="020B0604020202020204"/>
                <a:ea typeface="微软雅黑" panose="020B0503020204020204" charset="-122"/>
                <a:cs typeface="Arial" panose="020B0604020202020204"/>
              </a:rPr>
              <a:t>动态阈值</a:t>
            </a:r>
            <a:r>
              <a:rPr lang="zh-CN" altLang="en-US">
                <a:latin typeface="Arial" panose="020B0604020202020204"/>
                <a:ea typeface="微软雅黑" panose="020B0503020204020204" charset="-122"/>
                <a:cs typeface="Arial" panose="020B0604020202020204"/>
              </a:rPr>
              <a:t>和</a:t>
            </a:r>
            <a:r>
              <a:rPr lang="en-US" altLang="zh-CN" b="1">
                <a:latin typeface="Arial" panose="020B0604020202020204"/>
                <a:ea typeface="微软雅黑" panose="020B0503020204020204" charset="-122"/>
                <a:cs typeface="Arial" panose="020B0604020202020204"/>
              </a:rPr>
              <a:t>L1</a:t>
            </a:r>
            <a:r>
              <a:rPr lang="zh-CN" altLang="en-US" b="1">
                <a:latin typeface="Arial" panose="020B0604020202020204"/>
                <a:ea typeface="微软雅黑" panose="020B0503020204020204" charset="-122"/>
                <a:cs typeface="Arial" panose="020B0604020202020204"/>
              </a:rPr>
              <a:t>权重归一化</a:t>
            </a:r>
            <a:r>
              <a:rPr lang="zh-CN" altLang="en-US">
                <a:latin typeface="Arial" panose="020B0604020202020204"/>
                <a:ea typeface="微软雅黑" panose="020B0503020204020204" charset="-122"/>
                <a:cs typeface="Arial" panose="020B0604020202020204"/>
              </a:rPr>
              <a:t>的作用</a:t>
            </a:r>
            <a:endParaRPr lang="zh-CN" altLang="en-US">
              <a:latin typeface="Arial" panose="020B0604020202020204"/>
              <a:ea typeface="微软雅黑" panose="020B0503020204020204" charset="-122"/>
              <a:cs typeface="Arial" panose="020B0604020202020204"/>
            </a:endParaRPr>
          </a:p>
        </p:txBody>
      </p:sp>
      <p:sp>
        <p:nvSpPr>
          <p:cNvPr id="12" name="文本框 11"/>
          <p:cNvSpPr txBox="1"/>
          <p:nvPr/>
        </p:nvSpPr>
        <p:spPr>
          <a:xfrm>
            <a:off x="6744335" y="5621655"/>
            <a:ext cx="4064000" cy="368300"/>
          </a:xfrm>
          <a:prstGeom prst="rect">
            <a:avLst/>
          </a:prstGeom>
          <a:noFill/>
        </p:spPr>
        <p:txBody>
          <a:bodyPr wrap="square" rtlCol="0">
            <a:spAutoFit/>
          </a:bodyPr>
          <a:lstStyle/>
          <a:p>
            <a:endParaRPr lang="en-US" altLang="zh-CN">
              <a:latin typeface="Arial" panose="020B0604020202020204"/>
              <a:ea typeface="微软雅黑" panose="020B0503020204020204" charset="-122"/>
              <a:cs typeface="Arial" panose="020B0604020202020204"/>
            </a:endParaRPr>
          </a:p>
        </p:txBody>
      </p:sp>
      <p:sp>
        <p:nvSpPr>
          <p:cNvPr id="13" name="文本框 12"/>
          <p:cNvSpPr txBox="1"/>
          <p:nvPr/>
        </p:nvSpPr>
        <p:spPr>
          <a:xfrm>
            <a:off x="6639560" y="4827905"/>
            <a:ext cx="5476875" cy="2030095"/>
          </a:xfrm>
          <a:prstGeom prst="rect">
            <a:avLst/>
          </a:prstGeom>
          <a:noFill/>
        </p:spPr>
        <p:txBody>
          <a:bodyPr wrap="square" rtlCol="0">
            <a:spAutoFit/>
          </a:bodyPr>
          <a:lstStyle/>
          <a:p>
            <a:pPr algn="ctr"/>
            <a:r>
              <a:rPr lang="zh-CN" altLang="en-US">
                <a:latin typeface="Arial" panose="020B0604020202020204"/>
                <a:ea typeface="微软雅黑" panose="020B0503020204020204" charset="-122"/>
                <a:cs typeface="Arial" panose="020B0604020202020204"/>
              </a:rPr>
              <a:t>每种消融条件均在不同网络规模下运行。以</a:t>
            </a:r>
            <a:r>
              <a:rPr lang="en-US">
                <a:latin typeface="Arial" panose="020B0604020202020204"/>
                <a:ea typeface="微软雅黑" panose="020B0503020204020204" charset="-122"/>
                <a:cs typeface="Arial" panose="020B0604020202020204"/>
              </a:rPr>
              <a:t>cn</a:t>
            </a:r>
            <a:r>
              <a:rPr lang="zh-CN" altLang="en-US">
                <a:latin typeface="Arial" panose="020B0604020202020204"/>
                <a:ea typeface="微软雅黑" panose="020B0503020204020204" charset="-122"/>
                <a:cs typeface="Arial" panose="020B0604020202020204"/>
              </a:rPr>
              <a:t>为规模系数，</a:t>
            </a:r>
            <a:r>
              <a:rPr lang="en-US" altLang="zh-CN">
                <a:latin typeface="Arial" panose="020B0604020202020204"/>
                <a:ea typeface="微软雅黑" panose="020B0503020204020204" charset="-122"/>
                <a:cs typeface="Arial" panose="020B0604020202020204"/>
              </a:rPr>
              <a:t>E/I</a:t>
            </a:r>
            <a:r>
              <a:rPr lang="zh-CN" altLang="en-US">
                <a:latin typeface="Arial" panose="020B0604020202020204"/>
                <a:ea typeface="微软雅黑" panose="020B0503020204020204" charset="-122"/>
                <a:cs typeface="Arial" panose="020B0604020202020204"/>
              </a:rPr>
              <a:t>细胞数量由400/100 依次扩大至</a:t>
            </a:r>
            <a:r>
              <a:rPr lang="en-US" altLang="zh-CN">
                <a:latin typeface="Arial" panose="020B0604020202020204"/>
                <a:ea typeface="微软雅黑" panose="020B0503020204020204" charset="-122"/>
                <a:cs typeface="Arial" panose="020B0604020202020204"/>
              </a:rPr>
              <a:t>1200</a:t>
            </a:r>
            <a:r>
              <a:rPr lang="zh-CN" altLang="en-US">
                <a:latin typeface="Arial" panose="020B0604020202020204"/>
                <a:ea typeface="微软雅黑" panose="020B0503020204020204" charset="-122"/>
                <a:cs typeface="Arial" panose="020B0604020202020204"/>
              </a:rPr>
              <a:t>/</a:t>
            </a:r>
            <a:r>
              <a:rPr lang="en-US" altLang="zh-CN">
                <a:latin typeface="Arial" panose="020B0604020202020204"/>
                <a:ea typeface="微软雅黑" panose="020B0503020204020204" charset="-122"/>
                <a:cs typeface="Arial" panose="020B0604020202020204"/>
              </a:rPr>
              <a:t>300(</a:t>
            </a:r>
            <a:r>
              <a:rPr lang="zh-CN" altLang="en-US">
                <a:latin typeface="Arial" panose="020B0604020202020204"/>
                <a:ea typeface="微软雅黑" panose="020B0503020204020204" charset="-122"/>
                <a:cs typeface="Arial" panose="020B0604020202020204"/>
              </a:rPr>
              <a:t>始终保持4∶1的比例</a:t>
            </a:r>
            <a:r>
              <a:rPr lang="en-US" altLang="zh-CN">
                <a:latin typeface="Arial" panose="020B0604020202020204"/>
                <a:ea typeface="微软雅黑" panose="020B0503020204020204" charset="-122"/>
                <a:cs typeface="Arial" panose="020B0604020202020204"/>
              </a:rPr>
              <a:t>)</a:t>
            </a:r>
            <a:r>
              <a:rPr lang="zh-CN" altLang="en-US">
                <a:latin typeface="Arial" panose="020B0604020202020204"/>
                <a:ea typeface="微软雅黑" panose="020B0503020204020204" charset="-122"/>
                <a:cs typeface="Arial" panose="020B0604020202020204"/>
              </a:rPr>
              <a:t>。</a:t>
            </a:r>
            <a:endParaRPr lang="zh-CN" altLang="en-US">
              <a:latin typeface="Arial" panose="020B0604020202020204"/>
              <a:ea typeface="微软雅黑" panose="020B0503020204020204" charset="-122"/>
              <a:cs typeface="Arial" panose="020B0604020202020204"/>
            </a:endParaRPr>
          </a:p>
          <a:p>
            <a:pPr algn="ctr"/>
            <a:endParaRPr lang="zh-CN" altLang="en-US">
              <a:latin typeface="Arial" panose="020B0604020202020204"/>
              <a:ea typeface="微软雅黑" panose="020B0503020204020204" charset="-122"/>
              <a:cs typeface="Arial" panose="020B0604020202020204"/>
            </a:endParaRPr>
          </a:p>
          <a:p>
            <a:pPr algn="ctr"/>
            <a:r>
              <a:rPr lang="zh-CN" altLang="en-US">
                <a:highlight>
                  <a:srgbClr val="FFFF00"/>
                </a:highlight>
                <a:latin typeface="Arial" panose="020B0604020202020204"/>
                <a:ea typeface="微软雅黑" panose="020B0503020204020204" charset="-122"/>
                <a:cs typeface="Arial" panose="020B0604020202020204"/>
              </a:rPr>
              <a:t>用于检验实验结论能否</a:t>
            </a:r>
            <a:r>
              <a:rPr lang="zh-CN" altLang="en-US" b="1">
                <a:highlight>
                  <a:srgbClr val="FFFF00"/>
                </a:highlight>
                <a:latin typeface="Arial" panose="020B0604020202020204"/>
                <a:ea typeface="微软雅黑" panose="020B0503020204020204" charset="-122"/>
                <a:cs typeface="Arial" panose="020B0604020202020204"/>
              </a:rPr>
              <a:t>随网络规模扩大而稳定保持</a:t>
            </a:r>
            <a:r>
              <a:rPr lang="zh-CN" altLang="en-US">
                <a:latin typeface="Arial" panose="020B0604020202020204"/>
                <a:ea typeface="微软雅黑" panose="020B0503020204020204" charset="-122"/>
                <a:cs typeface="Arial" panose="020B0604020202020204"/>
              </a:rPr>
              <a:t>。</a:t>
            </a:r>
            <a:endParaRPr lang="zh-CN" altLang="en-US">
              <a:latin typeface="Arial" panose="020B0604020202020204"/>
              <a:ea typeface="微软雅黑" panose="020B0503020204020204" charset="-122"/>
              <a:cs typeface="Arial" panose="020B0604020202020204"/>
            </a:endParaRPr>
          </a:p>
          <a:p>
            <a:pPr algn="ctr"/>
            <a:r>
              <a:rPr lang="zh-CN" altLang="en-US">
                <a:latin typeface="Arial" panose="020B0604020202020204"/>
                <a:ea typeface="微软雅黑" panose="020B0503020204020204" charset="-122"/>
                <a:cs typeface="Arial" panose="020B0604020202020204"/>
              </a:rPr>
              <a:t>实验除了三种指标外，另额外绘制了网络结束训练后</a:t>
            </a:r>
            <a:r>
              <a:rPr lang="en-US" altLang="zh-CN">
                <a:latin typeface="Arial" panose="020B0604020202020204"/>
                <a:ea typeface="微软雅黑" panose="020B0503020204020204" charset="-122"/>
                <a:cs typeface="Arial" panose="020B0604020202020204"/>
              </a:rPr>
              <a:t>E</a:t>
            </a:r>
            <a:r>
              <a:rPr lang="zh-CN" altLang="en-US">
                <a:latin typeface="Arial" panose="020B0604020202020204"/>
                <a:ea typeface="微软雅黑" panose="020B0503020204020204" charset="-122"/>
                <a:cs typeface="Arial" panose="020B0604020202020204"/>
              </a:rPr>
              <a:t>神经元的</a:t>
            </a:r>
            <a:r>
              <a:rPr lang="en-US" altLang="zh-CN">
                <a:latin typeface="Arial" panose="020B0604020202020204"/>
                <a:ea typeface="微软雅黑" panose="020B0503020204020204" charset="-122"/>
                <a:cs typeface="Arial" panose="020B0604020202020204"/>
              </a:rPr>
              <a:t>RF</a:t>
            </a:r>
            <a:r>
              <a:rPr lang="zh-CN" altLang="en-US">
                <a:latin typeface="Arial" panose="020B0604020202020204"/>
                <a:ea typeface="微软雅黑" panose="020B0503020204020204" charset="-122"/>
                <a:cs typeface="Arial" panose="020B0604020202020204"/>
              </a:rPr>
              <a:t>与</a:t>
            </a:r>
            <a:r>
              <a:rPr lang="en-US" altLang="zh-CN">
                <a:latin typeface="Arial" panose="020B0604020202020204"/>
                <a:ea typeface="微软雅黑" panose="020B0503020204020204" charset="-122"/>
                <a:cs typeface="Arial" panose="020B0604020202020204"/>
              </a:rPr>
              <a:t>EI balance</a:t>
            </a:r>
            <a:r>
              <a:rPr lang="zh-CN" altLang="en-US">
                <a:latin typeface="Arial" panose="020B0604020202020204"/>
                <a:ea typeface="微软雅黑" panose="020B0503020204020204" charset="-122"/>
                <a:cs typeface="Arial" panose="020B0604020202020204"/>
              </a:rPr>
              <a:t>的情况</a:t>
            </a:r>
            <a:endParaRPr lang="zh-CN" altLang="en-US">
              <a:latin typeface="Arial" panose="020B0604020202020204"/>
              <a:ea typeface="微软雅黑" panose="020B0503020204020204" charset="-122"/>
              <a:cs typeface="Arial" panose="020B060402020202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p:nvPr/>
        </p:nvPicPr>
        <p:blipFill>
          <a:blip r:embed="rId1"/>
          <a:stretch>
            <a:fillRect/>
          </a:stretch>
        </p:blipFill>
        <p:spPr>
          <a:xfrm>
            <a:off x="10922000" y="0"/>
            <a:ext cx="1270000" cy="1270000"/>
          </a:xfrm>
          <a:prstGeom prst="rect">
            <a:avLst/>
          </a:prstGeom>
        </p:spPr>
      </p:pic>
      <p:sp>
        <p:nvSpPr>
          <p:cNvPr id="16" name="标题 1"/>
          <p:cNvSpPr txBox="1"/>
          <p:nvPr/>
        </p:nvSpPr>
        <p:spPr>
          <a:xfrm>
            <a:off x="0" y="207645"/>
            <a:ext cx="5914390" cy="46609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a:ea typeface="微软雅黑" panose="020B0503020204020204" charset="-122"/>
                <a:cs typeface="Arial" panose="020B0604020202020204"/>
              </a:defRPr>
            </a:lvl1pPr>
          </a:lstStyle>
          <a:p>
            <a:r>
              <a:rPr lang="zh-CN" altLang="en-US" sz="2400" b="1" dirty="0">
                <a:latin typeface="Arial" panose="020B0604020202020204"/>
                <a:ea typeface="微软雅黑" panose="020B0503020204020204" charset="-122"/>
                <a:cs typeface="Arial" panose="020B0604020202020204"/>
              </a:rPr>
              <a:t>保留完整抑制机制时的核心指标比较</a:t>
            </a:r>
            <a:endParaRPr lang="zh-CN" altLang="en-US" sz="2400" b="1" dirty="0">
              <a:latin typeface="Arial" panose="020B0604020202020204"/>
              <a:ea typeface="微软雅黑" panose="020B0503020204020204" charset="-122"/>
              <a:cs typeface="Arial" panose="020B0604020202020204"/>
            </a:endParaRPr>
          </a:p>
        </p:txBody>
      </p:sp>
      <p:sp>
        <p:nvSpPr>
          <p:cNvPr id="8" name="文本框 7"/>
          <p:cNvSpPr txBox="1"/>
          <p:nvPr/>
        </p:nvSpPr>
        <p:spPr>
          <a:xfrm>
            <a:off x="271145" y="4572000"/>
            <a:ext cx="11328400" cy="1383665"/>
          </a:xfrm>
          <a:prstGeom prst="rect">
            <a:avLst/>
          </a:prstGeom>
        </p:spPr>
        <p:txBody>
          <a:bodyPr wrap="square">
            <a:spAutoFit/>
          </a:bodyPr>
          <a:lstStyle/>
          <a:p>
            <a:r>
              <a:rPr lang="en-US" altLang="zh-CN" sz="1200" b="1">
                <a:latin typeface="Arial" panose="020B0604020202020204"/>
                <a:ea typeface="微软雅黑" panose="020B0503020204020204" charset="-122"/>
                <a:cs typeface="Arial" panose="020B0604020202020204"/>
              </a:rPr>
              <a:t>·</a:t>
            </a:r>
            <a:r>
              <a:rPr lang="en-US" altLang="zh-CN" sz="1200">
                <a:latin typeface="Arial" panose="020B0604020202020204"/>
                <a:ea typeface="微软雅黑" panose="020B0503020204020204" charset="-122"/>
                <a:cs typeface="Arial" panose="020B0604020202020204"/>
              </a:rPr>
              <a:t> AD</a:t>
            </a:r>
            <a:r>
              <a:rPr lang="zh-CN" altLang="en-US" sz="1200">
                <a:latin typeface="Arial" panose="020B0604020202020204"/>
                <a:ea typeface="微软雅黑" panose="020B0503020204020204" charset="-122"/>
                <a:cs typeface="Arial" panose="020B0604020202020204"/>
              </a:rPr>
              <a:t>（两种稳态机制均保留）：群体稀疏性和时间稀疏性稳定在较高水平，感受野相关性系数</a:t>
            </a:r>
            <a:r>
              <a:rPr lang="en-US" altLang="zh-CN" sz="1200">
                <a:latin typeface="Arial" panose="020B0604020202020204"/>
                <a:ea typeface="微软雅黑" panose="020B0503020204020204" charset="-122"/>
                <a:cs typeface="Arial" panose="020B0604020202020204"/>
              </a:rPr>
              <a:t>RMS</a:t>
            </a:r>
            <a:r>
              <a:rPr lang="zh-CN" altLang="en-US" sz="1200">
                <a:latin typeface="Arial" panose="020B0604020202020204"/>
                <a:ea typeface="微软雅黑" panose="020B0503020204020204" charset="-122"/>
                <a:cs typeface="Arial" panose="020B0604020202020204"/>
              </a:rPr>
              <a:t>维持较低，且不受网络规模明显影响。</a:t>
            </a:r>
            <a:endParaRPr lang="zh-CN" altLang="en-US" sz="1200">
              <a:latin typeface="Arial" panose="020B0604020202020204"/>
              <a:ea typeface="微软雅黑" panose="020B0503020204020204" charset="-122"/>
              <a:cs typeface="Arial" panose="020B0604020202020204"/>
            </a:endParaRPr>
          </a:p>
          <a:p>
            <a:pPr algn="l">
              <a:buClrTx/>
              <a:buSzTx/>
              <a:buFontTx/>
            </a:pPr>
            <a:endParaRPr lang="zh-CN" altLang="en-US" sz="1200">
              <a:latin typeface="Arial" panose="020B0604020202020204"/>
              <a:ea typeface="微软雅黑" panose="020B0503020204020204" charset="-122"/>
              <a:cs typeface="Arial" panose="020B0604020202020204"/>
            </a:endParaRPr>
          </a:p>
          <a:p>
            <a:pPr algn="l">
              <a:buClrTx/>
              <a:buSzTx/>
              <a:buFontTx/>
            </a:pPr>
            <a:r>
              <a:rPr lang="zh-CN" altLang="en-US" sz="1200">
                <a:latin typeface="Arial" panose="020B0604020202020204"/>
                <a:ea typeface="微软雅黑" panose="020B0503020204020204" charset="-122"/>
                <a:cs typeface="Arial" panose="020B0604020202020204"/>
              </a:rPr>
              <a:t>· AE（缺少L1归一化）：</a:t>
            </a:r>
            <a:r>
              <a:rPr lang="zh-CN" altLang="en-US" sz="1200">
                <a:latin typeface="Arial" panose="020B0604020202020204"/>
                <a:ea typeface="微软雅黑" panose="020B0503020204020204" charset="-122"/>
                <a:cs typeface="Arial" panose="020B0604020202020204"/>
                <a:sym typeface="+mn-ea"/>
              </a:rPr>
              <a:t>LS随规模增大由约0.45降至0.24，PS也随规模增大而下降，RF相关RMS升高。自适应阈值未能完全补偿L1机制</a:t>
            </a:r>
            <a:r>
              <a:rPr lang="zh-CN" altLang="en-US" sz="1200">
                <a:latin typeface="Arial" panose="020B0604020202020204"/>
                <a:ea typeface="微软雅黑" panose="020B0503020204020204" charset="-122"/>
                <a:cs typeface="Arial" panose="020B0604020202020204"/>
                <a:sym typeface="+mn-ea"/>
              </a:rPr>
              <a:t>的缺失</a:t>
            </a:r>
            <a:r>
              <a:rPr lang="zh-CN" altLang="en-US" sz="1200">
                <a:latin typeface="Arial" panose="020B0604020202020204"/>
                <a:ea typeface="微软雅黑" panose="020B0503020204020204" charset="-122"/>
                <a:cs typeface="Arial" panose="020B0604020202020204"/>
                <a:sym typeface="+mn-ea"/>
              </a:rPr>
              <a:t>。</a:t>
            </a:r>
            <a:endParaRPr lang="zh-CN" altLang="en-US" sz="1200">
              <a:latin typeface="Arial" panose="020B0604020202020204"/>
              <a:ea typeface="微软雅黑" panose="020B0503020204020204" charset="-122"/>
              <a:cs typeface="Arial" panose="020B0604020202020204"/>
              <a:sym typeface="+mn-ea"/>
            </a:endParaRPr>
          </a:p>
          <a:p>
            <a:endParaRPr lang="zh-CN" altLang="en-US" sz="1200">
              <a:latin typeface="Arial" panose="020B0604020202020204"/>
              <a:ea typeface="微软雅黑" panose="020B0503020204020204" charset="-122"/>
              <a:cs typeface="Arial" panose="020B0604020202020204"/>
            </a:endParaRPr>
          </a:p>
          <a:p>
            <a:r>
              <a:rPr lang="en-US" altLang="zh-CN" sz="1200" b="1">
                <a:latin typeface="Arial" panose="020B0604020202020204"/>
                <a:ea typeface="微软雅黑" panose="020B0503020204020204" charset="-122"/>
                <a:cs typeface="Arial" panose="020B0604020202020204"/>
              </a:rPr>
              <a:t>· </a:t>
            </a:r>
            <a:r>
              <a:rPr lang="en-US" altLang="zh-CN" sz="1200">
                <a:latin typeface="Arial" panose="020B0604020202020204"/>
                <a:ea typeface="微软雅黑" panose="020B0503020204020204" charset="-122"/>
                <a:cs typeface="Arial" panose="020B0604020202020204"/>
              </a:rPr>
              <a:t>AF（</a:t>
            </a:r>
            <a:r>
              <a:rPr lang="zh-CN" altLang="en-US" sz="1200">
                <a:latin typeface="Arial" panose="020B0604020202020204"/>
                <a:ea typeface="微软雅黑" panose="020B0503020204020204" charset="-122"/>
                <a:cs typeface="Arial" panose="020B0604020202020204"/>
              </a:rPr>
              <a:t>缺少自适应阈值）：仍维持一定稀疏性，但随网络规模增大而下降，同时感受野相关性随之升高，说明</a:t>
            </a:r>
            <a:r>
              <a:rPr lang="en-US" altLang="zh-CN" sz="1200">
                <a:latin typeface="Arial" panose="020B0604020202020204"/>
                <a:ea typeface="微软雅黑" panose="020B0503020204020204" charset="-122"/>
                <a:cs typeface="Arial" panose="020B0604020202020204"/>
              </a:rPr>
              <a:t>L1</a:t>
            </a:r>
            <a:r>
              <a:rPr lang="zh-CN" altLang="en-US" sz="1200">
                <a:latin typeface="Arial" panose="020B0604020202020204"/>
                <a:ea typeface="微软雅黑" panose="020B0503020204020204" charset="-122"/>
                <a:cs typeface="Arial" panose="020B0604020202020204"/>
              </a:rPr>
              <a:t>归一化对网络的发育帮助有限。</a:t>
            </a:r>
            <a:endParaRPr lang="zh-CN" altLang="en-US" sz="1200">
              <a:latin typeface="Arial" panose="020B0604020202020204"/>
              <a:ea typeface="微软雅黑" panose="020B0503020204020204" charset="-122"/>
              <a:cs typeface="Arial" panose="020B0604020202020204"/>
            </a:endParaRPr>
          </a:p>
          <a:p>
            <a:endParaRPr lang="zh-CN" altLang="en-US" sz="1200">
              <a:latin typeface="Arial" panose="020B0604020202020204"/>
              <a:ea typeface="微软雅黑" panose="020B0503020204020204" charset="-122"/>
              <a:cs typeface="Arial" panose="020B0604020202020204"/>
            </a:endParaRPr>
          </a:p>
          <a:p>
            <a:r>
              <a:rPr lang="en-US" altLang="zh-CN" sz="1200" b="1">
                <a:latin typeface="Arial" panose="020B0604020202020204"/>
                <a:ea typeface="微软雅黑" panose="020B0503020204020204" charset="-122"/>
                <a:cs typeface="Arial" panose="020B0604020202020204"/>
              </a:rPr>
              <a:t>· </a:t>
            </a:r>
            <a:r>
              <a:rPr lang="en-US" altLang="zh-CN" sz="1200">
                <a:latin typeface="Arial" panose="020B0604020202020204"/>
                <a:ea typeface="微软雅黑" panose="020B0503020204020204" charset="-122"/>
                <a:cs typeface="Arial" panose="020B0604020202020204"/>
              </a:rPr>
              <a:t>AG（</a:t>
            </a:r>
            <a:r>
              <a:rPr lang="zh-CN" altLang="en-US" sz="1200">
                <a:latin typeface="Arial" panose="020B0604020202020204"/>
                <a:ea typeface="微软雅黑" panose="020B0503020204020204" charset="-122"/>
                <a:cs typeface="Arial" panose="020B0604020202020204"/>
              </a:rPr>
              <a:t>两种机制均缺失）：结果波动最大、尺度对训练结果的影响最明显，网络表征缺乏稳定性。</a:t>
            </a:r>
            <a:endParaRPr lang="zh-CN" altLang="en-US" sz="1200">
              <a:latin typeface="Arial" panose="020B0604020202020204"/>
              <a:ea typeface="微软雅黑" panose="020B0503020204020204" charset="-122"/>
              <a:cs typeface="Arial" panose="020B0604020202020204"/>
            </a:endParaRPr>
          </a:p>
        </p:txBody>
      </p:sp>
      <p:sp>
        <p:nvSpPr>
          <p:cNvPr id="9" name="文本框 8"/>
          <p:cNvSpPr txBox="1"/>
          <p:nvPr/>
        </p:nvSpPr>
        <p:spPr>
          <a:xfrm>
            <a:off x="2121535" y="6128385"/>
            <a:ext cx="8027035" cy="583565"/>
          </a:xfrm>
          <a:prstGeom prst="rect">
            <a:avLst/>
          </a:prstGeom>
        </p:spPr>
        <p:txBody>
          <a:bodyPr wrap="square">
            <a:spAutoFit/>
          </a:bodyPr>
          <a:lstStyle/>
          <a:p>
            <a:pPr algn="ctr"/>
            <a:r>
              <a:rPr lang="zh-CN" altLang="en-US" sz="1600" b="1">
                <a:highlight>
                  <a:srgbClr val="FFFF00"/>
                </a:highlight>
                <a:latin typeface="Arial" panose="020B0604020202020204"/>
                <a:ea typeface="微软雅黑" panose="020B0503020204020204" charset="-122"/>
                <a:cs typeface="Arial" panose="020B0604020202020204"/>
              </a:rPr>
              <a:t>自适应阈值与</a:t>
            </a:r>
            <a:r>
              <a:rPr lang="en-US" altLang="zh-CN" sz="1600" b="1">
                <a:highlight>
                  <a:srgbClr val="FFFF00"/>
                </a:highlight>
                <a:latin typeface="Arial" panose="020B0604020202020204"/>
                <a:ea typeface="微软雅黑" panose="020B0503020204020204" charset="-122"/>
                <a:cs typeface="Arial" panose="020B0604020202020204"/>
              </a:rPr>
              <a:t>L1</a:t>
            </a:r>
            <a:r>
              <a:rPr lang="zh-CN" altLang="en-US" sz="1600" b="1">
                <a:highlight>
                  <a:srgbClr val="FFFF00"/>
                </a:highlight>
                <a:latin typeface="Arial" panose="020B0604020202020204"/>
                <a:ea typeface="微软雅黑" panose="020B0503020204020204" charset="-122"/>
                <a:cs typeface="Arial" panose="020B0604020202020204"/>
              </a:rPr>
              <a:t>归一化作用互补：前者宏观调节神经元放电频率，后者限制突触总强度；二者共同存在才能维持稳定、稀疏且低相关的网络表征。</a:t>
            </a:r>
            <a:endParaRPr lang="zh-CN" altLang="en-US" sz="1600" b="1">
              <a:highlight>
                <a:srgbClr val="FFFF00"/>
              </a:highlight>
              <a:latin typeface="Arial" panose="020B0604020202020204"/>
              <a:ea typeface="微软雅黑" panose="020B0503020204020204" charset="-122"/>
              <a:cs typeface="Arial" panose="020B0604020202020204"/>
            </a:endParaRPr>
          </a:p>
        </p:txBody>
      </p:sp>
      <p:pic>
        <p:nvPicPr>
          <p:cNvPr id="3" name="图片 2"/>
          <p:cNvPicPr/>
          <p:nvPr/>
        </p:nvPicPr>
        <p:blipFill>
          <a:blip r:embed="rId2"/>
          <a:stretch>
            <a:fillRect/>
          </a:stretch>
        </p:blipFill>
        <p:spPr>
          <a:xfrm>
            <a:off x="0" y="1270000"/>
            <a:ext cx="3960000" cy="3029585"/>
          </a:xfrm>
          <a:prstGeom prst="rect">
            <a:avLst/>
          </a:prstGeom>
        </p:spPr>
      </p:pic>
      <p:pic>
        <p:nvPicPr>
          <p:cNvPr id="10" name="图片 9"/>
          <p:cNvPicPr/>
          <p:nvPr/>
        </p:nvPicPr>
        <p:blipFill>
          <a:blip r:embed="rId3"/>
          <a:stretch>
            <a:fillRect/>
          </a:stretch>
        </p:blipFill>
        <p:spPr>
          <a:xfrm>
            <a:off x="3959860" y="1270000"/>
            <a:ext cx="4474210" cy="3029585"/>
          </a:xfrm>
          <a:prstGeom prst="rect">
            <a:avLst/>
          </a:prstGeom>
        </p:spPr>
      </p:pic>
      <p:pic>
        <p:nvPicPr>
          <p:cNvPr id="11" name="图片 10"/>
          <p:cNvPicPr/>
          <p:nvPr/>
        </p:nvPicPr>
        <p:blipFill>
          <a:blip r:embed="rId4"/>
          <a:srcRect/>
          <a:stretch>
            <a:fillRect/>
          </a:stretch>
        </p:blipFill>
        <p:spPr>
          <a:xfrm>
            <a:off x="8232140" y="1268095"/>
            <a:ext cx="3960000" cy="30312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图片 21"/>
          <p:cNvPicPr>
            <a:picLocks noChangeAspect="1"/>
          </p:cNvPicPr>
          <p:nvPr/>
        </p:nvPicPr>
        <p:blipFill>
          <a:blip r:embed="rId1"/>
          <a:stretch>
            <a:fillRect/>
          </a:stretch>
        </p:blipFill>
        <p:spPr>
          <a:xfrm>
            <a:off x="8850630" y="1804670"/>
            <a:ext cx="1941195" cy="1672590"/>
          </a:xfrm>
          <a:prstGeom prst="rect">
            <a:avLst/>
          </a:prstGeom>
        </p:spPr>
      </p:pic>
      <p:sp>
        <p:nvSpPr>
          <p:cNvPr id="19" name="Title"/>
          <p:cNvSpPr>
            <a:spLocks noGrp="1"/>
          </p:cNvSpPr>
          <p:nvPr/>
        </p:nvSpPr>
        <p:spPr>
          <a:xfrm>
            <a:off x="457200" y="266700"/>
            <a:ext cx="10334625" cy="523875"/>
          </a:xfrm>
          <a:prstGeom prst="rect">
            <a:avLst/>
          </a:prstGeom>
          <a:noFill/>
          <a:ln w="0">
            <a:noFill/>
          </a:ln>
        </p:spPr>
        <p:txBody>
          <a:bodyPr wrap="square" lIns="0" tIns="0" rIns="0" bIns="0" anchor="t">
            <a:noAutofit/>
          </a:bodyPr>
          <a:lstStyle>
            <a:defPPr>
              <a:defRPr sz="2400" b="1">
                <a:solidFill>
                  <a:srgbClr val="000000"/>
                </a:solidFill>
                <a:latin typeface="Arial" panose="020B0604020202020204"/>
                <a:ea typeface="微软雅黑" panose="020B0503020204020204" charset="-122"/>
                <a:cs typeface="微软雅黑" panose="020B0503020204020204" charset="-122"/>
              </a:defRPr>
            </a:defPPr>
            <a:lvl1pPr>
              <a:defRPr sz="2400" b="1">
                <a:solidFill>
                  <a:srgbClr val="000000"/>
                </a:solidFill>
                <a:latin typeface="Arial" panose="020B0604020202020204"/>
                <a:ea typeface="微软雅黑" panose="020B0503020204020204" charset="-122"/>
                <a:cs typeface="微软雅黑" panose="020B0503020204020204" charset="-122"/>
              </a:defRPr>
            </a:lvl1pPr>
            <a:lvl2pPr>
              <a:defRPr sz="2400" b="1">
                <a:solidFill>
                  <a:srgbClr val="000000"/>
                </a:solidFill>
                <a:latin typeface="Arial" panose="020B0604020202020204"/>
                <a:ea typeface="微软雅黑" panose="020B0503020204020204" charset="-122"/>
                <a:cs typeface="微软雅黑" panose="020B0503020204020204" charset="-122"/>
              </a:defRPr>
            </a:lvl2pPr>
            <a:lvl3pPr>
              <a:defRPr sz="2400" b="1">
                <a:solidFill>
                  <a:srgbClr val="000000"/>
                </a:solidFill>
                <a:latin typeface="Arial" panose="020B0604020202020204"/>
                <a:ea typeface="微软雅黑" panose="020B0503020204020204" charset="-122"/>
                <a:cs typeface="微软雅黑" panose="020B0503020204020204" charset="-122"/>
              </a:defRPr>
            </a:lvl3pPr>
            <a:lvl4pPr>
              <a:defRPr sz="2400" b="1">
                <a:solidFill>
                  <a:srgbClr val="000000"/>
                </a:solidFill>
                <a:latin typeface="Arial" panose="020B0604020202020204"/>
                <a:ea typeface="微软雅黑" panose="020B0503020204020204" charset="-122"/>
                <a:cs typeface="微软雅黑" panose="020B0503020204020204" charset="-122"/>
              </a:defRPr>
            </a:lvl4pPr>
            <a:lvl5pPr>
              <a:defRPr sz="2400" b="1">
                <a:solidFill>
                  <a:srgbClr val="000000"/>
                </a:solidFill>
                <a:latin typeface="Arial" panose="020B0604020202020204"/>
                <a:ea typeface="微软雅黑" panose="020B0503020204020204" charset="-122"/>
                <a:cs typeface="微软雅黑" panose="020B0503020204020204" charset="-122"/>
              </a:defRPr>
            </a:lvl5pPr>
            <a:lvl6pPr>
              <a:defRPr sz="2400" b="1">
                <a:solidFill>
                  <a:srgbClr val="000000"/>
                </a:solidFill>
                <a:latin typeface="Arial" panose="020B0604020202020204"/>
                <a:ea typeface="微软雅黑" panose="020B0503020204020204" charset="-122"/>
                <a:cs typeface="微软雅黑" panose="020B0503020204020204" charset="-122"/>
              </a:defRPr>
            </a:lvl6pPr>
            <a:lvl7pPr>
              <a:defRPr sz="2400" b="1">
                <a:solidFill>
                  <a:srgbClr val="000000"/>
                </a:solidFill>
                <a:latin typeface="Arial" panose="020B0604020202020204"/>
                <a:ea typeface="微软雅黑" panose="020B0503020204020204" charset="-122"/>
                <a:cs typeface="微软雅黑" panose="020B0503020204020204" charset="-122"/>
              </a:defRPr>
            </a:lvl7pPr>
            <a:lvl8pPr>
              <a:defRPr sz="2400" b="1">
                <a:solidFill>
                  <a:srgbClr val="000000"/>
                </a:solidFill>
                <a:latin typeface="Arial" panose="020B0604020202020204"/>
                <a:ea typeface="微软雅黑" panose="020B0503020204020204" charset="-122"/>
                <a:cs typeface="微软雅黑" panose="020B0503020204020204" charset="-122"/>
              </a:defRPr>
            </a:lvl8pPr>
            <a:lvl9pPr>
              <a:defRPr sz="2400" b="1">
                <a:solidFill>
                  <a:srgbClr val="000000"/>
                </a:solidFill>
                <a:latin typeface="Arial" panose="020B0604020202020204"/>
                <a:ea typeface="微软雅黑" panose="020B0503020204020204" charset="-122"/>
                <a:cs typeface="微软雅黑" panose="020B0503020204020204" charset="-122"/>
              </a:defRPr>
            </a:lvl9pPr>
          </a:lstStyle>
          <a:p>
            <a:pPr>
              <a:defRPr sz="2400" b="1">
                <a:solidFill>
                  <a:srgbClr val="000000"/>
                </a:solidFill>
                <a:latin typeface="Arial" panose="020B0604020202020204"/>
                <a:ea typeface="微软雅黑" panose="020B0503020204020204" charset="-122"/>
                <a:cs typeface="微软雅黑" panose="020B0503020204020204" charset="-122"/>
              </a:defRPr>
            </a:pPr>
            <a:r>
              <a:rPr sz="2400" b="1">
                <a:solidFill>
                  <a:srgbClr val="000000"/>
                </a:solidFill>
                <a:latin typeface="Arial" panose="020B0604020202020204"/>
                <a:ea typeface="微软雅黑" panose="020B0503020204020204" charset="-122"/>
                <a:cs typeface="微软雅黑" panose="020B0503020204020204" charset="-122"/>
              </a:rPr>
              <a:t>保留完整抑制机制时的感受野比较</a:t>
            </a:r>
            <a:endParaRPr sz="2400" b="1">
              <a:solidFill>
                <a:srgbClr val="000000"/>
              </a:solidFill>
              <a:latin typeface="Arial" panose="020B0604020202020204"/>
              <a:ea typeface="微软雅黑" panose="020B0503020204020204" charset="-122"/>
              <a:cs typeface="微软雅黑" panose="020B0503020204020204" charset="-122"/>
            </a:endParaRPr>
          </a:p>
        </p:txBody>
      </p:sp>
      <p:pic>
        <p:nvPicPr>
          <p:cNvPr id="2" name="图片 1"/>
          <p:cNvPicPr>
            <a:picLocks noChangeAspect="1"/>
          </p:cNvPicPr>
          <p:nvPr/>
        </p:nvPicPr>
        <p:blipFill>
          <a:blip r:embed="rId2"/>
          <a:stretch>
            <a:fillRect/>
          </a:stretch>
        </p:blipFill>
        <p:spPr>
          <a:xfrm>
            <a:off x="10921365" y="0"/>
            <a:ext cx="1270635" cy="1270635"/>
          </a:xfrm>
          <a:prstGeom prst="rect">
            <a:avLst/>
          </a:prstGeom>
        </p:spPr>
      </p:pic>
      <p:sp>
        <p:nvSpPr>
          <p:cNvPr id="3" name="AD（完整机制）"/>
          <p:cNvSpPr>
            <a:spLocks noGrp="1"/>
          </p:cNvSpPr>
          <p:nvPr/>
        </p:nvSpPr>
        <p:spPr>
          <a:xfrm>
            <a:off x="152400" y="914400"/>
            <a:ext cx="2924175" cy="266700"/>
          </a:xfrm>
          <a:prstGeom prst="rect">
            <a:avLst/>
          </a:prstGeom>
          <a:noFill/>
          <a:ln w="0">
            <a:noFill/>
          </a:ln>
        </p:spPr>
        <p:txBody>
          <a:bodyPr wrap="square" lIns="0" tIns="0" rIns="0" bIns="0" anchor="t">
            <a:noAutofit/>
          </a:bodyPr>
          <a:lstStyle>
            <a:defPPr>
              <a:defRPr sz="1350" b="1">
                <a:solidFill>
                  <a:srgbClr val="000000"/>
                </a:solidFill>
                <a:latin typeface="Arial" panose="020B0604020202020204"/>
                <a:ea typeface="微软雅黑" panose="020B0503020204020204" charset="-122"/>
                <a:cs typeface="微软雅黑" panose="020B0503020204020204" charset="-122"/>
              </a:defRPr>
            </a:defPPr>
            <a:lvl1pPr>
              <a:defRPr sz="1350" b="1">
                <a:solidFill>
                  <a:srgbClr val="000000"/>
                </a:solidFill>
                <a:latin typeface="Arial" panose="020B0604020202020204"/>
                <a:ea typeface="微软雅黑" panose="020B0503020204020204" charset="-122"/>
                <a:cs typeface="微软雅黑" panose="020B0503020204020204" charset="-122"/>
              </a:defRPr>
            </a:lvl1pPr>
            <a:lvl2pPr>
              <a:defRPr sz="1350" b="1">
                <a:solidFill>
                  <a:srgbClr val="000000"/>
                </a:solidFill>
                <a:latin typeface="Arial" panose="020B0604020202020204"/>
                <a:ea typeface="微软雅黑" panose="020B0503020204020204" charset="-122"/>
                <a:cs typeface="微软雅黑" panose="020B0503020204020204" charset="-122"/>
              </a:defRPr>
            </a:lvl2pPr>
            <a:lvl3pPr>
              <a:defRPr sz="1350" b="1">
                <a:solidFill>
                  <a:srgbClr val="000000"/>
                </a:solidFill>
                <a:latin typeface="Arial" panose="020B0604020202020204"/>
                <a:ea typeface="微软雅黑" panose="020B0503020204020204" charset="-122"/>
                <a:cs typeface="微软雅黑" panose="020B0503020204020204" charset="-122"/>
              </a:defRPr>
            </a:lvl3pPr>
            <a:lvl4pPr>
              <a:defRPr sz="1350" b="1">
                <a:solidFill>
                  <a:srgbClr val="000000"/>
                </a:solidFill>
                <a:latin typeface="Arial" panose="020B0604020202020204"/>
                <a:ea typeface="微软雅黑" panose="020B0503020204020204" charset="-122"/>
                <a:cs typeface="微软雅黑" panose="020B0503020204020204" charset="-122"/>
              </a:defRPr>
            </a:lvl4pPr>
            <a:lvl5pPr>
              <a:defRPr sz="1350" b="1">
                <a:solidFill>
                  <a:srgbClr val="000000"/>
                </a:solidFill>
                <a:latin typeface="Arial" panose="020B0604020202020204"/>
                <a:ea typeface="微软雅黑" panose="020B0503020204020204" charset="-122"/>
                <a:cs typeface="微软雅黑" panose="020B0503020204020204" charset="-122"/>
              </a:defRPr>
            </a:lvl5pPr>
            <a:lvl6pPr>
              <a:defRPr sz="1350" b="1">
                <a:solidFill>
                  <a:srgbClr val="000000"/>
                </a:solidFill>
                <a:latin typeface="Arial" panose="020B0604020202020204"/>
                <a:ea typeface="微软雅黑" panose="020B0503020204020204" charset="-122"/>
                <a:cs typeface="微软雅黑" panose="020B0503020204020204" charset="-122"/>
              </a:defRPr>
            </a:lvl6pPr>
            <a:lvl7pPr>
              <a:defRPr sz="1350" b="1">
                <a:solidFill>
                  <a:srgbClr val="000000"/>
                </a:solidFill>
                <a:latin typeface="Arial" panose="020B0604020202020204"/>
                <a:ea typeface="微软雅黑" panose="020B0503020204020204" charset="-122"/>
                <a:cs typeface="微软雅黑" panose="020B0503020204020204" charset="-122"/>
              </a:defRPr>
            </a:lvl7pPr>
            <a:lvl8pPr>
              <a:defRPr sz="1350" b="1">
                <a:solidFill>
                  <a:srgbClr val="000000"/>
                </a:solidFill>
                <a:latin typeface="Arial" panose="020B0604020202020204"/>
                <a:ea typeface="微软雅黑" panose="020B0503020204020204" charset="-122"/>
                <a:cs typeface="微软雅黑" panose="020B0503020204020204" charset="-122"/>
              </a:defRPr>
            </a:lvl8pPr>
            <a:lvl9pPr>
              <a:defRPr sz="1350" b="1">
                <a:solidFill>
                  <a:srgbClr val="000000"/>
                </a:solidFill>
                <a:latin typeface="Arial" panose="020B0604020202020204"/>
                <a:ea typeface="微软雅黑" panose="020B0503020204020204" charset="-122"/>
                <a:cs typeface="微软雅黑" panose="020B0503020204020204" charset="-122"/>
              </a:defRPr>
            </a:lvl9pPr>
          </a:lstStyle>
          <a:p>
            <a:pPr>
              <a:defRPr sz="1350" b="1">
                <a:solidFill>
                  <a:srgbClr val="000000"/>
                </a:solidFill>
                <a:latin typeface="Arial" panose="020B0604020202020204"/>
                <a:ea typeface="微软雅黑" panose="020B0503020204020204" charset="-122"/>
                <a:cs typeface="微软雅黑" panose="020B0503020204020204" charset="-122"/>
              </a:defRPr>
            </a:pPr>
            <a:r>
              <a:rPr sz="1350" b="1">
                <a:solidFill>
                  <a:srgbClr val="000000"/>
                </a:solidFill>
                <a:latin typeface="Arial" panose="020B0604020202020204"/>
                <a:ea typeface="微软雅黑" panose="020B0503020204020204" charset="-122"/>
                <a:cs typeface="微软雅黑" panose="020B0503020204020204" charset="-122"/>
              </a:rPr>
              <a:t>AD（</a:t>
            </a:r>
            <a:r>
              <a:rPr lang="en-US" sz="1350" b="1">
                <a:solidFill>
                  <a:srgbClr val="000000"/>
                </a:solidFill>
                <a:latin typeface="Arial" panose="020B0604020202020204"/>
                <a:ea typeface="微软雅黑" panose="020B0503020204020204" charset="-122"/>
                <a:cs typeface="微软雅黑" panose="020B0503020204020204" charset="-122"/>
              </a:rPr>
              <a:t>Baselin</a:t>
            </a:r>
            <a:r>
              <a:rPr lang="en-US" sz="1350" b="1">
                <a:solidFill>
                  <a:srgbClr val="000000"/>
                </a:solidFill>
                <a:latin typeface="Arial" panose="020B0604020202020204"/>
                <a:ea typeface="微软雅黑" panose="020B0503020204020204" charset="-122"/>
                <a:cs typeface="微软雅黑" panose="020B0503020204020204" charset="-122"/>
              </a:rPr>
              <a:t>e)</a:t>
            </a:r>
            <a:endParaRPr lang="en-US" sz="1350" b="1">
              <a:solidFill>
                <a:srgbClr val="000000"/>
              </a:solidFill>
              <a:latin typeface="Arial" panose="020B0604020202020204"/>
              <a:ea typeface="微软雅黑" panose="020B0503020204020204" charset="-122"/>
              <a:cs typeface="微软雅黑" panose="020B0503020204020204" charset="-122"/>
            </a:endParaRPr>
          </a:p>
        </p:txBody>
      </p:sp>
      <p:pic>
        <p:nvPicPr>
          <p:cNvPr id="4" name="图片 3"/>
          <p:cNvPicPr>
            <a:picLocks noChangeAspect="1"/>
          </p:cNvPicPr>
          <p:nvPr/>
        </p:nvPicPr>
        <p:blipFill>
          <a:blip r:embed="rId3"/>
          <a:stretch>
            <a:fillRect/>
          </a:stretch>
        </p:blipFill>
        <p:spPr>
          <a:xfrm>
            <a:off x="316503" y="1200150"/>
            <a:ext cx="2510244" cy="2324100"/>
          </a:xfrm>
          <a:prstGeom prst="rect">
            <a:avLst/>
          </a:prstGeom>
        </p:spPr>
      </p:pic>
      <p:sp>
        <p:nvSpPr>
          <p:cNvPr id="5" name="AE（L1 off）"/>
          <p:cNvSpPr>
            <a:spLocks noGrp="1"/>
          </p:cNvSpPr>
          <p:nvPr/>
        </p:nvSpPr>
        <p:spPr>
          <a:xfrm>
            <a:off x="3152775" y="914400"/>
            <a:ext cx="2924175" cy="266700"/>
          </a:xfrm>
          <a:prstGeom prst="rect">
            <a:avLst/>
          </a:prstGeom>
          <a:noFill/>
          <a:ln w="0">
            <a:noFill/>
          </a:ln>
        </p:spPr>
        <p:txBody>
          <a:bodyPr wrap="square" lIns="0" tIns="0" rIns="0" bIns="0" anchor="t">
            <a:noAutofit/>
          </a:bodyPr>
          <a:lstStyle>
            <a:defPPr>
              <a:defRPr sz="1350" b="1">
                <a:solidFill>
                  <a:srgbClr val="000000"/>
                </a:solidFill>
                <a:latin typeface="Arial" panose="020B0604020202020204"/>
                <a:ea typeface="微软雅黑" panose="020B0503020204020204" charset="-122"/>
                <a:cs typeface="微软雅黑" panose="020B0503020204020204" charset="-122"/>
              </a:defRPr>
            </a:defPPr>
            <a:lvl1pPr>
              <a:defRPr sz="1350" b="1">
                <a:solidFill>
                  <a:srgbClr val="000000"/>
                </a:solidFill>
                <a:latin typeface="Arial" panose="020B0604020202020204"/>
                <a:ea typeface="微软雅黑" panose="020B0503020204020204" charset="-122"/>
                <a:cs typeface="微软雅黑" panose="020B0503020204020204" charset="-122"/>
              </a:defRPr>
            </a:lvl1pPr>
            <a:lvl2pPr>
              <a:defRPr sz="1350" b="1">
                <a:solidFill>
                  <a:srgbClr val="000000"/>
                </a:solidFill>
                <a:latin typeface="Arial" panose="020B0604020202020204"/>
                <a:ea typeface="微软雅黑" panose="020B0503020204020204" charset="-122"/>
                <a:cs typeface="微软雅黑" panose="020B0503020204020204" charset="-122"/>
              </a:defRPr>
            </a:lvl2pPr>
            <a:lvl3pPr>
              <a:defRPr sz="1350" b="1">
                <a:solidFill>
                  <a:srgbClr val="000000"/>
                </a:solidFill>
                <a:latin typeface="Arial" panose="020B0604020202020204"/>
                <a:ea typeface="微软雅黑" panose="020B0503020204020204" charset="-122"/>
                <a:cs typeface="微软雅黑" panose="020B0503020204020204" charset="-122"/>
              </a:defRPr>
            </a:lvl3pPr>
            <a:lvl4pPr>
              <a:defRPr sz="1350" b="1">
                <a:solidFill>
                  <a:srgbClr val="000000"/>
                </a:solidFill>
                <a:latin typeface="Arial" panose="020B0604020202020204"/>
                <a:ea typeface="微软雅黑" panose="020B0503020204020204" charset="-122"/>
                <a:cs typeface="微软雅黑" panose="020B0503020204020204" charset="-122"/>
              </a:defRPr>
            </a:lvl4pPr>
            <a:lvl5pPr>
              <a:defRPr sz="1350" b="1">
                <a:solidFill>
                  <a:srgbClr val="000000"/>
                </a:solidFill>
                <a:latin typeface="Arial" panose="020B0604020202020204"/>
                <a:ea typeface="微软雅黑" panose="020B0503020204020204" charset="-122"/>
                <a:cs typeface="微软雅黑" panose="020B0503020204020204" charset="-122"/>
              </a:defRPr>
            </a:lvl5pPr>
            <a:lvl6pPr>
              <a:defRPr sz="1350" b="1">
                <a:solidFill>
                  <a:srgbClr val="000000"/>
                </a:solidFill>
                <a:latin typeface="Arial" panose="020B0604020202020204"/>
                <a:ea typeface="微软雅黑" panose="020B0503020204020204" charset="-122"/>
                <a:cs typeface="微软雅黑" panose="020B0503020204020204" charset="-122"/>
              </a:defRPr>
            </a:lvl6pPr>
            <a:lvl7pPr>
              <a:defRPr sz="1350" b="1">
                <a:solidFill>
                  <a:srgbClr val="000000"/>
                </a:solidFill>
                <a:latin typeface="Arial" panose="020B0604020202020204"/>
                <a:ea typeface="微软雅黑" panose="020B0503020204020204" charset="-122"/>
                <a:cs typeface="微软雅黑" panose="020B0503020204020204" charset="-122"/>
              </a:defRPr>
            </a:lvl7pPr>
            <a:lvl8pPr>
              <a:defRPr sz="1350" b="1">
                <a:solidFill>
                  <a:srgbClr val="000000"/>
                </a:solidFill>
                <a:latin typeface="Arial" panose="020B0604020202020204"/>
                <a:ea typeface="微软雅黑" panose="020B0503020204020204" charset="-122"/>
                <a:cs typeface="微软雅黑" panose="020B0503020204020204" charset="-122"/>
              </a:defRPr>
            </a:lvl8pPr>
            <a:lvl9pPr>
              <a:defRPr sz="1350" b="1">
                <a:solidFill>
                  <a:srgbClr val="000000"/>
                </a:solidFill>
                <a:latin typeface="Arial" panose="020B0604020202020204"/>
                <a:ea typeface="微软雅黑" panose="020B0503020204020204" charset="-122"/>
                <a:cs typeface="微软雅黑" panose="020B0503020204020204" charset="-122"/>
              </a:defRPr>
            </a:lvl9pPr>
          </a:lstStyle>
          <a:p>
            <a:pPr>
              <a:defRPr sz="1350" b="1">
                <a:solidFill>
                  <a:srgbClr val="000000"/>
                </a:solidFill>
                <a:latin typeface="Arial" panose="020B0604020202020204"/>
                <a:ea typeface="微软雅黑" panose="020B0503020204020204" charset="-122"/>
                <a:cs typeface="微软雅黑" panose="020B0503020204020204" charset="-122"/>
              </a:defRPr>
            </a:pPr>
            <a:r>
              <a:rPr sz="1350" b="1">
                <a:solidFill>
                  <a:srgbClr val="000000"/>
                </a:solidFill>
                <a:latin typeface="Arial" panose="020B0604020202020204"/>
                <a:ea typeface="微软雅黑" panose="020B0503020204020204" charset="-122"/>
                <a:cs typeface="微软雅黑" panose="020B0503020204020204" charset="-122"/>
              </a:rPr>
              <a:t>AE（L1 off）</a:t>
            </a:r>
            <a:endParaRPr sz="1350" b="1">
              <a:solidFill>
                <a:srgbClr val="000000"/>
              </a:solidFill>
              <a:latin typeface="Arial" panose="020B0604020202020204"/>
              <a:ea typeface="微软雅黑" panose="020B0503020204020204" charset="-122"/>
              <a:cs typeface="微软雅黑" panose="020B0503020204020204" charset="-122"/>
            </a:endParaRPr>
          </a:p>
        </p:txBody>
      </p:sp>
      <p:pic>
        <p:nvPicPr>
          <p:cNvPr id="6" name="图片 5"/>
          <p:cNvPicPr>
            <a:picLocks noChangeAspect="1"/>
          </p:cNvPicPr>
          <p:nvPr/>
        </p:nvPicPr>
        <p:blipFill>
          <a:blip r:embed="rId4"/>
          <a:stretch>
            <a:fillRect/>
          </a:stretch>
        </p:blipFill>
        <p:spPr>
          <a:xfrm>
            <a:off x="3296645" y="1200150"/>
            <a:ext cx="2550710" cy="2324100"/>
          </a:xfrm>
          <a:prstGeom prst="rect">
            <a:avLst/>
          </a:prstGeom>
        </p:spPr>
      </p:pic>
      <p:sp>
        <p:nvSpPr>
          <p:cNvPr id="7" name="AF（阈值适应 off）"/>
          <p:cNvSpPr>
            <a:spLocks noGrp="1"/>
          </p:cNvSpPr>
          <p:nvPr/>
        </p:nvSpPr>
        <p:spPr>
          <a:xfrm>
            <a:off x="152400" y="3629025"/>
            <a:ext cx="2924175" cy="266700"/>
          </a:xfrm>
          <a:prstGeom prst="rect">
            <a:avLst/>
          </a:prstGeom>
          <a:noFill/>
          <a:ln w="0">
            <a:noFill/>
          </a:ln>
        </p:spPr>
        <p:txBody>
          <a:bodyPr wrap="square" lIns="0" tIns="0" rIns="0" bIns="0" anchor="t">
            <a:noAutofit/>
          </a:bodyPr>
          <a:lstStyle>
            <a:defPPr>
              <a:defRPr sz="1350" b="1">
                <a:solidFill>
                  <a:srgbClr val="000000"/>
                </a:solidFill>
                <a:latin typeface="Arial" panose="020B0604020202020204"/>
                <a:ea typeface="微软雅黑" panose="020B0503020204020204" charset="-122"/>
                <a:cs typeface="微软雅黑" panose="020B0503020204020204" charset="-122"/>
              </a:defRPr>
            </a:defPPr>
            <a:lvl1pPr>
              <a:defRPr sz="1350" b="1">
                <a:solidFill>
                  <a:srgbClr val="000000"/>
                </a:solidFill>
                <a:latin typeface="Arial" panose="020B0604020202020204"/>
                <a:ea typeface="微软雅黑" panose="020B0503020204020204" charset="-122"/>
                <a:cs typeface="微软雅黑" panose="020B0503020204020204" charset="-122"/>
              </a:defRPr>
            </a:lvl1pPr>
            <a:lvl2pPr>
              <a:defRPr sz="1350" b="1">
                <a:solidFill>
                  <a:srgbClr val="000000"/>
                </a:solidFill>
                <a:latin typeface="Arial" panose="020B0604020202020204"/>
                <a:ea typeface="微软雅黑" panose="020B0503020204020204" charset="-122"/>
                <a:cs typeface="微软雅黑" panose="020B0503020204020204" charset="-122"/>
              </a:defRPr>
            </a:lvl2pPr>
            <a:lvl3pPr>
              <a:defRPr sz="1350" b="1">
                <a:solidFill>
                  <a:srgbClr val="000000"/>
                </a:solidFill>
                <a:latin typeface="Arial" panose="020B0604020202020204"/>
                <a:ea typeface="微软雅黑" panose="020B0503020204020204" charset="-122"/>
                <a:cs typeface="微软雅黑" panose="020B0503020204020204" charset="-122"/>
              </a:defRPr>
            </a:lvl3pPr>
            <a:lvl4pPr>
              <a:defRPr sz="1350" b="1">
                <a:solidFill>
                  <a:srgbClr val="000000"/>
                </a:solidFill>
                <a:latin typeface="Arial" panose="020B0604020202020204"/>
                <a:ea typeface="微软雅黑" panose="020B0503020204020204" charset="-122"/>
                <a:cs typeface="微软雅黑" panose="020B0503020204020204" charset="-122"/>
              </a:defRPr>
            </a:lvl4pPr>
            <a:lvl5pPr>
              <a:defRPr sz="1350" b="1">
                <a:solidFill>
                  <a:srgbClr val="000000"/>
                </a:solidFill>
                <a:latin typeface="Arial" panose="020B0604020202020204"/>
                <a:ea typeface="微软雅黑" panose="020B0503020204020204" charset="-122"/>
                <a:cs typeface="微软雅黑" panose="020B0503020204020204" charset="-122"/>
              </a:defRPr>
            </a:lvl5pPr>
            <a:lvl6pPr>
              <a:defRPr sz="1350" b="1">
                <a:solidFill>
                  <a:srgbClr val="000000"/>
                </a:solidFill>
                <a:latin typeface="Arial" panose="020B0604020202020204"/>
                <a:ea typeface="微软雅黑" panose="020B0503020204020204" charset="-122"/>
                <a:cs typeface="微软雅黑" panose="020B0503020204020204" charset="-122"/>
              </a:defRPr>
            </a:lvl6pPr>
            <a:lvl7pPr>
              <a:defRPr sz="1350" b="1">
                <a:solidFill>
                  <a:srgbClr val="000000"/>
                </a:solidFill>
                <a:latin typeface="Arial" panose="020B0604020202020204"/>
                <a:ea typeface="微软雅黑" panose="020B0503020204020204" charset="-122"/>
                <a:cs typeface="微软雅黑" panose="020B0503020204020204" charset="-122"/>
              </a:defRPr>
            </a:lvl7pPr>
            <a:lvl8pPr>
              <a:defRPr sz="1350" b="1">
                <a:solidFill>
                  <a:srgbClr val="000000"/>
                </a:solidFill>
                <a:latin typeface="Arial" panose="020B0604020202020204"/>
                <a:ea typeface="微软雅黑" panose="020B0503020204020204" charset="-122"/>
                <a:cs typeface="微软雅黑" panose="020B0503020204020204" charset="-122"/>
              </a:defRPr>
            </a:lvl8pPr>
            <a:lvl9pPr>
              <a:defRPr sz="1350" b="1">
                <a:solidFill>
                  <a:srgbClr val="000000"/>
                </a:solidFill>
                <a:latin typeface="Arial" panose="020B0604020202020204"/>
                <a:ea typeface="微软雅黑" panose="020B0503020204020204" charset="-122"/>
                <a:cs typeface="微软雅黑" panose="020B0503020204020204" charset="-122"/>
              </a:defRPr>
            </a:lvl9pPr>
          </a:lstStyle>
          <a:p>
            <a:pPr>
              <a:defRPr sz="1350" b="1">
                <a:solidFill>
                  <a:srgbClr val="000000"/>
                </a:solidFill>
                <a:latin typeface="Arial" panose="020B0604020202020204"/>
                <a:ea typeface="微软雅黑" panose="020B0503020204020204" charset="-122"/>
                <a:cs typeface="微软雅黑" panose="020B0503020204020204" charset="-122"/>
              </a:defRPr>
            </a:pPr>
            <a:r>
              <a:rPr sz="1350" b="1">
                <a:solidFill>
                  <a:srgbClr val="000000"/>
                </a:solidFill>
                <a:latin typeface="Arial" panose="020B0604020202020204"/>
                <a:ea typeface="微软雅黑" panose="020B0503020204020204" charset="-122"/>
                <a:cs typeface="微软雅黑" panose="020B0503020204020204" charset="-122"/>
              </a:rPr>
              <a:t>AF（</a:t>
            </a:r>
            <a:r>
              <a:rPr lang="en-US" sz="1350" b="1">
                <a:solidFill>
                  <a:srgbClr val="000000"/>
                </a:solidFill>
                <a:latin typeface="Arial" panose="020B0604020202020204"/>
                <a:ea typeface="微软雅黑" panose="020B0503020204020204" charset="-122"/>
                <a:cs typeface="微软雅黑" panose="020B0503020204020204" charset="-122"/>
              </a:rPr>
              <a:t>Adaptive threshold</a:t>
            </a:r>
            <a:r>
              <a:rPr sz="1350" b="1">
                <a:solidFill>
                  <a:srgbClr val="000000"/>
                </a:solidFill>
                <a:latin typeface="Arial" panose="020B0604020202020204"/>
                <a:ea typeface="微软雅黑" panose="020B0503020204020204" charset="-122"/>
                <a:cs typeface="微软雅黑" panose="020B0503020204020204" charset="-122"/>
              </a:rPr>
              <a:t> off）</a:t>
            </a:r>
            <a:endParaRPr sz="1350" b="1">
              <a:solidFill>
                <a:srgbClr val="000000"/>
              </a:solidFill>
              <a:latin typeface="Arial" panose="020B0604020202020204"/>
              <a:ea typeface="微软雅黑" panose="020B0503020204020204" charset="-122"/>
              <a:cs typeface="微软雅黑" panose="020B0503020204020204" charset="-122"/>
            </a:endParaRPr>
          </a:p>
        </p:txBody>
      </p:sp>
      <p:pic>
        <p:nvPicPr>
          <p:cNvPr id="8" name="图片 7"/>
          <p:cNvPicPr>
            <a:picLocks noChangeAspect="1"/>
          </p:cNvPicPr>
          <p:nvPr/>
        </p:nvPicPr>
        <p:blipFill>
          <a:blip r:embed="rId5"/>
          <a:stretch>
            <a:fillRect/>
          </a:stretch>
        </p:blipFill>
        <p:spPr>
          <a:xfrm>
            <a:off x="306387" y="3914775"/>
            <a:ext cx="2530477" cy="2324100"/>
          </a:xfrm>
          <a:prstGeom prst="rect">
            <a:avLst/>
          </a:prstGeom>
        </p:spPr>
      </p:pic>
      <p:sp>
        <p:nvSpPr>
          <p:cNvPr id="9" name="AG（两种稳态机制 off）"/>
          <p:cNvSpPr>
            <a:spLocks noGrp="1"/>
          </p:cNvSpPr>
          <p:nvPr/>
        </p:nvSpPr>
        <p:spPr>
          <a:xfrm>
            <a:off x="3152775" y="3629025"/>
            <a:ext cx="2924175" cy="266700"/>
          </a:xfrm>
          <a:prstGeom prst="rect">
            <a:avLst/>
          </a:prstGeom>
          <a:noFill/>
          <a:ln w="0">
            <a:noFill/>
          </a:ln>
        </p:spPr>
        <p:txBody>
          <a:bodyPr wrap="square" lIns="0" tIns="0" rIns="0" bIns="0" anchor="t">
            <a:noAutofit/>
          </a:bodyPr>
          <a:lstStyle>
            <a:defPPr>
              <a:defRPr sz="1350" b="1">
                <a:solidFill>
                  <a:srgbClr val="000000"/>
                </a:solidFill>
                <a:latin typeface="Arial" panose="020B0604020202020204"/>
                <a:ea typeface="微软雅黑" panose="020B0503020204020204" charset="-122"/>
                <a:cs typeface="微软雅黑" panose="020B0503020204020204" charset="-122"/>
              </a:defRPr>
            </a:defPPr>
            <a:lvl1pPr>
              <a:defRPr sz="1350" b="1">
                <a:solidFill>
                  <a:srgbClr val="000000"/>
                </a:solidFill>
                <a:latin typeface="Arial" panose="020B0604020202020204"/>
                <a:ea typeface="微软雅黑" panose="020B0503020204020204" charset="-122"/>
                <a:cs typeface="微软雅黑" panose="020B0503020204020204" charset="-122"/>
              </a:defRPr>
            </a:lvl1pPr>
            <a:lvl2pPr>
              <a:defRPr sz="1350" b="1">
                <a:solidFill>
                  <a:srgbClr val="000000"/>
                </a:solidFill>
                <a:latin typeface="Arial" panose="020B0604020202020204"/>
                <a:ea typeface="微软雅黑" panose="020B0503020204020204" charset="-122"/>
                <a:cs typeface="微软雅黑" panose="020B0503020204020204" charset="-122"/>
              </a:defRPr>
            </a:lvl2pPr>
            <a:lvl3pPr>
              <a:defRPr sz="1350" b="1">
                <a:solidFill>
                  <a:srgbClr val="000000"/>
                </a:solidFill>
                <a:latin typeface="Arial" panose="020B0604020202020204"/>
                <a:ea typeface="微软雅黑" panose="020B0503020204020204" charset="-122"/>
                <a:cs typeface="微软雅黑" panose="020B0503020204020204" charset="-122"/>
              </a:defRPr>
            </a:lvl3pPr>
            <a:lvl4pPr>
              <a:defRPr sz="1350" b="1">
                <a:solidFill>
                  <a:srgbClr val="000000"/>
                </a:solidFill>
                <a:latin typeface="Arial" panose="020B0604020202020204"/>
                <a:ea typeface="微软雅黑" panose="020B0503020204020204" charset="-122"/>
                <a:cs typeface="微软雅黑" panose="020B0503020204020204" charset="-122"/>
              </a:defRPr>
            </a:lvl4pPr>
            <a:lvl5pPr>
              <a:defRPr sz="1350" b="1">
                <a:solidFill>
                  <a:srgbClr val="000000"/>
                </a:solidFill>
                <a:latin typeface="Arial" panose="020B0604020202020204"/>
                <a:ea typeface="微软雅黑" panose="020B0503020204020204" charset="-122"/>
                <a:cs typeface="微软雅黑" panose="020B0503020204020204" charset="-122"/>
              </a:defRPr>
            </a:lvl5pPr>
            <a:lvl6pPr>
              <a:defRPr sz="1350" b="1">
                <a:solidFill>
                  <a:srgbClr val="000000"/>
                </a:solidFill>
                <a:latin typeface="Arial" panose="020B0604020202020204"/>
                <a:ea typeface="微软雅黑" panose="020B0503020204020204" charset="-122"/>
                <a:cs typeface="微软雅黑" panose="020B0503020204020204" charset="-122"/>
              </a:defRPr>
            </a:lvl6pPr>
            <a:lvl7pPr>
              <a:defRPr sz="1350" b="1">
                <a:solidFill>
                  <a:srgbClr val="000000"/>
                </a:solidFill>
                <a:latin typeface="Arial" panose="020B0604020202020204"/>
                <a:ea typeface="微软雅黑" panose="020B0503020204020204" charset="-122"/>
                <a:cs typeface="微软雅黑" panose="020B0503020204020204" charset="-122"/>
              </a:defRPr>
            </a:lvl7pPr>
            <a:lvl8pPr>
              <a:defRPr sz="1350" b="1">
                <a:solidFill>
                  <a:srgbClr val="000000"/>
                </a:solidFill>
                <a:latin typeface="Arial" panose="020B0604020202020204"/>
                <a:ea typeface="微软雅黑" panose="020B0503020204020204" charset="-122"/>
                <a:cs typeface="微软雅黑" panose="020B0503020204020204" charset="-122"/>
              </a:defRPr>
            </a:lvl8pPr>
            <a:lvl9pPr>
              <a:defRPr sz="1350" b="1">
                <a:solidFill>
                  <a:srgbClr val="000000"/>
                </a:solidFill>
                <a:latin typeface="Arial" panose="020B0604020202020204"/>
                <a:ea typeface="微软雅黑" panose="020B0503020204020204" charset="-122"/>
                <a:cs typeface="微软雅黑" panose="020B0503020204020204" charset="-122"/>
              </a:defRPr>
            </a:lvl9pPr>
          </a:lstStyle>
          <a:p>
            <a:pPr>
              <a:defRPr sz="1350" b="1">
                <a:solidFill>
                  <a:srgbClr val="000000"/>
                </a:solidFill>
                <a:latin typeface="Arial" panose="020B0604020202020204"/>
                <a:ea typeface="微软雅黑" panose="020B0503020204020204" charset="-122"/>
                <a:cs typeface="微软雅黑" panose="020B0503020204020204" charset="-122"/>
              </a:defRPr>
            </a:pPr>
            <a:r>
              <a:rPr sz="1350" b="1">
                <a:solidFill>
                  <a:srgbClr val="000000"/>
                </a:solidFill>
                <a:latin typeface="Arial" panose="020B0604020202020204"/>
                <a:ea typeface="微软雅黑" panose="020B0503020204020204" charset="-122"/>
                <a:cs typeface="微软雅黑" panose="020B0503020204020204" charset="-122"/>
              </a:rPr>
              <a:t>AG（</a:t>
            </a:r>
            <a:r>
              <a:rPr lang="en-US" sz="1350" b="1">
                <a:solidFill>
                  <a:srgbClr val="000000"/>
                </a:solidFill>
                <a:latin typeface="Arial" panose="020B0604020202020204"/>
                <a:ea typeface="微软雅黑" panose="020B0503020204020204" charset="-122"/>
                <a:cs typeface="微软雅黑" panose="020B0503020204020204" charset="-122"/>
              </a:rPr>
              <a:t>L1 &amp;</a:t>
            </a:r>
            <a:r>
              <a:rPr sz="1350" b="1">
                <a:solidFill>
                  <a:srgbClr val="000000"/>
                </a:solidFill>
                <a:latin typeface="Arial" panose="020B0604020202020204"/>
                <a:ea typeface="微软雅黑" panose="020B0503020204020204" charset="-122"/>
                <a:cs typeface="微软雅黑" panose="020B0503020204020204" charset="-122"/>
              </a:rPr>
              <a:t> </a:t>
            </a:r>
            <a:r>
              <a:rPr lang="en-US">
                <a:sym typeface="+mn-ea"/>
              </a:rPr>
              <a:t>Adaptive threshold </a:t>
            </a:r>
            <a:r>
              <a:rPr sz="1350" b="1">
                <a:solidFill>
                  <a:srgbClr val="000000"/>
                </a:solidFill>
                <a:latin typeface="Arial" panose="020B0604020202020204"/>
                <a:ea typeface="微软雅黑" panose="020B0503020204020204" charset="-122"/>
                <a:cs typeface="微软雅黑" panose="020B0503020204020204" charset="-122"/>
              </a:rPr>
              <a:t>off）</a:t>
            </a:r>
            <a:endParaRPr sz="1350" b="1">
              <a:solidFill>
                <a:srgbClr val="000000"/>
              </a:solidFill>
              <a:latin typeface="Arial" panose="020B0604020202020204"/>
              <a:ea typeface="微软雅黑" panose="020B0503020204020204" charset="-122"/>
              <a:cs typeface="微软雅黑" panose="020B0503020204020204" charset="-122"/>
            </a:endParaRPr>
          </a:p>
        </p:txBody>
      </p:sp>
      <p:pic>
        <p:nvPicPr>
          <p:cNvPr id="10" name="图片 9"/>
          <p:cNvPicPr>
            <a:picLocks noChangeAspect="1"/>
          </p:cNvPicPr>
          <p:nvPr/>
        </p:nvPicPr>
        <p:blipFill>
          <a:blip r:embed="rId6"/>
          <a:stretch>
            <a:fillRect/>
          </a:stretch>
        </p:blipFill>
        <p:spPr>
          <a:xfrm>
            <a:off x="3316878" y="3914775"/>
            <a:ext cx="2510244" cy="2324100"/>
          </a:xfrm>
          <a:prstGeom prst="rect">
            <a:avLst/>
          </a:prstGeom>
        </p:spPr>
      </p:pic>
      <p:sp>
        <p:nvSpPr>
          <p:cNvPr id="11" name="感受野怎么测量"/>
          <p:cNvSpPr>
            <a:spLocks noGrp="1"/>
          </p:cNvSpPr>
          <p:nvPr/>
        </p:nvSpPr>
        <p:spPr>
          <a:xfrm>
            <a:off x="6381750" y="773430"/>
            <a:ext cx="5286375" cy="266700"/>
          </a:xfrm>
          <a:prstGeom prst="rect">
            <a:avLst/>
          </a:prstGeom>
          <a:noFill/>
          <a:ln w="0">
            <a:noFill/>
          </a:ln>
        </p:spPr>
        <p:txBody>
          <a:bodyPr wrap="square" lIns="0" tIns="0" rIns="0" bIns="0" anchor="t">
            <a:noAutofit/>
          </a:bodyPr>
          <a:lstStyle>
            <a:defPPr>
              <a:defRPr sz="1425" b="1">
                <a:solidFill>
                  <a:srgbClr val="000000"/>
                </a:solidFill>
                <a:latin typeface="Arial" panose="020B0604020202020204"/>
                <a:ea typeface="微软雅黑" panose="020B0503020204020204" charset="-122"/>
                <a:cs typeface="微软雅黑" panose="020B0503020204020204" charset="-122"/>
              </a:defRPr>
            </a:defPPr>
            <a:lvl1pPr>
              <a:defRPr sz="1425" b="1">
                <a:solidFill>
                  <a:srgbClr val="000000"/>
                </a:solidFill>
                <a:latin typeface="Arial" panose="020B0604020202020204"/>
                <a:ea typeface="微软雅黑" panose="020B0503020204020204" charset="-122"/>
                <a:cs typeface="微软雅黑" panose="020B0503020204020204" charset="-122"/>
              </a:defRPr>
            </a:lvl1pPr>
            <a:lvl2pPr>
              <a:defRPr sz="1425" b="1">
                <a:solidFill>
                  <a:srgbClr val="000000"/>
                </a:solidFill>
                <a:latin typeface="Arial" panose="020B0604020202020204"/>
                <a:ea typeface="微软雅黑" panose="020B0503020204020204" charset="-122"/>
                <a:cs typeface="微软雅黑" panose="020B0503020204020204" charset="-122"/>
              </a:defRPr>
            </a:lvl2pPr>
            <a:lvl3pPr>
              <a:defRPr sz="1425" b="1">
                <a:solidFill>
                  <a:srgbClr val="000000"/>
                </a:solidFill>
                <a:latin typeface="Arial" panose="020B0604020202020204"/>
                <a:ea typeface="微软雅黑" panose="020B0503020204020204" charset="-122"/>
                <a:cs typeface="微软雅黑" panose="020B0503020204020204" charset="-122"/>
              </a:defRPr>
            </a:lvl3pPr>
            <a:lvl4pPr>
              <a:defRPr sz="1425" b="1">
                <a:solidFill>
                  <a:srgbClr val="000000"/>
                </a:solidFill>
                <a:latin typeface="Arial" panose="020B0604020202020204"/>
                <a:ea typeface="微软雅黑" panose="020B0503020204020204" charset="-122"/>
                <a:cs typeface="微软雅黑" panose="020B0503020204020204" charset="-122"/>
              </a:defRPr>
            </a:lvl4pPr>
            <a:lvl5pPr>
              <a:defRPr sz="1425" b="1">
                <a:solidFill>
                  <a:srgbClr val="000000"/>
                </a:solidFill>
                <a:latin typeface="Arial" panose="020B0604020202020204"/>
                <a:ea typeface="微软雅黑" panose="020B0503020204020204" charset="-122"/>
                <a:cs typeface="微软雅黑" panose="020B0503020204020204" charset="-122"/>
              </a:defRPr>
            </a:lvl5pPr>
            <a:lvl6pPr>
              <a:defRPr sz="1425" b="1">
                <a:solidFill>
                  <a:srgbClr val="000000"/>
                </a:solidFill>
                <a:latin typeface="Arial" panose="020B0604020202020204"/>
                <a:ea typeface="微软雅黑" panose="020B0503020204020204" charset="-122"/>
                <a:cs typeface="微软雅黑" panose="020B0503020204020204" charset="-122"/>
              </a:defRPr>
            </a:lvl6pPr>
            <a:lvl7pPr>
              <a:defRPr sz="1425" b="1">
                <a:solidFill>
                  <a:srgbClr val="000000"/>
                </a:solidFill>
                <a:latin typeface="Arial" panose="020B0604020202020204"/>
                <a:ea typeface="微软雅黑" panose="020B0503020204020204" charset="-122"/>
                <a:cs typeface="微软雅黑" panose="020B0503020204020204" charset="-122"/>
              </a:defRPr>
            </a:lvl7pPr>
            <a:lvl8pPr>
              <a:defRPr sz="1425" b="1">
                <a:solidFill>
                  <a:srgbClr val="000000"/>
                </a:solidFill>
                <a:latin typeface="Arial" panose="020B0604020202020204"/>
                <a:ea typeface="微软雅黑" panose="020B0503020204020204" charset="-122"/>
                <a:cs typeface="微软雅黑" panose="020B0503020204020204" charset="-122"/>
              </a:defRPr>
            </a:lvl8pPr>
            <a:lvl9pPr>
              <a:defRPr sz="1425" b="1">
                <a:solidFill>
                  <a:srgbClr val="000000"/>
                </a:solidFill>
                <a:latin typeface="Arial" panose="020B0604020202020204"/>
                <a:ea typeface="微软雅黑" panose="020B0503020204020204" charset="-122"/>
                <a:cs typeface="微软雅黑" panose="020B0503020204020204" charset="-122"/>
              </a:defRPr>
            </a:lvl9pPr>
          </a:lstStyle>
          <a:p>
            <a:pPr>
              <a:defRPr sz="1425" b="1">
                <a:solidFill>
                  <a:srgbClr val="000000"/>
                </a:solidFill>
                <a:latin typeface="Arial" panose="020B0604020202020204"/>
                <a:ea typeface="微软雅黑" panose="020B0503020204020204" charset="-122"/>
                <a:cs typeface="微软雅黑" panose="020B0503020204020204" charset="-122"/>
              </a:defRPr>
            </a:pPr>
            <a:r>
              <a:rPr sz="1425" b="1">
                <a:solidFill>
                  <a:srgbClr val="000000"/>
                </a:solidFill>
                <a:latin typeface="Arial" panose="020B0604020202020204"/>
                <a:ea typeface="微软雅黑" panose="020B0503020204020204" charset="-122"/>
                <a:cs typeface="微软雅黑" panose="020B0503020204020204" charset="-122"/>
              </a:rPr>
              <a:t>感受野怎么测量</a:t>
            </a:r>
            <a:endParaRPr sz="1425" b="1">
              <a:solidFill>
                <a:srgbClr val="000000"/>
              </a:solidFill>
              <a:latin typeface="Arial" panose="020B0604020202020204"/>
              <a:ea typeface="微软雅黑" panose="020B0503020204020204" charset="-122"/>
              <a:cs typeface="微软雅黑" panose="020B0503020204020204" charset="-122"/>
            </a:endParaRPr>
          </a:p>
        </p:txBody>
      </p:sp>
      <p:sp>
        <p:nvSpPr>
          <p:cNvPr id="12" name="冻结训练后的网络，输入10万张16×16高斯白噪声图片。按每"/>
          <p:cNvSpPr>
            <a:spLocks noGrp="1"/>
          </p:cNvSpPr>
          <p:nvPr/>
        </p:nvSpPr>
        <p:spPr>
          <a:xfrm>
            <a:off x="6371590" y="1203960"/>
            <a:ext cx="5286375" cy="2476500"/>
          </a:xfrm>
          <a:prstGeom prst="rect">
            <a:avLst/>
          </a:prstGeom>
          <a:noFill/>
          <a:ln w="0">
            <a:noFill/>
          </a:ln>
        </p:spPr>
        <p:txBody>
          <a:bodyPr wrap="square" lIns="0" tIns="0" rIns="0" bIns="0" anchor="t">
            <a:noAutofit/>
          </a:bodyPr>
          <a:lstStyle>
            <a:defPPr>
              <a:defRPr sz="1350" b="0">
                <a:solidFill>
                  <a:srgbClr val="000000"/>
                </a:solidFill>
                <a:latin typeface="Arial" panose="020B0604020202020204"/>
                <a:ea typeface="微软雅黑" panose="020B0503020204020204" charset="-122"/>
                <a:cs typeface="微软雅黑" panose="020B0503020204020204" charset="-122"/>
              </a:defRPr>
            </a:defPPr>
            <a:lvl1pPr>
              <a:defRPr sz="1350" b="0">
                <a:solidFill>
                  <a:srgbClr val="000000"/>
                </a:solidFill>
                <a:latin typeface="Arial" panose="020B0604020202020204"/>
                <a:ea typeface="微软雅黑" panose="020B0503020204020204" charset="-122"/>
                <a:cs typeface="微软雅黑" panose="020B0503020204020204" charset="-122"/>
              </a:defRPr>
            </a:lvl1pPr>
            <a:lvl2pPr>
              <a:defRPr sz="1350" b="0">
                <a:solidFill>
                  <a:srgbClr val="000000"/>
                </a:solidFill>
                <a:latin typeface="Arial" panose="020B0604020202020204"/>
                <a:ea typeface="微软雅黑" panose="020B0503020204020204" charset="-122"/>
                <a:cs typeface="微软雅黑" panose="020B0503020204020204" charset="-122"/>
              </a:defRPr>
            </a:lvl2pPr>
            <a:lvl3pPr>
              <a:defRPr sz="1350" b="0">
                <a:solidFill>
                  <a:srgbClr val="000000"/>
                </a:solidFill>
                <a:latin typeface="Arial" panose="020B0604020202020204"/>
                <a:ea typeface="微软雅黑" panose="020B0503020204020204" charset="-122"/>
                <a:cs typeface="微软雅黑" panose="020B0503020204020204" charset="-122"/>
              </a:defRPr>
            </a:lvl3pPr>
            <a:lvl4pPr>
              <a:defRPr sz="1350" b="0">
                <a:solidFill>
                  <a:srgbClr val="000000"/>
                </a:solidFill>
                <a:latin typeface="Arial" panose="020B0604020202020204"/>
                <a:ea typeface="微软雅黑" panose="020B0503020204020204" charset="-122"/>
                <a:cs typeface="微软雅黑" panose="020B0503020204020204" charset="-122"/>
              </a:defRPr>
            </a:lvl4pPr>
            <a:lvl5pPr>
              <a:defRPr sz="1350" b="0">
                <a:solidFill>
                  <a:srgbClr val="000000"/>
                </a:solidFill>
                <a:latin typeface="Arial" panose="020B0604020202020204"/>
                <a:ea typeface="微软雅黑" panose="020B0503020204020204" charset="-122"/>
                <a:cs typeface="微软雅黑" panose="020B0503020204020204" charset="-122"/>
              </a:defRPr>
            </a:lvl5pPr>
            <a:lvl6pPr>
              <a:defRPr sz="1350" b="0">
                <a:solidFill>
                  <a:srgbClr val="000000"/>
                </a:solidFill>
                <a:latin typeface="Arial" panose="020B0604020202020204"/>
                <a:ea typeface="微软雅黑" panose="020B0503020204020204" charset="-122"/>
                <a:cs typeface="微软雅黑" panose="020B0503020204020204" charset="-122"/>
              </a:defRPr>
            </a:lvl6pPr>
            <a:lvl7pPr>
              <a:defRPr sz="1350" b="0">
                <a:solidFill>
                  <a:srgbClr val="000000"/>
                </a:solidFill>
                <a:latin typeface="Arial" panose="020B0604020202020204"/>
                <a:ea typeface="微软雅黑" panose="020B0503020204020204" charset="-122"/>
                <a:cs typeface="微软雅黑" panose="020B0503020204020204" charset="-122"/>
              </a:defRPr>
            </a:lvl7pPr>
            <a:lvl8pPr>
              <a:defRPr sz="1350" b="0">
                <a:solidFill>
                  <a:srgbClr val="000000"/>
                </a:solidFill>
                <a:latin typeface="Arial" panose="020B0604020202020204"/>
                <a:ea typeface="微软雅黑" panose="020B0503020204020204" charset="-122"/>
                <a:cs typeface="微软雅黑" panose="020B0503020204020204" charset="-122"/>
              </a:defRPr>
            </a:lvl8pPr>
            <a:lvl9pPr>
              <a:defRPr sz="1350" b="0">
                <a:solidFill>
                  <a:srgbClr val="000000"/>
                </a:solidFill>
                <a:latin typeface="Arial" panose="020B0604020202020204"/>
                <a:ea typeface="微软雅黑" panose="020B0503020204020204" charset="-122"/>
                <a:cs typeface="微软雅黑" panose="020B0503020204020204" charset="-122"/>
              </a:defRPr>
            </a:lvl9pPr>
          </a:lstStyle>
          <a:p>
            <a:pPr>
              <a:defRPr sz="1350" b="0">
                <a:solidFill>
                  <a:srgbClr val="000000"/>
                </a:solidFill>
                <a:latin typeface="Arial" panose="020B0604020202020204"/>
                <a:ea typeface="微软雅黑" panose="020B0503020204020204" charset="-122"/>
                <a:cs typeface="微软雅黑" panose="020B0503020204020204" charset="-122"/>
              </a:defRPr>
            </a:pPr>
            <a:r>
              <a:rPr sz="1350" b="0">
                <a:solidFill>
                  <a:srgbClr val="000000"/>
                </a:solidFill>
                <a:latin typeface="Arial" panose="020B0604020202020204"/>
                <a:ea typeface="微软雅黑" panose="020B0503020204020204" charset="-122"/>
                <a:cs typeface="微软雅黑" panose="020B0503020204020204" charset="-122"/>
              </a:rPr>
              <a:t>冻结训练后的网络，输入10万张16×16高斯白噪声图片。按每个E神经元的放电次数，对刺激图片加权平均，</a:t>
            </a:r>
            <a:r>
              <a:rPr lang="zh-CN" sz="1350" b="0">
                <a:solidFill>
                  <a:srgbClr val="000000"/>
                </a:solidFill>
                <a:latin typeface="Arial" panose="020B0604020202020204"/>
                <a:ea typeface="微软雅黑" panose="020B0503020204020204" charset="-122"/>
                <a:cs typeface="微软雅黑" panose="020B0503020204020204" charset="-122"/>
              </a:rPr>
              <a:t>通过</a:t>
            </a:r>
            <a:r>
              <a:rPr lang="en-US" altLang="zh-CN" sz="1350" b="0">
                <a:solidFill>
                  <a:srgbClr val="000000"/>
                </a:solidFill>
                <a:latin typeface="Arial" panose="020B0604020202020204"/>
                <a:ea typeface="微软雅黑" panose="020B0503020204020204" charset="-122"/>
                <a:cs typeface="微软雅黑" panose="020B0503020204020204" charset="-122"/>
              </a:rPr>
              <a:t>STA</a:t>
            </a:r>
            <a:r>
              <a:rPr lang="zh-CN" altLang="en-US" sz="1350" b="0">
                <a:solidFill>
                  <a:srgbClr val="000000"/>
                </a:solidFill>
                <a:latin typeface="Arial" panose="020B0604020202020204"/>
                <a:ea typeface="微软雅黑" panose="020B0503020204020204" charset="-122"/>
                <a:cs typeface="微软雅黑" panose="020B0503020204020204" charset="-122"/>
              </a:rPr>
              <a:t>计算</a:t>
            </a:r>
            <a:r>
              <a:rPr sz="1350" b="0">
                <a:solidFill>
                  <a:srgbClr val="000000"/>
                </a:solidFill>
                <a:latin typeface="Arial" panose="020B0604020202020204"/>
                <a:ea typeface="微软雅黑" panose="020B0503020204020204" charset="-122"/>
                <a:cs typeface="微软雅黑" panose="020B0503020204020204" charset="-122"/>
              </a:rPr>
              <a:t>得到感受野。</a:t>
            </a:r>
            <a:endParaRPr sz="1350" b="0">
              <a:solidFill>
                <a:srgbClr val="000000"/>
              </a:solidFill>
              <a:latin typeface="Arial" panose="020B0604020202020204"/>
              <a:ea typeface="微软雅黑" panose="020B0503020204020204" charset="-122"/>
              <a:cs typeface="微软雅黑" panose="020B0503020204020204" charset="-122"/>
            </a:endParaRPr>
          </a:p>
        </p:txBody>
      </p:sp>
      <p:sp>
        <p:nvSpPr>
          <p:cNvPr id="13" name="AD：局部ON/OFF条带清晰，形态和朝向较多样。"/>
          <p:cNvSpPr>
            <a:spLocks noGrp="1"/>
          </p:cNvSpPr>
          <p:nvPr/>
        </p:nvSpPr>
        <p:spPr>
          <a:xfrm>
            <a:off x="6357620" y="3361690"/>
            <a:ext cx="5286375" cy="265176"/>
          </a:xfrm>
          <a:prstGeom prst="rect">
            <a:avLst/>
          </a:prstGeom>
          <a:noFill/>
          <a:ln w="0">
            <a:noFill/>
          </a:ln>
        </p:spPr>
        <p:txBody>
          <a:bodyPr wrap="square" lIns="0" tIns="0" rIns="0" bIns="0" anchor="t">
            <a:noAutofit/>
          </a:bodyPr>
          <a:lstStyle>
            <a:defPPr>
              <a:defRPr sz="1350" b="0">
                <a:solidFill>
                  <a:srgbClr val="000000"/>
                </a:solidFill>
                <a:latin typeface="Arial" panose="020B0604020202020204"/>
                <a:ea typeface="微软雅黑" panose="020B0503020204020204" charset="-122"/>
                <a:cs typeface="微软雅黑" panose="020B0503020204020204" charset="-122"/>
              </a:defRPr>
            </a:defPPr>
            <a:lvl1pPr>
              <a:defRPr sz="1350" b="0">
                <a:solidFill>
                  <a:srgbClr val="000000"/>
                </a:solidFill>
                <a:latin typeface="Arial" panose="020B0604020202020204"/>
                <a:ea typeface="微软雅黑" panose="020B0503020204020204" charset="-122"/>
                <a:cs typeface="微软雅黑" panose="020B0503020204020204" charset="-122"/>
              </a:defRPr>
            </a:lvl1pPr>
            <a:lvl2pPr>
              <a:defRPr sz="1350" b="0">
                <a:solidFill>
                  <a:srgbClr val="000000"/>
                </a:solidFill>
                <a:latin typeface="Arial" panose="020B0604020202020204"/>
                <a:ea typeface="微软雅黑" panose="020B0503020204020204" charset="-122"/>
                <a:cs typeface="微软雅黑" panose="020B0503020204020204" charset="-122"/>
              </a:defRPr>
            </a:lvl2pPr>
            <a:lvl3pPr>
              <a:defRPr sz="1350" b="0">
                <a:solidFill>
                  <a:srgbClr val="000000"/>
                </a:solidFill>
                <a:latin typeface="Arial" panose="020B0604020202020204"/>
                <a:ea typeface="微软雅黑" panose="020B0503020204020204" charset="-122"/>
                <a:cs typeface="微软雅黑" panose="020B0503020204020204" charset="-122"/>
              </a:defRPr>
            </a:lvl3pPr>
            <a:lvl4pPr>
              <a:defRPr sz="1350" b="0">
                <a:solidFill>
                  <a:srgbClr val="000000"/>
                </a:solidFill>
                <a:latin typeface="Arial" panose="020B0604020202020204"/>
                <a:ea typeface="微软雅黑" panose="020B0503020204020204" charset="-122"/>
                <a:cs typeface="微软雅黑" panose="020B0503020204020204" charset="-122"/>
              </a:defRPr>
            </a:lvl4pPr>
            <a:lvl5pPr>
              <a:defRPr sz="1350" b="0">
                <a:solidFill>
                  <a:srgbClr val="000000"/>
                </a:solidFill>
                <a:latin typeface="Arial" panose="020B0604020202020204"/>
                <a:ea typeface="微软雅黑" panose="020B0503020204020204" charset="-122"/>
                <a:cs typeface="微软雅黑" panose="020B0503020204020204" charset="-122"/>
              </a:defRPr>
            </a:lvl5pPr>
            <a:lvl6pPr>
              <a:defRPr sz="1350" b="0">
                <a:solidFill>
                  <a:srgbClr val="000000"/>
                </a:solidFill>
                <a:latin typeface="Arial" panose="020B0604020202020204"/>
                <a:ea typeface="微软雅黑" panose="020B0503020204020204" charset="-122"/>
                <a:cs typeface="微软雅黑" panose="020B0503020204020204" charset="-122"/>
              </a:defRPr>
            </a:lvl6pPr>
            <a:lvl7pPr>
              <a:defRPr sz="1350" b="0">
                <a:solidFill>
                  <a:srgbClr val="000000"/>
                </a:solidFill>
                <a:latin typeface="Arial" panose="020B0604020202020204"/>
                <a:ea typeface="微软雅黑" panose="020B0503020204020204" charset="-122"/>
                <a:cs typeface="微软雅黑" panose="020B0503020204020204" charset="-122"/>
              </a:defRPr>
            </a:lvl7pPr>
            <a:lvl8pPr>
              <a:defRPr sz="1350" b="0">
                <a:solidFill>
                  <a:srgbClr val="000000"/>
                </a:solidFill>
                <a:latin typeface="Arial" panose="020B0604020202020204"/>
                <a:ea typeface="微软雅黑" panose="020B0503020204020204" charset="-122"/>
                <a:cs typeface="微软雅黑" panose="020B0503020204020204" charset="-122"/>
              </a:defRPr>
            </a:lvl8pPr>
            <a:lvl9pPr>
              <a:defRPr sz="1350" b="0">
                <a:solidFill>
                  <a:srgbClr val="000000"/>
                </a:solidFill>
                <a:latin typeface="Arial" panose="020B0604020202020204"/>
                <a:ea typeface="微软雅黑" panose="020B0503020204020204" charset="-122"/>
                <a:cs typeface="微软雅黑" panose="020B0503020204020204" charset="-122"/>
              </a:defRPr>
            </a:lvl9pPr>
          </a:lstStyle>
          <a:p>
            <a:pPr marL="101600" indent="-76200">
              <a:buChar char="·"/>
              <a:defRPr sz="1350" b="0">
                <a:solidFill>
                  <a:srgbClr val="000000"/>
                </a:solidFill>
                <a:latin typeface="Arial" panose="020B0604020202020204"/>
                <a:ea typeface="微软雅黑" panose="020B0503020204020204" charset="-122"/>
                <a:cs typeface="微软雅黑" panose="020B0503020204020204" charset="-122"/>
              </a:defRPr>
            </a:pPr>
            <a:r>
              <a:rPr lang="en-US"/>
              <a:t> </a:t>
            </a:r>
            <a:r>
              <a:t>AD：</a:t>
            </a:r>
            <a:r>
              <a:rPr lang="en-US" altLang="zh-CN"/>
              <a:t>E</a:t>
            </a:r>
            <a:r>
              <a:rPr lang="zh-CN" altLang="en-US"/>
              <a:t>神经元中的大多数形成了类似 </a:t>
            </a:r>
            <a:r>
              <a:rPr lang="en-US" altLang="zh-CN"/>
              <a:t>Gabor </a:t>
            </a:r>
            <a:r>
              <a:rPr lang="zh-CN" altLang="en-US"/>
              <a:t>函数的条状感受野；这些感受野具有较强</a:t>
            </a:r>
            <a:r>
              <a:rPr lang="zh-CN" altLang="en-US"/>
              <a:t>的方向选择性，并包含相邻的 </a:t>
            </a:r>
            <a:r>
              <a:rPr lang="en-US" altLang="zh-CN"/>
              <a:t>ON</a:t>
            </a:r>
            <a:r>
              <a:rPr lang="zh-CN" altLang="en-US"/>
              <a:t>区和 </a:t>
            </a:r>
            <a:r>
              <a:rPr lang="en-US" altLang="zh-CN"/>
              <a:t>OFF</a:t>
            </a:r>
            <a:r>
              <a:rPr lang="zh-CN" altLang="en-US"/>
              <a:t>区。</a:t>
            </a:r>
            <a:r>
              <a:t>。</a:t>
            </a:r>
          </a:p>
        </p:txBody>
      </p:sp>
      <p:sp>
        <p:nvSpPr>
          <p:cNvPr id="14" name="AE：以噪点和空白为主，当前测试未得到可辨认的稳定条带。"/>
          <p:cNvSpPr>
            <a:spLocks noGrp="1"/>
          </p:cNvSpPr>
          <p:nvPr/>
        </p:nvSpPr>
        <p:spPr>
          <a:xfrm>
            <a:off x="6351270" y="4027551"/>
            <a:ext cx="5286375" cy="265176"/>
          </a:xfrm>
          <a:prstGeom prst="rect">
            <a:avLst/>
          </a:prstGeom>
          <a:noFill/>
          <a:ln w="0">
            <a:noFill/>
          </a:ln>
        </p:spPr>
        <p:txBody>
          <a:bodyPr wrap="square" lIns="0" tIns="0" rIns="0" bIns="0" anchor="t">
            <a:noAutofit/>
          </a:bodyPr>
          <a:lstStyle>
            <a:defPPr>
              <a:defRPr sz="1350" b="0">
                <a:solidFill>
                  <a:srgbClr val="000000"/>
                </a:solidFill>
                <a:latin typeface="Arial" panose="020B0604020202020204"/>
                <a:ea typeface="微软雅黑" panose="020B0503020204020204" charset="-122"/>
                <a:cs typeface="微软雅黑" panose="020B0503020204020204" charset="-122"/>
              </a:defRPr>
            </a:defPPr>
            <a:lvl1pPr>
              <a:defRPr sz="1350" b="0">
                <a:solidFill>
                  <a:srgbClr val="000000"/>
                </a:solidFill>
                <a:latin typeface="Arial" panose="020B0604020202020204"/>
                <a:ea typeface="微软雅黑" panose="020B0503020204020204" charset="-122"/>
                <a:cs typeface="微软雅黑" panose="020B0503020204020204" charset="-122"/>
              </a:defRPr>
            </a:lvl1pPr>
            <a:lvl2pPr>
              <a:defRPr sz="1350" b="0">
                <a:solidFill>
                  <a:srgbClr val="000000"/>
                </a:solidFill>
                <a:latin typeface="Arial" panose="020B0604020202020204"/>
                <a:ea typeface="微软雅黑" panose="020B0503020204020204" charset="-122"/>
                <a:cs typeface="微软雅黑" panose="020B0503020204020204" charset="-122"/>
              </a:defRPr>
            </a:lvl2pPr>
            <a:lvl3pPr>
              <a:defRPr sz="1350" b="0">
                <a:solidFill>
                  <a:srgbClr val="000000"/>
                </a:solidFill>
                <a:latin typeface="Arial" panose="020B0604020202020204"/>
                <a:ea typeface="微软雅黑" panose="020B0503020204020204" charset="-122"/>
                <a:cs typeface="微软雅黑" panose="020B0503020204020204" charset="-122"/>
              </a:defRPr>
            </a:lvl3pPr>
            <a:lvl4pPr>
              <a:defRPr sz="1350" b="0">
                <a:solidFill>
                  <a:srgbClr val="000000"/>
                </a:solidFill>
                <a:latin typeface="Arial" panose="020B0604020202020204"/>
                <a:ea typeface="微软雅黑" panose="020B0503020204020204" charset="-122"/>
                <a:cs typeface="微软雅黑" panose="020B0503020204020204" charset="-122"/>
              </a:defRPr>
            </a:lvl4pPr>
            <a:lvl5pPr>
              <a:defRPr sz="1350" b="0">
                <a:solidFill>
                  <a:srgbClr val="000000"/>
                </a:solidFill>
                <a:latin typeface="Arial" panose="020B0604020202020204"/>
                <a:ea typeface="微软雅黑" panose="020B0503020204020204" charset="-122"/>
                <a:cs typeface="微软雅黑" panose="020B0503020204020204" charset="-122"/>
              </a:defRPr>
            </a:lvl5pPr>
            <a:lvl6pPr>
              <a:defRPr sz="1350" b="0">
                <a:solidFill>
                  <a:srgbClr val="000000"/>
                </a:solidFill>
                <a:latin typeface="Arial" panose="020B0604020202020204"/>
                <a:ea typeface="微软雅黑" panose="020B0503020204020204" charset="-122"/>
                <a:cs typeface="微软雅黑" panose="020B0503020204020204" charset="-122"/>
              </a:defRPr>
            </a:lvl6pPr>
            <a:lvl7pPr>
              <a:defRPr sz="1350" b="0">
                <a:solidFill>
                  <a:srgbClr val="000000"/>
                </a:solidFill>
                <a:latin typeface="Arial" panose="020B0604020202020204"/>
                <a:ea typeface="微软雅黑" panose="020B0503020204020204" charset="-122"/>
                <a:cs typeface="微软雅黑" panose="020B0503020204020204" charset="-122"/>
              </a:defRPr>
            </a:lvl7pPr>
            <a:lvl8pPr>
              <a:defRPr sz="1350" b="0">
                <a:solidFill>
                  <a:srgbClr val="000000"/>
                </a:solidFill>
                <a:latin typeface="Arial" panose="020B0604020202020204"/>
                <a:ea typeface="微软雅黑" panose="020B0503020204020204" charset="-122"/>
                <a:cs typeface="微软雅黑" panose="020B0503020204020204" charset="-122"/>
              </a:defRPr>
            </a:lvl8pPr>
            <a:lvl9pPr>
              <a:defRPr sz="1350" b="0">
                <a:solidFill>
                  <a:srgbClr val="000000"/>
                </a:solidFill>
                <a:latin typeface="Arial" panose="020B0604020202020204"/>
                <a:ea typeface="微软雅黑" panose="020B0503020204020204" charset="-122"/>
                <a:cs typeface="微软雅黑" panose="020B0503020204020204" charset="-122"/>
              </a:defRPr>
            </a:lvl9pPr>
          </a:lstStyle>
          <a:p>
            <a:pPr marL="101600" indent="-76200">
              <a:buChar char="·"/>
              <a:defRPr sz="1350" b="0">
                <a:solidFill>
                  <a:srgbClr val="000000"/>
                </a:solidFill>
                <a:latin typeface="Arial" panose="020B0604020202020204"/>
                <a:ea typeface="微软雅黑" panose="020B0503020204020204" charset="-122"/>
                <a:cs typeface="微软雅黑" panose="020B0503020204020204" charset="-122"/>
              </a:defRPr>
            </a:pPr>
            <a:r>
              <a:rPr lang="en-US"/>
              <a:t> </a:t>
            </a:r>
            <a:r>
              <a:t>AE：</a:t>
            </a:r>
            <a:r>
              <a:rPr lang="zh-CN" altLang="en-US"/>
              <a:t>神经元的感受野主要由噪</a:t>
            </a:r>
            <a:r>
              <a:rPr lang="zh-CN" altLang="en-US"/>
              <a:t>点构成，未能呈现出清晰、局部化的条状结构。</a:t>
            </a:r>
            <a:endParaRPr lang="zh-CN" altLang="en-US"/>
          </a:p>
        </p:txBody>
      </p:sp>
      <p:sp>
        <p:nvSpPr>
          <p:cNvPr id="15" name="AF：仍能看到条带，但背景更明显、轮廓较分散。"/>
          <p:cNvSpPr>
            <a:spLocks noGrp="1"/>
          </p:cNvSpPr>
          <p:nvPr/>
        </p:nvSpPr>
        <p:spPr>
          <a:xfrm>
            <a:off x="6351270" y="4491482"/>
            <a:ext cx="5286375" cy="265176"/>
          </a:xfrm>
          <a:prstGeom prst="rect">
            <a:avLst/>
          </a:prstGeom>
          <a:noFill/>
          <a:ln w="0">
            <a:noFill/>
          </a:ln>
        </p:spPr>
        <p:txBody>
          <a:bodyPr wrap="square" lIns="0" tIns="0" rIns="0" bIns="0" anchor="t">
            <a:noAutofit/>
          </a:bodyPr>
          <a:lstStyle>
            <a:defPPr>
              <a:defRPr sz="1350" b="0">
                <a:solidFill>
                  <a:srgbClr val="000000"/>
                </a:solidFill>
                <a:latin typeface="Arial" panose="020B0604020202020204"/>
                <a:ea typeface="微软雅黑" panose="020B0503020204020204" charset="-122"/>
                <a:cs typeface="微软雅黑" panose="020B0503020204020204" charset="-122"/>
              </a:defRPr>
            </a:defPPr>
            <a:lvl1pPr>
              <a:defRPr sz="1350" b="0">
                <a:solidFill>
                  <a:srgbClr val="000000"/>
                </a:solidFill>
                <a:latin typeface="Arial" panose="020B0604020202020204"/>
                <a:ea typeface="微软雅黑" panose="020B0503020204020204" charset="-122"/>
                <a:cs typeface="微软雅黑" panose="020B0503020204020204" charset="-122"/>
              </a:defRPr>
            </a:lvl1pPr>
            <a:lvl2pPr>
              <a:defRPr sz="1350" b="0">
                <a:solidFill>
                  <a:srgbClr val="000000"/>
                </a:solidFill>
                <a:latin typeface="Arial" panose="020B0604020202020204"/>
                <a:ea typeface="微软雅黑" panose="020B0503020204020204" charset="-122"/>
                <a:cs typeface="微软雅黑" panose="020B0503020204020204" charset="-122"/>
              </a:defRPr>
            </a:lvl2pPr>
            <a:lvl3pPr>
              <a:defRPr sz="1350" b="0">
                <a:solidFill>
                  <a:srgbClr val="000000"/>
                </a:solidFill>
                <a:latin typeface="Arial" panose="020B0604020202020204"/>
                <a:ea typeface="微软雅黑" panose="020B0503020204020204" charset="-122"/>
                <a:cs typeface="微软雅黑" panose="020B0503020204020204" charset="-122"/>
              </a:defRPr>
            </a:lvl3pPr>
            <a:lvl4pPr>
              <a:defRPr sz="1350" b="0">
                <a:solidFill>
                  <a:srgbClr val="000000"/>
                </a:solidFill>
                <a:latin typeface="Arial" panose="020B0604020202020204"/>
                <a:ea typeface="微软雅黑" panose="020B0503020204020204" charset="-122"/>
                <a:cs typeface="微软雅黑" panose="020B0503020204020204" charset="-122"/>
              </a:defRPr>
            </a:lvl4pPr>
            <a:lvl5pPr>
              <a:defRPr sz="1350" b="0">
                <a:solidFill>
                  <a:srgbClr val="000000"/>
                </a:solidFill>
                <a:latin typeface="Arial" panose="020B0604020202020204"/>
                <a:ea typeface="微软雅黑" panose="020B0503020204020204" charset="-122"/>
                <a:cs typeface="微软雅黑" panose="020B0503020204020204" charset="-122"/>
              </a:defRPr>
            </a:lvl5pPr>
            <a:lvl6pPr>
              <a:defRPr sz="1350" b="0">
                <a:solidFill>
                  <a:srgbClr val="000000"/>
                </a:solidFill>
                <a:latin typeface="Arial" panose="020B0604020202020204"/>
                <a:ea typeface="微软雅黑" panose="020B0503020204020204" charset="-122"/>
                <a:cs typeface="微软雅黑" panose="020B0503020204020204" charset="-122"/>
              </a:defRPr>
            </a:lvl6pPr>
            <a:lvl7pPr>
              <a:defRPr sz="1350" b="0">
                <a:solidFill>
                  <a:srgbClr val="000000"/>
                </a:solidFill>
                <a:latin typeface="Arial" panose="020B0604020202020204"/>
                <a:ea typeface="微软雅黑" panose="020B0503020204020204" charset="-122"/>
                <a:cs typeface="微软雅黑" panose="020B0503020204020204" charset="-122"/>
              </a:defRPr>
            </a:lvl7pPr>
            <a:lvl8pPr>
              <a:defRPr sz="1350" b="0">
                <a:solidFill>
                  <a:srgbClr val="000000"/>
                </a:solidFill>
                <a:latin typeface="Arial" panose="020B0604020202020204"/>
                <a:ea typeface="微软雅黑" panose="020B0503020204020204" charset="-122"/>
                <a:cs typeface="微软雅黑" panose="020B0503020204020204" charset="-122"/>
              </a:defRPr>
            </a:lvl8pPr>
            <a:lvl9pPr>
              <a:defRPr sz="1350" b="0">
                <a:solidFill>
                  <a:srgbClr val="000000"/>
                </a:solidFill>
                <a:latin typeface="Arial" panose="020B0604020202020204"/>
                <a:ea typeface="微软雅黑" panose="020B0503020204020204" charset="-122"/>
                <a:cs typeface="微软雅黑" panose="020B0503020204020204" charset="-122"/>
              </a:defRPr>
            </a:lvl9pPr>
          </a:lstStyle>
          <a:p>
            <a:pPr marL="101600" indent="-76200">
              <a:buChar char="·"/>
              <a:defRPr sz="1350" b="0">
                <a:solidFill>
                  <a:srgbClr val="000000"/>
                </a:solidFill>
                <a:latin typeface="Arial" panose="020B0604020202020204"/>
                <a:ea typeface="微软雅黑" panose="020B0503020204020204" charset="-122"/>
                <a:cs typeface="微软雅黑" panose="020B0503020204020204" charset="-122"/>
              </a:defRPr>
            </a:pPr>
            <a:r>
              <a:rPr lang="en-US"/>
              <a:t> </a:t>
            </a:r>
            <a:r>
              <a:t>AF：仍能</a:t>
            </a:r>
            <a:r>
              <a:rPr lang="zh-CN"/>
              <a:t>生成条状感受野</a:t>
            </a:r>
            <a:r>
              <a:t>，但</a:t>
            </a:r>
            <a:r>
              <a:rPr lang="zh-CN"/>
              <a:t>感受野的</a:t>
            </a:r>
            <a:r>
              <a:t>轮廓</a:t>
            </a:r>
            <a:r>
              <a:rPr lang="zh-CN"/>
              <a:t>更加模糊，结构的多样性下降</a:t>
            </a:r>
            <a:r>
              <a:t>。</a:t>
            </a:r>
          </a:p>
        </p:txBody>
      </p:sp>
      <p:sp>
        <p:nvSpPr>
          <p:cNvPr id="16" name="AG：同样缺少清晰条带，不能由现有图认定形成了稳定感受野。"/>
          <p:cNvSpPr>
            <a:spLocks noGrp="1"/>
          </p:cNvSpPr>
          <p:nvPr/>
        </p:nvSpPr>
        <p:spPr>
          <a:xfrm>
            <a:off x="6381750" y="4955413"/>
            <a:ext cx="5286375" cy="265176"/>
          </a:xfrm>
          <a:prstGeom prst="rect">
            <a:avLst/>
          </a:prstGeom>
          <a:noFill/>
          <a:ln w="0">
            <a:noFill/>
          </a:ln>
        </p:spPr>
        <p:txBody>
          <a:bodyPr wrap="square" lIns="0" tIns="0" rIns="0" bIns="0" anchor="t">
            <a:noAutofit/>
          </a:bodyPr>
          <a:lstStyle>
            <a:defPPr>
              <a:defRPr sz="1350" b="0">
                <a:solidFill>
                  <a:srgbClr val="000000"/>
                </a:solidFill>
                <a:latin typeface="Arial" panose="020B0604020202020204"/>
                <a:ea typeface="微软雅黑" panose="020B0503020204020204" charset="-122"/>
                <a:cs typeface="微软雅黑" panose="020B0503020204020204" charset="-122"/>
              </a:defRPr>
            </a:defPPr>
            <a:lvl1pPr>
              <a:defRPr sz="1350" b="0">
                <a:solidFill>
                  <a:srgbClr val="000000"/>
                </a:solidFill>
                <a:latin typeface="Arial" panose="020B0604020202020204"/>
                <a:ea typeface="微软雅黑" panose="020B0503020204020204" charset="-122"/>
                <a:cs typeface="微软雅黑" panose="020B0503020204020204" charset="-122"/>
              </a:defRPr>
            </a:lvl1pPr>
            <a:lvl2pPr>
              <a:defRPr sz="1350" b="0">
                <a:solidFill>
                  <a:srgbClr val="000000"/>
                </a:solidFill>
                <a:latin typeface="Arial" panose="020B0604020202020204"/>
                <a:ea typeface="微软雅黑" panose="020B0503020204020204" charset="-122"/>
                <a:cs typeface="微软雅黑" panose="020B0503020204020204" charset="-122"/>
              </a:defRPr>
            </a:lvl2pPr>
            <a:lvl3pPr>
              <a:defRPr sz="1350" b="0">
                <a:solidFill>
                  <a:srgbClr val="000000"/>
                </a:solidFill>
                <a:latin typeface="Arial" panose="020B0604020202020204"/>
                <a:ea typeface="微软雅黑" panose="020B0503020204020204" charset="-122"/>
                <a:cs typeface="微软雅黑" panose="020B0503020204020204" charset="-122"/>
              </a:defRPr>
            </a:lvl3pPr>
            <a:lvl4pPr>
              <a:defRPr sz="1350" b="0">
                <a:solidFill>
                  <a:srgbClr val="000000"/>
                </a:solidFill>
                <a:latin typeface="Arial" panose="020B0604020202020204"/>
                <a:ea typeface="微软雅黑" panose="020B0503020204020204" charset="-122"/>
                <a:cs typeface="微软雅黑" panose="020B0503020204020204" charset="-122"/>
              </a:defRPr>
            </a:lvl4pPr>
            <a:lvl5pPr>
              <a:defRPr sz="1350" b="0">
                <a:solidFill>
                  <a:srgbClr val="000000"/>
                </a:solidFill>
                <a:latin typeface="Arial" panose="020B0604020202020204"/>
                <a:ea typeface="微软雅黑" panose="020B0503020204020204" charset="-122"/>
                <a:cs typeface="微软雅黑" panose="020B0503020204020204" charset="-122"/>
              </a:defRPr>
            </a:lvl5pPr>
            <a:lvl6pPr>
              <a:defRPr sz="1350" b="0">
                <a:solidFill>
                  <a:srgbClr val="000000"/>
                </a:solidFill>
                <a:latin typeface="Arial" panose="020B0604020202020204"/>
                <a:ea typeface="微软雅黑" panose="020B0503020204020204" charset="-122"/>
                <a:cs typeface="微软雅黑" panose="020B0503020204020204" charset="-122"/>
              </a:defRPr>
            </a:lvl6pPr>
            <a:lvl7pPr>
              <a:defRPr sz="1350" b="0">
                <a:solidFill>
                  <a:srgbClr val="000000"/>
                </a:solidFill>
                <a:latin typeface="Arial" panose="020B0604020202020204"/>
                <a:ea typeface="微软雅黑" panose="020B0503020204020204" charset="-122"/>
                <a:cs typeface="微软雅黑" panose="020B0503020204020204" charset="-122"/>
              </a:defRPr>
            </a:lvl7pPr>
            <a:lvl8pPr>
              <a:defRPr sz="1350" b="0">
                <a:solidFill>
                  <a:srgbClr val="000000"/>
                </a:solidFill>
                <a:latin typeface="Arial" panose="020B0604020202020204"/>
                <a:ea typeface="微软雅黑" panose="020B0503020204020204" charset="-122"/>
                <a:cs typeface="微软雅黑" panose="020B0503020204020204" charset="-122"/>
              </a:defRPr>
            </a:lvl8pPr>
            <a:lvl9pPr>
              <a:defRPr sz="1350" b="0">
                <a:solidFill>
                  <a:srgbClr val="000000"/>
                </a:solidFill>
                <a:latin typeface="Arial" panose="020B0604020202020204"/>
                <a:ea typeface="微软雅黑" panose="020B0503020204020204" charset="-122"/>
                <a:cs typeface="微软雅黑" panose="020B0503020204020204" charset="-122"/>
              </a:defRPr>
            </a:lvl9pPr>
          </a:lstStyle>
          <a:p>
            <a:pPr marL="101600" indent="-76200">
              <a:buChar char="·"/>
              <a:defRPr sz="1350" b="0">
                <a:solidFill>
                  <a:srgbClr val="000000"/>
                </a:solidFill>
                <a:latin typeface="Arial" panose="020B0604020202020204"/>
                <a:ea typeface="微软雅黑" panose="020B0503020204020204" charset="-122"/>
                <a:cs typeface="微软雅黑" panose="020B0503020204020204" charset="-122"/>
              </a:defRPr>
            </a:pPr>
            <a:r>
              <a:t>AG：同样</a:t>
            </a:r>
            <a:r>
              <a:rPr lang="zh-CN"/>
              <a:t>由噪点构成</a:t>
            </a:r>
            <a:r>
              <a:t>，</a:t>
            </a:r>
            <a:r>
              <a:rPr lang="zh-CN" altLang="en-US">
                <a:sym typeface="+mn-ea"/>
              </a:rPr>
              <a:t>未能呈现出清晰、局部化的条状结构。</a:t>
            </a:r>
          </a:p>
        </p:txBody>
      </p:sp>
      <p:sp>
        <p:nvSpPr>
          <p:cNvPr id="18" name="TAKEAWAY_HIGHLIGHT"/>
          <p:cNvSpPr>
            <a:spLocks noGrp="1"/>
          </p:cNvSpPr>
          <p:nvPr/>
        </p:nvSpPr>
        <p:spPr>
          <a:xfrm>
            <a:off x="5827395" y="5621020"/>
            <a:ext cx="6365240" cy="600075"/>
          </a:xfrm>
          <a:prstGeom prst="rect">
            <a:avLst/>
          </a:prstGeom>
          <a:noFill/>
          <a:ln w="0">
            <a:noFill/>
          </a:ln>
        </p:spPr>
        <p:txBody>
          <a:bodyPr wrap="square" lIns="0" tIns="0" rIns="0" bIns="0" anchor="t">
            <a:noAutofit/>
          </a:bodyPr>
          <a:lstStyle>
            <a:defPPr>
              <a:defRPr sz="1600" b="0">
                <a:solidFill>
                  <a:srgbClr val="000000"/>
                </a:solidFill>
                <a:latin typeface="Arial" panose="020B0604020202020204"/>
                <a:ea typeface="微软雅黑" panose="020B0503020204020204" charset="-122"/>
                <a:cs typeface="微软雅黑" panose="020B0503020204020204" charset="-122"/>
              </a:defRPr>
            </a:defPPr>
            <a:lvl1pPr>
              <a:defRPr sz="1600" b="0">
                <a:solidFill>
                  <a:srgbClr val="000000"/>
                </a:solidFill>
                <a:latin typeface="Arial" panose="020B0604020202020204"/>
                <a:ea typeface="微软雅黑" panose="020B0503020204020204" charset="-122"/>
                <a:cs typeface="微软雅黑" panose="020B0503020204020204" charset="-122"/>
              </a:defRPr>
            </a:lvl1pPr>
            <a:lvl2pPr>
              <a:defRPr sz="1600" b="0">
                <a:solidFill>
                  <a:srgbClr val="000000"/>
                </a:solidFill>
                <a:latin typeface="Arial" panose="020B0604020202020204"/>
                <a:ea typeface="微软雅黑" panose="020B0503020204020204" charset="-122"/>
                <a:cs typeface="微软雅黑" panose="020B0503020204020204" charset="-122"/>
              </a:defRPr>
            </a:lvl2pPr>
            <a:lvl3pPr>
              <a:defRPr sz="1600" b="0">
                <a:solidFill>
                  <a:srgbClr val="000000"/>
                </a:solidFill>
                <a:latin typeface="Arial" panose="020B0604020202020204"/>
                <a:ea typeface="微软雅黑" panose="020B0503020204020204" charset="-122"/>
                <a:cs typeface="微软雅黑" panose="020B0503020204020204" charset="-122"/>
              </a:defRPr>
            </a:lvl3pPr>
            <a:lvl4pPr>
              <a:defRPr sz="1600" b="0">
                <a:solidFill>
                  <a:srgbClr val="000000"/>
                </a:solidFill>
                <a:latin typeface="Arial" panose="020B0604020202020204"/>
                <a:ea typeface="微软雅黑" panose="020B0503020204020204" charset="-122"/>
                <a:cs typeface="微软雅黑" panose="020B0503020204020204" charset="-122"/>
              </a:defRPr>
            </a:lvl4pPr>
            <a:lvl5pPr>
              <a:defRPr sz="1600" b="0">
                <a:solidFill>
                  <a:srgbClr val="000000"/>
                </a:solidFill>
                <a:latin typeface="Arial" panose="020B0604020202020204"/>
                <a:ea typeface="微软雅黑" panose="020B0503020204020204" charset="-122"/>
                <a:cs typeface="微软雅黑" panose="020B0503020204020204" charset="-122"/>
              </a:defRPr>
            </a:lvl5pPr>
            <a:lvl6pPr>
              <a:defRPr sz="1600" b="0">
                <a:solidFill>
                  <a:srgbClr val="000000"/>
                </a:solidFill>
                <a:latin typeface="Arial" panose="020B0604020202020204"/>
                <a:ea typeface="微软雅黑" panose="020B0503020204020204" charset="-122"/>
                <a:cs typeface="微软雅黑" panose="020B0503020204020204" charset="-122"/>
              </a:defRPr>
            </a:lvl6pPr>
            <a:lvl7pPr>
              <a:defRPr sz="1600" b="0">
                <a:solidFill>
                  <a:srgbClr val="000000"/>
                </a:solidFill>
                <a:latin typeface="Arial" panose="020B0604020202020204"/>
                <a:ea typeface="微软雅黑" panose="020B0503020204020204" charset="-122"/>
                <a:cs typeface="微软雅黑" panose="020B0503020204020204" charset="-122"/>
              </a:defRPr>
            </a:lvl7pPr>
            <a:lvl8pPr>
              <a:defRPr sz="1600" b="0">
                <a:solidFill>
                  <a:srgbClr val="000000"/>
                </a:solidFill>
                <a:latin typeface="Arial" panose="020B0604020202020204"/>
                <a:ea typeface="微软雅黑" panose="020B0503020204020204" charset="-122"/>
                <a:cs typeface="微软雅黑" panose="020B0503020204020204" charset="-122"/>
              </a:defRPr>
            </a:lvl8pPr>
            <a:lvl9pPr>
              <a:defRPr sz="1600" b="0">
                <a:solidFill>
                  <a:srgbClr val="000000"/>
                </a:solidFill>
                <a:latin typeface="Arial" panose="020B0604020202020204"/>
                <a:ea typeface="微软雅黑" panose="020B0503020204020204" charset="-122"/>
                <a:cs typeface="微软雅黑" panose="020B0503020204020204" charset="-122"/>
              </a:defRPr>
            </a:lvl9pPr>
          </a:lstStyle>
          <a:p>
            <a:pPr algn="ctr">
              <a:defRPr sz="1600" b="0">
                <a:solidFill>
                  <a:srgbClr val="000000"/>
                </a:solidFill>
                <a:latin typeface="Arial" panose="020B0604020202020204"/>
                <a:ea typeface="微软雅黑" panose="020B0503020204020204" charset="-122"/>
                <a:cs typeface="微软雅黑" panose="020B0503020204020204" charset="-122"/>
              </a:defRPr>
            </a:pPr>
            <a:r>
              <a:rPr lang="en-US" altLang="zh-CN" sz="1500" b="1">
                <a:solidFill>
                  <a:srgbClr val="000000"/>
                </a:solidFill>
                <a:highlight>
                  <a:srgbClr val="FFFF00"/>
                </a:highlight>
                <a:latin typeface="Arial" panose="020B0604020202020204"/>
                <a:ea typeface="微软雅黑" panose="020B0503020204020204" charset="-122"/>
                <a:cs typeface="微软雅黑" panose="020B0503020204020204" charset="-122"/>
              </a:rPr>
              <a:t>L1 </a:t>
            </a:r>
            <a:r>
              <a:rPr lang="zh-CN" altLang="en-US" sz="1500" b="1">
                <a:solidFill>
                  <a:srgbClr val="000000"/>
                </a:solidFill>
                <a:highlight>
                  <a:srgbClr val="FFFF00"/>
                </a:highlight>
                <a:latin typeface="Arial" panose="020B0604020202020204"/>
                <a:ea typeface="微软雅黑" panose="020B0503020204020204" charset="-122"/>
                <a:cs typeface="微软雅黑" panose="020B0503020204020204" charset="-122"/>
              </a:rPr>
              <a:t>限制连接能增强到什么程度，并促进</a:t>
            </a:r>
            <a:r>
              <a:rPr lang="en-US" altLang="zh-CN" sz="1500" b="1">
                <a:solidFill>
                  <a:srgbClr val="000000"/>
                </a:solidFill>
                <a:highlight>
                  <a:srgbClr val="FFFF00"/>
                </a:highlight>
                <a:latin typeface="Arial" panose="020B0604020202020204"/>
                <a:ea typeface="微软雅黑" panose="020B0503020204020204" charset="-122"/>
                <a:cs typeface="微软雅黑" panose="020B0503020204020204" charset="-122"/>
              </a:rPr>
              <a:t>E</a:t>
            </a:r>
            <a:r>
              <a:rPr lang="zh-CN" altLang="en-US" sz="1500" b="1">
                <a:solidFill>
                  <a:srgbClr val="000000"/>
                </a:solidFill>
                <a:highlight>
                  <a:srgbClr val="FFFF00"/>
                </a:highlight>
                <a:latin typeface="Arial" panose="020B0604020202020204"/>
                <a:ea typeface="微软雅黑" panose="020B0503020204020204" charset="-122"/>
                <a:cs typeface="微软雅黑" panose="020B0503020204020204" charset="-122"/>
              </a:rPr>
              <a:t>神经元之间的竞争，从而达到去相关的效果，同时也是类</a:t>
            </a:r>
            <a:r>
              <a:rPr lang="en-US" altLang="zh-CN" sz="1500" b="1">
                <a:solidFill>
                  <a:srgbClr val="000000"/>
                </a:solidFill>
                <a:highlight>
                  <a:srgbClr val="FFFF00"/>
                </a:highlight>
                <a:latin typeface="Arial" panose="020B0604020202020204"/>
                <a:ea typeface="微软雅黑" panose="020B0503020204020204" charset="-122"/>
                <a:cs typeface="微软雅黑" panose="020B0503020204020204" charset="-122"/>
              </a:rPr>
              <a:t>Gabor</a:t>
            </a:r>
            <a:r>
              <a:rPr lang="zh-CN" altLang="en-US" sz="1500" b="1">
                <a:solidFill>
                  <a:srgbClr val="000000"/>
                </a:solidFill>
                <a:highlight>
                  <a:srgbClr val="FFFF00"/>
                </a:highlight>
                <a:latin typeface="Arial" panose="020B0604020202020204"/>
                <a:ea typeface="微软雅黑" panose="020B0503020204020204" charset="-122"/>
                <a:cs typeface="微软雅黑" panose="020B0503020204020204" charset="-122"/>
              </a:rPr>
              <a:t>感受野形成的必要条件；</a:t>
            </a:r>
            <a:endParaRPr lang="zh-CN" altLang="en-US" sz="1500" b="1">
              <a:solidFill>
                <a:srgbClr val="000000"/>
              </a:solidFill>
              <a:highlight>
                <a:srgbClr val="FFFF00"/>
              </a:highlight>
              <a:latin typeface="Arial" panose="020B0604020202020204"/>
              <a:ea typeface="微软雅黑" panose="020B0503020204020204" charset="-122"/>
              <a:cs typeface="微软雅黑" panose="020B0503020204020204" charset="-122"/>
            </a:endParaRPr>
          </a:p>
          <a:p>
            <a:pPr algn="ctr">
              <a:defRPr sz="1600" b="0">
                <a:solidFill>
                  <a:srgbClr val="000000"/>
                </a:solidFill>
                <a:latin typeface="Arial" panose="020B0604020202020204"/>
                <a:ea typeface="微软雅黑" panose="020B0503020204020204" charset="-122"/>
                <a:cs typeface="微软雅黑" panose="020B0503020204020204" charset="-122"/>
              </a:defRPr>
            </a:pPr>
            <a:r>
              <a:rPr lang="zh-CN" altLang="en-US" sz="1500" b="1">
                <a:solidFill>
                  <a:srgbClr val="000000"/>
                </a:solidFill>
                <a:highlight>
                  <a:srgbClr val="FFFF00"/>
                </a:highlight>
                <a:latin typeface="Arial" panose="020B0604020202020204"/>
                <a:ea typeface="微软雅黑" panose="020B0503020204020204" charset="-122"/>
                <a:cs typeface="微软雅黑" panose="020B0503020204020204" charset="-122"/>
              </a:rPr>
              <a:t>动态阈值调节神经元在什么活动水平下学习</a:t>
            </a:r>
            <a:r>
              <a:rPr lang="en-US" altLang="zh-CN" sz="1500" b="1">
                <a:solidFill>
                  <a:srgbClr val="000000"/>
                </a:solidFill>
                <a:highlight>
                  <a:srgbClr val="FFFF00"/>
                </a:highlight>
                <a:latin typeface="Arial" panose="020B0604020202020204"/>
                <a:ea typeface="微软雅黑" panose="020B0503020204020204" charset="-122"/>
                <a:cs typeface="微软雅黑" panose="020B0503020204020204" charset="-122"/>
              </a:rPr>
              <a:t>,</a:t>
            </a:r>
            <a:r>
              <a:rPr lang="zh-CN" altLang="en-US" sz="1500" b="1">
                <a:solidFill>
                  <a:srgbClr val="000000"/>
                </a:solidFill>
                <a:highlight>
                  <a:srgbClr val="FFFF00"/>
                </a:highlight>
                <a:latin typeface="Arial" panose="020B0604020202020204"/>
                <a:ea typeface="微软雅黑" panose="020B0503020204020204" charset="-122"/>
                <a:cs typeface="微软雅黑" panose="020B0503020204020204" charset="-122"/>
              </a:rPr>
              <a:t>进一步促进感受野去相关水平。</a:t>
            </a:r>
            <a:endParaRPr lang="zh-CN" altLang="en-US" sz="1500" b="1">
              <a:solidFill>
                <a:srgbClr val="000000"/>
              </a:solidFill>
              <a:highlight>
                <a:srgbClr val="FFFF00"/>
              </a:highlight>
              <a:latin typeface="Arial" panose="020B0604020202020204"/>
              <a:ea typeface="微软雅黑" panose="020B0503020204020204" charset="-122"/>
              <a:cs typeface="微软雅黑" panose="020B0503020204020204" charset="-122"/>
            </a:endParaRPr>
          </a:p>
          <a:p>
            <a:pPr algn="ctr">
              <a:defRPr sz="1600" b="0">
                <a:solidFill>
                  <a:srgbClr val="000000"/>
                </a:solidFill>
                <a:latin typeface="Arial" panose="020B0604020202020204"/>
                <a:ea typeface="微软雅黑" panose="020B0503020204020204" charset="-122"/>
                <a:cs typeface="微软雅黑" panose="020B0503020204020204" charset="-122"/>
              </a:defRPr>
            </a:pPr>
            <a:r>
              <a:rPr lang="zh-CN" altLang="en-US" sz="1500" b="1">
                <a:solidFill>
                  <a:srgbClr val="000000"/>
                </a:solidFill>
                <a:highlight>
                  <a:srgbClr val="FFFF00"/>
                </a:highlight>
                <a:latin typeface="Arial" panose="020B0604020202020204"/>
                <a:ea typeface="微软雅黑" panose="020B0503020204020204" charset="-122"/>
                <a:cs typeface="微软雅黑" panose="020B0503020204020204" charset="-122"/>
              </a:rPr>
              <a:t>二者共同为 </a:t>
            </a:r>
            <a:r>
              <a:rPr lang="en-US" altLang="zh-CN" sz="1500" b="1">
                <a:solidFill>
                  <a:srgbClr val="000000"/>
                </a:solidFill>
                <a:highlight>
                  <a:srgbClr val="FFFF00"/>
                </a:highlight>
                <a:latin typeface="Arial" panose="020B0604020202020204"/>
                <a:ea typeface="微软雅黑" panose="020B0503020204020204" charset="-122"/>
                <a:cs typeface="微软雅黑" panose="020B0503020204020204" charset="-122"/>
              </a:rPr>
              <a:t>STDP </a:t>
            </a:r>
            <a:r>
              <a:rPr lang="zh-CN" altLang="en-US" sz="1500" b="1">
                <a:solidFill>
                  <a:srgbClr val="000000"/>
                </a:solidFill>
                <a:highlight>
                  <a:srgbClr val="FFFF00"/>
                </a:highlight>
                <a:latin typeface="Arial" panose="020B0604020202020204"/>
                <a:ea typeface="微软雅黑" panose="020B0503020204020204" charset="-122"/>
                <a:cs typeface="微软雅黑" panose="020B0503020204020204" charset="-122"/>
              </a:rPr>
              <a:t>提取自然图像特征提供条件</a:t>
            </a:r>
            <a:endParaRPr sz="1500" b="1">
              <a:solidFill>
                <a:srgbClr val="000000"/>
              </a:solidFill>
              <a:highlight>
                <a:srgbClr val="FFFF00"/>
              </a:highlight>
              <a:latin typeface="Arial" panose="020B0604020202020204"/>
              <a:ea typeface="微软雅黑" panose="020B0503020204020204" charset="-122"/>
              <a:cs typeface="微软雅黑" panose="020B0503020204020204" charset="-122"/>
            </a:endParaRPr>
          </a:p>
        </p:txBody>
      </p:sp>
      <p:pic>
        <p:nvPicPr>
          <p:cNvPr id="20" name="图片 19"/>
          <p:cNvPicPr>
            <a:picLocks noChangeAspect="1"/>
          </p:cNvPicPr>
          <p:nvPr/>
        </p:nvPicPr>
        <p:blipFill>
          <a:blip r:embed="rId7"/>
          <a:stretch>
            <a:fillRect/>
          </a:stretch>
        </p:blipFill>
        <p:spPr>
          <a:xfrm>
            <a:off x="6445250" y="2136140"/>
            <a:ext cx="2057400" cy="100965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p:cNvSpPr>
            <a:spLocks noGrp="1"/>
          </p:cNvSpPr>
          <p:nvPr/>
        </p:nvSpPr>
        <p:spPr>
          <a:xfrm>
            <a:off x="457200" y="266700"/>
            <a:ext cx="10334625" cy="523875"/>
          </a:xfrm>
          <a:prstGeom prst="rect">
            <a:avLst/>
          </a:prstGeom>
          <a:noFill/>
          <a:ln w="0">
            <a:noFill/>
          </a:ln>
        </p:spPr>
        <p:txBody>
          <a:bodyPr wrap="square" lIns="0" tIns="0" rIns="0" bIns="0" anchor="t">
            <a:noAutofit/>
          </a:bodyPr>
          <a:lstStyle>
            <a:defPPr>
              <a:defRPr sz="2400" b="1">
                <a:solidFill>
                  <a:srgbClr val="000000"/>
                </a:solidFill>
                <a:latin typeface="Arial" panose="020B0604020202020204"/>
                <a:ea typeface="微软雅黑" panose="020B0503020204020204" charset="-122"/>
                <a:cs typeface="微软雅黑" panose="020B0503020204020204" charset="-122"/>
              </a:defRPr>
            </a:defPPr>
            <a:lvl1pPr>
              <a:defRPr sz="2400" b="1">
                <a:solidFill>
                  <a:srgbClr val="000000"/>
                </a:solidFill>
                <a:latin typeface="Arial" panose="020B0604020202020204"/>
                <a:ea typeface="微软雅黑" panose="020B0503020204020204" charset="-122"/>
                <a:cs typeface="微软雅黑" panose="020B0503020204020204" charset="-122"/>
              </a:defRPr>
            </a:lvl1pPr>
            <a:lvl2pPr>
              <a:defRPr sz="2400" b="1">
                <a:solidFill>
                  <a:srgbClr val="000000"/>
                </a:solidFill>
                <a:latin typeface="Arial" panose="020B0604020202020204"/>
                <a:ea typeface="微软雅黑" panose="020B0503020204020204" charset="-122"/>
                <a:cs typeface="微软雅黑" panose="020B0503020204020204" charset="-122"/>
              </a:defRPr>
            </a:lvl2pPr>
            <a:lvl3pPr>
              <a:defRPr sz="2400" b="1">
                <a:solidFill>
                  <a:srgbClr val="000000"/>
                </a:solidFill>
                <a:latin typeface="Arial" panose="020B0604020202020204"/>
                <a:ea typeface="微软雅黑" panose="020B0503020204020204" charset="-122"/>
                <a:cs typeface="微软雅黑" panose="020B0503020204020204" charset="-122"/>
              </a:defRPr>
            </a:lvl3pPr>
            <a:lvl4pPr>
              <a:defRPr sz="2400" b="1">
                <a:solidFill>
                  <a:srgbClr val="000000"/>
                </a:solidFill>
                <a:latin typeface="Arial" panose="020B0604020202020204"/>
                <a:ea typeface="微软雅黑" panose="020B0503020204020204" charset="-122"/>
                <a:cs typeface="微软雅黑" panose="020B0503020204020204" charset="-122"/>
              </a:defRPr>
            </a:lvl4pPr>
            <a:lvl5pPr>
              <a:defRPr sz="2400" b="1">
                <a:solidFill>
                  <a:srgbClr val="000000"/>
                </a:solidFill>
                <a:latin typeface="Arial" panose="020B0604020202020204"/>
                <a:ea typeface="微软雅黑" panose="020B0503020204020204" charset="-122"/>
                <a:cs typeface="微软雅黑" panose="020B0503020204020204" charset="-122"/>
              </a:defRPr>
            </a:lvl5pPr>
            <a:lvl6pPr>
              <a:defRPr sz="2400" b="1">
                <a:solidFill>
                  <a:srgbClr val="000000"/>
                </a:solidFill>
                <a:latin typeface="Arial" panose="020B0604020202020204"/>
                <a:ea typeface="微软雅黑" panose="020B0503020204020204" charset="-122"/>
                <a:cs typeface="微软雅黑" panose="020B0503020204020204" charset="-122"/>
              </a:defRPr>
            </a:lvl6pPr>
            <a:lvl7pPr>
              <a:defRPr sz="2400" b="1">
                <a:solidFill>
                  <a:srgbClr val="000000"/>
                </a:solidFill>
                <a:latin typeface="Arial" panose="020B0604020202020204"/>
                <a:ea typeface="微软雅黑" panose="020B0503020204020204" charset="-122"/>
                <a:cs typeface="微软雅黑" panose="020B0503020204020204" charset="-122"/>
              </a:defRPr>
            </a:lvl7pPr>
            <a:lvl8pPr>
              <a:defRPr sz="2400" b="1">
                <a:solidFill>
                  <a:srgbClr val="000000"/>
                </a:solidFill>
                <a:latin typeface="Arial" panose="020B0604020202020204"/>
                <a:ea typeface="微软雅黑" panose="020B0503020204020204" charset="-122"/>
                <a:cs typeface="微软雅黑" panose="020B0503020204020204" charset="-122"/>
              </a:defRPr>
            </a:lvl8pPr>
            <a:lvl9pPr>
              <a:defRPr sz="2400" b="1">
                <a:solidFill>
                  <a:srgbClr val="000000"/>
                </a:solidFill>
                <a:latin typeface="Arial" panose="020B0604020202020204"/>
                <a:ea typeface="微软雅黑" panose="020B0503020204020204" charset="-122"/>
                <a:cs typeface="微软雅黑" panose="020B0503020204020204" charset="-122"/>
              </a:defRPr>
            </a:lvl9pPr>
          </a:lstStyle>
          <a:p>
            <a:pPr>
              <a:defRPr sz="2400" b="1">
                <a:solidFill>
                  <a:srgbClr val="000000"/>
                </a:solidFill>
                <a:latin typeface="Arial" panose="020B0604020202020204"/>
                <a:ea typeface="微软雅黑" panose="020B0503020204020204" charset="-122"/>
                <a:cs typeface="微软雅黑" panose="020B0503020204020204" charset="-122"/>
              </a:defRPr>
            </a:pPr>
            <a:r>
              <a:rPr sz="2400" b="1">
                <a:solidFill>
                  <a:srgbClr val="000000"/>
                </a:solidFill>
                <a:latin typeface="Arial" panose="020B0604020202020204"/>
                <a:ea typeface="微软雅黑" panose="020B0503020204020204" charset="-122"/>
                <a:cs typeface="微软雅黑" panose="020B0503020204020204" charset="-122"/>
              </a:rPr>
              <a:t>保留完整抑制机制时的偏好朝向与</a:t>
            </a:r>
            <a:r>
              <a:rPr lang="zh-CN" sz="2400" b="1">
                <a:solidFill>
                  <a:srgbClr val="000000"/>
                </a:solidFill>
                <a:latin typeface="Arial" panose="020B0604020202020204"/>
                <a:ea typeface="微软雅黑" panose="020B0503020204020204" charset="-122"/>
                <a:cs typeface="微软雅黑" panose="020B0503020204020204" charset="-122"/>
              </a:rPr>
              <a:t>偏好</a:t>
            </a:r>
            <a:r>
              <a:rPr sz="2400" b="1">
                <a:solidFill>
                  <a:srgbClr val="000000"/>
                </a:solidFill>
                <a:latin typeface="Arial" panose="020B0604020202020204"/>
                <a:ea typeface="微软雅黑" panose="020B0503020204020204" charset="-122"/>
                <a:cs typeface="微软雅黑" panose="020B0503020204020204" charset="-122"/>
              </a:rPr>
              <a:t>空间频率</a:t>
            </a:r>
            <a:endParaRPr sz="2400" b="1">
              <a:solidFill>
                <a:srgbClr val="000000"/>
              </a:solidFill>
              <a:latin typeface="Arial" panose="020B0604020202020204"/>
              <a:ea typeface="微软雅黑" panose="020B0503020204020204" charset="-122"/>
              <a:cs typeface="微软雅黑" panose="020B0503020204020204" charset="-122"/>
            </a:endParaRPr>
          </a:p>
        </p:txBody>
      </p:sp>
      <p:pic>
        <p:nvPicPr>
          <p:cNvPr id="2" name="图片 1"/>
          <p:cNvPicPr>
            <a:picLocks noChangeAspect="1"/>
          </p:cNvPicPr>
          <p:nvPr/>
        </p:nvPicPr>
        <p:blipFill>
          <a:blip r:embed="rId1"/>
          <a:stretch>
            <a:fillRect/>
          </a:stretch>
        </p:blipFill>
        <p:spPr>
          <a:xfrm>
            <a:off x="10921365" y="0"/>
            <a:ext cx="1270635" cy="1270635"/>
          </a:xfrm>
          <a:prstGeom prst="rect">
            <a:avLst/>
          </a:prstGeom>
        </p:spPr>
      </p:pic>
      <p:sp>
        <p:nvSpPr>
          <p:cNvPr id="3" name="AD（完整机制）"/>
          <p:cNvSpPr>
            <a:spLocks noGrp="1"/>
          </p:cNvSpPr>
          <p:nvPr/>
        </p:nvSpPr>
        <p:spPr>
          <a:xfrm>
            <a:off x="85725" y="914400"/>
            <a:ext cx="2262188" cy="266700"/>
          </a:xfrm>
          <a:prstGeom prst="rect">
            <a:avLst/>
          </a:prstGeom>
          <a:noFill/>
          <a:ln w="0">
            <a:noFill/>
          </a:ln>
        </p:spPr>
        <p:txBody>
          <a:bodyPr wrap="square" lIns="0" tIns="0" rIns="0" bIns="0" anchor="t">
            <a:noAutofit/>
          </a:bodyPr>
          <a:lstStyle>
            <a:defPPr>
              <a:defRPr sz="1350" b="1">
                <a:solidFill>
                  <a:srgbClr val="000000"/>
                </a:solidFill>
                <a:latin typeface="Arial" panose="020B0604020202020204"/>
                <a:ea typeface="微软雅黑" panose="020B0503020204020204" charset="-122"/>
                <a:cs typeface="微软雅黑" panose="020B0503020204020204" charset="-122"/>
              </a:defRPr>
            </a:defPPr>
            <a:lvl1pPr>
              <a:defRPr sz="1350" b="1">
                <a:solidFill>
                  <a:srgbClr val="000000"/>
                </a:solidFill>
                <a:latin typeface="Arial" panose="020B0604020202020204"/>
                <a:ea typeface="微软雅黑" panose="020B0503020204020204" charset="-122"/>
                <a:cs typeface="微软雅黑" panose="020B0503020204020204" charset="-122"/>
              </a:defRPr>
            </a:lvl1pPr>
            <a:lvl2pPr>
              <a:defRPr sz="1350" b="1">
                <a:solidFill>
                  <a:srgbClr val="000000"/>
                </a:solidFill>
                <a:latin typeface="Arial" panose="020B0604020202020204"/>
                <a:ea typeface="微软雅黑" panose="020B0503020204020204" charset="-122"/>
                <a:cs typeface="微软雅黑" panose="020B0503020204020204" charset="-122"/>
              </a:defRPr>
            </a:lvl2pPr>
            <a:lvl3pPr>
              <a:defRPr sz="1350" b="1">
                <a:solidFill>
                  <a:srgbClr val="000000"/>
                </a:solidFill>
                <a:latin typeface="Arial" panose="020B0604020202020204"/>
                <a:ea typeface="微软雅黑" panose="020B0503020204020204" charset="-122"/>
                <a:cs typeface="微软雅黑" panose="020B0503020204020204" charset="-122"/>
              </a:defRPr>
            </a:lvl3pPr>
            <a:lvl4pPr>
              <a:defRPr sz="1350" b="1">
                <a:solidFill>
                  <a:srgbClr val="000000"/>
                </a:solidFill>
                <a:latin typeface="Arial" panose="020B0604020202020204"/>
                <a:ea typeface="微软雅黑" panose="020B0503020204020204" charset="-122"/>
                <a:cs typeface="微软雅黑" panose="020B0503020204020204" charset="-122"/>
              </a:defRPr>
            </a:lvl4pPr>
            <a:lvl5pPr>
              <a:defRPr sz="1350" b="1">
                <a:solidFill>
                  <a:srgbClr val="000000"/>
                </a:solidFill>
                <a:latin typeface="Arial" panose="020B0604020202020204"/>
                <a:ea typeface="微软雅黑" panose="020B0503020204020204" charset="-122"/>
                <a:cs typeface="微软雅黑" panose="020B0503020204020204" charset="-122"/>
              </a:defRPr>
            </a:lvl5pPr>
            <a:lvl6pPr>
              <a:defRPr sz="1350" b="1">
                <a:solidFill>
                  <a:srgbClr val="000000"/>
                </a:solidFill>
                <a:latin typeface="Arial" panose="020B0604020202020204"/>
                <a:ea typeface="微软雅黑" panose="020B0503020204020204" charset="-122"/>
                <a:cs typeface="微软雅黑" panose="020B0503020204020204" charset="-122"/>
              </a:defRPr>
            </a:lvl6pPr>
            <a:lvl7pPr>
              <a:defRPr sz="1350" b="1">
                <a:solidFill>
                  <a:srgbClr val="000000"/>
                </a:solidFill>
                <a:latin typeface="Arial" panose="020B0604020202020204"/>
                <a:ea typeface="微软雅黑" panose="020B0503020204020204" charset="-122"/>
                <a:cs typeface="微软雅黑" panose="020B0503020204020204" charset="-122"/>
              </a:defRPr>
            </a:lvl7pPr>
            <a:lvl8pPr>
              <a:defRPr sz="1350" b="1">
                <a:solidFill>
                  <a:srgbClr val="000000"/>
                </a:solidFill>
                <a:latin typeface="Arial" panose="020B0604020202020204"/>
                <a:ea typeface="微软雅黑" panose="020B0503020204020204" charset="-122"/>
                <a:cs typeface="微软雅黑" panose="020B0503020204020204" charset="-122"/>
              </a:defRPr>
            </a:lvl8pPr>
            <a:lvl9pPr>
              <a:defRPr sz="1350" b="1">
                <a:solidFill>
                  <a:srgbClr val="000000"/>
                </a:solidFill>
                <a:latin typeface="Arial" panose="020B0604020202020204"/>
                <a:ea typeface="微软雅黑" panose="020B0503020204020204" charset="-122"/>
                <a:cs typeface="微软雅黑" panose="020B0503020204020204" charset="-122"/>
              </a:defRPr>
            </a:lvl9pPr>
          </a:lstStyle>
          <a:p>
            <a:pPr algn="ctr">
              <a:defRPr sz="1350" b="1">
                <a:solidFill>
                  <a:srgbClr val="000000"/>
                </a:solidFill>
                <a:latin typeface="Arial" panose="020B0604020202020204"/>
                <a:ea typeface="微软雅黑" panose="020B0503020204020204" charset="-122"/>
                <a:cs typeface="微软雅黑" panose="020B0503020204020204" charset="-122"/>
              </a:defRPr>
            </a:pPr>
            <a:r>
              <a:rPr sz="1350" b="1">
                <a:solidFill>
                  <a:srgbClr val="000000"/>
                </a:solidFill>
                <a:latin typeface="Arial" panose="020B0604020202020204"/>
                <a:ea typeface="微软雅黑" panose="020B0503020204020204" charset="-122"/>
                <a:cs typeface="微软雅黑" panose="020B0503020204020204" charset="-122"/>
              </a:rPr>
              <a:t>AD</a:t>
            </a:r>
            <a:endParaRPr sz="1350" b="1">
              <a:solidFill>
                <a:srgbClr val="000000"/>
              </a:solidFill>
              <a:latin typeface="Arial" panose="020B0604020202020204"/>
              <a:ea typeface="微软雅黑" panose="020B0503020204020204" charset="-122"/>
              <a:cs typeface="微软雅黑" panose="020B0503020204020204" charset="-122"/>
            </a:endParaRPr>
          </a:p>
          <a:p>
            <a:pPr algn="ctr">
              <a:defRPr sz="1350" b="1">
                <a:solidFill>
                  <a:srgbClr val="000000"/>
                </a:solidFill>
                <a:latin typeface="Arial" panose="020B0604020202020204"/>
                <a:ea typeface="微软雅黑" panose="020B0503020204020204" charset="-122"/>
                <a:cs typeface="微软雅黑" panose="020B0503020204020204" charset="-122"/>
              </a:defRPr>
            </a:pPr>
            <a:r>
              <a:rPr sz="1350" b="1">
                <a:solidFill>
                  <a:srgbClr val="000000"/>
                </a:solidFill>
                <a:latin typeface="Arial" panose="020B0604020202020204"/>
                <a:ea typeface="微软雅黑" panose="020B0503020204020204" charset="-122"/>
                <a:cs typeface="微软雅黑" panose="020B0503020204020204" charset="-122"/>
              </a:rPr>
              <a:t>（</a:t>
            </a:r>
            <a:r>
              <a:rPr lang="en-US" sz="1350" b="1">
                <a:solidFill>
                  <a:srgbClr val="000000"/>
                </a:solidFill>
                <a:latin typeface="Arial" panose="020B0604020202020204"/>
                <a:ea typeface="微软雅黑" panose="020B0503020204020204" charset="-122"/>
                <a:cs typeface="微软雅黑" panose="020B0503020204020204" charset="-122"/>
              </a:rPr>
              <a:t>Baseline</a:t>
            </a:r>
            <a:r>
              <a:rPr sz="1350" b="1">
                <a:solidFill>
                  <a:srgbClr val="000000"/>
                </a:solidFill>
                <a:latin typeface="Arial" panose="020B0604020202020204"/>
                <a:ea typeface="微软雅黑" panose="020B0503020204020204" charset="-122"/>
                <a:cs typeface="微软雅黑" panose="020B0503020204020204" charset="-122"/>
              </a:rPr>
              <a:t>）</a:t>
            </a:r>
            <a:endParaRPr sz="1350" b="1">
              <a:solidFill>
                <a:srgbClr val="000000"/>
              </a:solidFill>
              <a:latin typeface="Arial" panose="020B0604020202020204"/>
              <a:ea typeface="微软雅黑" panose="020B0503020204020204" charset="-122"/>
              <a:cs typeface="微软雅黑" panose="020B0503020204020204" charset="-122"/>
            </a:endParaRPr>
          </a:p>
        </p:txBody>
      </p:sp>
      <p:pic>
        <p:nvPicPr>
          <p:cNvPr id="4" name="图片 3"/>
          <p:cNvPicPr>
            <a:picLocks noChangeAspect="1"/>
          </p:cNvPicPr>
          <p:nvPr/>
        </p:nvPicPr>
        <p:blipFill>
          <a:blip r:embed="rId2"/>
          <a:stretch>
            <a:fillRect/>
          </a:stretch>
        </p:blipFill>
        <p:spPr>
          <a:xfrm>
            <a:off x="66675" y="1321316"/>
            <a:ext cx="2262188" cy="1891268"/>
          </a:xfrm>
          <a:prstGeom prst="rect">
            <a:avLst/>
          </a:prstGeom>
        </p:spPr>
      </p:pic>
      <p:pic>
        <p:nvPicPr>
          <p:cNvPr id="5" name="图片 4"/>
          <p:cNvPicPr>
            <a:picLocks noChangeAspect="1"/>
          </p:cNvPicPr>
          <p:nvPr/>
        </p:nvPicPr>
        <p:blipFill>
          <a:blip r:embed="rId3"/>
          <a:stretch>
            <a:fillRect/>
          </a:stretch>
        </p:blipFill>
        <p:spPr>
          <a:xfrm>
            <a:off x="66675" y="3636283"/>
            <a:ext cx="2262187" cy="1871433"/>
          </a:xfrm>
          <a:prstGeom prst="rect">
            <a:avLst/>
          </a:prstGeom>
        </p:spPr>
      </p:pic>
      <p:sp>
        <p:nvSpPr>
          <p:cNvPr id="6" name="AE（L1 off）"/>
          <p:cNvSpPr>
            <a:spLocks noGrp="1"/>
          </p:cNvSpPr>
          <p:nvPr/>
        </p:nvSpPr>
        <p:spPr>
          <a:xfrm>
            <a:off x="2462213" y="914400"/>
            <a:ext cx="2262188" cy="266700"/>
          </a:xfrm>
          <a:prstGeom prst="rect">
            <a:avLst/>
          </a:prstGeom>
          <a:noFill/>
          <a:ln w="0">
            <a:noFill/>
          </a:ln>
        </p:spPr>
        <p:txBody>
          <a:bodyPr wrap="square" lIns="0" tIns="0" rIns="0" bIns="0" anchor="t">
            <a:noAutofit/>
          </a:bodyPr>
          <a:lstStyle>
            <a:defPPr>
              <a:defRPr sz="1350" b="1">
                <a:solidFill>
                  <a:srgbClr val="000000"/>
                </a:solidFill>
                <a:latin typeface="Arial" panose="020B0604020202020204"/>
                <a:ea typeface="微软雅黑" panose="020B0503020204020204" charset="-122"/>
                <a:cs typeface="微软雅黑" panose="020B0503020204020204" charset="-122"/>
              </a:defRPr>
            </a:defPPr>
            <a:lvl1pPr>
              <a:defRPr sz="1350" b="1">
                <a:solidFill>
                  <a:srgbClr val="000000"/>
                </a:solidFill>
                <a:latin typeface="Arial" panose="020B0604020202020204"/>
                <a:ea typeface="微软雅黑" panose="020B0503020204020204" charset="-122"/>
                <a:cs typeface="微软雅黑" panose="020B0503020204020204" charset="-122"/>
              </a:defRPr>
            </a:lvl1pPr>
            <a:lvl2pPr>
              <a:defRPr sz="1350" b="1">
                <a:solidFill>
                  <a:srgbClr val="000000"/>
                </a:solidFill>
                <a:latin typeface="Arial" panose="020B0604020202020204"/>
                <a:ea typeface="微软雅黑" panose="020B0503020204020204" charset="-122"/>
                <a:cs typeface="微软雅黑" panose="020B0503020204020204" charset="-122"/>
              </a:defRPr>
            </a:lvl2pPr>
            <a:lvl3pPr>
              <a:defRPr sz="1350" b="1">
                <a:solidFill>
                  <a:srgbClr val="000000"/>
                </a:solidFill>
                <a:latin typeface="Arial" panose="020B0604020202020204"/>
                <a:ea typeface="微软雅黑" panose="020B0503020204020204" charset="-122"/>
                <a:cs typeface="微软雅黑" panose="020B0503020204020204" charset="-122"/>
              </a:defRPr>
            </a:lvl3pPr>
            <a:lvl4pPr>
              <a:defRPr sz="1350" b="1">
                <a:solidFill>
                  <a:srgbClr val="000000"/>
                </a:solidFill>
                <a:latin typeface="Arial" panose="020B0604020202020204"/>
                <a:ea typeface="微软雅黑" panose="020B0503020204020204" charset="-122"/>
                <a:cs typeface="微软雅黑" panose="020B0503020204020204" charset="-122"/>
              </a:defRPr>
            </a:lvl4pPr>
            <a:lvl5pPr>
              <a:defRPr sz="1350" b="1">
                <a:solidFill>
                  <a:srgbClr val="000000"/>
                </a:solidFill>
                <a:latin typeface="Arial" panose="020B0604020202020204"/>
                <a:ea typeface="微软雅黑" panose="020B0503020204020204" charset="-122"/>
                <a:cs typeface="微软雅黑" panose="020B0503020204020204" charset="-122"/>
              </a:defRPr>
            </a:lvl5pPr>
            <a:lvl6pPr>
              <a:defRPr sz="1350" b="1">
                <a:solidFill>
                  <a:srgbClr val="000000"/>
                </a:solidFill>
                <a:latin typeface="Arial" panose="020B0604020202020204"/>
                <a:ea typeface="微软雅黑" panose="020B0503020204020204" charset="-122"/>
                <a:cs typeface="微软雅黑" panose="020B0503020204020204" charset="-122"/>
              </a:defRPr>
            </a:lvl6pPr>
            <a:lvl7pPr>
              <a:defRPr sz="1350" b="1">
                <a:solidFill>
                  <a:srgbClr val="000000"/>
                </a:solidFill>
                <a:latin typeface="Arial" panose="020B0604020202020204"/>
                <a:ea typeface="微软雅黑" panose="020B0503020204020204" charset="-122"/>
                <a:cs typeface="微软雅黑" panose="020B0503020204020204" charset="-122"/>
              </a:defRPr>
            </a:lvl7pPr>
            <a:lvl8pPr>
              <a:defRPr sz="1350" b="1">
                <a:solidFill>
                  <a:srgbClr val="000000"/>
                </a:solidFill>
                <a:latin typeface="Arial" panose="020B0604020202020204"/>
                <a:ea typeface="微软雅黑" panose="020B0503020204020204" charset="-122"/>
                <a:cs typeface="微软雅黑" panose="020B0503020204020204" charset="-122"/>
              </a:defRPr>
            </a:lvl8pPr>
            <a:lvl9pPr>
              <a:defRPr sz="1350" b="1">
                <a:solidFill>
                  <a:srgbClr val="000000"/>
                </a:solidFill>
                <a:latin typeface="Arial" panose="020B0604020202020204"/>
                <a:ea typeface="微软雅黑" panose="020B0503020204020204" charset="-122"/>
                <a:cs typeface="微软雅黑" panose="020B0503020204020204" charset="-122"/>
              </a:defRPr>
            </a:lvl9pPr>
          </a:lstStyle>
          <a:p>
            <a:pPr algn="ctr">
              <a:defRPr sz="1350" b="1">
                <a:solidFill>
                  <a:srgbClr val="000000"/>
                </a:solidFill>
                <a:latin typeface="Arial" panose="020B0604020202020204"/>
                <a:ea typeface="微软雅黑" panose="020B0503020204020204" charset="-122"/>
                <a:cs typeface="微软雅黑" panose="020B0503020204020204" charset="-122"/>
              </a:defRPr>
            </a:pPr>
            <a:r>
              <a:rPr sz="1350" b="1">
                <a:solidFill>
                  <a:srgbClr val="000000"/>
                </a:solidFill>
                <a:latin typeface="Arial" panose="020B0604020202020204"/>
                <a:ea typeface="微软雅黑" panose="020B0503020204020204" charset="-122"/>
                <a:cs typeface="微软雅黑" panose="020B0503020204020204" charset="-122"/>
              </a:rPr>
              <a:t>AE</a:t>
            </a:r>
            <a:endParaRPr sz="1350" b="1">
              <a:solidFill>
                <a:srgbClr val="000000"/>
              </a:solidFill>
              <a:latin typeface="Arial" panose="020B0604020202020204"/>
              <a:ea typeface="微软雅黑" panose="020B0503020204020204" charset="-122"/>
              <a:cs typeface="微软雅黑" panose="020B0503020204020204" charset="-122"/>
            </a:endParaRPr>
          </a:p>
          <a:p>
            <a:pPr algn="ctr">
              <a:defRPr sz="1350" b="1">
                <a:solidFill>
                  <a:srgbClr val="000000"/>
                </a:solidFill>
                <a:latin typeface="Arial" panose="020B0604020202020204"/>
                <a:ea typeface="微软雅黑" panose="020B0503020204020204" charset="-122"/>
                <a:cs typeface="微软雅黑" panose="020B0503020204020204" charset="-122"/>
              </a:defRPr>
            </a:pPr>
            <a:r>
              <a:rPr lang="en-US" sz="1350" b="1">
                <a:solidFill>
                  <a:srgbClr val="000000"/>
                </a:solidFill>
                <a:latin typeface="Arial" panose="020B0604020202020204"/>
                <a:ea typeface="微软雅黑" panose="020B0503020204020204" charset="-122"/>
                <a:cs typeface="微软雅黑" panose="020B0503020204020204" charset="-122"/>
              </a:rPr>
              <a:t>(</a:t>
            </a:r>
            <a:r>
              <a:rPr sz="1350" b="1">
                <a:solidFill>
                  <a:srgbClr val="000000"/>
                </a:solidFill>
                <a:latin typeface="Arial" panose="020B0604020202020204"/>
                <a:ea typeface="微软雅黑" panose="020B0503020204020204" charset="-122"/>
                <a:cs typeface="微软雅黑" panose="020B0503020204020204" charset="-122"/>
              </a:rPr>
              <a:t>L1 off）</a:t>
            </a:r>
            <a:endParaRPr sz="1350" b="1">
              <a:solidFill>
                <a:srgbClr val="000000"/>
              </a:solidFill>
              <a:latin typeface="Arial" panose="020B0604020202020204"/>
              <a:ea typeface="微软雅黑" panose="020B0503020204020204" charset="-122"/>
              <a:cs typeface="微软雅黑" panose="020B0503020204020204" charset="-122"/>
            </a:endParaRPr>
          </a:p>
        </p:txBody>
      </p:sp>
      <p:pic>
        <p:nvPicPr>
          <p:cNvPr id="7" name="图片 6"/>
          <p:cNvPicPr>
            <a:picLocks noChangeAspect="1"/>
          </p:cNvPicPr>
          <p:nvPr/>
        </p:nvPicPr>
        <p:blipFill>
          <a:blip r:embed="rId4"/>
          <a:stretch>
            <a:fillRect/>
          </a:stretch>
        </p:blipFill>
        <p:spPr>
          <a:xfrm>
            <a:off x="2443163" y="1322726"/>
            <a:ext cx="2262188" cy="1888447"/>
          </a:xfrm>
          <a:prstGeom prst="rect">
            <a:avLst/>
          </a:prstGeom>
        </p:spPr>
      </p:pic>
      <p:pic>
        <p:nvPicPr>
          <p:cNvPr id="8" name="图片 7"/>
          <p:cNvPicPr>
            <a:picLocks noChangeAspect="1"/>
          </p:cNvPicPr>
          <p:nvPr/>
        </p:nvPicPr>
        <p:blipFill>
          <a:blip r:embed="rId5"/>
          <a:stretch>
            <a:fillRect/>
          </a:stretch>
        </p:blipFill>
        <p:spPr>
          <a:xfrm>
            <a:off x="2443163" y="3633045"/>
            <a:ext cx="2262187" cy="1877910"/>
          </a:xfrm>
          <a:prstGeom prst="rect">
            <a:avLst/>
          </a:prstGeom>
        </p:spPr>
      </p:pic>
      <p:sp>
        <p:nvSpPr>
          <p:cNvPr id="9" name="AF（阈值适应 off）"/>
          <p:cNvSpPr>
            <a:spLocks noGrp="1"/>
          </p:cNvSpPr>
          <p:nvPr/>
        </p:nvSpPr>
        <p:spPr>
          <a:xfrm>
            <a:off x="4838700" y="914400"/>
            <a:ext cx="2262188" cy="266700"/>
          </a:xfrm>
          <a:prstGeom prst="rect">
            <a:avLst/>
          </a:prstGeom>
          <a:noFill/>
          <a:ln w="0">
            <a:noFill/>
          </a:ln>
        </p:spPr>
        <p:txBody>
          <a:bodyPr wrap="square" lIns="0" tIns="0" rIns="0" bIns="0" anchor="t">
            <a:noAutofit/>
          </a:bodyPr>
          <a:lstStyle>
            <a:defPPr>
              <a:defRPr sz="1350" b="1">
                <a:solidFill>
                  <a:srgbClr val="000000"/>
                </a:solidFill>
                <a:latin typeface="Arial" panose="020B0604020202020204"/>
                <a:ea typeface="微软雅黑" panose="020B0503020204020204" charset="-122"/>
                <a:cs typeface="微软雅黑" panose="020B0503020204020204" charset="-122"/>
              </a:defRPr>
            </a:defPPr>
            <a:lvl1pPr>
              <a:defRPr sz="1350" b="1">
                <a:solidFill>
                  <a:srgbClr val="000000"/>
                </a:solidFill>
                <a:latin typeface="Arial" panose="020B0604020202020204"/>
                <a:ea typeface="微软雅黑" panose="020B0503020204020204" charset="-122"/>
                <a:cs typeface="微软雅黑" panose="020B0503020204020204" charset="-122"/>
              </a:defRPr>
            </a:lvl1pPr>
            <a:lvl2pPr>
              <a:defRPr sz="1350" b="1">
                <a:solidFill>
                  <a:srgbClr val="000000"/>
                </a:solidFill>
                <a:latin typeface="Arial" panose="020B0604020202020204"/>
                <a:ea typeface="微软雅黑" panose="020B0503020204020204" charset="-122"/>
                <a:cs typeface="微软雅黑" panose="020B0503020204020204" charset="-122"/>
              </a:defRPr>
            </a:lvl2pPr>
            <a:lvl3pPr>
              <a:defRPr sz="1350" b="1">
                <a:solidFill>
                  <a:srgbClr val="000000"/>
                </a:solidFill>
                <a:latin typeface="Arial" panose="020B0604020202020204"/>
                <a:ea typeface="微软雅黑" panose="020B0503020204020204" charset="-122"/>
                <a:cs typeface="微软雅黑" panose="020B0503020204020204" charset="-122"/>
              </a:defRPr>
            </a:lvl3pPr>
            <a:lvl4pPr>
              <a:defRPr sz="1350" b="1">
                <a:solidFill>
                  <a:srgbClr val="000000"/>
                </a:solidFill>
                <a:latin typeface="Arial" panose="020B0604020202020204"/>
                <a:ea typeface="微软雅黑" panose="020B0503020204020204" charset="-122"/>
                <a:cs typeface="微软雅黑" panose="020B0503020204020204" charset="-122"/>
              </a:defRPr>
            </a:lvl4pPr>
            <a:lvl5pPr>
              <a:defRPr sz="1350" b="1">
                <a:solidFill>
                  <a:srgbClr val="000000"/>
                </a:solidFill>
                <a:latin typeface="Arial" panose="020B0604020202020204"/>
                <a:ea typeface="微软雅黑" panose="020B0503020204020204" charset="-122"/>
                <a:cs typeface="微软雅黑" panose="020B0503020204020204" charset="-122"/>
              </a:defRPr>
            </a:lvl5pPr>
            <a:lvl6pPr>
              <a:defRPr sz="1350" b="1">
                <a:solidFill>
                  <a:srgbClr val="000000"/>
                </a:solidFill>
                <a:latin typeface="Arial" panose="020B0604020202020204"/>
                <a:ea typeface="微软雅黑" panose="020B0503020204020204" charset="-122"/>
                <a:cs typeface="微软雅黑" panose="020B0503020204020204" charset="-122"/>
              </a:defRPr>
            </a:lvl6pPr>
            <a:lvl7pPr>
              <a:defRPr sz="1350" b="1">
                <a:solidFill>
                  <a:srgbClr val="000000"/>
                </a:solidFill>
                <a:latin typeface="Arial" panose="020B0604020202020204"/>
                <a:ea typeface="微软雅黑" panose="020B0503020204020204" charset="-122"/>
                <a:cs typeface="微软雅黑" panose="020B0503020204020204" charset="-122"/>
              </a:defRPr>
            </a:lvl7pPr>
            <a:lvl8pPr>
              <a:defRPr sz="1350" b="1">
                <a:solidFill>
                  <a:srgbClr val="000000"/>
                </a:solidFill>
                <a:latin typeface="Arial" panose="020B0604020202020204"/>
                <a:ea typeface="微软雅黑" panose="020B0503020204020204" charset="-122"/>
                <a:cs typeface="微软雅黑" panose="020B0503020204020204" charset="-122"/>
              </a:defRPr>
            </a:lvl8pPr>
            <a:lvl9pPr>
              <a:defRPr sz="1350" b="1">
                <a:solidFill>
                  <a:srgbClr val="000000"/>
                </a:solidFill>
                <a:latin typeface="Arial" panose="020B0604020202020204"/>
                <a:ea typeface="微软雅黑" panose="020B0503020204020204" charset="-122"/>
                <a:cs typeface="微软雅黑" panose="020B0503020204020204" charset="-122"/>
              </a:defRPr>
            </a:lvl9pPr>
          </a:lstStyle>
          <a:p>
            <a:pPr algn="ctr">
              <a:defRPr sz="1350" b="1">
                <a:solidFill>
                  <a:srgbClr val="000000"/>
                </a:solidFill>
                <a:latin typeface="Arial" panose="020B0604020202020204"/>
                <a:ea typeface="微软雅黑" panose="020B0503020204020204" charset="-122"/>
                <a:cs typeface="微软雅黑" panose="020B0503020204020204" charset="-122"/>
              </a:defRPr>
            </a:pPr>
            <a:r>
              <a:rPr>
                <a:sym typeface="+mn-ea"/>
              </a:rPr>
              <a:t>AF</a:t>
            </a:r>
            <a:endParaRPr>
              <a:sym typeface="+mn-ea"/>
            </a:endParaRPr>
          </a:p>
          <a:p>
            <a:pPr algn="ctr">
              <a:defRPr sz="1350" b="1">
                <a:solidFill>
                  <a:srgbClr val="000000"/>
                </a:solidFill>
                <a:latin typeface="Arial" panose="020B0604020202020204"/>
                <a:ea typeface="微软雅黑" panose="020B0503020204020204" charset="-122"/>
                <a:cs typeface="微软雅黑" panose="020B0503020204020204" charset="-122"/>
              </a:defRPr>
            </a:pPr>
            <a:r>
              <a:rPr>
                <a:sym typeface="+mn-ea"/>
              </a:rPr>
              <a:t>（</a:t>
            </a:r>
            <a:r>
              <a:rPr lang="en-US">
                <a:sym typeface="+mn-ea"/>
              </a:rPr>
              <a:t>Adaptive threshold</a:t>
            </a:r>
            <a:r>
              <a:rPr>
                <a:sym typeface="+mn-ea"/>
              </a:rPr>
              <a:t> off）</a:t>
            </a:r>
            <a:endParaRPr sz="1350" b="1">
              <a:solidFill>
                <a:srgbClr val="000000"/>
              </a:solidFill>
              <a:latin typeface="Arial" panose="020B0604020202020204"/>
              <a:ea typeface="微软雅黑" panose="020B0503020204020204" charset="-122"/>
              <a:cs typeface="微软雅黑" panose="020B0503020204020204" charset="-122"/>
            </a:endParaRPr>
          </a:p>
        </p:txBody>
      </p:sp>
      <p:pic>
        <p:nvPicPr>
          <p:cNvPr id="10" name="图片 9"/>
          <p:cNvPicPr>
            <a:picLocks noChangeAspect="1"/>
          </p:cNvPicPr>
          <p:nvPr/>
        </p:nvPicPr>
        <p:blipFill>
          <a:blip r:embed="rId6"/>
          <a:stretch>
            <a:fillRect/>
          </a:stretch>
        </p:blipFill>
        <p:spPr>
          <a:xfrm>
            <a:off x="4819650" y="1331233"/>
            <a:ext cx="2262187" cy="1871433"/>
          </a:xfrm>
          <a:prstGeom prst="rect">
            <a:avLst/>
          </a:prstGeom>
        </p:spPr>
      </p:pic>
      <p:pic>
        <p:nvPicPr>
          <p:cNvPr id="11" name="图片 10"/>
          <p:cNvPicPr>
            <a:picLocks noChangeAspect="1"/>
          </p:cNvPicPr>
          <p:nvPr/>
        </p:nvPicPr>
        <p:blipFill>
          <a:blip r:embed="rId7"/>
          <a:stretch>
            <a:fillRect/>
          </a:stretch>
        </p:blipFill>
        <p:spPr>
          <a:xfrm>
            <a:off x="4819650" y="3636283"/>
            <a:ext cx="2262187" cy="1871433"/>
          </a:xfrm>
          <a:prstGeom prst="rect">
            <a:avLst/>
          </a:prstGeom>
        </p:spPr>
      </p:pic>
      <p:sp>
        <p:nvSpPr>
          <p:cNvPr id="12" name="AG（两种稳态机制 off）"/>
          <p:cNvSpPr>
            <a:spLocks noGrp="1"/>
          </p:cNvSpPr>
          <p:nvPr/>
        </p:nvSpPr>
        <p:spPr>
          <a:xfrm>
            <a:off x="7015480" y="878205"/>
            <a:ext cx="2821305" cy="266700"/>
          </a:xfrm>
          <a:prstGeom prst="rect">
            <a:avLst/>
          </a:prstGeom>
          <a:noFill/>
          <a:ln w="0">
            <a:noFill/>
          </a:ln>
        </p:spPr>
        <p:txBody>
          <a:bodyPr wrap="square" lIns="0" tIns="0" rIns="0" bIns="0" anchor="t">
            <a:noAutofit/>
          </a:bodyPr>
          <a:lstStyle>
            <a:defPPr>
              <a:defRPr sz="1350" b="1">
                <a:solidFill>
                  <a:srgbClr val="000000"/>
                </a:solidFill>
                <a:latin typeface="Arial" panose="020B0604020202020204"/>
                <a:ea typeface="微软雅黑" panose="020B0503020204020204" charset="-122"/>
                <a:cs typeface="微软雅黑" panose="020B0503020204020204" charset="-122"/>
              </a:defRPr>
            </a:defPPr>
            <a:lvl1pPr>
              <a:defRPr sz="1350" b="1">
                <a:solidFill>
                  <a:srgbClr val="000000"/>
                </a:solidFill>
                <a:latin typeface="Arial" panose="020B0604020202020204"/>
                <a:ea typeface="微软雅黑" panose="020B0503020204020204" charset="-122"/>
                <a:cs typeface="微软雅黑" panose="020B0503020204020204" charset="-122"/>
              </a:defRPr>
            </a:lvl1pPr>
            <a:lvl2pPr>
              <a:defRPr sz="1350" b="1">
                <a:solidFill>
                  <a:srgbClr val="000000"/>
                </a:solidFill>
                <a:latin typeface="Arial" panose="020B0604020202020204"/>
                <a:ea typeface="微软雅黑" panose="020B0503020204020204" charset="-122"/>
                <a:cs typeface="微软雅黑" panose="020B0503020204020204" charset="-122"/>
              </a:defRPr>
            </a:lvl2pPr>
            <a:lvl3pPr>
              <a:defRPr sz="1350" b="1">
                <a:solidFill>
                  <a:srgbClr val="000000"/>
                </a:solidFill>
                <a:latin typeface="Arial" panose="020B0604020202020204"/>
                <a:ea typeface="微软雅黑" panose="020B0503020204020204" charset="-122"/>
                <a:cs typeface="微软雅黑" panose="020B0503020204020204" charset="-122"/>
              </a:defRPr>
            </a:lvl3pPr>
            <a:lvl4pPr>
              <a:defRPr sz="1350" b="1">
                <a:solidFill>
                  <a:srgbClr val="000000"/>
                </a:solidFill>
                <a:latin typeface="Arial" panose="020B0604020202020204"/>
                <a:ea typeface="微软雅黑" panose="020B0503020204020204" charset="-122"/>
                <a:cs typeface="微软雅黑" panose="020B0503020204020204" charset="-122"/>
              </a:defRPr>
            </a:lvl4pPr>
            <a:lvl5pPr>
              <a:defRPr sz="1350" b="1">
                <a:solidFill>
                  <a:srgbClr val="000000"/>
                </a:solidFill>
                <a:latin typeface="Arial" panose="020B0604020202020204"/>
                <a:ea typeface="微软雅黑" panose="020B0503020204020204" charset="-122"/>
                <a:cs typeface="微软雅黑" panose="020B0503020204020204" charset="-122"/>
              </a:defRPr>
            </a:lvl5pPr>
            <a:lvl6pPr>
              <a:defRPr sz="1350" b="1">
                <a:solidFill>
                  <a:srgbClr val="000000"/>
                </a:solidFill>
                <a:latin typeface="Arial" panose="020B0604020202020204"/>
                <a:ea typeface="微软雅黑" panose="020B0503020204020204" charset="-122"/>
                <a:cs typeface="微软雅黑" panose="020B0503020204020204" charset="-122"/>
              </a:defRPr>
            </a:lvl6pPr>
            <a:lvl7pPr>
              <a:defRPr sz="1350" b="1">
                <a:solidFill>
                  <a:srgbClr val="000000"/>
                </a:solidFill>
                <a:latin typeface="Arial" panose="020B0604020202020204"/>
                <a:ea typeface="微软雅黑" panose="020B0503020204020204" charset="-122"/>
                <a:cs typeface="微软雅黑" panose="020B0503020204020204" charset="-122"/>
              </a:defRPr>
            </a:lvl7pPr>
            <a:lvl8pPr>
              <a:defRPr sz="1350" b="1">
                <a:solidFill>
                  <a:srgbClr val="000000"/>
                </a:solidFill>
                <a:latin typeface="Arial" panose="020B0604020202020204"/>
                <a:ea typeface="微软雅黑" panose="020B0503020204020204" charset="-122"/>
                <a:cs typeface="微软雅黑" panose="020B0503020204020204" charset="-122"/>
              </a:defRPr>
            </a:lvl8pPr>
            <a:lvl9pPr>
              <a:defRPr sz="1350" b="1">
                <a:solidFill>
                  <a:srgbClr val="000000"/>
                </a:solidFill>
                <a:latin typeface="Arial" panose="020B0604020202020204"/>
                <a:ea typeface="微软雅黑" panose="020B0503020204020204" charset="-122"/>
                <a:cs typeface="微软雅黑" panose="020B0503020204020204" charset="-122"/>
              </a:defRPr>
            </a:lvl9pPr>
          </a:lstStyle>
          <a:p>
            <a:pPr algn="ctr">
              <a:defRPr sz="1350" b="1">
                <a:solidFill>
                  <a:srgbClr val="000000"/>
                </a:solidFill>
                <a:latin typeface="Arial" panose="020B0604020202020204"/>
                <a:ea typeface="微软雅黑" panose="020B0503020204020204" charset="-122"/>
                <a:cs typeface="微软雅黑" panose="020B0503020204020204" charset="-122"/>
              </a:defRPr>
            </a:pPr>
            <a:r>
              <a:rPr>
                <a:sym typeface="+mn-ea"/>
              </a:rPr>
              <a:t>AG</a:t>
            </a:r>
            <a:endParaRPr>
              <a:sym typeface="+mn-ea"/>
            </a:endParaRPr>
          </a:p>
          <a:p>
            <a:pPr algn="ctr">
              <a:defRPr sz="1350" b="1">
                <a:solidFill>
                  <a:srgbClr val="000000"/>
                </a:solidFill>
                <a:latin typeface="Arial" panose="020B0604020202020204"/>
                <a:ea typeface="微软雅黑" panose="020B0503020204020204" charset="-122"/>
                <a:cs typeface="微软雅黑" panose="020B0503020204020204" charset="-122"/>
              </a:defRPr>
            </a:pPr>
            <a:r>
              <a:rPr>
                <a:sym typeface="+mn-ea"/>
              </a:rPr>
              <a:t>（</a:t>
            </a:r>
            <a:r>
              <a:rPr lang="en-US">
                <a:sym typeface="+mn-ea"/>
              </a:rPr>
              <a:t>L1 &amp;</a:t>
            </a:r>
            <a:r>
              <a:rPr>
                <a:sym typeface="+mn-ea"/>
              </a:rPr>
              <a:t> </a:t>
            </a:r>
            <a:r>
              <a:rPr lang="en-US">
                <a:sym typeface="+mn-ea"/>
              </a:rPr>
              <a:t>Adaptive threshold </a:t>
            </a:r>
            <a:r>
              <a:rPr>
                <a:sym typeface="+mn-ea"/>
              </a:rPr>
              <a:t>off）</a:t>
            </a:r>
            <a:endParaRPr b="1">
              <a:solidFill>
                <a:srgbClr val="000000"/>
              </a:solidFill>
              <a:latin typeface="Arial" panose="020B0604020202020204"/>
              <a:ea typeface="微软雅黑" panose="020B0503020204020204" charset="-122"/>
              <a:cs typeface="微软雅黑" panose="020B0503020204020204" charset="-122"/>
            </a:endParaRPr>
          </a:p>
          <a:p>
            <a:pPr algn="ctr">
              <a:defRPr sz="1350" b="1">
                <a:solidFill>
                  <a:srgbClr val="000000"/>
                </a:solidFill>
                <a:latin typeface="Arial" panose="020B0604020202020204"/>
                <a:ea typeface="微软雅黑" panose="020B0503020204020204" charset="-122"/>
                <a:cs typeface="微软雅黑" panose="020B0503020204020204" charset="-122"/>
              </a:defRPr>
            </a:pPr>
            <a:r>
              <a:rPr sz="1350" b="1">
                <a:solidFill>
                  <a:srgbClr val="000000"/>
                </a:solidFill>
                <a:latin typeface="Arial" panose="020B0604020202020204"/>
                <a:ea typeface="微软雅黑" panose="020B0503020204020204" charset="-122"/>
                <a:cs typeface="微软雅黑" panose="020B0503020204020204" charset="-122"/>
              </a:rPr>
              <a:t>）</a:t>
            </a:r>
            <a:endParaRPr sz="1350" b="1">
              <a:solidFill>
                <a:srgbClr val="000000"/>
              </a:solidFill>
              <a:latin typeface="Arial" panose="020B0604020202020204"/>
              <a:ea typeface="微软雅黑" panose="020B0503020204020204" charset="-122"/>
              <a:cs typeface="微软雅黑" panose="020B0503020204020204" charset="-122"/>
            </a:endParaRPr>
          </a:p>
        </p:txBody>
      </p:sp>
      <p:pic>
        <p:nvPicPr>
          <p:cNvPr id="13" name="图片 12"/>
          <p:cNvPicPr>
            <a:picLocks noChangeAspect="1"/>
          </p:cNvPicPr>
          <p:nvPr/>
        </p:nvPicPr>
        <p:blipFill>
          <a:blip r:embed="rId8"/>
          <a:stretch>
            <a:fillRect/>
          </a:stretch>
        </p:blipFill>
        <p:spPr>
          <a:xfrm>
            <a:off x="7196138" y="1331233"/>
            <a:ext cx="2262187" cy="1871433"/>
          </a:xfrm>
          <a:prstGeom prst="rect">
            <a:avLst/>
          </a:prstGeom>
        </p:spPr>
      </p:pic>
      <p:pic>
        <p:nvPicPr>
          <p:cNvPr id="14" name="图片 13"/>
          <p:cNvPicPr>
            <a:picLocks noChangeAspect="1"/>
          </p:cNvPicPr>
          <p:nvPr/>
        </p:nvPicPr>
        <p:blipFill>
          <a:blip r:embed="rId9"/>
          <a:stretch>
            <a:fillRect/>
          </a:stretch>
        </p:blipFill>
        <p:spPr>
          <a:xfrm>
            <a:off x="7196138" y="3626366"/>
            <a:ext cx="2262188" cy="1891268"/>
          </a:xfrm>
          <a:prstGeom prst="rect">
            <a:avLst/>
          </a:prstGeom>
        </p:spPr>
      </p:pic>
      <p:sp>
        <p:nvSpPr>
          <p:cNvPr id="15" name="光栅怎么测量"/>
          <p:cNvSpPr>
            <a:spLocks noGrp="1"/>
          </p:cNvSpPr>
          <p:nvPr/>
        </p:nvSpPr>
        <p:spPr>
          <a:xfrm>
            <a:off x="9725025" y="1133475"/>
            <a:ext cx="2200275" cy="266700"/>
          </a:xfrm>
          <a:prstGeom prst="rect">
            <a:avLst/>
          </a:prstGeom>
          <a:noFill/>
          <a:ln w="0">
            <a:noFill/>
          </a:ln>
        </p:spPr>
        <p:txBody>
          <a:bodyPr wrap="square" lIns="0" tIns="0" rIns="0" bIns="0" anchor="t">
            <a:noAutofit/>
          </a:bodyPr>
          <a:lstStyle>
            <a:defPPr>
              <a:defRPr sz="1275" b="1">
                <a:solidFill>
                  <a:srgbClr val="000000"/>
                </a:solidFill>
                <a:latin typeface="Arial" panose="020B0604020202020204"/>
                <a:ea typeface="微软雅黑" panose="020B0503020204020204" charset="-122"/>
                <a:cs typeface="微软雅黑" panose="020B0503020204020204" charset="-122"/>
              </a:defRPr>
            </a:defPPr>
            <a:lvl1pPr>
              <a:defRPr sz="1275" b="1">
                <a:solidFill>
                  <a:srgbClr val="000000"/>
                </a:solidFill>
                <a:latin typeface="Arial" panose="020B0604020202020204"/>
                <a:ea typeface="微软雅黑" panose="020B0503020204020204" charset="-122"/>
                <a:cs typeface="微软雅黑" panose="020B0503020204020204" charset="-122"/>
              </a:defRPr>
            </a:lvl1pPr>
            <a:lvl2pPr>
              <a:defRPr sz="1275" b="1">
                <a:solidFill>
                  <a:srgbClr val="000000"/>
                </a:solidFill>
                <a:latin typeface="Arial" panose="020B0604020202020204"/>
                <a:ea typeface="微软雅黑" panose="020B0503020204020204" charset="-122"/>
                <a:cs typeface="微软雅黑" panose="020B0503020204020204" charset="-122"/>
              </a:defRPr>
            </a:lvl2pPr>
            <a:lvl3pPr>
              <a:defRPr sz="1275" b="1">
                <a:solidFill>
                  <a:srgbClr val="000000"/>
                </a:solidFill>
                <a:latin typeface="Arial" panose="020B0604020202020204"/>
                <a:ea typeface="微软雅黑" panose="020B0503020204020204" charset="-122"/>
                <a:cs typeface="微软雅黑" panose="020B0503020204020204" charset="-122"/>
              </a:defRPr>
            </a:lvl3pPr>
            <a:lvl4pPr>
              <a:defRPr sz="1275" b="1">
                <a:solidFill>
                  <a:srgbClr val="000000"/>
                </a:solidFill>
                <a:latin typeface="Arial" panose="020B0604020202020204"/>
                <a:ea typeface="微软雅黑" panose="020B0503020204020204" charset="-122"/>
                <a:cs typeface="微软雅黑" panose="020B0503020204020204" charset="-122"/>
              </a:defRPr>
            </a:lvl4pPr>
            <a:lvl5pPr>
              <a:defRPr sz="1275" b="1">
                <a:solidFill>
                  <a:srgbClr val="000000"/>
                </a:solidFill>
                <a:latin typeface="Arial" panose="020B0604020202020204"/>
                <a:ea typeface="微软雅黑" panose="020B0503020204020204" charset="-122"/>
                <a:cs typeface="微软雅黑" panose="020B0503020204020204" charset="-122"/>
              </a:defRPr>
            </a:lvl5pPr>
            <a:lvl6pPr>
              <a:defRPr sz="1275" b="1">
                <a:solidFill>
                  <a:srgbClr val="000000"/>
                </a:solidFill>
                <a:latin typeface="Arial" panose="020B0604020202020204"/>
                <a:ea typeface="微软雅黑" panose="020B0503020204020204" charset="-122"/>
                <a:cs typeface="微软雅黑" panose="020B0503020204020204" charset="-122"/>
              </a:defRPr>
            </a:lvl6pPr>
            <a:lvl7pPr>
              <a:defRPr sz="1275" b="1">
                <a:solidFill>
                  <a:srgbClr val="000000"/>
                </a:solidFill>
                <a:latin typeface="Arial" panose="020B0604020202020204"/>
                <a:ea typeface="微软雅黑" panose="020B0503020204020204" charset="-122"/>
                <a:cs typeface="微软雅黑" panose="020B0503020204020204" charset="-122"/>
              </a:defRPr>
            </a:lvl7pPr>
            <a:lvl8pPr>
              <a:defRPr sz="1275" b="1">
                <a:solidFill>
                  <a:srgbClr val="000000"/>
                </a:solidFill>
                <a:latin typeface="Arial" panose="020B0604020202020204"/>
                <a:ea typeface="微软雅黑" panose="020B0503020204020204" charset="-122"/>
                <a:cs typeface="微软雅黑" panose="020B0503020204020204" charset="-122"/>
              </a:defRPr>
            </a:lvl8pPr>
            <a:lvl9pPr>
              <a:defRPr sz="1275" b="1">
                <a:solidFill>
                  <a:srgbClr val="000000"/>
                </a:solidFill>
                <a:latin typeface="Arial" panose="020B0604020202020204"/>
                <a:ea typeface="微软雅黑" panose="020B0503020204020204" charset="-122"/>
                <a:cs typeface="微软雅黑" panose="020B0503020204020204" charset="-122"/>
              </a:defRPr>
            </a:lvl9pPr>
          </a:lstStyle>
          <a:p>
            <a:pPr>
              <a:defRPr sz="1275" b="1">
                <a:solidFill>
                  <a:srgbClr val="000000"/>
                </a:solidFill>
                <a:latin typeface="Arial" panose="020B0604020202020204"/>
                <a:ea typeface="微软雅黑" panose="020B0503020204020204" charset="-122"/>
                <a:cs typeface="微软雅黑" panose="020B0503020204020204" charset="-122"/>
              </a:defRPr>
            </a:pPr>
            <a:r>
              <a:rPr sz="1275" b="1">
                <a:solidFill>
                  <a:srgbClr val="000000"/>
                </a:solidFill>
                <a:latin typeface="Arial" panose="020B0604020202020204"/>
                <a:ea typeface="微软雅黑" panose="020B0503020204020204" charset="-122"/>
                <a:cs typeface="微软雅黑" panose="020B0503020204020204" charset="-122"/>
              </a:rPr>
              <a:t>光栅</a:t>
            </a:r>
            <a:r>
              <a:rPr lang="zh-CN" sz="1275" b="1">
                <a:solidFill>
                  <a:srgbClr val="000000"/>
                </a:solidFill>
                <a:latin typeface="Arial" panose="020B0604020202020204"/>
                <a:ea typeface="微软雅黑" panose="020B0503020204020204" charset="-122"/>
                <a:cs typeface="微软雅黑" panose="020B0503020204020204" charset="-122"/>
              </a:rPr>
              <a:t>测试</a:t>
            </a:r>
            <a:r>
              <a:rPr lang="zh-CN" sz="1275" b="1">
                <a:solidFill>
                  <a:srgbClr val="000000"/>
                </a:solidFill>
                <a:latin typeface="Arial" panose="020B0604020202020204"/>
                <a:ea typeface="微软雅黑" panose="020B0503020204020204" charset="-122"/>
                <a:cs typeface="微软雅黑" panose="020B0503020204020204" charset="-122"/>
              </a:rPr>
              <a:t>流程</a:t>
            </a:r>
            <a:endParaRPr lang="zh-CN" sz="1275" b="1">
              <a:solidFill>
                <a:srgbClr val="000000"/>
              </a:solidFill>
              <a:latin typeface="Arial" panose="020B0604020202020204"/>
              <a:ea typeface="微软雅黑" panose="020B0503020204020204" charset="-122"/>
              <a:cs typeface="微软雅黑" panose="020B0503020204020204" charset="-122"/>
            </a:endParaRPr>
          </a:p>
        </p:txBody>
      </p:sp>
      <p:sp>
        <p:nvSpPr>
          <p:cNvPr id="16" name="16个朝向、8个空间频率、&#10;4个相位，每组重复10次。&#10;&#10;减"/>
          <p:cNvSpPr>
            <a:spLocks noGrp="1"/>
          </p:cNvSpPr>
          <p:nvPr/>
        </p:nvSpPr>
        <p:spPr>
          <a:xfrm>
            <a:off x="9725025" y="1438275"/>
            <a:ext cx="2200275" cy="2476500"/>
          </a:xfrm>
          <a:prstGeom prst="rect">
            <a:avLst/>
          </a:prstGeom>
          <a:noFill/>
          <a:ln w="0">
            <a:noFill/>
          </a:ln>
        </p:spPr>
        <p:txBody>
          <a:bodyPr wrap="square" lIns="0" tIns="0" rIns="0" bIns="0" anchor="t">
            <a:noAutofit/>
          </a:bodyPr>
          <a:lstStyle>
            <a:defPPr>
              <a:defRPr sz="1200" b="0">
                <a:solidFill>
                  <a:srgbClr val="000000"/>
                </a:solidFill>
                <a:latin typeface="Arial" panose="020B0604020202020204"/>
                <a:ea typeface="微软雅黑" panose="020B0503020204020204" charset="-122"/>
                <a:cs typeface="微软雅黑" panose="020B0503020204020204" charset="-122"/>
              </a:defRPr>
            </a:defPPr>
            <a:lvl1pPr>
              <a:defRPr sz="1200" b="0">
                <a:solidFill>
                  <a:srgbClr val="000000"/>
                </a:solidFill>
                <a:latin typeface="Arial" panose="020B0604020202020204"/>
                <a:ea typeface="微软雅黑" panose="020B0503020204020204" charset="-122"/>
                <a:cs typeface="微软雅黑" panose="020B0503020204020204" charset="-122"/>
              </a:defRPr>
            </a:lvl1pPr>
            <a:lvl2pPr>
              <a:defRPr sz="1200" b="0">
                <a:solidFill>
                  <a:srgbClr val="000000"/>
                </a:solidFill>
                <a:latin typeface="Arial" panose="020B0604020202020204"/>
                <a:ea typeface="微软雅黑" panose="020B0503020204020204" charset="-122"/>
                <a:cs typeface="微软雅黑" panose="020B0503020204020204" charset="-122"/>
              </a:defRPr>
            </a:lvl2pPr>
            <a:lvl3pPr>
              <a:defRPr sz="1200" b="0">
                <a:solidFill>
                  <a:srgbClr val="000000"/>
                </a:solidFill>
                <a:latin typeface="Arial" panose="020B0604020202020204"/>
                <a:ea typeface="微软雅黑" panose="020B0503020204020204" charset="-122"/>
                <a:cs typeface="微软雅黑" panose="020B0503020204020204" charset="-122"/>
              </a:defRPr>
            </a:lvl3pPr>
            <a:lvl4pPr>
              <a:defRPr sz="1200" b="0">
                <a:solidFill>
                  <a:srgbClr val="000000"/>
                </a:solidFill>
                <a:latin typeface="Arial" panose="020B0604020202020204"/>
                <a:ea typeface="微软雅黑" panose="020B0503020204020204" charset="-122"/>
                <a:cs typeface="微软雅黑" panose="020B0503020204020204" charset="-122"/>
              </a:defRPr>
            </a:lvl4pPr>
            <a:lvl5pPr>
              <a:defRPr sz="1200" b="0">
                <a:solidFill>
                  <a:srgbClr val="000000"/>
                </a:solidFill>
                <a:latin typeface="Arial" panose="020B0604020202020204"/>
                <a:ea typeface="微软雅黑" panose="020B0503020204020204" charset="-122"/>
                <a:cs typeface="微软雅黑" panose="020B0503020204020204" charset="-122"/>
              </a:defRPr>
            </a:lvl5pPr>
            <a:lvl6pPr>
              <a:defRPr sz="1200" b="0">
                <a:solidFill>
                  <a:srgbClr val="000000"/>
                </a:solidFill>
                <a:latin typeface="Arial" panose="020B0604020202020204"/>
                <a:ea typeface="微软雅黑" panose="020B0503020204020204" charset="-122"/>
                <a:cs typeface="微软雅黑" panose="020B0503020204020204" charset="-122"/>
              </a:defRPr>
            </a:lvl6pPr>
            <a:lvl7pPr>
              <a:defRPr sz="1200" b="0">
                <a:solidFill>
                  <a:srgbClr val="000000"/>
                </a:solidFill>
                <a:latin typeface="Arial" panose="020B0604020202020204"/>
                <a:ea typeface="微软雅黑" panose="020B0503020204020204" charset="-122"/>
                <a:cs typeface="微软雅黑" panose="020B0503020204020204" charset="-122"/>
              </a:defRPr>
            </a:lvl7pPr>
            <a:lvl8pPr>
              <a:defRPr sz="1200" b="0">
                <a:solidFill>
                  <a:srgbClr val="000000"/>
                </a:solidFill>
                <a:latin typeface="Arial" panose="020B0604020202020204"/>
                <a:ea typeface="微软雅黑" panose="020B0503020204020204" charset="-122"/>
                <a:cs typeface="微软雅黑" panose="020B0503020204020204" charset="-122"/>
              </a:defRPr>
            </a:lvl8pPr>
            <a:lvl9pPr>
              <a:defRPr sz="1200" b="0">
                <a:solidFill>
                  <a:srgbClr val="000000"/>
                </a:solidFill>
                <a:latin typeface="Arial" panose="020B0604020202020204"/>
                <a:ea typeface="微软雅黑" panose="020B0503020204020204" charset="-122"/>
                <a:cs typeface="微软雅黑" panose="020B0503020204020204" charset="-122"/>
              </a:defRPr>
            </a:lvl9pPr>
          </a:lstStyle>
          <a:p>
            <a:pPr>
              <a:defRPr sz="1200" b="0">
                <a:solidFill>
                  <a:srgbClr val="000000"/>
                </a:solidFill>
                <a:latin typeface="Arial" panose="020B0604020202020204"/>
                <a:ea typeface="微软雅黑" panose="020B0503020204020204" charset="-122"/>
                <a:cs typeface="微软雅黑" panose="020B0503020204020204" charset="-122"/>
              </a:defRPr>
            </a:pPr>
            <a:r>
              <a:rPr sz="1200" b="0">
                <a:solidFill>
                  <a:srgbClr val="000000"/>
                </a:solidFill>
                <a:latin typeface="Arial" panose="020B0604020202020204"/>
                <a:ea typeface="微软雅黑" panose="020B0503020204020204" charset="-122"/>
                <a:cs typeface="微软雅黑" panose="020B0503020204020204" charset="-122"/>
              </a:rPr>
              <a:t>16个朝向、8个空间频率、</a:t>
            </a:r>
            <a:endParaRPr sz="1200" b="0">
              <a:solidFill>
                <a:srgbClr val="000000"/>
              </a:solidFill>
              <a:latin typeface="Arial" panose="020B0604020202020204"/>
              <a:ea typeface="微软雅黑" panose="020B0503020204020204" charset="-122"/>
              <a:cs typeface="微软雅黑" panose="020B0503020204020204" charset="-122"/>
            </a:endParaRPr>
          </a:p>
          <a:p>
            <a:pPr>
              <a:defRPr sz="1200" b="0">
                <a:solidFill>
                  <a:srgbClr val="000000"/>
                </a:solidFill>
                <a:latin typeface="Arial" panose="020B0604020202020204"/>
                <a:ea typeface="微软雅黑" panose="020B0503020204020204" charset="-122"/>
                <a:cs typeface="微软雅黑" panose="020B0503020204020204" charset="-122"/>
              </a:defRPr>
            </a:pPr>
            <a:r>
              <a:rPr sz="1200" b="0">
                <a:solidFill>
                  <a:srgbClr val="000000"/>
                </a:solidFill>
                <a:latin typeface="Arial" panose="020B0604020202020204"/>
                <a:ea typeface="微软雅黑" panose="020B0503020204020204" charset="-122"/>
                <a:cs typeface="微软雅黑" panose="020B0503020204020204" charset="-122"/>
              </a:rPr>
              <a:t>4个相位</a:t>
            </a:r>
            <a:endParaRPr sz="1200" b="0">
              <a:solidFill>
                <a:srgbClr val="000000"/>
              </a:solidFill>
              <a:latin typeface="Arial" panose="020B0604020202020204"/>
              <a:ea typeface="微软雅黑" panose="020B0503020204020204" charset="-122"/>
              <a:cs typeface="微软雅黑" panose="020B0503020204020204" charset="-122"/>
            </a:endParaRPr>
          </a:p>
          <a:p>
            <a:pPr>
              <a:defRPr sz="1200" b="0">
                <a:solidFill>
                  <a:srgbClr val="000000"/>
                </a:solidFill>
                <a:latin typeface="Arial" panose="020B0604020202020204"/>
                <a:ea typeface="微软雅黑" panose="020B0503020204020204" charset="-122"/>
                <a:cs typeface="微软雅黑" panose="020B0503020204020204" charset="-122"/>
              </a:defRPr>
            </a:pPr>
            <a:endParaRPr lang="zh-CN" sz="1200" b="0">
              <a:solidFill>
                <a:srgbClr val="000000"/>
              </a:solidFill>
              <a:latin typeface="Arial" panose="020B0604020202020204"/>
              <a:ea typeface="微软雅黑" panose="020B0503020204020204" charset="-122"/>
              <a:cs typeface="微软雅黑" panose="020B0503020204020204" charset="-122"/>
            </a:endParaRPr>
          </a:p>
          <a:p>
            <a:pPr>
              <a:defRPr sz="1200" b="0">
                <a:solidFill>
                  <a:srgbClr val="000000"/>
                </a:solidFill>
                <a:latin typeface="Arial" panose="020B0604020202020204"/>
                <a:ea typeface="微软雅黑" panose="020B0503020204020204" charset="-122"/>
                <a:cs typeface="微软雅黑" panose="020B0503020204020204" charset="-122"/>
              </a:defRPr>
            </a:pPr>
            <a:r>
              <a:rPr lang="zh-CN" sz="1200" b="0">
                <a:solidFill>
                  <a:srgbClr val="000000"/>
                </a:solidFill>
                <a:latin typeface="Arial" panose="020B0604020202020204"/>
                <a:ea typeface="微软雅黑" panose="020B0503020204020204" charset="-122"/>
                <a:cs typeface="微软雅黑" panose="020B0503020204020204" charset="-122"/>
              </a:rPr>
              <a:t>共</a:t>
            </a:r>
            <a:r>
              <a:rPr lang="en-US" altLang="zh-CN" sz="1200" b="0">
                <a:solidFill>
                  <a:srgbClr val="000000"/>
                </a:solidFill>
                <a:latin typeface="Arial" panose="020B0604020202020204"/>
                <a:ea typeface="微软雅黑" panose="020B0503020204020204" charset="-122"/>
                <a:cs typeface="微软雅黑" panose="020B0503020204020204" charset="-122"/>
              </a:rPr>
              <a:t>16x8x4=512</a:t>
            </a:r>
            <a:r>
              <a:rPr lang="zh-CN" altLang="en-US" sz="1200" b="0">
                <a:solidFill>
                  <a:srgbClr val="000000"/>
                </a:solidFill>
                <a:latin typeface="Arial" panose="020B0604020202020204"/>
                <a:ea typeface="微软雅黑" panose="020B0503020204020204" charset="-122"/>
                <a:cs typeface="微软雅黑" panose="020B0503020204020204" charset="-122"/>
              </a:rPr>
              <a:t>组光栅图，</a:t>
            </a:r>
            <a:r>
              <a:rPr sz="1200" b="0">
                <a:solidFill>
                  <a:srgbClr val="000000"/>
                </a:solidFill>
                <a:latin typeface="Arial" panose="020B0604020202020204"/>
                <a:ea typeface="微软雅黑" panose="020B0503020204020204" charset="-122"/>
                <a:cs typeface="微软雅黑" panose="020B0503020204020204" charset="-122"/>
              </a:rPr>
              <a:t>每组重复10次。</a:t>
            </a:r>
            <a:endParaRPr sz="1200" b="0">
              <a:solidFill>
                <a:srgbClr val="000000"/>
              </a:solidFill>
              <a:latin typeface="Arial" panose="020B0604020202020204"/>
              <a:ea typeface="微软雅黑" panose="020B0503020204020204" charset="-122"/>
              <a:cs typeface="微软雅黑" panose="020B0503020204020204" charset="-122"/>
            </a:endParaRPr>
          </a:p>
          <a:p>
            <a:endParaRPr sz="1200" b="0">
              <a:solidFill>
                <a:srgbClr val="000000"/>
              </a:solidFill>
              <a:latin typeface="Arial" panose="020B0604020202020204"/>
              <a:ea typeface="微软雅黑" panose="020B0503020204020204" charset="-122"/>
              <a:cs typeface="微软雅黑" panose="020B0503020204020204" charset="-122"/>
            </a:endParaRPr>
          </a:p>
          <a:p>
            <a:pPr>
              <a:defRPr sz="1200" b="0">
                <a:solidFill>
                  <a:srgbClr val="000000"/>
                </a:solidFill>
                <a:latin typeface="Arial" panose="020B0604020202020204"/>
                <a:ea typeface="微软雅黑" panose="020B0503020204020204" charset="-122"/>
                <a:cs typeface="微软雅黑" panose="020B0503020204020204" charset="-122"/>
              </a:defRPr>
            </a:pPr>
            <a:r>
              <a:rPr sz="1200" b="0">
                <a:solidFill>
                  <a:srgbClr val="000000"/>
                </a:solidFill>
                <a:latin typeface="Arial" panose="020B0604020202020204"/>
                <a:ea typeface="微软雅黑" panose="020B0503020204020204" charset="-122"/>
                <a:cs typeface="微软雅黑" panose="020B0503020204020204" charset="-122"/>
              </a:rPr>
              <a:t>减去空白放电率，</a:t>
            </a:r>
            <a:endParaRPr sz="1200" b="0">
              <a:solidFill>
                <a:srgbClr val="000000"/>
              </a:solidFill>
              <a:latin typeface="Arial" panose="020B0604020202020204"/>
              <a:ea typeface="微软雅黑" panose="020B0503020204020204" charset="-122"/>
              <a:cs typeface="微软雅黑" panose="020B0503020204020204" charset="-122"/>
            </a:endParaRPr>
          </a:p>
          <a:p>
            <a:pPr>
              <a:defRPr sz="1200" b="0">
                <a:solidFill>
                  <a:srgbClr val="000000"/>
                </a:solidFill>
                <a:latin typeface="Arial" panose="020B0604020202020204"/>
                <a:ea typeface="微软雅黑" panose="020B0503020204020204" charset="-122"/>
                <a:cs typeface="微软雅黑" panose="020B0503020204020204" charset="-122"/>
              </a:defRPr>
            </a:pPr>
            <a:r>
              <a:rPr sz="1200" b="0">
                <a:solidFill>
                  <a:srgbClr val="000000"/>
                </a:solidFill>
                <a:latin typeface="Arial" panose="020B0604020202020204"/>
                <a:ea typeface="微软雅黑" panose="020B0503020204020204" charset="-122"/>
                <a:cs typeface="微软雅黑" panose="020B0503020204020204" charset="-122"/>
              </a:rPr>
              <a:t>再对4个相位取平均。</a:t>
            </a:r>
            <a:endParaRPr sz="1200" b="0">
              <a:solidFill>
                <a:srgbClr val="000000"/>
              </a:solidFill>
              <a:latin typeface="Arial" panose="020B0604020202020204"/>
              <a:ea typeface="微软雅黑" panose="020B0503020204020204" charset="-122"/>
              <a:cs typeface="微软雅黑" panose="020B0503020204020204" charset="-122"/>
            </a:endParaRPr>
          </a:p>
          <a:p>
            <a:pPr>
              <a:defRPr sz="1200" b="0">
                <a:solidFill>
                  <a:srgbClr val="000000"/>
                </a:solidFill>
                <a:latin typeface="Arial" panose="020B0604020202020204"/>
                <a:ea typeface="微软雅黑" panose="020B0503020204020204" charset="-122"/>
                <a:cs typeface="微软雅黑" panose="020B0503020204020204" charset="-122"/>
              </a:defRPr>
            </a:pPr>
            <a:r>
              <a:rPr lang="zh-CN" sz="1200" b="0">
                <a:solidFill>
                  <a:srgbClr val="000000"/>
                </a:solidFill>
                <a:latin typeface="Arial" panose="020B0604020202020204"/>
                <a:ea typeface="微软雅黑" panose="020B0503020204020204" charset="-122"/>
                <a:cs typeface="微软雅黑" panose="020B0503020204020204" charset="-122"/>
              </a:rPr>
              <a:t>得到每个神经元放电率关于光栅朝向</a:t>
            </a:r>
            <a:r>
              <a:rPr lang="en-US" altLang="zh-CN" sz="1200" b="0">
                <a:solidFill>
                  <a:srgbClr val="000000"/>
                </a:solidFill>
                <a:latin typeface="Arial" panose="020B0604020202020204"/>
                <a:ea typeface="微软雅黑" panose="020B0503020204020204" charset="-122"/>
                <a:cs typeface="微软雅黑" panose="020B0503020204020204" charset="-122"/>
              </a:rPr>
              <a:t>x</a:t>
            </a:r>
            <a:r>
              <a:rPr lang="zh-CN" altLang="en-US" sz="1200" b="0">
                <a:solidFill>
                  <a:srgbClr val="000000"/>
                </a:solidFill>
                <a:latin typeface="Arial" panose="020B0604020202020204"/>
                <a:ea typeface="微软雅黑" panose="020B0503020204020204" charset="-122"/>
                <a:cs typeface="微软雅黑" panose="020B0503020204020204" charset="-122"/>
              </a:rPr>
              <a:t>光栅空间频率的变化情况</a:t>
            </a:r>
            <a:endParaRPr sz="1200" b="0">
              <a:solidFill>
                <a:srgbClr val="000000"/>
              </a:solidFill>
              <a:latin typeface="Arial" panose="020B0604020202020204"/>
              <a:ea typeface="微软雅黑" panose="020B0503020204020204" charset="-122"/>
              <a:cs typeface="微软雅黑" panose="020B0503020204020204" charset="-122"/>
            </a:endParaRPr>
          </a:p>
          <a:p>
            <a:endParaRPr sz="1200" b="0">
              <a:solidFill>
                <a:srgbClr val="000000"/>
              </a:solidFill>
              <a:latin typeface="Arial" panose="020B0604020202020204"/>
              <a:ea typeface="微软雅黑" panose="020B0503020204020204" charset="-122"/>
              <a:cs typeface="微软雅黑" panose="020B0503020204020204" charset="-122"/>
            </a:endParaRPr>
          </a:p>
          <a:p>
            <a:pPr>
              <a:defRPr sz="1200" b="0">
                <a:solidFill>
                  <a:srgbClr val="000000"/>
                </a:solidFill>
                <a:latin typeface="Arial" panose="020B0604020202020204"/>
                <a:ea typeface="微软雅黑" panose="020B0503020204020204" charset="-122"/>
                <a:cs typeface="微软雅黑" panose="020B0503020204020204" charset="-122"/>
              </a:defRPr>
            </a:pPr>
            <a:r>
              <a:rPr sz="1200" b="0">
                <a:solidFill>
                  <a:srgbClr val="000000"/>
                </a:solidFill>
                <a:latin typeface="Arial" panose="020B0604020202020204"/>
                <a:ea typeface="微软雅黑" panose="020B0503020204020204" charset="-122"/>
                <a:cs typeface="微软雅黑" panose="020B0503020204020204" charset="-122"/>
              </a:rPr>
              <a:t>固定最佳SF，计算偏好朝向。</a:t>
            </a:r>
            <a:endParaRPr sz="1200" b="0">
              <a:solidFill>
                <a:srgbClr val="000000"/>
              </a:solidFill>
              <a:latin typeface="Arial" panose="020B0604020202020204"/>
              <a:ea typeface="微软雅黑" panose="020B0503020204020204" charset="-122"/>
              <a:cs typeface="微软雅黑" panose="020B0503020204020204" charset="-122"/>
            </a:endParaRPr>
          </a:p>
          <a:p>
            <a:pPr>
              <a:defRPr sz="1200" b="0">
                <a:solidFill>
                  <a:srgbClr val="000000"/>
                </a:solidFill>
                <a:latin typeface="Arial" panose="020B0604020202020204"/>
                <a:ea typeface="微软雅黑" panose="020B0503020204020204" charset="-122"/>
                <a:cs typeface="微软雅黑" panose="020B0503020204020204" charset="-122"/>
              </a:defRPr>
            </a:pPr>
            <a:r>
              <a:rPr sz="1200" b="0">
                <a:solidFill>
                  <a:srgbClr val="000000"/>
                </a:solidFill>
                <a:latin typeface="Arial" panose="020B0604020202020204"/>
                <a:ea typeface="微软雅黑" panose="020B0503020204020204" charset="-122"/>
                <a:cs typeface="微软雅黑" panose="020B0503020204020204" charset="-122"/>
              </a:rPr>
              <a:t>固定最佳朝向，拟合偏好SF。</a:t>
            </a:r>
            <a:endParaRPr sz="1200" b="0">
              <a:solidFill>
                <a:srgbClr val="000000"/>
              </a:solidFill>
              <a:latin typeface="Arial" panose="020B0604020202020204"/>
              <a:ea typeface="微软雅黑" panose="020B0503020204020204" charset="-122"/>
              <a:cs typeface="微软雅黑" panose="020B0503020204020204" charset="-122"/>
            </a:endParaRPr>
          </a:p>
        </p:txBody>
      </p:sp>
      <p:sp>
        <p:nvSpPr>
          <p:cNvPr id="17" name="结果"/>
          <p:cNvSpPr>
            <a:spLocks noGrp="1"/>
          </p:cNvSpPr>
          <p:nvPr/>
        </p:nvSpPr>
        <p:spPr>
          <a:xfrm>
            <a:off x="9725025" y="3914775"/>
            <a:ext cx="2200275" cy="257175"/>
          </a:xfrm>
          <a:prstGeom prst="rect">
            <a:avLst/>
          </a:prstGeom>
          <a:noFill/>
          <a:ln w="0">
            <a:noFill/>
          </a:ln>
        </p:spPr>
        <p:txBody>
          <a:bodyPr wrap="square" lIns="0" tIns="0" rIns="0" bIns="0" anchor="t">
            <a:noAutofit/>
          </a:bodyPr>
          <a:lstStyle>
            <a:defPPr>
              <a:defRPr sz="1350" b="1">
                <a:solidFill>
                  <a:srgbClr val="000000"/>
                </a:solidFill>
                <a:latin typeface="Arial" panose="020B0604020202020204"/>
                <a:ea typeface="微软雅黑" panose="020B0503020204020204" charset="-122"/>
                <a:cs typeface="微软雅黑" panose="020B0503020204020204" charset="-122"/>
              </a:defRPr>
            </a:defPPr>
            <a:lvl1pPr>
              <a:defRPr sz="1350" b="1">
                <a:solidFill>
                  <a:srgbClr val="000000"/>
                </a:solidFill>
                <a:latin typeface="Arial" panose="020B0604020202020204"/>
                <a:ea typeface="微软雅黑" panose="020B0503020204020204" charset="-122"/>
                <a:cs typeface="微软雅黑" panose="020B0503020204020204" charset="-122"/>
              </a:defRPr>
            </a:lvl1pPr>
            <a:lvl2pPr>
              <a:defRPr sz="1350" b="1">
                <a:solidFill>
                  <a:srgbClr val="000000"/>
                </a:solidFill>
                <a:latin typeface="Arial" panose="020B0604020202020204"/>
                <a:ea typeface="微软雅黑" panose="020B0503020204020204" charset="-122"/>
                <a:cs typeface="微软雅黑" panose="020B0503020204020204" charset="-122"/>
              </a:defRPr>
            </a:lvl2pPr>
            <a:lvl3pPr>
              <a:defRPr sz="1350" b="1">
                <a:solidFill>
                  <a:srgbClr val="000000"/>
                </a:solidFill>
                <a:latin typeface="Arial" panose="020B0604020202020204"/>
                <a:ea typeface="微软雅黑" panose="020B0503020204020204" charset="-122"/>
                <a:cs typeface="微软雅黑" panose="020B0503020204020204" charset="-122"/>
              </a:defRPr>
            </a:lvl3pPr>
            <a:lvl4pPr>
              <a:defRPr sz="1350" b="1">
                <a:solidFill>
                  <a:srgbClr val="000000"/>
                </a:solidFill>
                <a:latin typeface="Arial" panose="020B0604020202020204"/>
                <a:ea typeface="微软雅黑" panose="020B0503020204020204" charset="-122"/>
                <a:cs typeface="微软雅黑" panose="020B0503020204020204" charset="-122"/>
              </a:defRPr>
            </a:lvl4pPr>
            <a:lvl5pPr>
              <a:defRPr sz="1350" b="1">
                <a:solidFill>
                  <a:srgbClr val="000000"/>
                </a:solidFill>
                <a:latin typeface="Arial" panose="020B0604020202020204"/>
                <a:ea typeface="微软雅黑" panose="020B0503020204020204" charset="-122"/>
                <a:cs typeface="微软雅黑" panose="020B0503020204020204" charset="-122"/>
              </a:defRPr>
            </a:lvl5pPr>
            <a:lvl6pPr>
              <a:defRPr sz="1350" b="1">
                <a:solidFill>
                  <a:srgbClr val="000000"/>
                </a:solidFill>
                <a:latin typeface="Arial" panose="020B0604020202020204"/>
                <a:ea typeface="微软雅黑" panose="020B0503020204020204" charset="-122"/>
                <a:cs typeface="微软雅黑" panose="020B0503020204020204" charset="-122"/>
              </a:defRPr>
            </a:lvl6pPr>
            <a:lvl7pPr>
              <a:defRPr sz="1350" b="1">
                <a:solidFill>
                  <a:srgbClr val="000000"/>
                </a:solidFill>
                <a:latin typeface="Arial" panose="020B0604020202020204"/>
                <a:ea typeface="微软雅黑" panose="020B0503020204020204" charset="-122"/>
                <a:cs typeface="微软雅黑" panose="020B0503020204020204" charset="-122"/>
              </a:defRPr>
            </a:lvl7pPr>
            <a:lvl8pPr>
              <a:defRPr sz="1350" b="1">
                <a:solidFill>
                  <a:srgbClr val="000000"/>
                </a:solidFill>
                <a:latin typeface="Arial" panose="020B0604020202020204"/>
                <a:ea typeface="微软雅黑" panose="020B0503020204020204" charset="-122"/>
                <a:cs typeface="微软雅黑" panose="020B0503020204020204" charset="-122"/>
              </a:defRPr>
            </a:lvl8pPr>
            <a:lvl9pPr>
              <a:defRPr sz="1350" b="1">
                <a:solidFill>
                  <a:srgbClr val="000000"/>
                </a:solidFill>
                <a:latin typeface="Arial" panose="020B0604020202020204"/>
                <a:ea typeface="微软雅黑" panose="020B0503020204020204" charset="-122"/>
                <a:cs typeface="微软雅黑" panose="020B0503020204020204" charset="-122"/>
              </a:defRPr>
            </a:lvl9pPr>
          </a:lstStyle>
          <a:p>
            <a:pPr>
              <a:defRPr sz="1350" b="1">
                <a:solidFill>
                  <a:srgbClr val="000000"/>
                </a:solidFill>
                <a:latin typeface="Arial" panose="020B0604020202020204"/>
                <a:ea typeface="微软雅黑" panose="020B0503020204020204" charset="-122"/>
                <a:cs typeface="微软雅黑" panose="020B0503020204020204" charset="-122"/>
              </a:defRPr>
            </a:pPr>
            <a:r>
              <a:rPr sz="1350" b="1">
                <a:solidFill>
                  <a:srgbClr val="000000"/>
                </a:solidFill>
                <a:latin typeface="Arial" panose="020B0604020202020204"/>
                <a:ea typeface="微软雅黑" panose="020B0503020204020204" charset="-122"/>
                <a:cs typeface="微软雅黑" panose="020B0503020204020204" charset="-122"/>
              </a:rPr>
              <a:t>结果</a:t>
            </a:r>
            <a:endParaRPr sz="1350" b="1">
              <a:solidFill>
                <a:srgbClr val="000000"/>
              </a:solidFill>
              <a:latin typeface="Arial" panose="020B0604020202020204"/>
              <a:ea typeface="微软雅黑" panose="020B0503020204020204" charset="-122"/>
              <a:cs typeface="微软雅黑" panose="020B0503020204020204" charset="-122"/>
            </a:endParaRPr>
          </a:p>
        </p:txBody>
      </p:sp>
      <p:sp>
        <p:nvSpPr>
          <p:cNvPr id="18" name="AD覆盖较广，AF偏好更不均。&#10;&#10;AE的1−CirVar接近"/>
          <p:cNvSpPr>
            <a:spLocks noGrp="1"/>
          </p:cNvSpPr>
          <p:nvPr/>
        </p:nvSpPr>
        <p:spPr>
          <a:xfrm>
            <a:off x="9725025" y="4248150"/>
            <a:ext cx="2200275" cy="1743075"/>
          </a:xfrm>
          <a:prstGeom prst="rect">
            <a:avLst/>
          </a:prstGeom>
          <a:noFill/>
          <a:ln w="0">
            <a:noFill/>
          </a:ln>
        </p:spPr>
        <p:txBody>
          <a:bodyPr wrap="square" lIns="0" tIns="0" rIns="0" bIns="0" anchor="t">
            <a:noAutofit/>
          </a:bodyPr>
          <a:lstStyle>
            <a:defPPr>
              <a:defRPr sz="1200" b="0">
                <a:solidFill>
                  <a:srgbClr val="000000"/>
                </a:solidFill>
                <a:latin typeface="Arial" panose="020B0604020202020204"/>
                <a:ea typeface="微软雅黑" panose="020B0503020204020204" charset="-122"/>
                <a:cs typeface="微软雅黑" panose="020B0503020204020204" charset="-122"/>
              </a:defRPr>
            </a:defPPr>
            <a:lvl1pPr>
              <a:defRPr sz="1200" b="0">
                <a:solidFill>
                  <a:srgbClr val="000000"/>
                </a:solidFill>
                <a:latin typeface="Arial" panose="020B0604020202020204"/>
                <a:ea typeface="微软雅黑" panose="020B0503020204020204" charset="-122"/>
                <a:cs typeface="微软雅黑" panose="020B0503020204020204" charset="-122"/>
              </a:defRPr>
            </a:lvl1pPr>
            <a:lvl2pPr>
              <a:defRPr sz="1200" b="0">
                <a:solidFill>
                  <a:srgbClr val="000000"/>
                </a:solidFill>
                <a:latin typeface="Arial" panose="020B0604020202020204"/>
                <a:ea typeface="微软雅黑" panose="020B0503020204020204" charset="-122"/>
                <a:cs typeface="微软雅黑" panose="020B0503020204020204" charset="-122"/>
              </a:defRPr>
            </a:lvl2pPr>
            <a:lvl3pPr>
              <a:defRPr sz="1200" b="0">
                <a:solidFill>
                  <a:srgbClr val="000000"/>
                </a:solidFill>
                <a:latin typeface="Arial" panose="020B0604020202020204"/>
                <a:ea typeface="微软雅黑" panose="020B0503020204020204" charset="-122"/>
                <a:cs typeface="微软雅黑" panose="020B0503020204020204" charset="-122"/>
              </a:defRPr>
            </a:lvl3pPr>
            <a:lvl4pPr>
              <a:defRPr sz="1200" b="0">
                <a:solidFill>
                  <a:srgbClr val="000000"/>
                </a:solidFill>
                <a:latin typeface="Arial" panose="020B0604020202020204"/>
                <a:ea typeface="微软雅黑" panose="020B0503020204020204" charset="-122"/>
                <a:cs typeface="微软雅黑" panose="020B0503020204020204" charset="-122"/>
              </a:defRPr>
            </a:lvl4pPr>
            <a:lvl5pPr>
              <a:defRPr sz="1200" b="0">
                <a:solidFill>
                  <a:srgbClr val="000000"/>
                </a:solidFill>
                <a:latin typeface="Arial" panose="020B0604020202020204"/>
                <a:ea typeface="微软雅黑" panose="020B0503020204020204" charset="-122"/>
                <a:cs typeface="微软雅黑" panose="020B0503020204020204" charset="-122"/>
              </a:defRPr>
            </a:lvl5pPr>
            <a:lvl6pPr>
              <a:defRPr sz="1200" b="0">
                <a:solidFill>
                  <a:srgbClr val="000000"/>
                </a:solidFill>
                <a:latin typeface="Arial" panose="020B0604020202020204"/>
                <a:ea typeface="微软雅黑" panose="020B0503020204020204" charset="-122"/>
                <a:cs typeface="微软雅黑" panose="020B0503020204020204" charset="-122"/>
              </a:defRPr>
            </a:lvl6pPr>
            <a:lvl7pPr>
              <a:defRPr sz="1200" b="0">
                <a:solidFill>
                  <a:srgbClr val="000000"/>
                </a:solidFill>
                <a:latin typeface="Arial" panose="020B0604020202020204"/>
                <a:ea typeface="微软雅黑" panose="020B0503020204020204" charset="-122"/>
                <a:cs typeface="微软雅黑" panose="020B0503020204020204" charset="-122"/>
              </a:defRPr>
            </a:lvl7pPr>
            <a:lvl8pPr>
              <a:defRPr sz="1200" b="0">
                <a:solidFill>
                  <a:srgbClr val="000000"/>
                </a:solidFill>
                <a:latin typeface="Arial" panose="020B0604020202020204"/>
                <a:ea typeface="微软雅黑" panose="020B0503020204020204" charset="-122"/>
                <a:cs typeface="微软雅黑" panose="020B0503020204020204" charset="-122"/>
              </a:defRPr>
            </a:lvl8pPr>
            <a:lvl9pPr>
              <a:defRPr sz="1200" b="0">
                <a:solidFill>
                  <a:srgbClr val="000000"/>
                </a:solidFill>
                <a:latin typeface="Arial" panose="020B0604020202020204"/>
                <a:ea typeface="微软雅黑" panose="020B0503020204020204" charset="-122"/>
                <a:cs typeface="微软雅黑" panose="020B0503020204020204" charset="-122"/>
              </a:defRPr>
            </a:lvl9pPr>
          </a:lstStyle>
          <a:p>
            <a:pPr>
              <a:defRPr sz="1200" b="0">
                <a:solidFill>
                  <a:srgbClr val="000000"/>
                </a:solidFill>
                <a:latin typeface="Arial" panose="020B0604020202020204"/>
                <a:ea typeface="微软雅黑" panose="020B0503020204020204" charset="-122"/>
                <a:cs typeface="微软雅黑" panose="020B0503020204020204" charset="-122"/>
              </a:defRPr>
            </a:pPr>
            <a:r>
              <a:rPr>
                <a:sym typeface="+mn-ea"/>
              </a:rPr>
              <a:t>AD</a:t>
            </a:r>
            <a:r>
              <a:rPr lang="zh-CN">
                <a:sym typeface="+mn-ea"/>
              </a:rPr>
              <a:t>情况下</a:t>
            </a:r>
            <a:r>
              <a:rPr lang="zh-CN" altLang="en-US">
                <a:sym typeface="+mn-ea"/>
              </a:rPr>
              <a:t>神经元的偏好朝向均匀覆盖了</a:t>
            </a:r>
            <a:r>
              <a:rPr lang="en-US" altLang="zh-CN">
                <a:sym typeface="+mn-ea"/>
              </a:rPr>
              <a:t>0-180</a:t>
            </a:r>
            <a:r>
              <a:rPr lang="zh-CN" altLang="en-US">
                <a:sym typeface="+mn-ea"/>
              </a:rPr>
              <a:t>°，而偏好空间频率页较均匀地覆盖</a:t>
            </a:r>
            <a:r>
              <a:rPr lang="en-US" altLang="zh-CN">
                <a:sym typeface="+mn-ea"/>
              </a:rPr>
              <a:t>0.05-0.3 cycles/pixel</a:t>
            </a:r>
            <a:endParaRPr lang="en-US" altLang="zh-CN" b="0">
              <a:solidFill>
                <a:srgbClr val="000000"/>
              </a:solidFill>
              <a:latin typeface="Arial" panose="020B0604020202020204"/>
              <a:ea typeface="微软雅黑" panose="020B0503020204020204" charset="-122"/>
              <a:cs typeface="微软雅黑" panose="020B0503020204020204" charset="-122"/>
            </a:endParaRPr>
          </a:p>
          <a:p>
            <a:pPr>
              <a:defRPr sz="1200" b="0">
                <a:solidFill>
                  <a:srgbClr val="000000"/>
                </a:solidFill>
                <a:latin typeface="Arial" panose="020B0604020202020204"/>
                <a:ea typeface="微软雅黑" panose="020B0503020204020204" charset="-122"/>
                <a:cs typeface="微软雅黑" panose="020B0503020204020204" charset="-122"/>
              </a:defRPr>
            </a:pPr>
            <a:endParaRPr lang="zh-CN" altLang="en-US" b="0">
              <a:solidFill>
                <a:srgbClr val="000000"/>
              </a:solidFill>
              <a:latin typeface="Arial" panose="020B0604020202020204"/>
              <a:ea typeface="微软雅黑" panose="020B0503020204020204" charset="-122"/>
              <a:cs typeface="微软雅黑" panose="020B0503020204020204" charset="-122"/>
            </a:endParaRPr>
          </a:p>
          <a:p>
            <a:pPr>
              <a:defRPr sz="1200" b="0">
                <a:solidFill>
                  <a:srgbClr val="000000"/>
                </a:solidFill>
                <a:latin typeface="Arial" panose="020B0604020202020204"/>
                <a:ea typeface="微软雅黑" panose="020B0503020204020204" charset="-122"/>
                <a:cs typeface="微软雅黑" panose="020B0503020204020204" charset="-122"/>
              </a:defRPr>
            </a:pPr>
            <a:r>
              <a:rPr>
                <a:sym typeface="+mn-ea"/>
              </a:rPr>
              <a:t>AF</a:t>
            </a:r>
            <a:r>
              <a:rPr lang="zh-CN">
                <a:sym typeface="+mn-ea"/>
              </a:rPr>
              <a:t>情况下</a:t>
            </a:r>
            <a:r>
              <a:rPr>
                <a:sym typeface="+mn-ea"/>
              </a:rPr>
              <a:t>偏好</a:t>
            </a:r>
            <a:r>
              <a:rPr lang="zh-CN">
                <a:sym typeface="+mn-ea"/>
              </a:rPr>
              <a:t>朝向分布更不均匀，主要分布在</a:t>
            </a:r>
            <a:r>
              <a:rPr lang="en-US" altLang="zh-CN">
                <a:sym typeface="+mn-ea"/>
              </a:rPr>
              <a:t>0</a:t>
            </a:r>
            <a:r>
              <a:rPr lang="zh-CN" altLang="en-US">
                <a:sym typeface="+mn-ea"/>
              </a:rPr>
              <a:t>°</a:t>
            </a:r>
            <a:r>
              <a:rPr lang="en-US" altLang="zh-CN">
                <a:sym typeface="+mn-ea"/>
              </a:rPr>
              <a:t>(</a:t>
            </a:r>
            <a:r>
              <a:rPr lang="zh-CN" altLang="en-US">
                <a:sym typeface="+mn-ea"/>
              </a:rPr>
              <a:t>水平</a:t>
            </a:r>
            <a:r>
              <a:rPr lang="en-US" altLang="zh-CN">
                <a:sym typeface="+mn-ea"/>
              </a:rPr>
              <a:t>)</a:t>
            </a:r>
            <a:r>
              <a:rPr lang="zh-CN" altLang="en-US">
                <a:sym typeface="+mn-ea"/>
              </a:rPr>
              <a:t>与</a:t>
            </a:r>
            <a:r>
              <a:rPr lang="en-US" altLang="zh-CN">
                <a:sym typeface="+mn-ea"/>
              </a:rPr>
              <a:t>90</a:t>
            </a:r>
            <a:r>
              <a:rPr lang="zh-CN" altLang="en-US">
                <a:sym typeface="+mn-ea"/>
              </a:rPr>
              <a:t>°</a:t>
            </a:r>
            <a:r>
              <a:rPr lang="en-US" altLang="zh-CN">
                <a:sym typeface="+mn-ea"/>
              </a:rPr>
              <a:t>(</a:t>
            </a:r>
            <a:r>
              <a:rPr lang="zh-CN" altLang="en-US">
                <a:sym typeface="+mn-ea"/>
              </a:rPr>
              <a:t>竖直</a:t>
            </a:r>
            <a:r>
              <a:rPr lang="en-US" altLang="zh-CN">
                <a:sym typeface="+mn-ea"/>
              </a:rPr>
              <a:t>)</a:t>
            </a:r>
            <a:r>
              <a:rPr lang="zh-CN" altLang="en-US">
                <a:sym typeface="+mn-ea"/>
              </a:rPr>
              <a:t>朝向附近，同时偏好空间频率整体页更高</a:t>
            </a:r>
            <a:endParaRPr b="0">
              <a:solidFill>
                <a:srgbClr val="000000"/>
              </a:solidFill>
              <a:latin typeface="Arial" panose="020B0604020202020204"/>
              <a:ea typeface="微软雅黑" panose="020B0503020204020204" charset="-122"/>
              <a:cs typeface="微软雅黑" panose="020B0503020204020204" charset="-122"/>
            </a:endParaRPr>
          </a:p>
          <a:p>
            <a:pPr>
              <a:defRPr sz="1200" b="0">
                <a:solidFill>
                  <a:srgbClr val="000000"/>
                </a:solidFill>
                <a:latin typeface="Arial" panose="020B0604020202020204"/>
                <a:ea typeface="微软雅黑" panose="020B0503020204020204" charset="-122"/>
                <a:cs typeface="微软雅黑" panose="020B0503020204020204" charset="-122"/>
              </a:defRPr>
            </a:pPr>
            <a:endParaRPr b="0">
              <a:solidFill>
                <a:srgbClr val="000000"/>
              </a:solidFill>
              <a:latin typeface="Arial" panose="020B0604020202020204"/>
              <a:ea typeface="微软雅黑" panose="020B0503020204020204" charset="-122"/>
              <a:cs typeface="微软雅黑" panose="020B0503020204020204" charset="-122"/>
            </a:endParaRPr>
          </a:p>
          <a:p>
            <a:pPr>
              <a:defRPr sz="1200" b="0">
                <a:solidFill>
                  <a:srgbClr val="000000"/>
                </a:solidFill>
                <a:latin typeface="Arial" panose="020B0604020202020204"/>
                <a:ea typeface="微软雅黑" panose="020B0503020204020204" charset="-122"/>
                <a:cs typeface="微软雅黑" panose="020B0503020204020204" charset="-122"/>
              </a:defRPr>
            </a:pPr>
            <a:r>
              <a:rPr lang="zh-CN">
                <a:sym typeface="+mn-ea"/>
              </a:rPr>
              <a:t>而</a:t>
            </a:r>
            <a:r>
              <a:rPr lang="en-US" altLang="zh-CN">
                <a:sym typeface="+mn-ea"/>
              </a:rPr>
              <a:t>AE</a:t>
            </a:r>
            <a:r>
              <a:rPr lang="zh-CN" altLang="en-US">
                <a:sym typeface="+mn-ea"/>
              </a:rPr>
              <a:t>与</a:t>
            </a:r>
            <a:r>
              <a:rPr lang="en-US" altLang="zh-CN">
                <a:sym typeface="+mn-ea"/>
              </a:rPr>
              <a:t>AG</a:t>
            </a:r>
            <a:r>
              <a:rPr lang="zh-CN" altLang="en-US">
                <a:sym typeface="+mn-ea"/>
              </a:rPr>
              <a:t>情况下的拟合大多无效因此无法进行分析</a:t>
            </a:r>
            <a:endParaRPr lang="en-US" sz="1200" b="0">
              <a:solidFill>
                <a:srgbClr val="000000"/>
              </a:solidFill>
              <a:latin typeface="Arial" panose="020B0604020202020204"/>
              <a:ea typeface="微软雅黑" panose="020B0503020204020204" charset="-122"/>
              <a:cs typeface="微软雅黑" panose="020B0503020204020204" charset="-122"/>
            </a:endParaRPr>
          </a:p>
        </p:txBody>
      </p:sp>
      <p:sp>
        <p:nvSpPr>
          <p:cNvPr id="20" name="TAKEAWAY_HIGHLIGHT"/>
          <p:cNvSpPr>
            <a:spLocks noGrp="1"/>
          </p:cNvSpPr>
          <p:nvPr/>
        </p:nvSpPr>
        <p:spPr>
          <a:xfrm>
            <a:off x="188595" y="5941060"/>
            <a:ext cx="10069195" cy="361950"/>
          </a:xfrm>
          <a:prstGeom prst="rect">
            <a:avLst/>
          </a:prstGeom>
          <a:noFill/>
          <a:ln w="0">
            <a:noFill/>
          </a:ln>
        </p:spPr>
        <p:txBody>
          <a:bodyPr wrap="square" lIns="0" tIns="0" rIns="0" bIns="0" anchor="t">
            <a:noAutofit/>
          </a:bodyPr>
          <a:lstStyle>
            <a:defPPr>
              <a:defRPr sz="1600" b="0">
                <a:solidFill>
                  <a:srgbClr val="000000"/>
                </a:solidFill>
                <a:latin typeface="Arial" panose="020B0604020202020204"/>
                <a:ea typeface="微软雅黑" panose="020B0503020204020204" charset="-122"/>
                <a:cs typeface="微软雅黑" panose="020B0503020204020204" charset="-122"/>
              </a:defRPr>
            </a:defPPr>
            <a:lvl1pPr>
              <a:defRPr sz="1600" b="0">
                <a:solidFill>
                  <a:srgbClr val="000000"/>
                </a:solidFill>
                <a:latin typeface="Arial" panose="020B0604020202020204"/>
                <a:ea typeface="微软雅黑" panose="020B0503020204020204" charset="-122"/>
                <a:cs typeface="微软雅黑" panose="020B0503020204020204" charset="-122"/>
              </a:defRPr>
            </a:lvl1pPr>
            <a:lvl2pPr>
              <a:defRPr sz="1600" b="0">
                <a:solidFill>
                  <a:srgbClr val="000000"/>
                </a:solidFill>
                <a:latin typeface="Arial" panose="020B0604020202020204"/>
                <a:ea typeface="微软雅黑" panose="020B0503020204020204" charset="-122"/>
                <a:cs typeface="微软雅黑" panose="020B0503020204020204" charset="-122"/>
              </a:defRPr>
            </a:lvl2pPr>
            <a:lvl3pPr>
              <a:defRPr sz="1600" b="0">
                <a:solidFill>
                  <a:srgbClr val="000000"/>
                </a:solidFill>
                <a:latin typeface="Arial" panose="020B0604020202020204"/>
                <a:ea typeface="微软雅黑" panose="020B0503020204020204" charset="-122"/>
                <a:cs typeface="微软雅黑" panose="020B0503020204020204" charset="-122"/>
              </a:defRPr>
            </a:lvl3pPr>
            <a:lvl4pPr>
              <a:defRPr sz="1600" b="0">
                <a:solidFill>
                  <a:srgbClr val="000000"/>
                </a:solidFill>
                <a:latin typeface="Arial" panose="020B0604020202020204"/>
                <a:ea typeface="微软雅黑" panose="020B0503020204020204" charset="-122"/>
                <a:cs typeface="微软雅黑" panose="020B0503020204020204" charset="-122"/>
              </a:defRPr>
            </a:lvl4pPr>
            <a:lvl5pPr>
              <a:defRPr sz="1600" b="0">
                <a:solidFill>
                  <a:srgbClr val="000000"/>
                </a:solidFill>
                <a:latin typeface="Arial" panose="020B0604020202020204"/>
                <a:ea typeface="微软雅黑" panose="020B0503020204020204" charset="-122"/>
                <a:cs typeface="微软雅黑" panose="020B0503020204020204" charset="-122"/>
              </a:defRPr>
            </a:lvl5pPr>
            <a:lvl6pPr>
              <a:defRPr sz="1600" b="0">
                <a:solidFill>
                  <a:srgbClr val="000000"/>
                </a:solidFill>
                <a:latin typeface="Arial" panose="020B0604020202020204"/>
                <a:ea typeface="微软雅黑" panose="020B0503020204020204" charset="-122"/>
                <a:cs typeface="微软雅黑" panose="020B0503020204020204" charset="-122"/>
              </a:defRPr>
            </a:lvl6pPr>
            <a:lvl7pPr>
              <a:defRPr sz="1600" b="0">
                <a:solidFill>
                  <a:srgbClr val="000000"/>
                </a:solidFill>
                <a:latin typeface="Arial" panose="020B0604020202020204"/>
                <a:ea typeface="微软雅黑" panose="020B0503020204020204" charset="-122"/>
                <a:cs typeface="微软雅黑" panose="020B0503020204020204" charset="-122"/>
              </a:defRPr>
            </a:lvl7pPr>
            <a:lvl8pPr>
              <a:defRPr sz="1600" b="0">
                <a:solidFill>
                  <a:srgbClr val="000000"/>
                </a:solidFill>
                <a:latin typeface="Arial" panose="020B0604020202020204"/>
                <a:ea typeface="微软雅黑" panose="020B0503020204020204" charset="-122"/>
                <a:cs typeface="微软雅黑" panose="020B0503020204020204" charset="-122"/>
              </a:defRPr>
            </a:lvl8pPr>
            <a:lvl9pPr>
              <a:defRPr sz="1600" b="0">
                <a:solidFill>
                  <a:srgbClr val="000000"/>
                </a:solidFill>
                <a:latin typeface="Arial" panose="020B0604020202020204"/>
                <a:ea typeface="微软雅黑" panose="020B0503020204020204" charset="-122"/>
                <a:cs typeface="微软雅黑" panose="020B0503020204020204" charset="-122"/>
              </a:defRPr>
            </a:lvl9pPr>
          </a:lstStyle>
          <a:p>
            <a:pPr algn="ctr">
              <a:defRPr sz="1600" b="0">
                <a:solidFill>
                  <a:srgbClr val="000000"/>
                </a:solidFill>
                <a:latin typeface="Arial" panose="020B0604020202020204"/>
                <a:ea typeface="微软雅黑" panose="020B0503020204020204" charset="-122"/>
                <a:cs typeface="微软雅黑" panose="020B0503020204020204" charset="-122"/>
              </a:defRPr>
            </a:pPr>
            <a:r>
              <a:rPr lang="zh-CN" altLang="en-US" sz="1600" b="1">
                <a:solidFill>
                  <a:srgbClr val="000000"/>
                </a:solidFill>
                <a:highlight>
                  <a:srgbClr val="FFFF00"/>
                </a:highlight>
                <a:latin typeface="Arial" panose="020B0604020202020204"/>
                <a:ea typeface="微软雅黑" panose="020B0503020204020204" charset="-122"/>
                <a:cs typeface="微软雅黑" panose="020B0503020204020204" charset="-122"/>
              </a:rPr>
              <a:t>动态阈值有助于保持较强的朝向选择性，并影响群体偏好朝向和空间频率的分布</a:t>
            </a:r>
            <a:r>
              <a:rPr sz="1600" b="0">
                <a:solidFill>
                  <a:srgbClr val="000000"/>
                </a:solidFill>
                <a:highlight>
                  <a:srgbClr val="FFFF00"/>
                </a:highlight>
                <a:latin typeface="Arial" panose="020B0604020202020204"/>
                <a:ea typeface="微软雅黑" panose="020B0503020204020204" charset="-122"/>
                <a:cs typeface="微软雅黑" panose="020B0503020204020204" charset="-122"/>
              </a:rPr>
              <a:t>。</a:t>
            </a:r>
            <a:endParaRPr sz="1600" b="0">
              <a:solidFill>
                <a:srgbClr val="000000"/>
              </a:solidFill>
              <a:highlight>
                <a:srgbClr val="FFFF00"/>
              </a:highlight>
              <a:latin typeface="Arial" panose="020B0604020202020204"/>
              <a:ea typeface="微软雅黑" panose="020B0503020204020204" charset="-122"/>
              <a:cs typeface="微软雅黑" panose="020B050302020402020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p:cNvSpPr>
            <a:spLocks noGrp="1"/>
          </p:cNvSpPr>
          <p:nvPr/>
        </p:nvSpPr>
        <p:spPr>
          <a:xfrm>
            <a:off x="457200" y="266700"/>
            <a:ext cx="10334625" cy="523875"/>
          </a:xfrm>
          <a:prstGeom prst="rect">
            <a:avLst/>
          </a:prstGeom>
          <a:noFill/>
          <a:ln w="0">
            <a:noFill/>
          </a:ln>
        </p:spPr>
        <p:txBody>
          <a:bodyPr wrap="square" lIns="0" tIns="0" rIns="0" bIns="0" anchor="t">
            <a:noAutofit/>
          </a:bodyPr>
          <a:lstStyle>
            <a:defPPr>
              <a:defRPr sz="2400" b="1">
                <a:solidFill>
                  <a:srgbClr val="000000"/>
                </a:solidFill>
                <a:latin typeface="Arial" panose="020B0604020202020204"/>
                <a:ea typeface="微软雅黑" panose="020B0503020204020204" charset="-122"/>
                <a:cs typeface="微软雅黑" panose="020B0503020204020204" charset="-122"/>
              </a:defRPr>
            </a:defPPr>
            <a:lvl1pPr>
              <a:defRPr sz="2400" b="1">
                <a:solidFill>
                  <a:srgbClr val="000000"/>
                </a:solidFill>
                <a:latin typeface="Arial" panose="020B0604020202020204"/>
                <a:ea typeface="微软雅黑" panose="020B0503020204020204" charset="-122"/>
                <a:cs typeface="微软雅黑" panose="020B0503020204020204" charset="-122"/>
              </a:defRPr>
            </a:lvl1pPr>
            <a:lvl2pPr>
              <a:defRPr sz="2400" b="1">
                <a:solidFill>
                  <a:srgbClr val="000000"/>
                </a:solidFill>
                <a:latin typeface="Arial" panose="020B0604020202020204"/>
                <a:ea typeface="微软雅黑" panose="020B0503020204020204" charset="-122"/>
                <a:cs typeface="微软雅黑" panose="020B0503020204020204" charset="-122"/>
              </a:defRPr>
            </a:lvl2pPr>
            <a:lvl3pPr>
              <a:defRPr sz="2400" b="1">
                <a:solidFill>
                  <a:srgbClr val="000000"/>
                </a:solidFill>
                <a:latin typeface="Arial" panose="020B0604020202020204"/>
                <a:ea typeface="微软雅黑" panose="020B0503020204020204" charset="-122"/>
                <a:cs typeface="微软雅黑" panose="020B0503020204020204" charset="-122"/>
              </a:defRPr>
            </a:lvl3pPr>
            <a:lvl4pPr>
              <a:defRPr sz="2400" b="1">
                <a:solidFill>
                  <a:srgbClr val="000000"/>
                </a:solidFill>
                <a:latin typeface="Arial" panose="020B0604020202020204"/>
                <a:ea typeface="微软雅黑" panose="020B0503020204020204" charset="-122"/>
                <a:cs typeface="微软雅黑" panose="020B0503020204020204" charset="-122"/>
              </a:defRPr>
            </a:lvl4pPr>
            <a:lvl5pPr>
              <a:defRPr sz="2400" b="1">
                <a:solidFill>
                  <a:srgbClr val="000000"/>
                </a:solidFill>
                <a:latin typeface="Arial" panose="020B0604020202020204"/>
                <a:ea typeface="微软雅黑" panose="020B0503020204020204" charset="-122"/>
                <a:cs typeface="微软雅黑" panose="020B0503020204020204" charset="-122"/>
              </a:defRPr>
            </a:lvl5pPr>
            <a:lvl6pPr>
              <a:defRPr sz="2400" b="1">
                <a:solidFill>
                  <a:srgbClr val="000000"/>
                </a:solidFill>
                <a:latin typeface="Arial" panose="020B0604020202020204"/>
                <a:ea typeface="微软雅黑" panose="020B0503020204020204" charset="-122"/>
                <a:cs typeface="微软雅黑" panose="020B0503020204020204" charset="-122"/>
              </a:defRPr>
            </a:lvl6pPr>
            <a:lvl7pPr>
              <a:defRPr sz="2400" b="1">
                <a:solidFill>
                  <a:srgbClr val="000000"/>
                </a:solidFill>
                <a:latin typeface="Arial" panose="020B0604020202020204"/>
                <a:ea typeface="微软雅黑" panose="020B0503020204020204" charset="-122"/>
                <a:cs typeface="微软雅黑" panose="020B0503020204020204" charset="-122"/>
              </a:defRPr>
            </a:lvl7pPr>
            <a:lvl8pPr>
              <a:defRPr sz="2400" b="1">
                <a:solidFill>
                  <a:srgbClr val="000000"/>
                </a:solidFill>
                <a:latin typeface="Arial" panose="020B0604020202020204"/>
                <a:ea typeface="微软雅黑" panose="020B0503020204020204" charset="-122"/>
                <a:cs typeface="微软雅黑" panose="020B0503020204020204" charset="-122"/>
              </a:defRPr>
            </a:lvl8pPr>
            <a:lvl9pPr>
              <a:defRPr sz="2400" b="1">
                <a:solidFill>
                  <a:srgbClr val="000000"/>
                </a:solidFill>
                <a:latin typeface="Arial" panose="020B0604020202020204"/>
                <a:ea typeface="微软雅黑" panose="020B0503020204020204" charset="-122"/>
                <a:cs typeface="微软雅黑" panose="020B0503020204020204" charset="-122"/>
              </a:defRPr>
            </a:lvl9pPr>
          </a:lstStyle>
          <a:p>
            <a:pPr>
              <a:defRPr sz="2400" b="1">
                <a:solidFill>
                  <a:srgbClr val="000000"/>
                </a:solidFill>
                <a:latin typeface="Arial" panose="020B0604020202020204"/>
                <a:ea typeface="微软雅黑" panose="020B0503020204020204" charset="-122"/>
                <a:cs typeface="微软雅黑" panose="020B0503020204020204" charset="-122"/>
              </a:defRPr>
            </a:pPr>
            <a:r>
              <a:rPr sz="2400" b="1">
                <a:solidFill>
                  <a:srgbClr val="000000"/>
                </a:solidFill>
                <a:latin typeface="Arial" panose="020B0604020202020204"/>
                <a:ea typeface="微软雅黑" panose="020B0503020204020204" charset="-122"/>
                <a:cs typeface="微软雅黑" panose="020B0503020204020204" charset="-122"/>
              </a:rPr>
              <a:t>保留完整抑制机制时的Loose balance</a:t>
            </a:r>
            <a:endParaRPr sz="2400" b="1">
              <a:solidFill>
                <a:srgbClr val="000000"/>
              </a:solidFill>
              <a:latin typeface="Arial" panose="020B0604020202020204"/>
              <a:ea typeface="微软雅黑" panose="020B0503020204020204" charset="-122"/>
              <a:cs typeface="微软雅黑" panose="020B0503020204020204" charset="-122"/>
            </a:endParaRPr>
          </a:p>
        </p:txBody>
      </p:sp>
      <p:pic>
        <p:nvPicPr>
          <p:cNvPr id="2" name="图片 1"/>
          <p:cNvPicPr>
            <a:picLocks noChangeAspect="1"/>
          </p:cNvPicPr>
          <p:nvPr/>
        </p:nvPicPr>
        <p:blipFill>
          <a:blip r:embed="rId1"/>
          <a:stretch>
            <a:fillRect/>
          </a:stretch>
        </p:blipFill>
        <p:spPr>
          <a:xfrm>
            <a:off x="10921365" y="0"/>
            <a:ext cx="1270635" cy="1270635"/>
          </a:xfrm>
          <a:prstGeom prst="rect">
            <a:avLst/>
          </a:prstGeom>
        </p:spPr>
      </p:pic>
      <p:sp>
        <p:nvSpPr>
          <p:cNvPr id="3" name="AD（完整机制）"/>
          <p:cNvSpPr>
            <a:spLocks noGrp="1"/>
          </p:cNvSpPr>
          <p:nvPr/>
        </p:nvSpPr>
        <p:spPr>
          <a:xfrm>
            <a:off x="161925" y="914400"/>
            <a:ext cx="3048000" cy="266700"/>
          </a:xfrm>
          <a:prstGeom prst="rect">
            <a:avLst/>
          </a:prstGeom>
          <a:noFill/>
          <a:ln w="0">
            <a:noFill/>
          </a:ln>
        </p:spPr>
        <p:txBody>
          <a:bodyPr wrap="square" lIns="0" tIns="0" rIns="0" bIns="0" anchor="t">
            <a:noAutofit/>
          </a:bodyPr>
          <a:lstStyle>
            <a:defPPr>
              <a:defRPr sz="1350" b="1">
                <a:solidFill>
                  <a:srgbClr val="000000"/>
                </a:solidFill>
                <a:latin typeface="Arial" panose="020B0604020202020204"/>
                <a:ea typeface="微软雅黑" panose="020B0503020204020204" charset="-122"/>
                <a:cs typeface="微软雅黑" panose="020B0503020204020204" charset="-122"/>
              </a:defRPr>
            </a:defPPr>
            <a:lvl1pPr>
              <a:defRPr sz="1350" b="1">
                <a:solidFill>
                  <a:srgbClr val="000000"/>
                </a:solidFill>
                <a:latin typeface="Arial" panose="020B0604020202020204"/>
                <a:ea typeface="微软雅黑" panose="020B0503020204020204" charset="-122"/>
                <a:cs typeface="微软雅黑" panose="020B0503020204020204" charset="-122"/>
              </a:defRPr>
            </a:lvl1pPr>
            <a:lvl2pPr>
              <a:defRPr sz="1350" b="1">
                <a:solidFill>
                  <a:srgbClr val="000000"/>
                </a:solidFill>
                <a:latin typeface="Arial" panose="020B0604020202020204"/>
                <a:ea typeface="微软雅黑" panose="020B0503020204020204" charset="-122"/>
                <a:cs typeface="微软雅黑" panose="020B0503020204020204" charset="-122"/>
              </a:defRPr>
            </a:lvl2pPr>
            <a:lvl3pPr>
              <a:defRPr sz="1350" b="1">
                <a:solidFill>
                  <a:srgbClr val="000000"/>
                </a:solidFill>
                <a:latin typeface="Arial" panose="020B0604020202020204"/>
                <a:ea typeface="微软雅黑" panose="020B0503020204020204" charset="-122"/>
                <a:cs typeface="微软雅黑" panose="020B0503020204020204" charset="-122"/>
              </a:defRPr>
            </a:lvl3pPr>
            <a:lvl4pPr>
              <a:defRPr sz="1350" b="1">
                <a:solidFill>
                  <a:srgbClr val="000000"/>
                </a:solidFill>
                <a:latin typeface="Arial" panose="020B0604020202020204"/>
                <a:ea typeface="微软雅黑" panose="020B0503020204020204" charset="-122"/>
                <a:cs typeface="微软雅黑" panose="020B0503020204020204" charset="-122"/>
              </a:defRPr>
            </a:lvl4pPr>
            <a:lvl5pPr>
              <a:defRPr sz="1350" b="1">
                <a:solidFill>
                  <a:srgbClr val="000000"/>
                </a:solidFill>
                <a:latin typeface="Arial" panose="020B0604020202020204"/>
                <a:ea typeface="微软雅黑" panose="020B0503020204020204" charset="-122"/>
                <a:cs typeface="微软雅黑" panose="020B0503020204020204" charset="-122"/>
              </a:defRPr>
            </a:lvl5pPr>
            <a:lvl6pPr>
              <a:defRPr sz="1350" b="1">
                <a:solidFill>
                  <a:srgbClr val="000000"/>
                </a:solidFill>
                <a:latin typeface="Arial" panose="020B0604020202020204"/>
                <a:ea typeface="微软雅黑" panose="020B0503020204020204" charset="-122"/>
                <a:cs typeface="微软雅黑" panose="020B0503020204020204" charset="-122"/>
              </a:defRPr>
            </a:lvl6pPr>
            <a:lvl7pPr>
              <a:defRPr sz="1350" b="1">
                <a:solidFill>
                  <a:srgbClr val="000000"/>
                </a:solidFill>
                <a:latin typeface="Arial" panose="020B0604020202020204"/>
                <a:ea typeface="微软雅黑" panose="020B0503020204020204" charset="-122"/>
                <a:cs typeface="微软雅黑" panose="020B0503020204020204" charset="-122"/>
              </a:defRPr>
            </a:lvl7pPr>
            <a:lvl8pPr>
              <a:defRPr sz="1350" b="1">
                <a:solidFill>
                  <a:srgbClr val="000000"/>
                </a:solidFill>
                <a:latin typeface="Arial" panose="020B0604020202020204"/>
                <a:ea typeface="微软雅黑" panose="020B0503020204020204" charset="-122"/>
                <a:cs typeface="微软雅黑" panose="020B0503020204020204" charset="-122"/>
              </a:defRPr>
            </a:lvl8pPr>
            <a:lvl9pPr>
              <a:defRPr sz="1350" b="1">
                <a:solidFill>
                  <a:srgbClr val="000000"/>
                </a:solidFill>
                <a:latin typeface="Arial" panose="020B0604020202020204"/>
                <a:ea typeface="微软雅黑" panose="020B0503020204020204" charset="-122"/>
                <a:cs typeface="微软雅黑" panose="020B0503020204020204" charset="-122"/>
              </a:defRPr>
            </a:lvl9pPr>
          </a:lstStyle>
          <a:p>
            <a:pPr>
              <a:defRPr sz="1350" b="1">
                <a:solidFill>
                  <a:srgbClr val="000000"/>
                </a:solidFill>
                <a:latin typeface="Arial" panose="020B0604020202020204"/>
                <a:ea typeface="微软雅黑" panose="020B0503020204020204" charset="-122"/>
                <a:cs typeface="微软雅黑" panose="020B0503020204020204" charset="-122"/>
              </a:defRPr>
            </a:pPr>
            <a:r>
              <a:rPr sz="1350" b="1">
                <a:solidFill>
                  <a:srgbClr val="000000"/>
                </a:solidFill>
                <a:latin typeface="Arial" panose="020B0604020202020204"/>
                <a:ea typeface="微软雅黑" panose="020B0503020204020204" charset="-122"/>
                <a:cs typeface="微软雅黑" panose="020B0503020204020204" charset="-122"/>
              </a:rPr>
              <a:t>AD（</a:t>
            </a:r>
            <a:r>
              <a:rPr lang="en-US" sz="1350" b="1">
                <a:solidFill>
                  <a:srgbClr val="000000"/>
                </a:solidFill>
                <a:latin typeface="Arial" panose="020B0604020202020204"/>
                <a:ea typeface="微软雅黑" panose="020B0503020204020204" charset="-122"/>
                <a:cs typeface="微软雅黑" panose="020B0503020204020204" charset="-122"/>
              </a:rPr>
              <a:t>Baseline</a:t>
            </a:r>
            <a:r>
              <a:rPr sz="1350" b="1">
                <a:solidFill>
                  <a:srgbClr val="000000"/>
                </a:solidFill>
                <a:latin typeface="Arial" panose="020B0604020202020204"/>
                <a:ea typeface="微软雅黑" panose="020B0503020204020204" charset="-122"/>
                <a:cs typeface="微软雅黑" panose="020B0503020204020204" charset="-122"/>
              </a:rPr>
              <a:t>）</a:t>
            </a:r>
            <a:endParaRPr sz="1350" b="1">
              <a:solidFill>
                <a:srgbClr val="000000"/>
              </a:solidFill>
              <a:latin typeface="Arial" panose="020B0604020202020204"/>
              <a:ea typeface="微软雅黑" panose="020B0503020204020204" charset="-122"/>
              <a:cs typeface="微软雅黑" panose="020B0503020204020204" charset="-122"/>
            </a:endParaRPr>
          </a:p>
        </p:txBody>
      </p:sp>
      <p:pic>
        <p:nvPicPr>
          <p:cNvPr id="4" name="图片 3"/>
          <p:cNvPicPr>
            <a:picLocks noChangeAspect="1"/>
          </p:cNvPicPr>
          <p:nvPr/>
        </p:nvPicPr>
        <p:blipFill>
          <a:blip r:embed="rId2"/>
          <a:stretch>
            <a:fillRect/>
          </a:stretch>
        </p:blipFill>
        <p:spPr>
          <a:xfrm>
            <a:off x="270809" y="1200150"/>
            <a:ext cx="2744508" cy="2333625"/>
          </a:xfrm>
          <a:prstGeom prst="rect">
            <a:avLst/>
          </a:prstGeom>
        </p:spPr>
      </p:pic>
      <p:sp>
        <p:nvSpPr>
          <p:cNvPr id="5" name="AE（L1 off）"/>
          <p:cNvSpPr>
            <a:spLocks noGrp="1"/>
          </p:cNvSpPr>
          <p:nvPr/>
        </p:nvSpPr>
        <p:spPr>
          <a:xfrm>
            <a:off x="3305175" y="914400"/>
            <a:ext cx="3048000" cy="266700"/>
          </a:xfrm>
          <a:prstGeom prst="rect">
            <a:avLst/>
          </a:prstGeom>
          <a:noFill/>
          <a:ln w="0">
            <a:noFill/>
          </a:ln>
        </p:spPr>
        <p:txBody>
          <a:bodyPr wrap="square" lIns="0" tIns="0" rIns="0" bIns="0" anchor="t">
            <a:noAutofit/>
          </a:bodyPr>
          <a:lstStyle>
            <a:defPPr>
              <a:defRPr sz="1350" b="1">
                <a:solidFill>
                  <a:srgbClr val="000000"/>
                </a:solidFill>
                <a:latin typeface="Arial" panose="020B0604020202020204"/>
                <a:ea typeface="微软雅黑" panose="020B0503020204020204" charset="-122"/>
                <a:cs typeface="微软雅黑" panose="020B0503020204020204" charset="-122"/>
              </a:defRPr>
            </a:defPPr>
            <a:lvl1pPr>
              <a:defRPr sz="1350" b="1">
                <a:solidFill>
                  <a:srgbClr val="000000"/>
                </a:solidFill>
                <a:latin typeface="Arial" panose="020B0604020202020204"/>
                <a:ea typeface="微软雅黑" panose="020B0503020204020204" charset="-122"/>
                <a:cs typeface="微软雅黑" panose="020B0503020204020204" charset="-122"/>
              </a:defRPr>
            </a:lvl1pPr>
            <a:lvl2pPr>
              <a:defRPr sz="1350" b="1">
                <a:solidFill>
                  <a:srgbClr val="000000"/>
                </a:solidFill>
                <a:latin typeface="Arial" panose="020B0604020202020204"/>
                <a:ea typeface="微软雅黑" panose="020B0503020204020204" charset="-122"/>
                <a:cs typeface="微软雅黑" panose="020B0503020204020204" charset="-122"/>
              </a:defRPr>
            </a:lvl2pPr>
            <a:lvl3pPr>
              <a:defRPr sz="1350" b="1">
                <a:solidFill>
                  <a:srgbClr val="000000"/>
                </a:solidFill>
                <a:latin typeface="Arial" panose="020B0604020202020204"/>
                <a:ea typeface="微软雅黑" panose="020B0503020204020204" charset="-122"/>
                <a:cs typeface="微软雅黑" panose="020B0503020204020204" charset="-122"/>
              </a:defRPr>
            </a:lvl3pPr>
            <a:lvl4pPr>
              <a:defRPr sz="1350" b="1">
                <a:solidFill>
                  <a:srgbClr val="000000"/>
                </a:solidFill>
                <a:latin typeface="Arial" panose="020B0604020202020204"/>
                <a:ea typeface="微软雅黑" panose="020B0503020204020204" charset="-122"/>
                <a:cs typeface="微软雅黑" panose="020B0503020204020204" charset="-122"/>
              </a:defRPr>
            </a:lvl4pPr>
            <a:lvl5pPr>
              <a:defRPr sz="1350" b="1">
                <a:solidFill>
                  <a:srgbClr val="000000"/>
                </a:solidFill>
                <a:latin typeface="Arial" panose="020B0604020202020204"/>
                <a:ea typeface="微软雅黑" panose="020B0503020204020204" charset="-122"/>
                <a:cs typeface="微软雅黑" panose="020B0503020204020204" charset="-122"/>
              </a:defRPr>
            </a:lvl5pPr>
            <a:lvl6pPr>
              <a:defRPr sz="1350" b="1">
                <a:solidFill>
                  <a:srgbClr val="000000"/>
                </a:solidFill>
                <a:latin typeface="Arial" panose="020B0604020202020204"/>
                <a:ea typeface="微软雅黑" panose="020B0503020204020204" charset="-122"/>
                <a:cs typeface="微软雅黑" panose="020B0503020204020204" charset="-122"/>
              </a:defRPr>
            </a:lvl6pPr>
            <a:lvl7pPr>
              <a:defRPr sz="1350" b="1">
                <a:solidFill>
                  <a:srgbClr val="000000"/>
                </a:solidFill>
                <a:latin typeface="Arial" panose="020B0604020202020204"/>
                <a:ea typeface="微软雅黑" panose="020B0503020204020204" charset="-122"/>
                <a:cs typeface="微软雅黑" panose="020B0503020204020204" charset="-122"/>
              </a:defRPr>
            </a:lvl7pPr>
            <a:lvl8pPr>
              <a:defRPr sz="1350" b="1">
                <a:solidFill>
                  <a:srgbClr val="000000"/>
                </a:solidFill>
                <a:latin typeface="Arial" panose="020B0604020202020204"/>
                <a:ea typeface="微软雅黑" panose="020B0503020204020204" charset="-122"/>
                <a:cs typeface="微软雅黑" panose="020B0503020204020204" charset="-122"/>
              </a:defRPr>
            </a:lvl8pPr>
            <a:lvl9pPr>
              <a:defRPr sz="1350" b="1">
                <a:solidFill>
                  <a:srgbClr val="000000"/>
                </a:solidFill>
                <a:latin typeface="Arial" panose="020B0604020202020204"/>
                <a:ea typeface="微软雅黑" panose="020B0503020204020204" charset="-122"/>
                <a:cs typeface="微软雅黑" panose="020B0503020204020204" charset="-122"/>
              </a:defRPr>
            </a:lvl9pPr>
          </a:lstStyle>
          <a:p>
            <a:pPr>
              <a:defRPr sz="1350" b="1">
                <a:solidFill>
                  <a:srgbClr val="000000"/>
                </a:solidFill>
                <a:latin typeface="Arial" panose="020B0604020202020204"/>
                <a:ea typeface="微软雅黑" panose="020B0503020204020204" charset="-122"/>
                <a:cs typeface="微软雅黑" panose="020B0503020204020204" charset="-122"/>
              </a:defRPr>
            </a:pPr>
            <a:r>
              <a:rPr sz="1350" b="1">
                <a:solidFill>
                  <a:srgbClr val="000000"/>
                </a:solidFill>
                <a:latin typeface="Arial" panose="020B0604020202020204"/>
                <a:ea typeface="微软雅黑" panose="020B0503020204020204" charset="-122"/>
                <a:cs typeface="微软雅黑" panose="020B0503020204020204" charset="-122"/>
              </a:rPr>
              <a:t>AE（L1 off）</a:t>
            </a:r>
            <a:endParaRPr sz="1350" b="1">
              <a:solidFill>
                <a:srgbClr val="000000"/>
              </a:solidFill>
              <a:latin typeface="Arial" panose="020B0604020202020204"/>
              <a:ea typeface="微软雅黑" panose="020B0503020204020204" charset="-122"/>
              <a:cs typeface="微软雅黑" panose="020B0503020204020204" charset="-122"/>
            </a:endParaRPr>
          </a:p>
        </p:txBody>
      </p:sp>
      <p:pic>
        <p:nvPicPr>
          <p:cNvPr id="6" name="图片 5"/>
          <p:cNvPicPr>
            <a:picLocks noChangeAspect="1"/>
          </p:cNvPicPr>
          <p:nvPr/>
        </p:nvPicPr>
        <p:blipFill>
          <a:blip r:embed="rId3"/>
          <a:stretch>
            <a:fillRect/>
          </a:stretch>
        </p:blipFill>
        <p:spPr>
          <a:xfrm>
            <a:off x="3399781" y="1200150"/>
            <a:ext cx="2773064" cy="2333625"/>
          </a:xfrm>
          <a:prstGeom prst="rect">
            <a:avLst/>
          </a:prstGeom>
        </p:spPr>
      </p:pic>
      <p:sp>
        <p:nvSpPr>
          <p:cNvPr id="7" name="AF（阈值适应 off）"/>
          <p:cNvSpPr>
            <a:spLocks noGrp="1"/>
          </p:cNvSpPr>
          <p:nvPr/>
        </p:nvSpPr>
        <p:spPr>
          <a:xfrm>
            <a:off x="161925" y="3629025"/>
            <a:ext cx="3048000" cy="266700"/>
          </a:xfrm>
          <a:prstGeom prst="rect">
            <a:avLst/>
          </a:prstGeom>
          <a:noFill/>
          <a:ln w="0">
            <a:noFill/>
          </a:ln>
        </p:spPr>
        <p:txBody>
          <a:bodyPr wrap="square" lIns="0" tIns="0" rIns="0" bIns="0" anchor="t">
            <a:noAutofit/>
          </a:bodyPr>
          <a:lstStyle>
            <a:defPPr>
              <a:defRPr sz="1350" b="1">
                <a:solidFill>
                  <a:srgbClr val="000000"/>
                </a:solidFill>
                <a:latin typeface="Arial" panose="020B0604020202020204"/>
                <a:ea typeface="微软雅黑" panose="020B0503020204020204" charset="-122"/>
                <a:cs typeface="微软雅黑" panose="020B0503020204020204" charset="-122"/>
              </a:defRPr>
            </a:defPPr>
            <a:lvl1pPr>
              <a:defRPr sz="1350" b="1">
                <a:solidFill>
                  <a:srgbClr val="000000"/>
                </a:solidFill>
                <a:latin typeface="Arial" panose="020B0604020202020204"/>
                <a:ea typeface="微软雅黑" panose="020B0503020204020204" charset="-122"/>
                <a:cs typeface="微软雅黑" panose="020B0503020204020204" charset="-122"/>
              </a:defRPr>
            </a:lvl1pPr>
            <a:lvl2pPr>
              <a:defRPr sz="1350" b="1">
                <a:solidFill>
                  <a:srgbClr val="000000"/>
                </a:solidFill>
                <a:latin typeface="Arial" panose="020B0604020202020204"/>
                <a:ea typeface="微软雅黑" panose="020B0503020204020204" charset="-122"/>
                <a:cs typeface="微软雅黑" panose="020B0503020204020204" charset="-122"/>
              </a:defRPr>
            </a:lvl2pPr>
            <a:lvl3pPr>
              <a:defRPr sz="1350" b="1">
                <a:solidFill>
                  <a:srgbClr val="000000"/>
                </a:solidFill>
                <a:latin typeface="Arial" panose="020B0604020202020204"/>
                <a:ea typeface="微软雅黑" panose="020B0503020204020204" charset="-122"/>
                <a:cs typeface="微软雅黑" panose="020B0503020204020204" charset="-122"/>
              </a:defRPr>
            </a:lvl3pPr>
            <a:lvl4pPr>
              <a:defRPr sz="1350" b="1">
                <a:solidFill>
                  <a:srgbClr val="000000"/>
                </a:solidFill>
                <a:latin typeface="Arial" panose="020B0604020202020204"/>
                <a:ea typeface="微软雅黑" panose="020B0503020204020204" charset="-122"/>
                <a:cs typeface="微软雅黑" panose="020B0503020204020204" charset="-122"/>
              </a:defRPr>
            </a:lvl4pPr>
            <a:lvl5pPr>
              <a:defRPr sz="1350" b="1">
                <a:solidFill>
                  <a:srgbClr val="000000"/>
                </a:solidFill>
                <a:latin typeface="Arial" panose="020B0604020202020204"/>
                <a:ea typeface="微软雅黑" panose="020B0503020204020204" charset="-122"/>
                <a:cs typeface="微软雅黑" panose="020B0503020204020204" charset="-122"/>
              </a:defRPr>
            </a:lvl5pPr>
            <a:lvl6pPr>
              <a:defRPr sz="1350" b="1">
                <a:solidFill>
                  <a:srgbClr val="000000"/>
                </a:solidFill>
                <a:latin typeface="Arial" panose="020B0604020202020204"/>
                <a:ea typeface="微软雅黑" panose="020B0503020204020204" charset="-122"/>
                <a:cs typeface="微软雅黑" panose="020B0503020204020204" charset="-122"/>
              </a:defRPr>
            </a:lvl6pPr>
            <a:lvl7pPr>
              <a:defRPr sz="1350" b="1">
                <a:solidFill>
                  <a:srgbClr val="000000"/>
                </a:solidFill>
                <a:latin typeface="Arial" panose="020B0604020202020204"/>
                <a:ea typeface="微软雅黑" panose="020B0503020204020204" charset="-122"/>
                <a:cs typeface="微软雅黑" panose="020B0503020204020204" charset="-122"/>
              </a:defRPr>
            </a:lvl7pPr>
            <a:lvl8pPr>
              <a:defRPr sz="1350" b="1">
                <a:solidFill>
                  <a:srgbClr val="000000"/>
                </a:solidFill>
                <a:latin typeface="Arial" panose="020B0604020202020204"/>
                <a:ea typeface="微软雅黑" panose="020B0503020204020204" charset="-122"/>
                <a:cs typeface="微软雅黑" panose="020B0503020204020204" charset="-122"/>
              </a:defRPr>
            </a:lvl8pPr>
            <a:lvl9pPr>
              <a:defRPr sz="1350" b="1">
                <a:solidFill>
                  <a:srgbClr val="000000"/>
                </a:solidFill>
                <a:latin typeface="Arial" panose="020B0604020202020204"/>
                <a:ea typeface="微软雅黑" panose="020B0503020204020204" charset="-122"/>
                <a:cs typeface="微软雅黑" panose="020B0503020204020204" charset="-122"/>
              </a:defRPr>
            </a:lvl9pPr>
          </a:lstStyle>
          <a:p>
            <a:pPr>
              <a:defRPr sz="1350" b="1">
                <a:solidFill>
                  <a:srgbClr val="000000"/>
                </a:solidFill>
                <a:latin typeface="Arial" panose="020B0604020202020204"/>
                <a:ea typeface="微软雅黑" panose="020B0503020204020204" charset="-122"/>
                <a:cs typeface="微软雅黑" panose="020B0503020204020204" charset="-122"/>
              </a:defRPr>
            </a:pPr>
            <a:r>
              <a:rPr sz="1350" b="1">
                <a:solidFill>
                  <a:srgbClr val="000000"/>
                </a:solidFill>
                <a:latin typeface="Arial" panose="020B0604020202020204"/>
                <a:ea typeface="微软雅黑" panose="020B0503020204020204" charset="-122"/>
                <a:cs typeface="微软雅黑" panose="020B0503020204020204" charset="-122"/>
              </a:rPr>
              <a:t>AF</a:t>
            </a:r>
            <a:r>
              <a:rPr>
                <a:sym typeface="+mn-ea"/>
              </a:rPr>
              <a:t>（</a:t>
            </a:r>
            <a:r>
              <a:rPr lang="en-US">
                <a:sym typeface="+mn-ea"/>
              </a:rPr>
              <a:t>Adaptive threshold</a:t>
            </a:r>
            <a:r>
              <a:rPr>
                <a:sym typeface="+mn-ea"/>
              </a:rPr>
              <a:t> off</a:t>
            </a:r>
            <a:r>
              <a:rPr sz="1350" b="1">
                <a:solidFill>
                  <a:srgbClr val="000000"/>
                </a:solidFill>
                <a:latin typeface="Arial" panose="020B0604020202020204"/>
                <a:ea typeface="微软雅黑" panose="020B0503020204020204" charset="-122"/>
                <a:cs typeface="微软雅黑" panose="020B0503020204020204" charset="-122"/>
              </a:rPr>
              <a:t>）</a:t>
            </a:r>
            <a:endParaRPr sz="1350" b="1">
              <a:solidFill>
                <a:srgbClr val="000000"/>
              </a:solidFill>
              <a:latin typeface="Arial" panose="020B0604020202020204"/>
              <a:ea typeface="微软雅黑" panose="020B0503020204020204" charset="-122"/>
              <a:cs typeface="微软雅黑" panose="020B0503020204020204" charset="-122"/>
            </a:endParaRPr>
          </a:p>
        </p:txBody>
      </p:sp>
      <p:pic>
        <p:nvPicPr>
          <p:cNvPr id="8" name="图片 7"/>
          <p:cNvPicPr>
            <a:picLocks noChangeAspect="1"/>
          </p:cNvPicPr>
          <p:nvPr/>
        </p:nvPicPr>
        <p:blipFill>
          <a:blip r:embed="rId4"/>
          <a:stretch>
            <a:fillRect/>
          </a:stretch>
        </p:blipFill>
        <p:spPr>
          <a:xfrm>
            <a:off x="257324" y="3914775"/>
            <a:ext cx="2771477" cy="2333625"/>
          </a:xfrm>
          <a:prstGeom prst="rect">
            <a:avLst/>
          </a:prstGeom>
        </p:spPr>
      </p:pic>
      <p:sp>
        <p:nvSpPr>
          <p:cNvPr id="9" name="AG（两种稳态机制 off）"/>
          <p:cNvSpPr>
            <a:spLocks noGrp="1"/>
          </p:cNvSpPr>
          <p:nvPr/>
        </p:nvSpPr>
        <p:spPr>
          <a:xfrm>
            <a:off x="3305175" y="3629025"/>
            <a:ext cx="3048000" cy="266700"/>
          </a:xfrm>
          <a:prstGeom prst="rect">
            <a:avLst/>
          </a:prstGeom>
          <a:noFill/>
          <a:ln w="0">
            <a:noFill/>
          </a:ln>
        </p:spPr>
        <p:txBody>
          <a:bodyPr wrap="square" lIns="0" tIns="0" rIns="0" bIns="0" anchor="t">
            <a:noAutofit/>
          </a:bodyPr>
          <a:lstStyle>
            <a:defPPr>
              <a:defRPr sz="1350" b="1">
                <a:solidFill>
                  <a:srgbClr val="000000"/>
                </a:solidFill>
                <a:latin typeface="Arial" panose="020B0604020202020204"/>
                <a:ea typeface="微软雅黑" panose="020B0503020204020204" charset="-122"/>
                <a:cs typeface="微软雅黑" panose="020B0503020204020204" charset="-122"/>
              </a:defRPr>
            </a:defPPr>
            <a:lvl1pPr>
              <a:defRPr sz="1350" b="1">
                <a:solidFill>
                  <a:srgbClr val="000000"/>
                </a:solidFill>
                <a:latin typeface="Arial" panose="020B0604020202020204"/>
                <a:ea typeface="微软雅黑" panose="020B0503020204020204" charset="-122"/>
                <a:cs typeface="微软雅黑" panose="020B0503020204020204" charset="-122"/>
              </a:defRPr>
            </a:lvl1pPr>
            <a:lvl2pPr>
              <a:defRPr sz="1350" b="1">
                <a:solidFill>
                  <a:srgbClr val="000000"/>
                </a:solidFill>
                <a:latin typeface="Arial" panose="020B0604020202020204"/>
                <a:ea typeface="微软雅黑" panose="020B0503020204020204" charset="-122"/>
                <a:cs typeface="微软雅黑" panose="020B0503020204020204" charset="-122"/>
              </a:defRPr>
            </a:lvl2pPr>
            <a:lvl3pPr>
              <a:defRPr sz="1350" b="1">
                <a:solidFill>
                  <a:srgbClr val="000000"/>
                </a:solidFill>
                <a:latin typeface="Arial" panose="020B0604020202020204"/>
                <a:ea typeface="微软雅黑" panose="020B0503020204020204" charset="-122"/>
                <a:cs typeface="微软雅黑" panose="020B0503020204020204" charset="-122"/>
              </a:defRPr>
            </a:lvl3pPr>
            <a:lvl4pPr>
              <a:defRPr sz="1350" b="1">
                <a:solidFill>
                  <a:srgbClr val="000000"/>
                </a:solidFill>
                <a:latin typeface="Arial" panose="020B0604020202020204"/>
                <a:ea typeface="微软雅黑" panose="020B0503020204020204" charset="-122"/>
                <a:cs typeface="微软雅黑" panose="020B0503020204020204" charset="-122"/>
              </a:defRPr>
            </a:lvl4pPr>
            <a:lvl5pPr>
              <a:defRPr sz="1350" b="1">
                <a:solidFill>
                  <a:srgbClr val="000000"/>
                </a:solidFill>
                <a:latin typeface="Arial" panose="020B0604020202020204"/>
                <a:ea typeface="微软雅黑" panose="020B0503020204020204" charset="-122"/>
                <a:cs typeface="微软雅黑" panose="020B0503020204020204" charset="-122"/>
              </a:defRPr>
            </a:lvl5pPr>
            <a:lvl6pPr>
              <a:defRPr sz="1350" b="1">
                <a:solidFill>
                  <a:srgbClr val="000000"/>
                </a:solidFill>
                <a:latin typeface="Arial" panose="020B0604020202020204"/>
                <a:ea typeface="微软雅黑" panose="020B0503020204020204" charset="-122"/>
                <a:cs typeface="微软雅黑" panose="020B0503020204020204" charset="-122"/>
              </a:defRPr>
            </a:lvl6pPr>
            <a:lvl7pPr>
              <a:defRPr sz="1350" b="1">
                <a:solidFill>
                  <a:srgbClr val="000000"/>
                </a:solidFill>
                <a:latin typeface="Arial" panose="020B0604020202020204"/>
                <a:ea typeface="微软雅黑" panose="020B0503020204020204" charset="-122"/>
                <a:cs typeface="微软雅黑" panose="020B0503020204020204" charset="-122"/>
              </a:defRPr>
            </a:lvl7pPr>
            <a:lvl8pPr>
              <a:defRPr sz="1350" b="1">
                <a:solidFill>
                  <a:srgbClr val="000000"/>
                </a:solidFill>
                <a:latin typeface="Arial" panose="020B0604020202020204"/>
                <a:ea typeface="微软雅黑" panose="020B0503020204020204" charset="-122"/>
                <a:cs typeface="微软雅黑" panose="020B0503020204020204" charset="-122"/>
              </a:defRPr>
            </a:lvl8pPr>
            <a:lvl9pPr>
              <a:defRPr sz="1350" b="1">
                <a:solidFill>
                  <a:srgbClr val="000000"/>
                </a:solidFill>
                <a:latin typeface="Arial" panose="020B0604020202020204"/>
                <a:ea typeface="微软雅黑" panose="020B0503020204020204" charset="-122"/>
                <a:cs typeface="微软雅黑" panose="020B0503020204020204" charset="-122"/>
              </a:defRPr>
            </a:lvl9pPr>
          </a:lstStyle>
          <a:p>
            <a:pPr>
              <a:defRPr sz="1350" b="1">
                <a:solidFill>
                  <a:srgbClr val="000000"/>
                </a:solidFill>
                <a:latin typeface="Arial" panose="020B0604020202020204"/>
                <a:ea typeface="微软雅黑" panose="020B0503020204020204" charset="-122"/>
                <a:cs typeface="微软雅黑" panose="020B0503020204020204" charset="-122"/>
              </a:defRPr>
            </a:pPr>
            <a:r>
              <a:rPr sz="1350" b="1">
                <a:solidFill>
                  <a:srgbClr val="000000"/>
                </a:solidFill>
                <a:latin typeface="Arial" panose="020B0604020202020204"/>
                <a:ea typeface="微软雅黑" panose="020B0503020204020204" charset="-122"/>
                <a:cs typeface="微软雅黑" panose="020B0503020204020204" charset="-122"/>
              </a:rPr>
              <a:t>AG</a:t>
            </a:r>
            <a:r>
              <a:rPr>
                <a:sym typeface="+mn-ea"/>
              </a:rPr>
              <a:t>（</a:t>
            </a:r>
            <a:r>
              <a:rPr lang="en-US">
                <a:sym typeface="+mn-ea"/>
              </a:rPr>
              <a:t>L1 &amp;</a:t>
            </a:r>
            <a:r>
              <a:rPr>
                <a:sym typeface="+mn-ea"/>
              </a:rPr>
              <a:t> </a:t>
            </a:r>
            <a:r>
              <a:rPr lang="en-US">
                <a:sym typeface="+mn-ea"/>
              </a:rPr>
              <a:t>Adaptive threshold </a:t>
            </a:r>
            <a:r>
              <a:rPr>
                <a:sym typeface="+mn-ea"/>
              </a:rPr>
              <a:t>off）</a:t>
            </a:r>
            <a:endParaRPr b="1">
              <a:solidFill>
                <a:srgbClr val="000000"/>
              </a:solidFill>
              <a:latin typeface="Arial" panose="020B0604020202020204"/>
              <a:ea typeface="微软雅黑" panose="020B0503020204020204" charset="-122"/>
              <a:cs typeface="微软雅黑" panose="020B0503020204020204" charset="-122"/>
            </a:endParaRPr>
          </a:p>
          <a:p>
            <a:pPr>
              <a:defRPr sz="1350" b="1">
                <a:solidFill>
                  <a:srgbClr val="000000"/>
                </a:solidFill>
                <a:latin typeface="Arial" panose="020B0604020202020204"/>
                <a:ea typeface="微软雅黑" panose="020B0503020204020204" charset="-122"/>
                <a:cs typeface="微软雅黑" panose="020B0503020204020204" charset="-122"/>
              </a:defRPr>
            </a:pPr>
            <a:endParaRPr sz="1350" b="1">
              <a:solidFill>
                <a:srgbClr val="000000"/>
              </a:solidFill>
              <a:latin typeface="Arial" panose="020B0604020202020204"/>
              <a:ea typeface="微软雅黑" panose="020B0503020204020204" charset="-122"/>
              <a:cs typeface="微软雅黑" panose="020B0503020204020204" charset="-122"/>
            </a:endParaRPr>
          </a:p>
        </p:txBody>
      </p:sp>
      <p:pic>
        <p:nvPicPr>
          <p:cNvPr id="10" name="图片 9"/>
          <p:cNvPicPr>
            <a:picLocks noChangeAspect="1"/>
          </p:cNvPicPr>
          <p:nvPr/>
        </p:nvPicPr>
        <p:blipFill>
          <a:blip r:embed="rId5"/>
          <a:stretch>
            <a:fillRect/>
          </a:stretch>
        </p:blipFill>
        <p:spPr>
          <a:xfrm>
            <a:off x="3396118" y="3914775"/>
            <a:ext cx="2780388" cy="2333625"/>
          </a:xfrm>
          <a:prstGeom prst="rect">
            <a:avLst/>
          </a:prstGeom>
        </p:spPr>
      </p:pic>
      <p:sp>
        <p:nvSpPr>
          <p:cNvPr id="11" name="Loose balance怎么测量"/>
          <p:cNvSpPr>
            <a:spLocks noGrp="1"/>
          </p:cNvSpPr>
          <p:nvPr/>
        </p:nvSpPr>
        <p:spPr>
          <a:xfrm>
            <a:off x="6610350" y="1143000"/>
            <a:ext cx="5181600" cy="266700"/>
          </a:xfrm>
          <a:prstGeom prst="rect">
            <a:avLst/>
          </a:prstGeom>
          <a:noFill/>
          <a:ln w="0">
            <a:noFill/>
          </a:ln>
        </p:spPr>
        <p:txBody>
          <a:bodyPr wrap="square" lIns="0" tIns="0" rIns="0" bIns="0" anchor="t">
            <a:noAutofit/>
          </a:bodyPr>
          <a:lstStyle>
            <a:defPPr>
              <a:defRPr sz="1425" b="1">
                <a:solidFill>
                  <a:srgbClr val="000000"/>
                </a:solidFill>
                <a:latin typeface="Arial" panose="020B0604020202020204"/>
                <a:ea typeface="微软雅黑" panose="020B0503020204020204" charset="-122"/>
                <a:cs typeface="微软雅黑" panose="020B0503020204020204" charset="-122"/>
              </a:defRPr>
            </a:defPPr>
            <a:lvl1pPr>
              <a:defRPr sz="1425" b="1">
                <a:solidFill>
                  <a:srgbClr val="000000"/>
                </a:solidFill>
                <a:latin typeface="Arial" panose="020B0604020202020204"/>
                <a:ea typeface="微软雅黑" panose="020B0503020204020204" charset="-122"/>
                <a:cs typeface="微软雅黑" panose="020B0503020204020204" charset="-122"/>
              </a:defRPr>
            </a:lvl1pPr>
            <a:lvl2pPr>
              <a:defRPr sz="1425" b="1">
                <a:solidFill>
                  <a:srgbClr val="000000"/>
                </a:solidFill>
                <a:latin typeface="Arial" panose="020B0604020202020204"/>
                <a:ea typeface="微软雅黑" panose="020B0503020204020204" charset="-122"/>
                <a:cs typeface="微软雅黑" panose="020B0503020204020204" charset="-122"/>
              </a:defRPr>
            </a:lvl2pPr>
            <a:lvl3pPr>
              <a:defRPr sz="1425" b="1">
                <a:solidFill>
                  <a:srgbClr val="000000"/>
                </a:solidFill>
                <a:latin typeface="Arial" panose="020B0604020202020204"/>
                <a:ea typeface="微软雅黑" panose="020B0503020204020204" charset="-122"/>
                <a:cs typeface="微软雅黑" panose="020B0503020204020204" charset="-122"/>
              </a:defRPr>
            </a:lvl3pPr>
            <a:lvl4pPr>
              <a:defRPr sz="1425" b="1">
                <a:solidFill>
                  <a:srgbClr val="000000"/>
                </a:solidFill>
                <a:latin typeface="Arial" panose="020B0604020202020204"/>
                <a:ea typeface="微软雅黑" panose="020B0503020204020204" charset="-122"/>
                <a:cs typeface="微软雅黑" panose="020B0503020204020204" charset="-122"/>
              </a:defRPr>
            </a:lvl4pPr>
            <a:lvl5pPr>
              <a:defRPr sz="1425" b="1">
                <a:solidFill>
                  <a:srgbClr val="000000"/>
                </a:solidFill>
                <a:latin typeface="Arial" panose="020B0604020202020204"/>
                <a:ea typeface="微软雅黑" panose="020B0503020204020204" charset="-122"/>
                <a:cs typeface="微软雅黑" panose="020B0503020204020204" charset="-122"/>
              </a:defRPr>
            </a:lvl5pPr>
            <a:lvl6pPr>
              <a:defRPr sz="1425" b="1">
                <a:solidFill>
                  <a:srgbClr val="000000"/>
                </a:solidFill>
                <a:latin typeface="Arial" panose="020B0604020202020204"/>
                <a:ea typeface="微软雅黑" panose="020B0503020204020204" charset="-122"/>
                <a:cs typeface="微软雅黑" panose="020B0503020204020204" charset="-122"/>
              </a:defRPr>
            </a:lvl6pPr>
            <a:lvl7pPr>
              <a:defRPr sz="1425" b="1">
                <a:solidFill>
                  <a:srgbClr val="000000"/>
                </a:solidFill>
                <a:latin typeface="Arial" panose="020B0604020202020204"/>
                <a:ea typeface="微软雅黑" panose="020B0503020204020204" charset="-122"/>
                <a:cs typeface="微软雅黑" panose="020B0503020204020204" charset="-122"/>
              </a:defRPr>
            </a:lvl7pPr>
            <a:lvl8pPr>
              <a:defRPr sz="1425" b="1">
                <a:solidFill>
                  <a:srgbClr val="000000"/>
                </a:solidFill>
                <a:latin typeface="Arial" panose="020B0604020202020204"/>
                <a:ea typeface="微软雅黑" panose="020B0503020204020204" charset="-122"/>
                <a:cs typeface="微软雅黑" panose="020B0503020204020204" charset="-122"/>
              </a:defRPr>
            </a:lvl8pPr>
            <a:lvl9pPr>
              <a:defRPr sz="1425" b="1">
                <a:solidFill>
                  <a:srgbClr val="000000"/>
                </a:solidFill>
                <a:latin typeface="Arial" panose="020B0604020202020204"/>
                <a:ea typeface="微软雅黑" panose="020B0503020204020204" charset="-122"/>
                <a:cs typeface="微软雅黑" panose="020B0503020204020204" charset="-122"/>
              </a:defRPr>
            </a:lvl9pPr>
          </a:lstStyle>
          <a:p>
            <a:pPr>
              <a:defRPr sz="1425" b="1">
                <a:solidFill>
                  <a:srgbClr val="000000"/>
                </a:solidFill>
                <a:latin typeface="Arial" panose="020B0604020202020204"/>
                <a:ea typeface="微软雅黑" panose="020B0503020204020204" charset="-122"/>
                <a:cs typeface="微软雅黑" panose="020B0503020204020204" charset="-122"/>
              </a:defRPr>
            </a:pPr>
            <a:r>
              <a:rPr sz="1425" b="1">
                <a:solidFill>
                  <a:srgbClr val="000000"/>
                </a:solidFill>
                <a:latin typeface="Arial" panose="020B0604020202020204"/>
                <a:ea typeface="微软雅黑" panose="020B0503020204020204" charset="-122"/>
                <a:cs typeface="微软雅黑" panose="020B0503020204020204" charset="-122"/>
              </a:rPr>
              <a:t>Loose balance怎么测量</a:t>
            </a:r>
            <a:endParaRPr sz="1425" b="1">
              <a:solidFill>
                <a:srgbClr val="000000"/>
              </a:solidFill>
              <a:latin typeface="Arial" panose="020B0604020202020204"/>
              <a:ea typeface="微软雅黑" panose="020B0503020204020204" charset="-122"/>
              <a:cs typeface="微软雅黑" panose="020B0503020204020204" charset="-122"/>
            </a:endParaRPr>
          </a:p>
        </p:txBody>
      </p:sp>
      <p:sp>
        <p:nvSpPr>
          <p:cNvPr id="12" name="随机选40个E神经元。各自选低、中、高匹配图片，记录兴奋、抑"/>
          <p:cNvSpPr>
            <a:spLocks noGrp="1"/>
          </p:cNvSpPr>
          <p:nvPr/>
        </p:nvSpPr>
        <p:spPr>
          <a:xfrm>
            <a:off x="6610350" y="1447800"/>
            <a:ext cx="5181600" cy="2476500"/>
          </a:xfrm>
          <a:prstGeom prst="rect">
            <a:avLst/>
          </a:prstGeom>
          <a:noFill/>
          <a:ln w="0">
            <a:noFill/>
          </a:ln>
        </p:spPr>
        <p:txBody>
          <a:bodyPr wrap="square" lIns="0" tIns="0" rIns="0" bIns="0" anchor="t">
            <a:noAutofit/>
          </a:bodyPr>
          <a:lstStyle>
            <a:defPPr>
              <a:defRPr sz="1350" b="0">
                <a:solidFill>
                  <a:srgbClr val="000000"/>
                </a:solidFill>
                <a:latin typeface="Arial" panose="020B0604020202020204"/>
                <a:ea typeface="微软雅黑" panose="020B0503020204020204" charset="-122"/>
                <a:cs typeface="微软雅黑" panose="020B0503020204020204" charset="-122"/>
              </a:defRPr>
            </a:defPPr>
            <a:lvl1pPr>
              <a:defRPr sz="1350" b="0">
                <a:solidFill>
                  <a:srgbClr val="000000"/>
                </a:solidFill>
                <a:latin typeface="Arial" panose="020B0604020202020204"/>
                <a:ea typeface="微软雅黑" panose="020B0503020204020204" charset="-122"/>
                <a:cs typeface="微软雅黑" panose="020B0503020204020204" charset="-122"/>
              </a:defRPr>
            </a:lvl1pPr>
            <a:lvl2pPr>
              <a:defRPr sz="1350" b="0">
                <a:solidFill>
                  <a:srgbClr val="000000"/>
                </a:solidFill>
                <a:latin typeface="Arial" panose="020B0604020202020204"/>
                <a:ea typeface="微软雅黑" panose="020B0503020204020204" charset="-122"/>
                <a:cs typeface="微软雅黑" panose="020B0503020204020204" charset="-122"/>
              </a:defRPr>
            </a:lvl2pPr>
            <a:lvl3pPr>
              <a:defRPr sz="1350" b="0">
                <a:solidFill>
                  <a:srgbClr val="000000"/>
                </a:solidFill>
                <a:latin typeface="Arial" panose="020B0604020202020204"/>
                <a:ea typeface="微软雅黑" panose="020B0503020204020204" charset="-122"/>
                <a:cs typeface="微软雅黑" panose="020B0503020204020204" charset="-122"/>
              </a:defRPr>
            </a:lvl3pPr>
            <a:lvl4pPr>
              <a:defRPr sz="1350" b="0">
                <a:solidFill>
                  <a:srgbClr val="000000"/>
                </a:solidFill>
                <a:latin typeface="Arial" panose="020B0604020202020204"/>
                <a:ea typeface="微软雅黑" panose="020B0503020204020204" charset="-122"/>
                <a:cs typeface="微软雅黑" panose="020B0503020204020204" charset="-122"/>
              </a:defRPr>
            </a:lvl4pPr>
            <a:lvl5pPr>
              <a:defRPr sz="1350" b="0">
                <a:solidFill>
                  <a:srgbClr val="000000"/>
                </a:solidFill>
                <a:latin typeface="Arial" panose="020B0604020202020204"/>
                <a:ea typeface="微软雅黑" panose="020B0503020204020204" charset="-122"/>
                <a:cs typeface="微软雅黑" panose="020B0503020204020204" charset="-122"/>
              </a:defRPr>
            </a:lvl5pPr>
            <a:lvl6pPr>
              <a:defRPr sz="1350" b="0">
                <a:solidFill>
                  <a:srgbClr val="000000"/>
                </a:solidFill>
                <a:latin typeface="Arial" panose="020B0604020202020204"/>
                <a:ea typeface="微软雅黑" panose="020B0503020204020204" charset="-122"/>
                <a:cs typeface="微软雅黑" panose="020B0503020204020204" charset="-122"/>
              </a:defRPr>
            </a:lvl6pPr>
            <a:lvl7pPr>
              <a:defRPr sz="1350" b="0">
                <a:solidFill>
                  <a:srgbClr val="000000"/>
                </a:solidFill>
                <a:latin typeface="Arial" panose="020B0604020202020204"/>
                <a:ea typeface="微软雅黑" panose="020B0503020204020204" charset="-122"/>
                <a:cs typeface="微软雅黑" panose="020B0503020204020204" charset="-122"/>
              </a:defRPr>
            </a:lvl7pPr>
            <a:lvl8pPr>
              <a:defRPr sz="1350" b="0">
                <a:solidFill>
                  <a:srgbClr val="000000"/>
                </a:solidFill>
                <a:latin typeface="Arial" panose="020B0604020202020204"/>
                <a:ea typeface="微软雅黑" panose="020B0503020204020204" charset="-122"/>
                <a:cs typeface="微软雅黑" panose="020B0503020204020204" charset="-122"/>
              </a:defRPr>
            </a:lvl8pPr>
            <a:lvl9pPr>
              <a:defRPr sz="1350" b="0">
                <a:solidFill>
                  <a:srgbClr val="000000"/>
                </a:solidFill>
                <a:latin typeface="Arial" panose="020B0604020202020204"/>
                <a:ea typeface="微软雅黑" panose="020B0503020204020204" charset="-122"/>
                <a:cs typeface="微软雅黑" panose="020B0503020204020204" charset="-122"/>
              </a:defRPr>
            </a:lvl9pPr>
          </a:lstStyle>
          <a:p>
            <a:pPr>
              <a:defRPr sz="1350" b="0">
                <a:solidFill>
                  <a:srgbClr val="000000"/>
                </a:solidFill>
                <a:latin typeface="Arial" panose="020B0604020202020204"/>
                <a:ea typeface="微软雅黑" panose="020B0503020204020204" charset="-122"/>
                <a:cs typeface="微软雅黑" panose="020B0503020204020204" charset="-122"/>
              </a:defRPr>
            </a:pPr>
            <a:r>
              <a:rPr sz="1350" b="0">
                <a:solidFill>
                  <a:srgbClr val="000000"/>
                </a:solidFill>
                <a:latin typeface="Arial" panose="020B0604020202020204"/>
                <a:ea typeface="微软雅黑" panose="020B0503020204020204" charset="-122"/>
                <a:cs typeface="微软雅黑" panose="020B0503020204020204" charset="-122"/>
              </a:rPr>
              <a:t>随机选40个E神经元。各自选低、中、高匹配图片，记录兴奋、抑制和总电位的时间均值与标准差。阈值为正时按阈值归一化；AE含零阈值，保留原始电位，不能直接比较量级。</a:t>
            </a:r>
            <a:endParaRPr sz="1350" b="0">
              <a:solidFill>
                <a:srgbClr val="000000"/>
              </a:solidFill>
              <a:latin typeface="Arial" panose="020B0604020202020204"/>
              <a:ea typeface="微软雅黑" panose="020B0503020204020204" charset="-122"/>
              <a:cs typeface="微软雅黑" panose="020B0503020204020204" charset="-122"/>
            </a:endParaRPr>
          </a:p>
        </p:txBody>
      </p:sp>
      <p:sp>
        <p:nvSpPr>
          <p:cNvPr id="13" name="AD：输入增强时，兴奋和抑制共同增加，总电位相对受限。"/>
          <p:cNvSpPr>
            <a:spLocks noGrp="1"/>
          </p:cNvSpPr>
          <p:nvPr/>
        </p:nvSpPr>
        <p:spPr>
          <a:xfrm>
            <a:off x="6610350" y="2830195"/>
            <a:ext cx="5181600" cy="265176"/>
          </a:xfrm>
          <a:prstGeom prst="rect">
            <a:avLst/>
          </a:prstGeom>
          <a:noFill/>
          <a:ln w="0">
            <a:noFill/>
          </a:ln>
        </p:spPr>
        <p:txBody>
          <a:bodyPr wrap="square" lIns="0" tIns="0" rIns="0" bIns="0" anchor="t">
            <a:noAutofit/>
          </a:bodyPr>
          <a:lstStyle>
            <a:defPPr>
              <a:defRPr sz="1350" b="0">
                <a:solidFill>
                  <a:srgbClr val="000000"/>
                </a:solidFill>
                <a:latin typeface="Arial" panose="020B0604020202020204"/>
                <a:ea typeface="微软雅黑" panose="020B0503020204020204" charset="-122"/>
                <a:cs typeface="微软雅黑" panose="020B0503020204020204" charset="-122"/>
              </a:defRPr>
            </a:defPPr>
            <a:lvl1pPr>
              <a:defRPr sz="1350" b="0">
                <a:solidFill>
                  <a:srgbClr val="000000"/>
                </a:solidFill>
                <a:latin typeface="Arial" panose="020B0604020202020204"/>
                <a:ea typeface="微软雅黑" panose="020B0503020204020204" charset="-122"/>
                <a:cs typeface="微软雅黑" panose="020B0503020204020204" charset="-122"/>
              </a:defRPr>
            </a:lvl1pPr>
            <a:lvl2pPr>
              <a:defRPr sz="1350" b="0">
                <a:solidFill>
                  <a:srgbClr val="000000"/>
                </a:solidFill>
                <a:latin typeface="Arial" panose="020B0604020202020204"/>
                <a:ea typeface="微软雅黑" panose="020B0503020204020204" charset="-122"/>
                <a:cs typeface="微软雅黑" panose="020B0503020204020204" charset="-122"/>
              </a:defRPr>
            </a:lvl2pPr>
            <a:lvl3pPr>
              <a:defRPr sz="1350" b="0">
                <a:solidFill>
                  <a:srgbClr val="000000"/>
                </a:solidFill>
                <a:latin typeface="Arial" panose="020B0604020202020204"/>
                <a:ea typeface="微软雅黑" panose="020B0503020204020204" charset="-122"/>
                <a:cs typeface="微软雅黑" panose="020B0503020204020204" charset="-122"/>
              </a:defRPr>
            </a:lvl3pPr>
            <a:lvl4pPr>
              <a:defRPr sz="1350" b="0">
                <a:solidFill>
                  <a:srgbClr val="000000"/>
                </a:solidFill>
                <a:latin typeface="Arial" panose="020B0604020202020204"/>
                <a:ea typeface="微软雅黑" panose="020B0503020204020204" charset="-122"/>
                <a:cs typeface="微软雅黑" panose="020B0503020204020204" charset="-122"/>
              </a:defRPr>
            </a:lvl4pPr>
            <a:lvl5pPr>
              <a:defRPr sz="1350" b="0">
                <a:solidFill>
                  <a:srgbClr val="000000"/>
                </a:solidFill>
                <a:latin typeface="Arial" panose="020B0604020202020204"/>
                <a:ea typeface="微软雅黑" panose="020B0503020204020204" charset="-122"/>
                <a:cs typeface="微软雅黑" panose="020B0503020204020204" charset="-122"/>
              </a:defRPr>
            </a:lvl5pPr>
            <a:lvl6pPr>
              <a:defRPr sz="1350" b="0">
                <a:solidFill>
                  <a:srgbClr val="000000"/>
                </a:solidFill>
                <a:latin typeface="Arial" panose="020B0604020202020204"/>
                <a:ea typeface="微软雅黑" panose="020B0503020204020204" charset="-122"/>
                <a:cs typeface="微软雅黑" panose="020B0503020204020204" charset="-122"/>
              </a:defRPr>
            </a:lvl6pPr>
            <a:lvl7pPr>
              <a:defRPr sz="1350" b="0">
                <a:solidFill>
                  <a:srgbClr val="000000"/>
                </a:solidFill>
                <a:latin typeface="Arial" panose="020B0604020202020204"/>
                <a:ea typeface="微软雅黑" panose="020B0503020204020204" charset="-122"/>
                <a:cs typeface="微软雅黑" panose="020B0503020204020204" charset="-122"/>
              </a:defRPr>
            </a:lvl7pPr>
            <a:lvl8pPr>
              <a:defRPr sz="1350" b="0">
                <a:solidFill>
                  <a:srgbClr val="000000"/>
                </a:solidFill>
                <a:latin typeface="Arial" panose="020B0604020202020204"/>
                <a:ea typeface="微软雅黑" panose="020B0503020204020204" charset="-122"/>
                <a:cs typeface="微软雅黑" panose="020B0503020204020204" charset="-122"/>
              </a:defRPr>
            </a:lvl8pPr>
            <a:lvl9pPr>
              <a:defRPr sz="1350" b="0">
                <a:solidFill>
                  <a:srgbClr val="000000"/>
                </a:solidFill>
                <a:latin typeface="Arial" panose="020B0604020202020204"/>
                <a:ea typeface="微软雅黑" panose="020B0503020204020204" charset="-122"/>
                <a:cs typeface="微软雅黑" panose="020B0503020204020204" charset="-122"/>
              </a:defRPr>
            </a:lvl9pPr>
          </a:lstStyle>
          <a:p>
            <a:pPr marL="101600" indent="-76200">
              <a:buChar char="·"/>
              <a:defRPr sz="1350" b="0">
                <a:solidFill>
                  <a:srgbClr val="000000"/>
                </a:solidFill>
                <a:latin typeface="Arial" panose="020B0604020202020204"/>
                <a:ea typeface="微软雅黑" panose="020B0503020204020204" charset="-122"/>
                <a:cs typeface="微软雅黑" panose="020B0503020204020204" charset="-122"/>
              </a:defRPr>
            </a:pPr>
            <a:r>
              <a:t>AD：输入增强时，兴奋和抑制共同增加，总</a:t>
            </a:r>
            <a:r>
              <a:rPr lang="zh-CN"/>
              <a:t>膜</a:t>
            </a:r>
            <a:r>
              <a:t>电位相对</a:t>
            </a:r>
            <a:r>
              <a:rPr lang="zh-CN"/>
              <a:t>维持在较低水平</a:t>
            </a:r>
            <a:r>
              <a:t>。</a:t>
            </a:r>
          </a:p>
          <a:p>
            <a:pPr marL="101600" indent="-76200">
              <a:buChar char="·"/>
              <a:defRPr sz="1350" b="0">
                <a:solidFill>
                  <a:srgbClr val="000000"/>
                </a:solidFill>
                <a:latin typeface="Arial" panose="020B0604020202020204"/>
                <a:ea typeface="微软雅黑" panose="020B0503020204020204" charset="-122"/>
                <a:cs typeface="微软雅黑" panose="020B0503020204020204" charset="-122"/>
              </a:defRPr>
            </a:pPr>
          </a:p>
        </p:txBody>
      </p:sp>
      <p:sp>
        <p:nvSpPr>
          <p:cNvPr id="14" name="AF：抑制分量更强，总电位明显向负值偏移。"/>
          <p:cNvSpPr>
            <a:spLocks noGrp="1"/>
          </p:cNvSpPr>
          <p:nvPr/>
        </p:nvSpPr>
        <p:spPr>
          <a:xfrm>
            <a:off x="6610350" y="3517011"/>
            <a:ext cx="5181600" cy="265176"/>
          </a:xfrm>
          <a:prstGeom prst="rect">
            <a:avLst/>
          </a:prstGeom>
          <a:noFill/>
          <a:ln w="0">
            <a:noFill/>
          </a:ln>
        </p:spPr>
        <p:txBody>
          <a:bodyPr wrap="square" lIns="0" tIns="0" rIns="0" bIns="0" anchor="t">
            <a:noAutofit/>
          </a:bodyPr>
          <a:lstStyle>
            <a:defPPr>
              <a:defRPr sz="1350" b="0">
                <a:solidFill>
                  <a:srgbClr val="000000"/>
                </a:solidFill>
                <a:latin typeface="Arial" panose="020B0604020202020204"/>
                <a:ea typeface="微软雅黑" panose="020B0503020204020204" charset="-122"/>
                <a:cs typeface="微软雅黑" panose="020B0503020204020204" charset="-122"/>
              </a:defRPr>
            </a:defPPr>
            <a:lvl1pPr>
              <a:defRPr sz="1350" b="0">
                <a:solidFill>
                  <a:srgbClr val="000000"/>
                </a:solidFill>
                <a:latin typeface="Arial" panose="020B0604020202020204"/>
                <a:ea typeface="微软雅黑" panose="020B0503020204020204" charset="-122"/>
                <a:cs typeface="微软雅黑" panose="020B0503020204020204" charset="-122"/>
              </a:defRPr>
            </a:lvl1pPr>
            <a:lvl2pPr>
              <a:defRPr sz="1350" b="0">
                <a:solidFill>
                  <a:srgbClr val="000000"/>
                </a:solidFill>
                <a:latin typeface="Arial" panose="020B0604020202020204"/>
                <a:ea typeface="微软雅黑" panose="020B0503020204020204" charset="-122"/>
                <a:cs typeface="微软雅黑" panose="020B0503020204020204" charset="-122"/>
              </a:defRPr>
            </a:lvl2pPr>
            <a:lvl3pPr>
              <a:defRPr sz="1350" b="0">
                <a:solidFill>
                  <a:srgbClr val="000000"/>
                </a:solidFill>
                <a:latin typeface="Arial" panose="020B0604020202020204"/>
                <a:ea typeface="微软雅黑" panose="020B0503020204020204" charset="-122"/>
                <a:cs typeface="微软雅黑" panose="020B0503020204020204" charset="-122"/>
              </a:defRPr>
            </a:lvl3pPr>
            <a:lvl4pPr>
              <a:defRPr sz="1350" b="0">
                <a:solidFill>
                  <a:srgbClr val="000000"/>
                </a:solidFill>
                <a:latin typeface="Arial" panose="020B0604020202020204"/>
                <a:ea typeface="微软雅黑" panose="020B0503020204020204" charset="-122"/>
                <a:cs typeface="微软雅黑" panose="020B0503020204020204" charset="-122"/>
              </a:defRPr>
            </a:lvl4pPr>
            <a:lvl5pPr>
              <a:defRPr sz="1350" b="0">
                <a:solidFill>
                  <a:srgbClr val="000000"/>
                </a:solidFill>
                <a:latin typeface="Arial" panose="020B0604020202020204"/>
                <a:ea typeface="微软雅黑" panose="020B0503020204020204" charset="-122"/>
                <a:cs typeface="微软雅黑" panose="020B0503020204020204" charset="-122"/>
              </a:defRPr>
            </a:lvl5pPr>
            <a:lvl6pPr>
              <a:defRPr sz="1350" b="0">
                <a:solidFill>
                  <a:srgbClr val="000000"/>
                </a:solidFill>
                <a:latin typeface="Arial" panose="020B0604020202020204"/>
                <a:ea typeface="微软雅黑" panose="020B0503020204020204" charset="-122"/>
                <a:cs typeface="微软雅黑" panose="020B0503020204020204" charset="-122"/>
              </a:defRPr>
            </a:lvl6pPr>
            <a:lvl7pPr>
              <a:defRPr sz="1350" b="0">
                <a:solidFill>
                  <a:srgbClr val="000000"/>
                </a:solidFill>
                <a:latin typeface="Arial" panose="020B0604020202020204"/>
                <a:ea typeface="微软雅黑" panose="020B0503020204020204" charset="-122"/>
                <a:cs typeface="微软雅黑" panose="020B0503020204020204" charset="-122"/>
              </a:defRPr>
            </a:lvl7pPr>
            <a:lvl8pPr>
              <a:defRPr sz="1350" b="0">
                <a:solidFill>
                  <a:srgbClr val="000000"/>
                </a:solidFill>
                <a:latin typeface="Arial" panose="020B0604020202020204"/>
                <a:ea typeface="微软雅黑" panose="020B0503020204020204" charset="-122"/>
                <a:cs typeface="微软雅黑" panose="020B0503020204020204" charset="-122"/>
              </a:defRPr>
            </a:lvl8pPr>
            <a:lvl9pPr>
              <a:defRPr sz="1350" b="0">
                <a:solidFill>
                  <a:srgbClr val="000000"/>
                </a:solidFill>
                <a:latin typeface="Arial" panose="020B0604020202020204"/>
                <a:ea typeface="微软雅黑" panose="020B0503020204020204" charset="-122"/>
                <a:cs typeface="微软雅黑" panose="020B0503020204020204" charset="-122"/>
              </a:defRPr>
            </a:lvl9pPr>
          </a:lstStyle>
          <a:p>
            <a:pPr marL="101600" indent="-76200">
              <a:buChar char="·"/>
              <a:defRPr sz="1350" b="0">
                <a:solidFill>
                  <a:srgbClr val="000000"/>
                </a:solidFill>
                <a:latin typeface="Arial" panose="020B0604020202020204"/>
                <a:ea typeface="微软雅黑" panose="020B0503020204020204" charset="-122"/>
                <a:cs typeface="微软雅黑" panose="020B0503020204020204" charset="-122"/>
              </a:defRPr>
            </a:pPr>
            <a:r>
              <a:t>AF：抑制</a:t>
            </a:r>
            <a:r>
              <a:rPr lang="zh-CN"/>
              <a:t>输入</a:t>
            </a:r>
            <a:r>
              <a:t>更强，总电位明显向负值偏移。</a:t>
            </a:r>
            <a:r>
              <a:rPr lang="zh-CN"/>
              <a:t>且抑制性输入的波动更加</a:t>
            </a:r>
            <a:r>
              <a:rPr lang="zh-CN"/>
              <a:t>大</a:t>
            </a:r>
            <a:endParaRPr lang="zh-CN"/>
          </a:p>
        </p:txBody>
      </p:sp>
      <p:sp>
        <p:nvSpPr>
          <p:cNvPr id="15" name="AE、AG：电位量级很大，三类刺激区分较弱。AE有零阈值，原"/>
          <p:cNvSpPr>
            <a:spLocks noGrp="1"/>
          </p:cNvSpPr>
          <p:nvPr/>
        </p:nvSpPr>
        <p:spPr>
          <a:xfrm>
            <a:off x="6584315" y="4101592"/>
            <a:ext cx="5181600" cy="501777"/>
          </a:xfrm>
          <a:prstGeom prst="rect">
            <a:avLst/>
          </a:prstGeom>
          <a:noFill/>
          <a:ln w="0">
            <a:noFill/>
          </a:ln>
        </p:spPr>
        <p:txBody>
          <a:bodyPr wrap="square" lIns="0" tIns="0" rIns="0" bIns="0" anchor="t">
            <a:noAutofit/>
          </a:bodyPr>
          <a:lstStyle>
            <a:defPPr>
              <a:defRPr sz="1350" b="0">
                <a:solidFill>
                  <a:srgbClr val="000000"/>
                </a:solidFill>
                <a:latin typeface="Arial" panose="020B0604020202020204"/>
                <a:ea typeface="微软雅黑" panose="020B0503020204020204" charset="-122"/>
                <a:cs typeface="微软雅黑" panose="020B0503020204020204" charset="-122"/>
              </a:defRPr>
            </a:defPPr>
            <a:lvl1pPr>
              <a:defRPr sz="1350" b="0">
                <a:solidFill>
                  <a:srgbClr val="000000"/>
                </a:solidFill>
                <a:latin typeface="Arial" panose="020B0604020202020204"/>
                <a:ea typeface="微软雅黑" panose="020B0503020204020204" charset="-122"/>
                <a:cs typeface="微软雅黑" panose="020B0503020204020204" charset="-122"/>
              </a:defRPr>
            </a:lvl1pPr>
            <a:lvl2pPr>
              <a:defRPr sz="1350" b="0">
                <a:solidFill>
                  <a:srgbClr val="000000"/>
                </a:solidFill>
                <a:latin typeface="Arial" panose="020B0604020202020204"/>
                <a:ea typeface="微软雅黑" panose="020B0503020204020204" charset="-122"/>
                <a:cs typeface="微软雅黑" panose="020B0503020204020204" charset="-122"/>
              </a:defRPr>
            </a:lvl2pPr>
            <a:lvl3pPr>
              <a:defRPr sz="1350" b="0">
                <a:solidFill>
                  <a:srgbClr val="000000"/>
                </a:solidFill>
                <a:latin typeface="Arial" panose="020B0604020202020204"/>
                <a:ea typeface="微软雅黑" panose="020B0503020204020204" charset="-122"/>
                <a:cs typeface="微软雅黑" panose="020B0503020204020204" charset="-122"/>
              </a:defRPr>
            </a:lvl3pPr>
            <a:lvl4pPr>
              <a:defRPr sz="1350" b="0">
                <a:solidFill>
                  <a:srgbClr val="000000"/>
                </a:solidFill>
                <a:latin typeface="Arial" panose="020B0604020202020204"/>
                <a:ea typeface="微软雅黑" panose="020B0503020204020204" charset="-122"/>
                <a:cs typeface="微软雅黑" panose="020B0503020204020204" charset="-122"/>
              </a:defRPr>
            </a:lvl4pPr>
            <a:lvl5pPr>
              <a:defRPr sz="1350" b="0">
                <a:solidFill>
                  <a:srgbClr val="000000"/>
                </a:solidFill>
                <a:latin typeface="Arial" panose="020B0604020202020204"/>
                <a:ea typeface="微软雅黑" panose="020B0503020204020204" charset="-122"/>
                <a:cs typeface="微软雅黑" panose="020B0503020204020204" charset="-122"/>
              </a:defRPr>
            </a:lvl5pPr>
            <a:lvl6pPr>
              <a:defRPr sz="1350" b="0">
                <a:solidFill>
                  <a:srgbClr val="000000"/>
                </a:solidFill>
                <a:latin typeface="Arial" panose="020B0604020202020204"/>
                <a:ea typeface="微软雅黑" panose="020B0503020204020204" charset="-122"/>
                <a:cs typeface="微软雅黑" panose="020B0503020204020204" charset="-122"/>
              </a:defRPr>
            </a:lvl6pPr>
            <a:lvl7pPr>
              <a:defRPr sz="1350" b="0">
                <a:solidFill>
                  <a:srgbClr val="000000"/>
                </a:solidFill>
                <a:latin typeface="Arial" panose="020B0604020202020204"/>
                <a:ea typeface="微软雅黑" panose="020B0503020204020204" charset="-122"/>
                <a:cs typeface="微软雅黑" panose="020B0503020204020204" charset="-122"/>
              </a:defRPr>
            </a:lvl7pPr>
            <a:lvl8pPr>
              <a:defRPr sz="1350" b="0">
                <a:solidFill>
                  <a:srgbClr val="000000"/>
                </a:solidFill>
                <a:latin typeface="Arial" panose="020B0604020202020204"/>
                <a:ea typeface="微软雅黑" panose="020B0503020204020204" charset="-122"/>
                <a:cs typeface="微软雅黑" panose="020B0503020204020204" charset="-122"/>
              </a:defRPr>
            </a:lvl8pPr>
            <a:lvl9pPr>
              <a:defRPr sz="1350" b="0">
                <a:solidFill>
                  <a:srgbClr val="000000"/>
                </a:solidFill>
                <a:latin typeface="Arial" panose="020B0604020202020204"/>
                <a:ea typeface="微软雅黑" panose="020B0503020204020204" charset="-122"/>
                <a:cs typeface="微软雅黑" panose="020B0503020204020204" charset="-122"/>
              </a:defRPr>
            </a:lvl9pPr>
          </a:lstStyle>
          <a:p>
            <a:pPr marL="101600" indent="-76200">
              <a:buChar char="·"/>
              <a:defRPr sz="1350" b="0">
                <a:solidFill>
                  <a:srgbClr val="000000"/>
                </a:solidFill>
                <a:latin typeface="Arial" panose="020B0604020202020204"/>
                <a:ea typeface="微软雅黑" panose="020B0503020204020204" charset="-122"/>
                <a:cs typeface="微软雅黑" panose="020B0503020204020204" charset="-122"/>
              </a:defRPr>
            </a:pPr>
            <a:r>
              <a:t>AE</a:t>
            </a:r>
            <a:r>
              <a:rPr lang="en-US"/>
              <a:t>,AG</a:t>
            </a:r>
            <a:r>
              <a:t>：</a:t>
            </a:r>
            <a:r>
              <a:rPr lang="zh-CN" altLang="en-US"/>
              <a:t>三类图片刺激下，兴奋和抑制电位分量均较大，且抑制输入明显超过兴奋</a:t>
            </a:r>
            <a:r>
              <a:rPr lang="zh-CN" altLang="en-US"/>
              <a:t>输入，使总电位偏向负值。各分量从负相关到正相关刺激的变化较小，没有表现出清晰的随</a:t>
            </a:r>
            <a:r>
              <a:rPr lang="zh-CN" altLang="en-US"/>
              <a:t>图片刺激匹配程度共同增强的关系</a:t>
            </a:r>
            <a:endParaRPr lang="zh-CN" altLang="en-US"/>
          </a:p>
        </p:txBody>
      </p:sp>
      <p:sp>
        <p:nvSpPr>
          <p:cNvPr id="16" name="TAKEAWAY_HIGHLIGHT"/>
          <p:cNvSpPr>
            <a:spLocks noGrp="1"/>
          </p:cNvSpPr>
          <p:nvPr/>
        </p:nvSpPr>
        <p:spPr>
          <a:xfrm>
            <a:off x="6543675" y="5889625"/>
            <a:ext cx="5581650" cy="647700"/>
          </a:xfrm>
          <a:prstGeom prst="rect">
            <a:avLst/>
          </a:prstGeom>
          <a:noFill/>
          <a:ln w="0">
            <a:noFill/>
          </a:ln>
        </p:spPr>
        <p:txBody>
          <a:bodyPr wrap="square" lIns="0" tIns="0" rIns="0" bIns="0" anchor="t">
            <a:noAutofit/>
          </a:bodyPr>
          <a:lstStyle>
            <a:defPPr>
              <a:defRPr sz="1600" b="0">
                <a:solidFill>
                  <a:srgbClr val="000000"/>
                </a:solidFill>
                <a:latin typeface="Arial" panose="020B0604020202020204"/>
                <a:ea typeface="微软雅黑" panose="020B0503020204020204" charset="-122"/>
                <a:cs typeface="微软雅黑" panose="020B0503020204020204" charset="-122"/>
              </a:defRPr>
            </a:defPPr>
            <a:lvl1pPr>
              <a:defRPr sz="1600" b="0">
                <a:solidFill>
                  <a:srgbClr val="000000"/>
                </a:solidFill>
                <a:latin typeface="Arial" panose="020B0604020202020204"/>
                <a:ea typeface="微软雅黑" panose="020B0503020204020204" charset="-122"/>
                <a:cs typeface="微软雅黑" panose="020B0503020204020204" charset="-122"/>
              </a:defRPr>
            </a:lvl1pPr>
            <a:lvl2pPr>
              <a:defRPr sz="1600" b="0">
                <a:solidFill>
                  <a:srgbClr val="000000"/>
                </a:solidFill>
                <a:latin typeface="Arial" panose="020B0604020202020204"/>
                <a:ea typeface="微软雅黑" panose="020B0503020204020204" charset="-122"/>
                <a:cs typeface="微软雅黑" panose="020B0503020204020204" charset="-122"/>
              </a:defRPr>
            </a:lvl2pPr>
            <a:lvl3pPr>
              <a:defRPr sz="1600" b="0">
                <a:solidFill>
                  <a:srgbClr val="000000"/>
                </a:solidFill>
                <a:latin typeface="Arial" panose="020B0604020202020204"/>
                <a:ea typeface="微软雅黑" panose="020B0503020204020204" charset="-122"/>
                <a:cs typeface="微软雅黑" panose="020B0503020204020204" charset="-122"/>
              </a:defRPr>
            </a:lvl3pPr>
            <a:lvl4pPr>
              <a:defRPr sz="1600" b="0">
                <a:solidFill>
                  <a:srgbClr val="000000"/>
                </a:solidFill>
                <a:latin typeface="Arial" panose="020B0604020202020204"/>
                <a:ea typeface="微软雅黑" panose="020B0503020204020204" charset="-122"/>
                <a:cs typeface="微软雅黑" panose="020B0503020204020204" charset="-122"/>
              </a:defRPr>
            </a:lvl4pPr>
            <a:lvl5pPr>
              <a:defRPr sz="1600" b="0">
                <a:solidFill>
                  <a:srgbClr val="000000"/>
                </a:solidFill>
                <a:latin typeface="Arial" panose="020B0604020202020204"/>
                <a:ea typeface="微软雅黑" panose="020B0503020204020204" charset="-122"/>
                <a:cs typeface="微软雅黑" panose="020B0503020204020204" charset="-122"/>
              </a:defRPr>
            </a:lvl5pPr>
            <a:lvl6pPr>
              <a:defRPr sz="1600" b="0">
                <a:solidFill>
                  <a:srgbClr val="000000"/>
                </a:solidFill>
                <a:latin typeface="Arial" panose="020B0604020202020204"/>
                <a:ea typeface="微软雅黑" panose="020B0503020204020204" charset="-122"/>
                <a:cs typeface="微软雅黑" panose="020B0503020204020204" charset="-122"/>
              </a:defRPr>
            </a:lvl6pPr>
            <a:lvl7pPr>
              <a:defRPr sz="1600" b="0">
                <a:solidFill>
                  <a:srgbClr val="000000"/>
                </a:solidFill>
                <a:latin typeface="Arial" panose="020B0604020202020204"/>
                <a:ea typeface="微软雅黑" panose="020B0503020204020204" charset="-122"/>
                <a:cs typeface="微软雅黑" panose="020B0503020204020204" charset="-122"/>
              </a:defRPr>
            </a:lvl7pPr>
            <a:lvl8pPr>
              <a:defRPr sz="1600" b="0">
                <a:solidFill>
                  <a:srgbClr val="000000"/>
                </a:solidFill>
                <a:latin typeface="Arial" panose="020B0604020202020204"/>
                <a:ea typeface="微软雅黑" panose="020B0503020204020204" charset="-122"/>
                <a:cs typeface="微软雅黑" panose="020B0503020204020204" charset="-122"/>
              </a:defRPr>
            </a:lvl8pPr>
            <a:lvl9pPr>
              <a:defRPr sz="1600" b="0">
                <a:solidFill>
                  <a:srgbClr val="000000"/>
                </a:solidFill>
                <a:latin typeface="Arial" panose="020B0604020202020204"/>
                <a:ea typeface="微软雅黑" panose="020B0503020204020204" charset="-122"/>
                <a:cs typeface="微软雅黑" panose="020B0503020204020204" charset="-122"/>
              </a:defRPr>
            </a:lvl9pPr>
          </a:lstStyle>
          <a:p>
            <a:pPr algn="ctr">
              <a:defRPr sz="1600" b="0">
                <a:solidFill>
                  <a:srgbClr val="000000"/>
                </a:solidFill>
                <a:latin typeface="Arial" panose="020B0604020202020204"/>
                <a:ea typeface="微软雅黑" panose="020B0503020204020204" charset="-122"/>
                <a:cs typeface="微软雅黑" panose="020B0503020204020204" charset="-122"/>
              </a:defRPr>
            </a:pPr>
            <a:r>
              <a:rPr sz="1600" b="1">
                <a:solidFill>
                  <a:srgbClr val="000000"/>
                </a:solidFill>
                <a:highlight>
                  <a:srgbClr val="FFFF00"/>
                </a:highlight>
                <a:latin typeface="Arial" panose="020B0604020202020204"/>
                <a:ea typeface="微软雅黑" panose="020B0503020204020204" charset="-122"/>
                <a:cs typeface="微软雅黑" panose="020B0503020204020204" charset="-122"/>
              </a:rPr>
              <a:t>阈值适应影响</a:t>
            </a:r>
            <a:r>
              <a:rPr lang="zh-CN" sz="1600" b="1">
                <a:solidFill>
                  <a:srgbClr val="000000"/>
                </a:solidFill>
                <a:highlight>
                  <a:srgbClr val="FFFF00"/>
                </a:highlight>
                <a:latin typeface="Arial" panose="020B0604020202020204"/>
                <a:ea typeface="微软雅黑" panose="020B0503020204020204" charset="-122"/>
                <a:cs typeface="微软雅黑" panose="020B0503020204020204" charset="-122"/>
              </a:rPr>
              <a:t>抑制与兴奋输入</a:t>
            </a:r>
            <a:r>
              <a:rPr sz="1600" b="1">
                <a:solidFill>
                  <a:srgbClr val="000000"/>
                </a:solidFill>
                <a:highlight>
                  <a:srgbClr val="FFFF00"/>
                </a:highlight>
                <a:latin typeface="Arial" panose="020B0604020202020204"/>
                <a:ea typeface="微软雅黑" panose="020B0503020204020204" charset="-122"/>
                <a:cs typeface="微软雅黑" panose="020B0503020204020204" charset="-122"/>
              </a:rPr>
              <a:t>的相对强弱，</a:t>
            </a:r>
            <a:r>
              <a:rPr lang="zh-CN" sz="1600" b="1">
                <a:solidFill>
                  <a:srgbClr val="000000"/>
                </a:solidFill>
                <a:highlight>
                  <a:srgbClr val="FFFF00"/>
                </a:highlight>
                <a:latin typeface="Arial" panose="020B0604020202020204"/>
                <a:ea typeface="微软雅黑" panose="020B0503020204020204" charset="-122"/>
                <a:cs typeface="微软雅黑" panose="020B0503020204020204" charset="-122"/>
              </a:rPr>
              <a:t>同时维持网络稳定</a:t>
            </a:r>
            <a:endParaRPr sz="1600" b="1">
              <a:solidFill>
                <a:srgbClr val="000000"/>
              </a:solidFill>
              <a:highlight>
                <a:srgbClr val="FFFF00"/>
              </a:highlight>
              <a:latin typeface="Arial" panose="020B0604020202020204"/>
              <a:ea typeface="微软雅黑" panose="020B0503020204020204" charset="-122"/>
              <a:cs typeface="微软雅黑" panose="020B0503020204020204" charset="-122"/>
            </a:endParaRPr>
          </a:p>
          <a:p>
            <a:pPr algn="ctr">
              <a:defRPr sz="1600" b="0">
                <a:solidFill>
                  <a:srgbClr val="000000"/>
                </a:solidFill>
                <a:latin typeface="Arial" panose="020B0604020202020204"/>
                <a:ea typeface="微软雅黑" panose="020B0503020204020204" charset="-122"/>
                <a:cs typeface="微软雅黑" panose="020B0503020204020204" charset="-122"/>
              </a:defRPr>
            </a:pPr>
            <a:r>
              <a:rPr sz="1600" b="1">
                <a:solidFill>
                  <a:srgbClr val="000000"/>
                </a:solidFill>
                <a:highlight>
                  <a:srgbClr val="FFFF00"/>
                </a:highlight>
                <a:latin typeface="Arial" panose="020B0604020202020204"/>
                <a:ea typeface="微软雅黑" panose="020B0503020204020204" charset="-122"/>
                <a:cs typeface="微软雅黑" panose="020B0503020204020204" charset="-122"/>
              </a:rPr>
              <a:t>L1</a:t>
            </a:r>
            <a:r>
              <a:rPr lang="zh-CN" altLang="en-US" sz="1600" b="1">
                <a:solidFill>
                  <a:srgbClr val="000000"/>
                </a:solidFill>
                <a:highlight>
                  <a:srgbClr val="FFFF00"/>
                </a:highlight>
                <a:latin typeface="Arial" panose="020B0604020202020204"/>
                <a:ea typeface="微软雅黑" panose="020B0503020204020204" charset="-122"/>
                <a:cs typeface="微软雅黑" panose="020B0503020204020204" charset="-122"/>
              </a:rPr>
              <a:t>约束连接总强度，避免兴奋与抑制输入的规模失控。</a:t>
            </a:r>
            <a:endParaRPr lang="zh-CN" altLang="en-US" sz="1600" b="1">
              <a:solidFill>
                <a:srgbClr val="000000"/>
              </a:solidFill>
              <a:highlight>
                <a:srgbClr val="FFFF00"/>
              </a:highlight>
              <a:latin typeface="Arial" panose="020B0604020202020204"/>
              <a:ea typeface="微软雅黑" panose="020B0503020204020204" charset="-122"/>
              <a:cs typeface="微软雅黑" panose="020B050302020402020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p:cNvSpPr>
            <a:spLocks noGrp="1"/>
          </p:cNvSpPr>
          <p:nvPr/>
        </p:nvSpPr>
        <p:spPr>
          <a:xfrm>
            <a:off x="457200" y="266700"/>
            <a:ext cx="10334625" cy="523875"/>
          </a:xfrm>
          <a:prstGeom prst="rect">
            <a:avLst/>
          </a:prstGeom>
          <a:noFill/>
          <a:ln w="0">
            <a:noFill/>
          </a:ln>
        </p:spPr>
        <p:txBody>
          <a:bodyPr wrap="square" lIns="0" tIns="0" rIns="0" bIns="0" anchor="t">
            <a:noAutofit/>
          </a:bodyPr>
          <a:lstStyle>
            <a:defPPr>
              <a:defRPr sz="2400" b="1">
                <a:solidFill>
                  <a:srgbClr val="000000"/>
                </a:solidFill>
                <a:latin typeface="Arial" panose="020B0604020202020204"/>
                <a:ea typeface="微软雅黑" panose="020B0503020204020204" charset="-122"/>
                <a:cs typeface="微软雅黑" panose="020B0503020204020204" charset="-122"/>
              </a:defRPr>
            </a:defPPr>
            <a:lvl1pPr>
              <a:defRPr sz="2400" b="1">
                <a:solidFill>
                  <a:srgbClr val="000000"/>
                </a:solidFill>
                <a:latin typeface="Arial" panose="020B0604020202020204"/>
                <a:ea typeface="微软雅黑" panose="020B0503020204020204" charset="-122"/>
                <a:cs typeface="微软雅黑" panose="020B0503020204020204" charset="-122"/>
              </a:defRPr>
            </a:lvl1pPr>
            <a:lvl2pPr>
              <a:defRPr sz="2400" b="1">
                <a:solidFill>
                  <a:srgbClr val="000000"/>
                </a:solidFill>
                <a:latin typeface="Arial" panose="020B0604020202020204"/>
                <a:ea typeface="微软雅黑" panose="020B0503020204020204" charset="-122"/>
                <a:cs typeface="微软雅黑" panose="020B0503020204020204" charset="-122"/>
              </a:defRPr>
            </a:lvl2pPr>
            <a:lvl3pPr>
              <a:defRPr sz="2400" b="1">
                <a:solidFill>
                  <a:srgbClr val="000000"/>
                </a:solidFill>
                <a:latin typeface="Arial" panose="020B0604020202020204"/>
                <a:ea typeface="微软雅黑" panose="020B0503020204020204" charset="-122"/>
                <a:cs typeface="微软雅黑" panose="020B0503020204020204" charset="-122"/>
              </a:defRPr>
            </a:lvl3pPr>
            <a:lvl4pPr>
              <a:defRPr sz="2400" b="1">
                <a:solidFill>
                  <a:srgbClr val="000000"/>
                </a:solidFill>
                <a:latin typeface="Arial" panose="020B0604020202020204"/>
                <a:ea typeface="微软雅黑" panose="020B0503020204020204" charset="-122"/>
                <a:cs typeface="微软雅黑" panose="020B0503020204020204" charset="-122"/>
              </a:defRPr>
            </a:lvl4pPr>
            <a:lvl5pPr>
              <a:defRPr sz="2400" b="1">
                <a:solidFill>
                  <a:srgbClr val="000000"/>
                </a:solidFill>
                <a:latin typeface="Arial" panose="020B0604020202020204"/>
                <a:ea typeface="微软雅黑" panose="020B0503020204020204" charset="-122"/>
                <a:cs typeface="微软雅黑" panose="020B0503020204020204" charset="-122"/>
              </a:defRPr>
            </a:lvl5pPr>
            <a:lvl6pPr>
              <a:defRPr sz="2400" b="1">
                <a:solidFill>
                  <a:srgbClr val="000000"/>
                </a:solidFill>
                <a:latin typeface="Arial" panose="020B0604020202020204"/>
                <a:ea typeface="微软雅黑" panose="020B0503020204020204" charset="-122"/>
                <a:cs typeface="微软雅黑" panose="020B0503020204020204" charset="-122"/>
              </a:defRPr>
            </a:lvl6pPr>
            <a:lvl7pPr>
              <a:defRPr sz="2400" b="1">
                <a:solidFill>
                  <a:srgbClr val="000000"/>
                </a:solidFill>
                <a:latin typeface="Arial" panose="020B0604020202020204"/>
                <a:ea typeface="微软雅黑" panose="020B0503020204020204" charset="-122"/>
                <a:cs typeface="微软雅黑" panose="020B0503020204020204" charset="-122"/>
              </a:defRPr>
            </a:lvl7pPr>
            <a:lvl8pPr>
              <a:defRPr sz="2400" b="1">
                <a:solidFill>
                  <a:srgbClr val="000000"/>
                </a:solidFill>
                <a:latin typeface="Arial" panose="020B0604020202020204"/>
                <a:ea typeface="微软雅黑" panose="020B0503020204020204" charset="-122"/>
                <a:cs typeface="微软雅黑" panose="020B0503020204020204" charset="-122"/>
              </a:defRPr>
            </a:lvl8pPr>
            <a:lvl9pPr>
              <a:defRPr sz="2400" b="1">
                <a:solidFill>
                  <a:srgbClr val="000000"/>
                </a:solidFill>
                <a:latin typeface="Arial" panose="020B0604020202020204"/>
                <a:ea typeface="微软雅黑" panose="020B0503020204020204" charset="-122"/>
                <a:cs typeface="微软雅黑" panose="020B0503020204020204" charset="-122"/>
              </a:defRPr>
            </a:lvl9pPr>
          </a:lstStyle>
          <a:p>
            <a:pPr>
              <a:defRPr sz="2400" b="1">
                <a:solidFill>
                  <a:srgbClr val="000000"/>
                </a:solidFill>
                <a:latin typeface="Arial" panose="020B0604020202020204"/>
                <a:ea typeface="微软雅黑" panose="020B0503020204020204" charset="-122"/>
                <a:cs typeface="微软雅黑" panose="020B0503020204020204" charset="-122"/>
              </a:defRPr>
            </a:pPr>
            <a:r>
              <a:rPr sz="2400" b="1">
                <a:solidFill>
                  <a:srgbClr val="000000"/>
                </a:solidFill>
                <a:latin typeface="Arial" panose="020B0604020202020204"/>
                <a:ea typeface="微软雅黑" panose="020B0503020204020204" charset="-122"/>
                <a:cs typeface="微软雅黑" panose="020B0503020204020204" charset="-122"/>
              </a:rPr>
              <a:t>保留完整抑制机制时的Tight balance</a:t>
            </a:r>
            <a:endParaRPr sz="2400" b="1">
              <a:solidFill>
                <a:srgbClr val="000000"/>
              </a:solidFill>
              <a:latin typeface="Arial" panose="020B0604020202020204"/>
              <a:ea typeface="微软雅黑" panose="020B0503020204020204" charset="-122"/>
              <a:cs typeface="微软雅黑" panose="020B0503020204020204" charset="-122"/>
            </a:endParaRPr>
          </a:p>
        </p:txBody>
      </p:sp>
      <p:pic>
        <p:nvPicPr>
          <p:cNvPr id="2" name="图片 1"/>
          <p:cNvPicPr>
            <a:picLocks noChangeAspect="1"/>
          </p:cNvPicPr>
          <p:nvPr/>
        </p:nvPicPr>
        <p:blipFill>
          <a:blip r:embed="rId1"/>
          <a:stretch>
            <a:fillRect/>
          </a:stretch>
        </p:blipFill>
        <p:spPr>
          <a:xfrm>
            <a:off x="10921365" y="0"/>
            <a:ext cx="1270635" cy="1270635"/>
          </a:xfrm>
          <a:prstGeom prst="rect">
            <a:avLst/>
          </a:prstGeom>
        </p:spPr>
      </p:pic>
      <p:pic>
        <p:nvPicPr>
          <p:cNvPr id="4" name="图片 3"/>
          <p:cNvPicPr>
            <a:picLocks noChangeAspect="1"/>
          </p:cNvPicPr>
          <p:nvPr/>
        </p:nvPicPr>
        <p:blipFill>
          <a:blip r:embed="rId2"/>
          <a:stretch>
            <a:fillRect/>
          </a:stretch>
        </p:blipFill>
        <p:spPr>
          <a:xfrm>
            <a:off x="294398" y="1200150"/>
            <a:ext cx="2697329" cy="2333625"/>
          </a:xfrm>
          <a:prstGeom prst="rect">
            <a:avLst/>
          </a:prstGeom>
        </p:spPr>
      </p:pic>
      <p:pic>
        <p:nvPicPr>
          <p:cNvPr id="6" name="图片 5"/>
          <p:cNvPicPr>
            <a:picLocks noChangeAspect="1"/>
          </p:cNvPicPr>
          <p:nvPr/>
        </p:nvPicPr>
        <p:blipFill>
          <a:blip r:embed="rId3"/>
          <a:stretch>
            <a:fillRect/>
          </a:stretch>
        </p:blipFill>
        <p:spPr>
          <a:xfrm>
            <a:off x="3435633" y="1200150"/>
            <a:ext cx="2701358" cy="2333625"/>
          </a:xfrm>
          <a:prstGeom prst="rect">
            <a:avLst/>
          </a:prstGeom>
        </p:spPr>
      </p:pic>
      <p:pic>
        <p:nvPicPr>
          <p:cNvPr id="8" name="图片 7"/>
          <p:cNvPicPr>
            <a:picLocks noChangeAspect="1"/>
          </p:cNvPicPr>
          <p:nvPr/>
        </p:nvPicPr>
        <p:blipFill>
          <a:blip r:embed="rId4"/>
          <a:stretch>
            <a:fillRect/>
          </a:stretch>
        </p:blipFill>
        <p:spPr>
          <a:xfrm>
            <a:off x="294398" y="3914775"/>
            <a:ext cx="2697329" cy="2333625"/>
          </a:xfrm>
          <a:prstGeom prst="rect">
            <a:avLst/>
          </a:prstGeom>
        </p:spPr>
      </p:pic>
      <p:pic>
        <p:nvPicPr>
          <p:cNvPr id="10" name="图片 9"/>
          <p:cNvPicPr>
            <a:picLocks noChangeAspect="1"/>
          </p:cNvPicPr>
          <p:nvPr/>
        </p:nvPicPr>
        <p:blipFill>
          <a:blip r:embed="rId5"/>
          <a:stretch>
            <a:fillRect/>
          </a:stretch>
        </p:blipFill>
        <p:spPr>
          <a:xfrm>
            <a:off x="3437648" y="3914775"/>
            <a:ext cx="2697329" cy="2333625"/>
          </a:xfrm>
          <a:prstGeom prst="rect">
            <a:avLst/>
          </a:prstGeom>
        </p:spPr>
      </p:pic>
      <p:sp>
        <p:nvSpPr>
          <p:cNvPr id="11" name="Tight balance怎么测量"/>
          <p:cNvSpPr>
            <a:spLocks noGrp="1"/>
          </p:cNvSpPr>
          <p:nvPr/>
        </p:nvSpPr>
        <p:spPr>
          <a:xfrm>
            <a:off x="6610350" y="1143000"/>
            <a:ext cx="5181600" cy="266700"/>
          </a:xfrm>
          <a:prstGeom prst="rect">
            <a:avLst/>
          </a:prstGeom>
          <a:noFill/>
          <a:ln w="0">
            <a:noFill/>
          </a:ln>
        </p:spPr>
        <p:txBody>
          <a:bodyPr wrap="square" lIns="0" tIns="0" rIns="0" bIns="0" anchor="t">
            <a:noAutofit/>
          </a:bodyPr>
          <a:lstStyle>
            <a:defPPr>
              <a:defRPr sz="1425" b="1">
                <a:solidFill>
                  <a:srgbClr val="000000"/>
                </a:solidFill>
                <a:latin typeface="Arial" panose="020B0604020202020204"/>
                <a:ea typeface="微软雅黑" panose="020B0503020204020204" charset="-122"/>
                <a:cs typeface="微软雅黑" panose="020B0503020204020204" charset="-122"/>
              </a:defRPr>
            </a:defPPr>
            <a:lvl1pPr>
              <a:defRPr sz="1425" b="1">
                <a:solidFill>
                  <a:srgbClr val="000000"/>
                </a:solidFill>
                <a:latin typeface="Arial" panose="020B0604020202020204"/>
                <a:ea typeface="微软雅黑" panose="020B0503020204020204" charset="-122"/>
                <a:cs typeface="微软雅黑" panose="020B0503020204020204" charset="-122"/>
              </a:defRPr>
            </a:lvl1pPr>
            <a:lvl2pPr>
              <a:defRPr sz="1425" b="1">
                <a:solidFill>
                  <a:srgbClr val="000000"/>
                </a:solidFill>
                <a:latin typeface="Arial" panose="020B0604020202020204"/>
                <a:ea typeface="微软雅黑" panose="020B0503020204020204" charset="-122"/>
                <a:cs typeface="微软雅黑" panose="020B0503020204020204" charset="-122"/>
              </a:defRPr>
            </a:lvl2pPr>
            <a:lvl3pPr>
              <a:defRPr sz="1425" b="1">
                <a:solidFill>
                  <a:srgbClr val="000000"/>
                </a:solidFill>
                <a:latin typeface="Arial" panose="020B0604020202020204"/>
                <a:ea typeface="微软雅黑" panose="020B0503020204020204" charset="-122"/>
                <a:cs typeface="微软雅黑" panose="020B0503020204020204" charset="-122"/>
              </a:defRPr>
            </a:lvl3pPr>
            <a:lvl4pPr>
              <a:defRPr sz="1425" b="1">
                <a:solidFill>
                  <a:srgbClr val="000000"/>
                </a:solidFill>
                <a:latin typeface="Arial" panose="020B0604020202020204"/>
                <a:ea typeface="微软雅黑" panose="020B0503020204020204" charset="-122"/>
                <a:cs typeface="微软雅黑" panose="020B0503020204020204" charset="-122"/>
              </a:defRPr>
            </a:lvl4pPr>
            <a:lvl5pPr>
              <a:defRPr sz="1425" b="1">
                <a:solidFill>
                  <a:srgbClr val="000000"/>
                </a:solidFill>
                <a:latin typeface="Arial" panose="020B0604020202020204"/>
                <a:ea typeface="微软雅黑" panose="020B0503020204020204" charset="-122"/>
                <a:cs typeface="微软雅黑" panose="020B0503020204020204" charset="-122"/>
              </a:defRPr>
            </a:lvl5pPr>
            <a:lvl6pPr>
              <a:defRPr sz="1425" b="1">
                <a:solidFill>
                  <a:srgbClr val="000000"/>
                </a:solidFill>
                <a:latin typeface="Arial" panose="020B0604020202020204"/>
                <a:ea typeface="微软雅黑" panose="020B0503020204020204" charset="-122"/>
                <a:cs typeface="微软雅黑" panose="020B0503020204020204" charset="-122"/>
              </a:defRPr>
            </a:lvl6pPr>
            <a:lvl7pPr>
              <a:defRPr sz="1425" b="1">
                <a:solidFill>
                  <a:srgbClr val="000000"/>
                </a:solidFill>
                <a:latin typeface="Arial" panose="020B0604020202020204"/>
                <a:ea typeface="微软雅黑" panose="020B0503020204020204" charset="-122"/>
                <a:cs typeface="微软雅黑" panose="020B0503020204020204" charset="-122"/>
              </a:defRPr>
            </a:lvl7pPr>
            <a:lvl8pPr>
              <a:defRPr sz="1425" b="1">
                <a:solidFill>
                  <a:srgbClr val="000000"/>
                </a:solidFill>
                <a:latin typeface="Arial" panose="020B0604020202020204"/>
                <a:ea typeface="微软雅黑" panose="020B0503020204020204" charset="-122"/>
                <a:cs typeface="微软雅黑" panose="020B0503020204020204" charset="-122"/>
              </a:defRPr>
            </a:lvl8pPr>
            <a:lvl9pPr>
              <a:defRPr sz="1425" b="1">
                <a:solidFill>
                  <a:srgbClr val="000000"/>
                </a:solidFill>
                <a:latin typeface="Arial" panose="020B0604020202020204"/>
                <a:ea typeface="微软雅黑" panose="020B0503020204020204" charset="-122"/>
                <a:cs typeface="微软雅黑" panose="020B0503020204020204" charset="-122"/>
              </a:defRPr>
            </a:lvl9pPr>
          </a:lstStyle>
          <a:p>
            <a:pPr>
              <a:defRPr sz="1425" b="1">
                <a:solidFill>
                  <a:srgbClr val="000000"/>
                </a:solidFill>
                <a:latin typeface="Arial" panose="020B0604020202020204"/>
                <a:ea typeface="微软雅黑" panose="020B0503020204020204" charset="-122"/>
                <a:cs typeface="微软雅黑" panose="020B0503020204020204" charset="-122"/>
              </a:defRPr>
            </a:pPr>
            <a:r>
              <a:rPr sz="1425" b="1">
                <a:solidFill>
                  <a:srgbClr val="000000"/>
                </a:solidFill>
                <a:latin typeface="Arial" panose="020B0604020202020204"/>
                <a:ea typeface="微软雅黑" panose="020B0503020204020204" charset="-122"/>
                <a:cs typeface="微软雅黑" panose="020B0503020204020204" charset="-122"/>
              </a:rPr>
              <a:t>Tight balance怎么测量</a:t>
            </a:r>
            <a:endParaRPr sz="1425" b="1">
              <a:solidFill>
                <a:srgbClr val="000000"/>
              </a:solidFill>
              <a:latin typeface="Arial" panose="020B0604020202020204"/>
              <a:ea typeface="微软雅黑" panose="020B0503020204020204" charset="-122"/>
              <a:cs typeface="微软雅黑" panose="020B0503020204020204" charset="-122"/>
            </a:endParaRPr>
          </a:p>
        </p:txBody>
      </p:sp>
      <p:sp>
        <p:nvSpPr>
          <p:cNvPr id="12" name="选一个E神经元，呈现10张与其感受野高度相关的图片。去掉前1"/>
          <p:cNvSpPr>
            <a:spLocks noGrp="1"/>
          </p:cNvSpPr>
          <p:nvPr/>
        </p:nvSpPr>
        <p:spPr>
          <a:xfrm>
            <a:off x="6610350" y="1447800"/>
            <a:ext cx="5181600" cy="2476500"/>
          </a:xfrm>
          <a:prstGeom prst="rect">
            <a:avLst/>
          </a:prstGeom>
          <a:noFill/>
          <a:ln w="0">
            <a:noFill/>
          </a:ln>
        </p:spPr>
        <p:txBody>
          <a:bodyPr wrap="square" lIns="0" tIns="0" rIns="0" bIns="0" anchor="t">
            <a:noAutofit/>
          </a:bodyPr>
          <a:lstStyle>
            <a:defPPr>
              <a:defRPr sz="1350" b="0">
                <a:solidFill>
                  <a:srgbClr val="000000"/>
                </a:solidFill>
                <a:latin typeface="Arial" panose="020B0604020202020204"/>
                <a:ea typeface="微软雅黑" panose="020B0503020204020204" charset="-122"/>
                <a:cs typeface="微软雅黑" panose="020B0503020204020204" charset="-122"/>
              </a:defRPr>
            </a:defPPr>
            <a:lvl1pPr>
              <a:defRPr sz="1350" b="0">
                <a:solidFill>
                  <a:srgbClr val="000000"/>
                </a:solidFill>
                <a:latin typeface="Arial" panose="020B0604020202020204"/>
                <a:ea typeface="微软雅黑" panose="020B0503020204020204" charset="-122"/>
                <a:cs typeface="微软雅黑" panose="020B0503020204020204" charset="-122"/>
              </a:defRPr>
            </a:lvl1pPr>
            <a:lvl2pPr>
              <a:defRPr sz="1350" b="0">
                <a:solidFill>
                  <a:srgbClr val="000000"/>
                </a:solidFill>
                <a:latin typeface="Arial" panose="020B0604020202020204"/>
                <a:ea typeface="微软雅黑" panose="020B0503020204020204" charset="-122"/>
                <a:cs typeface="微软雅黑" panose="020B0503020204020204" charset="-122"/>
              </a:defRPr>
            </a:lvl2pPr>
            <a:lvl3pPr>
              <a:defRPr sz="1350" b="0">
                <a:solidFill>
                  <a:srgbClr val="000000"/>
                </a:solidFill>
                <a:latin typeface="Arial" panose="020B0604020202020204"/>
                <a:ea typeface="微软雅黑" panose="020B0503020204020204" charset="-122"/>
                <a:cs typeface="微软雅黑" panose="020B0503020204020204" charset="-122"/>
              </a:defRPr>
            </a:lvl3pPr>
            <a:lvl4pPr>
              <a:defRPr sz="1350" b="0">
                <a:solidFill>
                  <a:srgbClr val="000000"/>
                </a:solidFill>
                <a:latin typeface="Arial" panose="020B0604020202020204"/>
                <a:ea typeface="微软雅黑" panose="020B0503020204020204" charset="-122"/>
                <a:cs typeface="微软雅黑" panose="020B0503020204020204" charset="-122"/>
              </a:defRPr>
            </a:lvl4pPr>
            <a:lvl5pPr>
              <a:defRPr sz="1350" b="0">
                <a:solidFill>
                  <a:srgbClr val="000000"/>
                </a:solidFill>
                <a:latin typeface="Arial" panose="020B0604020202020204"/>
                <a:ea typeface="微软雅黑" panose="020B0503020204020204" charset="-122"/>
                <a:cs typeface="微软雅黑" panose="020B0503020204020204" charset="-122"/>
              </a:defRPr>
            </a:lvl5pPr>
            <a:lvl6pPr>
              <a:defRPr sz="1350" b="0">
                <a:solidFill>
                  <a:srgbClr val="000000"/>
                </a:solidFill>
                <a:latin typeface="Arial" panose="020B0604020202020204"/>
                <a:ea typeface="微软雅黑" panose="020B0503020204020204" charset="-122"/>
                <a:cs typeface="微软雅黑" panose="020B0503020204020204" charset="-122"/>
              </a:defRPr>
            </a:lvl6pPr>
            <a:lvl7pPr>
              <a:defRPr sz="1350" b="0">
                <a:solidFill>
                  <a:srgbClr val="000000"/>
                </a:solidFill>
                <a:latin typeface="Arial" panose="020B0604020202020204"/>
                <a:ea typeface="微软雅黑" panose="020B0503020204020204" charset="-122"/>
                <a:cs typeface="微软雅黑" panose="020B0503020204020204" charset="-122"/>
              </a:defRPr>
            </a:lvl7pPr>
            <a:lvl8pPr>
              <a:defRPr sz="1350" b="0">
                <a:solidFill>
                  <a:srgbClr val="000000"/>
                </a:solidFill>
                <a:latin typeface="Arial" panose="020B0604020202020204"/>
                <a:ea typeface="微软雅黑" panose="020B0503020204020204" charset="-122"/>
                <a:cs typeface="微软雅黑" panose="020B0503020204020204" charset="-122"/>
              </a:defRPr>
            </a:lvl8pPr>
            <a:lvl9pPr>
              <a:defRPr sz="1350" b="0">
                <a:solidFill>
                  <a:srgbClr val="000000"/>
                </a:solidFill>
                <a:latin typeface="Arial" panose="020B0604020202020204"/>
                <a:ea typeface="微软雅黑" panose="020B0503020204020204" charset="-122"/>
                <a:cs typeface="微软雅黑" panose="020B0503020204020204" charset="-122"/>
              </a:defRPr>
            </a:lvl9pPr>
          </a:lstStyle>
          <a:p>
            <a:pPr>
              <a:defRPr sz="1350" b="0">
                <a:solidFill>
                  <a:srgbClr val="000000"/>
                </a:solidFill>
                <a:latin typeface="Arial" panose="020B0604020202020204"/>
                <a:ea typeface="微软雅黑" panose="020B0503020204020204" charset="-122"/>
                <a:cs typeface="微软雅黑" panose="020B0503020204020204" charset="-122"/>
              </a:defRPr>
            </a:pPr>
            <a:r>
              <a:rPr sz="1350" b="0">
                <a:solidFill>
                  <a:srgbClr val="000000"/>
                </a:solidFill>
                <a:latin typeface="Arial" panose="020B0604020202020204"/>
                <a:ea typeface="微软雅黑" panose="020B0503020204020204" charset="-122"/>
                <a:cs typeface="微软雅黑" panose="020B0503020204020204" charset="-122"/>
              </a:rPr>
              <a:t>选</a:t>
            </a:r>
            <a:r>
              <a:rPr lang="zh-CN" sz="1350" b="0">
                <a:solidFill>
                  <a:srgbClr val="000000"/>
                </a:solidFill>
                <a:latin typeface="Arial" panose="020B0604020202020204"/>
                <a:ea typeface="微软雅黑" panose="020B0503020204020204" charset="-122"/>
                <a:cs typeface="微软雅黑" panose="020B0503020204020204" charset="-122"/>
              </a:rPr>
              <a:t>定</a:t>
            </a:r>
            <a:r>
              <a:rPr sz="1350" b="0">
                <a:solidFill>
                  <a:srgbClr val="000000"/>
                </a:solidFill>
                <a:latin typeface="Arial" panose="020B0604020202020204"/>
                <a:ea typeface="微软雅黑" panose="020B0503020204020204" charset="-122"/>
                <a:cs typeface="微软雅黑" panose="020B0503020204020204" charset="-122"/>
              </a:rPr>
              <a:t>一个E神经元，呈现10张与其感受野高度相关的图片。去掉前100 ms</a:t>
            </a:r>
            <a:r>
              <a:rPr lang="zh-CN" sz="1350" b="0">
                <a:solidFill>
                  <a:srgbClr val="000000"/>
                </a:solidFill>
                <a:latin typeface="Arial" panose="020B0604020202020204"/>
                <a:ea typeface="微软雅黑" panose="020B0503020204020204" charset="-122"/>
                <a:cs typeface="微软雅黑" panose="020B0503020204020204" charset="-122"/>
              </a:rPr>
              <a:t>的数据</a:t>
            </a:r>
            <a:r>
              <a:rPr sz="1350" b="0">
                <a:solidFill>
                  <a:srgbClr val="000000"/>
                </a:solidFill>
                <a:latin typeface="Arial" panose="020B0604020202020204"/>
                <a:ea typeface="微软雅黑" panose="020B0503020204020204" charset="-122"/>
                <a:cs typeface="微软雅黑" panose="020B0503020204020204" charset="-122"/>
              </a:rPr>
              <a:t>，再计算兴奋与抑制电位的时间互相关。灰线为各图片，黑线为平均，红条为零延迟置信区间。</a:t>
            </a:r>
            <a:endParaRPr sz="1350" b="0">
              <a:solidFill>
                <a:srgbClr val="000000"/>
              </a:solidFill>
              <a:latin typeface="Arial" panose="020B0604020202020204"/>
              <a:ea typeface="微软雅黑" panose="020B0503020204020204" charset="-122"/>
              <a:cs typeface="微软雅黑" panose="020B0503020204020204" charset="-122"/>
            </a:endParaRPr>
          </a:p>
        </p:txBody>
      </p:sp>
      <p:sp>
        <p:nvSpPr>
          <p:cNvPr id="13" name="AD与AF都保留近零延迟的正相关峰。"/>
          <p:cNvSpPr>
            <a:spLocks noGrp="1"/>
          </p:cNvSpPr>
          <p:nvPr/>
        </p:nvSpPr>
        <p:spPr>
          <a:xfrm>
            <a:off x="6581140" y="2414905"/>
            <a:ext cx="5181600" cy="265176"/>
          </a:xfrm>
          <a:prstGeom prst="rect">
            <a:avLst/>
          </a:prstGeom>
          <a:noFill/>
          <a:ln w="0">
            <a:noFill/>
          </a:ln>
        </p:spPr>
        <p:txBody>
          <a:bodyPr wrap="square" lIns="0" tIns="0" rIns="0" bIns="0" anchor="t">
            <a:noAutofit/>
          </a:bodyPr>
          <a:lstStyle>
            <a:defPPr>
              <a:defRPr sz="1350" b="0">
                <a:solidFill>
                  <a:srgbClr val="000000"/>
                </a:solidFill>
                <a:latin typeface="Arial" panose="020B0604020202020204"/>
                <a:ea typeface="微软雅黑" panose="020B0503020204020204" charset="-122"/>
                <a:cs typeface="微软雅黑" panose="020B0503020204020204" charset="-122"/>
              </a:defRPr>
            </a:defPPr>
            <a:lvl1pPr>
              <a:defRPr sz="1350" b="0">
                <a:solidFill>
                  <a:srgbClr val="000000"/>
                </a:solidFill>
                <a:latin typeface="Arial" panose="020B0604020202020204"/>
                <a:ea typeface="微软雅黑" panose="020B0503020204020204" charset="-122"/>
                <a:cs typeface="微软雅黑" panose="020B0503020204020204" charset="-122"/>
              </a:defRPr>
            </a:lvl1pPr>
            <a:lvl2pPr>
              <a:defRPr sz="1350" b="0">
                <a:solidFill>
                  <a:srgbClr val="000000"/>
                </a:solidFill>
                <a:latin typeface="Arial" panose="020B0604020202020204"/>
                <a:ea typeface="微软雅黑" panose="020B0503020204020204" charset="-122"/>
                <a:cs typeface="微软雅黑" panose="020B0503020204020204" charset="-122"/>
              </a:defRPr>
            </a:lvl2pPr>
            <a:lvl3pPr>
              <a:defRPr sz="1350" b="0">
                <a:solidFill>
                  <a:srgbClr val="000000"/>
                </a:solidFill>
                <a:latin typeface="Arial" panose="020B0604020202020204"/>
                <a:ea typeface="微软雅黑" panose="020B0503020204020204" charset="-122"/>
                <a:cs typeface="微软雅黑" panose="020B0503020204020204" charset="-122"/>
              </a:defRPr>
            </a:lvl3pPr>
            <a:lvl4pPr>
              <a:defRPr sz="1350" b="0">
                <a:solidFill>
                  <a:srgbClr val="000000"/>
                </a:solidFill>
                <a:latin typeface="Arial" panose="020B0604020202020204"/>
                <a:ea typeface="微软雅黑" panose="020B0503020204020204" charset="-122"/>
                <a:cs typeface="微软雅黑" panose="020B0503020204020204" charset="-122"/>
              </a:defRPr>
            </a:lvl4pPr>
            <a:lvl5pPr>
              <a:defRPr sz="1350" b="0">
                <a:solidFill>
                  <a:srgbClr val="000000"/>
                </a:solidFill>
                <a:latin typeface="Arial" panose="020B0604020202020204"/>
                <a:ea typeface="微软雅黑" panose="020B0503020204020204" charset="-122"/>
                <a:cs typeface="微软雅黑" panose="020B0503020204020204" charset="-122"/>
              </a:defRPr>
            </a:lvl5pPr>
            <a:lvl6pPr>
              <a:defRPr sz="1350" b="0">
                <a:solidFill>
                  <a:srgbClr val="000000"/>
                </a:solidFill>
                <a:latin typeface="Arial" panose="020B0604020202020204"/>
                <a:ea typeface="微软雅黑" panose="020B0503020204020204" charset="-122"/>
                <a:cs typeface="微软雅黑" panose="020B0503020204020204" charset="-122"/>
              </a:defRPr>
            </a:lvl6pPr>
            <a:lvl7pPr>
              <a:defRPr sz="1350" b="0">
                <a:solidFill>
                  <a:srgbClr val="000000"/>
                </a:solidFill>
                <a:latin typeface="Arial" panose="020B0604020202020204"/>
                <a:ea typeface="微软雅黑" panose="020B0503020204020204" charset="-122"/>
                <a:cs typeface="微软雅黑" panose="020B0503020204020204" charset="-122"/>
              </a:defRPr>
            </a:lvl7pPr>
            <a:lvl8pPr>
              <a:defRPr sz="1350" b="0">
                <a:solidFill>
                  <a:srgbClr val="000000"/>
                </a:solidFill>
                <a:latin typeface="Arial" panose="020B0604020202020204"/>
                <a:ea typeface="微软雅黑" panose="020B0503020204020204" charset="-122"/>
                <a:cs typeface="微软雅黑" panose="020B0503020204020204" charset="-122"/>
              </a:defRPr>
            </a:lvl8pPr>
            <a:lvl9pPr>
              <a:defRPr sz="1350" b="0">
                <a:solidFill>
                  <a:srgbClr val="000000"/>
                </a:solidFill>
                <a:latin typeface="Arial" panose="020B0604020202020204"/>
                <a:ea typeface="微软雅黑" panose="020B0503020204020204" charset="-122"/>
                <a:cs typeface="微软雅黑" panose="020B0503020204020204" charset="-122"/>
              </a:defRPr>
            </a:lvl9pPr>
          </a:lstStyle>
          <a:p>
            <a:pPr marL="101600" indent="-76200">
              <a:buChar char="·"/>
              <a:defRPr sz="1350" b="0">
                <a:solidFill>
                  <a:srgbClr val="000000"/>
                </a:solidFill>
                <a:latin typeface="Arial" panose="020B0604020202020204"/>
                <a:ea typeface="微软雅黑" panose="020B0503020204020204" charset="-122"/>
                <a:cs typeface="微软雅黑" panose="020B0503020204020204" charset="-122"/>
              </a:defRPr>
            </a:pPr>
            <a:r>
              <a:rPr lang="en-US" altLang="zh-CN"/>
              <a:t>AD</a:t>
            </a:r>
            <a:r>
              <a:rPr lang="en-US"/>
              <a:t>:</a:t>
            </a:r>
            <a:r>
              <a:rPr lang="zh-CN" altLang="en-US"/>
              <a:t>相关系数</a:t>
            </a:r>
            <a:r>
              <a:rPr lang="zh-CN" altLang="en-US"/>
              <a:t>的峰值为 0.505，对应的时间延迟为 1.676 </a:t>
            </a:r>
            <a:r>
              <a:rPr lang="en-US" altLang="zh-CN"/>
              <a:t>ms，</a:t>
            </a:r>
            <a:r>
              <a:rPr lang="zh-CN" altLang="en-US"/>
              <a:t>表明抑制滞后于兴奋，反应出网络训练出了</a:t>
            </a:r>
            <a:r>
              <a:rPr lang="zh-CN" altLang="en-US">
                <a:sym typeface="+mn-ea"/>
              </a:rPr>
              <a:t>毫秒尺度下的</a:t>
            </a:r>
            <a:r>
              <a:rPr lang="en-US" altLang="zh-CN"/>
              <a:t>tight balance</a:t>
            </a:r>
            <a:r>
              <a:rPr lang="zh-CN" altLang="en-US"/>
              <a:t>。</a:t>
            </a:r>
            <a:endParaRPr lang="zh-CN" altLang="en-US"/>
          </a:p>
        </p:txBody>
      </p:sp>
      <p:sp>
        <p:nvSpPr>
          <p:cNvPr id="14" name="AF上一页的平均抑制偏强，说明有相关峰不等于平均强度已平衡。"/>
          <p:cNvSpPr>
            <a:spLocks noGrp="1"/>
          </p:cNvSpPr>
          <p:nvPr/>
        </p:nvSpPr>
        <p:spPr>
          <a:xfrm>
            <a:off x="6648450" y="3002661"/>
            <a:ext cx="5181600" cy="265176"/>
          </a:xfrm>
          <a:prstGeom prst="rect">
            <a:avLst/>
          </a:prstGeom>
          <a:noFill/>
          <a:ln w="0">
            <a:noFill/>
          </a:ln>
        </p:spPr>
        <p:txBody>
          <a:bodyPr wrap="square" lIns="0" tIns="0" rIns="0" bIns="0" anchor="t">
            <a:noAutofit/>
          </a:bodyPr>
          <a:lstStyle>
            <a:defPPr>
              <a:defRPr sz="1350" b="0">
                <a:solidFill>
                  <a:srgbClr val="000000"/>
                </a:solidFill>
                <a:latin typeface="Arial" panose="020B0604020202020204"/>
                <a:ea typeface="微软雅黑" panose="020B0503020204020204" charset="-122"/>
                <a:cs typeface="微软雅黑" panose="020B0503020204020204" charset="-122"/>
              </a:defRPr>
            </a:defPPr>
            <a:lvl1pPr>
              <a:defRPr sz="1350" b="0">
                <a:solidFill>
                  <a:srgbClr val="000000"/>
                </a:solidFill>
                <a:latin typeface="Arial" panose="020B0604020202020204"/>
                <a:ea typeface="微软雅黑" panose="020B0503020204020204" charset="-122"/>
                <a:cs typeface="微软雅黑" panose="020B0503020204020204" charset="-122"/>
              </a:defRPr>
            </a:lvl1pPr>
            <a:lvl2pPr>
              <a:defRPr sz="1350" b="0">
                <a:solidFill>
                  <a:srgbClr val="000000"/>
                </a:solidFill>
                <a:latin typeface="Arial" panose="020B0604020202020204"/>
                <a:ea typeface="微软雅黑" panose="020B0503020204020204" charset="-122"/>
                <a:cs typeface="微软雅黑" panose="020B0503020204020204" charset="-122"/>
              </a:defRPr>
            </a:lvl2pPr>
            <a:lvl3pPr>
              <a:defRPr sz="1350" b="0">
                <a:solidFill>
                  <a:srgbClr val="000000"/>
                </a:solidFill>
                <a:latin typeface="Arial" panose="020B0604020202020204"/>
                <a:ea typeface="微软雅黑" panose="020B0503020204020204" charset="-122"/>
                <a:cs typeface="微软雅黑" panose="020B0503020204020204" charset="-122"/>
              </a:defRPr>
            </a:lvl3pPr>
            <a:lvl4pPr>
              <a:defRPr sz="1350" b="0">
                <a:solidFill>
                  <a:srgbClr val="000000"/>
                </a:solidFill>
                <a:latin typeface="Arial" panose="020B0604020202020204"/>
                <a:ea typeface="微软雅黑" panose="020B0503020204020204" charset="-122"/>
                <a:cs typeface="微软雅黑" panose="020B0503020204020204" charset="-122"/>
              </a:defRPr>
            </a:lvl4pPr>
            <a:lvl5pPr>
              <a:defRPr sz="1350" b="0">
                <a:solidFill>
                  <a:srgbClr val="000000"/>
                </a:solidFill>
                <a:latin typeface="Arial" panose="020B0604020202020204"/>
                <a:ea typeface="微软雅黑" panose="020B0503020204020204" charset="-122"/>
                <a:cs typeface="微软雅黑" panose="020B0503020204020204" charset="-122"/>
              </a:defRPr>
            </a:lvl5pPr>
            <a:lvl6pPr>
              <a:defRPr sz="1350" b="0">
                <a:solidFill>
                  <a:srgbClr val="000000"/>
                </a:solidFill>
                <a:latin typeface="Arial" panose="020B0604020202020204"/>
                <a:ea typeface="微软雅黑" panose="020B0503020204020204" charset="-122"/>
                <a:cs typeface="微软雅黑" panose="020B0503020204020204" charset="-122"/>
              </a:defRPr>
            </a:lvl6pPr>
            <a:lvl7pPr>
              <a:defRPr sz="1350" b="0">
                <a:solidFill>
                  <a:srgbClr val="000000"/>
                </a:solidFill>
                <a:latin typeface="Arial" panose="020B0604020202020204"/>
                <a:ea typeface="微软雅黑" panose="020B0503020204020204" charset="-122"/>
                <a:cs typeface="微软雅黑" panose="020B0503020204020204" charset="-122"/>
              </a:defRPr>
            </a:lvl7pPr>
            <a:lvl8pPr>
              <a:defRPr sz="1350" b="0">
                <a:solidFill>
                  <a:srgbClr val="000000"/>
                </a:solidFill>
                <a:latin typeface="Arial" panose="020B0604020202020204"/>
                <a:ea typeface="微软雅黑" panose="020B0503020204020204" charset="-122"/>
                <a:cs typeface="微软雅黑" panose="020B0503020204020204" charset="-122"/>
              </a:defRPr>
            </a:lvl8pPr>
            <a:lvl9pPr>
              <a:defRPr sz="1350" b="0">
                <a:solidFill>
                  <a:srgbClr val="000000"/>
                </a:solidFill>
                <a:latin typeface="Arial" panose="020B0604020202020204"/>
                <a:ea typeface="微软雅黑" panose="020B0503020204020204" charset="-122"/>
                <a:cs typeface="微软雅黑" panose="020B0503020204020204" charset="-122"/>
              </a:defRPr>
            </a:lvl9pPr>
          </a:lstStyle>
          <a:p>
            <a:pPr marL="101600" indent="-76200">
              <a:buChar char="·"/>
              <a:defRPr sz="1350" b="0">
                <a:solidFill>
                  <a:srgbClr val="000000"/>
                </a:solidFill>
                <a:latin typeface="Arial" panose="020B0604020202020204"/>
                <a:ea typeface="微软雅黑" panose="020B0503020204020204" charset="-122"/>
                <a:cs typeface="微软雅黑" panose="020B0503020204020204" charset="-122"/>
              </a:defRPr>
            </a:pPr>
            <a:r>
              <a:t>AF</a:t>
            </a:r>
            <a:r>
              <a:rPr lang="en-US"/>
              <a:t>:</a:t>
            </a:r>
            <a:r>
              <a:rPr lang="zh-CN" altLang="en-US"/>
              <a:t>相关系数为 的峰值为0.527，与 </a:t>
            </a:r>
            <a:r>
              <a:rPr lang="en-US" altLang="zh-CN"/>
              <a:t>AD </a:t>
            </a:r>
            <a:r>
              <a:rPr lang="zh-CN" altLang="en-US"/>
              <a:t>的数值相近，且其对于峰值延迟缩短至 0.975 </a:t>
            </a:r>
            <a:r>
              <a:rPr lang="en-US" altLang="zh-CN"/>
              <a:t>ms。</a:t>
            </a:r>
            <a:r>
              <a:rPr lang="zh-CN" altLang="en-US"/>
              <a:t>这表明关闭自适应阈值主要改变了抑制输入的大小</a:t>
            </a:r>
            <a:r>
              <a:rPr lang="en-US" altLang="zh-CN"/>
              <a:t>0</a:t>
            </a:r>
            <a:r>
              <a:rPr lang="zh-CN" altLang="en-US"/>
              <a:t>，而对兴奋-抑制（</a:t>
            </a:r>
            <a:r>
              <a:rPr lang="en-US" altLang="zh-CN"/>
              <a:t>E-I）</a:t>
            </a:r>
            <a:r>
              <a:rPr lang="zh-CN" altLang="en-US"/>
              <a:t>活动的时间相关性干扰较小，从而使网络能够维持</a:t>
            </a:r>
            <a:r>
              <a:rPr lang="en-US" altLang="zh-CN"/>
              <a:t>tight balance</a:t>
            </a:r>
            <a:r>
              <a:rPr lang="zh-CN" altLang="en-US"/>
              <a:t>。</a:t>
            </a:r>
            <a:endParaRPr lang="zh-CN" altLang="en-US"/>
          </a:p>
        </p:txBody>
      </p:sp>
      <p:sp>
        <p:nvSpPr>
          <p:cNvPr id="15" name="AE、AG平均曲线接近0，当前示例中没有清晰正峰。"/>
          <p:cNvSpPr>
            <a:spLocks noGrp="1"/>
          </p:cNvSpPr>
          <p:nvPr/>
        </p:nvSpPr>
        <p:spPr>
          <a:xfrm>
            <a:off x="6619875" y="4487037"/>
            <a:ext cx="5181600" cy="265176"/>
          </a:xfrm>
          <a:prstGeom prst="rect">
            <a:avLst/>
          </a:prstGeom>
          <a:noFill/>
          <a:ln w="0">
            <a:noFill/>
          </a:ln>
        </p:spPr>
        <p:txBody>
          <a:bodyPr wrap="square" lIns="0" tIns="0" rIns="0" bIns="0" anchor="t">
            <a:noAutofit/>
          </a:bodyPr>
          <a:lstStyle>
            <a:defPPr>
              <a:defRPr sz="1350" b="0">
                <a:solidFill>
                  <a:srgbClr val="000000"/>
                </a:solidFill>
                <a:latin typeface="Arial" panose="020B0604020202020204"/>
                <a:ea typeface="微软雅黑" panose="020B0503020204020204" charset="-122"/>
                <a:cs typeface="微软雅黑" panose="020B0503020204020204" charset="-122"/>
              </a:defRPr>
            </a:defPPr>
            <a:lvl1pPr>
              <a:defRPr sz="1350" b="0">
                <a:solidFill>
                  <a:srgbClr val="000000"/>
                </a:solidFill>
                <a:latin typeface="Arial" panose="020B0604020202020204"/>
                <a:ea typeface="微软雅黑" panose="020B0503020204020204" charset="-122"/>
                <a:cs typeface="微软雅黑" panose="020B0503020204020204" charset="-122"/>
              </a:defRPr>
            </a:lvl1pPr>
            <a:lvl2pPr>
              <a:defRPr sz="1350" b="0">
                <a:solidFill>
                  <a:srgbClr val="000000"/>
                </a:solidFill>
                <a:latin typeface="Arial" panose="020B0604020202020204"/>
                <a:ea typeface="微软雅黑" panose="020B0503020204020204" charset="-122"/>
                <a:cs typeface="微软雅黑" panose="020B0503020204020204" charset="-122"/>
              </a:defRPr>
            </a:lvl2pPr>
            <a:lvl3pPr>
              <a:defRPr sz="1350" b="0">
                <a:solidFill>
                  <a:srgbClr val="000000"/>
                </a:solidFill>
                <a:latin typeface="Arial" panose="020B0604020202020204"/>
                <a:ea typeface="微软雅黑" panose="020B0503020204020204" charset="-122"/>
                <a:cs typeface="微软雅黑" panose="020B0503020204020204" charset="-122"/>
              </a:defRPr>
            </a:lvl3pPr>
            <a:lvl4pPr>
              <a:defRPr sz="1350" b="0">
                <a:solidFill>
                  <a:srgbClr val="000000"/>
                </a:solidFill>
                <a:latin typeface="Arial" panose="020B0604020202020204"/>
                <a:ea typeface="微软雅黑" panose="020B0503020204020204" charset="-122"/>
                <a:cs typeface="微软雅黑" panose="020B0503020204020204" charset="-122"/>
              </a:defRPr>
            </a:lvl4pPr>
            <a:lvl5pPr>
              <a:defRPr sz="1350" b="0">
                <a:solidFill>
                  <a:srgbClr val="000000"/>
                </a:solidFill>
                <a:latin typeface="Arial" panose="020B0604020202020204"/>
                <a:ea typeface="微软雅黑" panose="020B0503020204020204" charset="-122"/>
                <a:cs typeface="微软雅黑" panose="020B0503020204020204" charset="-122"/>
              </a:defRPr>
            </a:lvl5pPr>
            <a:lvl6pPr>
              <a:defRPr sz="1350" b="0">
                <a:solidFill>
                  <a:srgbClr val="000000"/>
                </a:solidFill>
                <a:latin typeface="Arial" panose="020B0604020202020204"/>
                <a:ea typeface="微软雅黑" panose="020B0503020204020204" charset="-122"/>
                <a:cs typeface="微软雅黑" panose="020B0503020204020204" charset="-122"/>
              </a:defRPr>
            </a:lvl6pPr>
            <a:lvl7pPr>
              <a:defRPr sz="1350" b="0">
                <a:solidFill>
                  <a:srgbClr val="000000"/>
                </a:solidFill>
                <a:latin typeface="Arial" panose="020B0604020202020204"/>
                <a:ea typeface="微软雅黑" panose="020B0503020204020204" charset="-122"/>
                <a:cs typeface="微软雅黑" panose="020B0503020204020204" charset="-122"/>
              </a:defRPr>
            </a:lvl7pPr>
            <a:lvl8pPr>
              <a:defRPr sz="1350" b="0">
                <a:solidFill>
                  <a:srgbClr val="000000"/>
                </a:solidFill>
                <a:latin typeface="Arial" panose="020B0604020202020204"/>
                <a:ea typeface="微软雅黑" panose="020B0503020204020204" charset="-122"/>
                <a:cs typeface="微软雅黑" panose="020B0503020204020204" charset="-122"/>
              </a:defRPr>
            </a:lvl8pPr>
            <a:lvl9pPr>
              <a:defRPr sz="1350" b="0">
                <a:solidFill>
                  <a:srgbClr val="000000"/>
                </a:solidFill>
                <a:latin typeface="Arial" panose="020B0604020202020204"/>
                <a:ea typeface="微软雅黑" panose="020B0503020204020204" charset="-122"/>
                <a:cs typeface="微软雅黑" panose="020B0503020204020204" charset="-122"/>
              </a:defRPr>
            </a:lvl9pPr>
          </a:lstStyle>
          <a:p>
            <a:pPr marL="101600" indent="-76200">
              <a:buChar char="·"/>
              <a:defRPr sz="1350" b="0">
                <a:solidFill>
                  <a:srgbClr val="000000"/>
                </a:solidFill>
                <a:latin typeface="Arial" panose="020B0604020202020204"/>
                <a:ea typeface="微软雅黑" panose="020B0503020204020204" charset="-122"/>
                <a:cs typeface="微软雅黑" panose="020B0503020204020204" charset="-122"/>
              </a:defRPr>
            </a:pPr>
          </a:p>
        </p:txBody>
      </p:sp>
      <p:sp>
        <p:nvSpPr>
          <p:cNvPr id="16" name="TAKEAWAY_HIGHLIGHT"/>
          <p:cNvSpPr>
            <a:spLocks noGrp="1"/>
          </p:cNvSpPr>
          <p:nvPr/>
        </p:nvSpPr>
        <p:spPr>
          <a:xfrm>
            <a:off x="6581140" y="5749925"/>
            <a:ext cx="5219700" cy="647700"/>
          </a:xfrm>
          <a:prstGeom prst="rect">
            <a:avLst/>
          </a:prstGeom>
          <a:noFill/>
          <a:ln w="0">
            <a:noFill/>
          </a:ln>
        </p:spPr>
        <p:txBody>
          <a:bodyPr wrap="square" lIns="0" tIns="0" rIns="0" bIns="0" anchor="t">
            <a:noAutofit/>
          </a:bodyPr>
          <a:lstStyle>
            <a:defPPr>
              <a:defRPr sz="1600" b="0">
                <a:solidFill>
                  <a:srgbClr val="000000"/>
                </a:solidFill>
                <a:latin typeface="Arial" panose="020B0604020202020204"/>
                <a:ea typeface="微软雅黑" panose="020B0503020204020204" charset="-122"/>
                <a:cs typeface="微软雅黑" panose="020B0503020204020204" charset="-122"/>
              </a:defRPr>
            </a:defPPr>
            <a:lvl1pPr>
              <a:defRPr sz="1600" b="0">
                <a:solidFill>
                  <a:srgbClr val="000000"/>
                </a:solidFill>
                <a:latin typeface="Arial" panose="020B0604020202020204"/>
                <a:ea typeface="微软雅黑" panose="020B0503020204020204" charset="-122"/>
                <a:cs typeface="微软雅黑" panose="020B0503020204020204" charset="-122"/>
              </a:defRPr>
            </a:lvl1pPr>
            <a:lvl2pPr>
              <a:defRPr sz="1600" b="0">
                <a:solidFill>
                  <a:srgbClr val="000000"/>
                </a:solidFill>
                <a:latin typeface="Arial" panose="020B0604020202020204"/>
                <a:ea typeface="微软雅黑" panose="020B0503020204020204" charset="-122"/>
                <a:cs typeface="微软雅黑" panose="020B0503020204020204" charset="-122"/>
              </a:defRPr>
            </a:lvl2pPr>
            <a:lvl3pPr>
              <a:defRPr sz="1600" b="0">
                <a:solidFill>
                  <a:srgbClr val="000000"/>
                </a:solidFill>
                <a:latin typeface="Arial" panose="020B0604020202020204"/>
                <a:ea typeface="微软雅黑" panose="020B0503020204020204" charset="-122"/>
                <a:cs typeface="微软雅黑" panose="020B0503020204020204" charset="-122"/>
              </a:defRPr>
            </a:lvl3pPr>
            <a:lvl4pPr>
              <a:defRPr sz="1600" b="0">
                <a:solidFill>
                  <a:srgbClr val="000000"/>
                </a:solidFill>
                <a:latin typeface="Arial" panose="020B0604020202020204"/>
                <a:ea typeface="微软雅黑" panose="020B0503020204020204" charset="-122"/>
                <a:cs typeface="微软雅黑" panose="020B0503020204020204" charset="-122"/>
              </a:defRPr>
            </a:lvl4pPr>
            <a:lvl5pPr>
              <a:defRPr sz="1600" b="0">
                <a:solidFill>
                  <a:srgbClr val="000000"/>
                </a:solidFill>
                <a:latin typeface="Arial" panose="020B0604020202020204"/>
                <a:ea typeface="微软雅黑" panose="020B0503020204020204" charset="-122"/>
                <a:cs typeface="微软雅黑" panose="020B0503020204020204" charset="-122"/>
              </a:defRPr>
            </a:lvl5pPr>
            <a:lvl6pPr>
              <a:defRPr sz="1600" b="0">
                <a:solidFill>
                  <a:srgbClr val="000000"/>
                </a:solidFill>
                <a:latin typeface="Arial" panose="020B0604020202020204"/>
                <a:ea typeface="微软雅黑" panose="020B0503020204020204" charset="-122"/>
                <a:cs typeface="微软雅黑" panose="020B0503020204020204" charset="-122"/>
              </a:defRPr>
            </a:lvl6pPr>
            <a:lvl7pPr>
              <a:defRPr sz="1600" b="0">
                <a:solidFill>
                  <a:srgbClr val="000000"/>
                </a:solidFill>
                <a:latin typeface="Arial" panose="020B0604020202020204"/>
                <a:ea typeface="微软雅黑" panose="020B0503020204020204" charset="-122"/>
                <a:cs typeface="微软雅黑" panose="020B0503020204020204" charset="-122"/>
              </a:defRPr>
            </a:lvl7pPr>
            <a:lvl8pPr>
              <a:defRPr sz="1600" b="0">
                <a:solidFill>
                  <a:srgbClr val="000000"/>
                </a:solidFill>
                <a:latin typeface="Arial" panose="020B0604020202020204"/>
                <a:ea typeface="微软雅黑" panose="020B0503020204020204" charset="-122"/>
                <a:cs typeface="微软雅黑" panose="020B0503020204020204" charset="-122"/>
              </a:defRPr>
            </a:lvl8pPr>
            <a:lvl9pPr>
              <a:defRPr sz="1600" b="0">
                <a:solidFill>
                  <a:srgbClr val="000000"/>
                </a:solidFill>
                <a:latin typeface="Arial" panose="020B0604020202020204"/>
                <a:ea typeface="微软雅黑" panose="020B0503020204020204" charset="-122"/>
                <a:cs typeface="微软雅黑" panose="020B0503020204020204" charset="-122"/>
              </a:defRPr>
            </a:lvl9pPr>
          </a:lstStyle>
          <a:p>
            <a:pPr algn="ctr">
              <a:defRPr sz="1600" b="0">
                <a:solidFill>
                  <a:srgbClr val="000000"/>
                </a:solidFill>
                <a:latin typeface="Arial" panose="020B0604020202020204"/>
                <a:ea typeface="微软雅黑" panose="020B0503020204020204" charset="-122"/>
                <a:cs typeface="微软雅黑" panose="020B0503020204020204" charset="-122"/>
              </a:defRPr>
            </a:pPr>
            <a:r>
              <a:rPr lang="en-US" sz="1600" b="1">
                <a:solidFill>
                  <a:srgbClr val="000000"/>
                </a:solidFill>
                <a:highlight>
                  <a:srgbClr val="FFFF00"/>
                </a:highlight>
                <a:latin typeface="Arial" panose="020B0604020202020204"/>
                <a:ea typeface="微软雅黑" panose="020B0503020204020204" charset="-122"/>
                <a:cs typeface="微软雅黑" panose="020B0503020204020204" charset="-122"/>
              </a:rPr>
              <a:t>L1</a:t>
            </a:r>
            <a:r>
              <a:rPr lang="zh-CN" altLang="en-US" sz="1600" b="1">
                <a:solidFill>
                  <a:srgbClr val="000000"/>
                </a:solidFill>
                <a:highlight>
                  <a:srgbClr val="FFFF00"/>
                </a:highlight>
                <a:latin typeface="Arial" panose="020B0604020202020204"/>
                <a:ea typeface="微软雅黑" panose="020B0503020204020204" charset="-122"/>
                <a:cs typeface="微软雅黑" panose="020B0503020204020204" charset="-122"/>
              </a:rPr>
              <a:t>机制为网络</a:t>
            </a:r>
            <a:r>
              <a:rPr lang="en-US" altLang="zh-CN" sz="1600" b="1">
                <a:solidFill>
                  <a:srgbClr val="000000"/>
                </a:solidFill>
                <a:highlight>
                  <a:srgbClr val="FFFF00"/>
                </a:highlight>
                <a:latin typeface="Arial" panose="020B0604020202020204"/>
                <a:ea typeface="微软雅黑" panose="020B0503020204020204" charset="-122"/>
                <a:cs typeface="微软雅黑" panose="020B0503020204020204" charset="-122"/>
              </a:rPr>
              <a:t>tight balance</a:t>
            </a:r>
            <a:r>
              <a:rPr lang="zh-CN" altLang="en-US" sz="1600" b="1">
                <a:solidFill>
                  <a:srgbClr val="000000"/>
                </a:solidFill>
                <a:highlight>
                  <a:srgbClr val="FFFF00"/>
                </a:highlight>
                <a:latin typeface="Arial" panose="020B0604020202020204"/>
                <a:ea typeface="微软雅黑" panose="020B0503020204020204" charset="-122"/>
                <a:cs typeface="微软雅黑" panose="020B0503020204020204" charset="-122"/>
              </a:rPr>
              <a:t>形成的必要条件</a:t>
            </a:r>
            <a:endParaRPr lang="zh-CN" altLang="en-US" sz="1600" b="1">
              <a:solidFill>
                <a:srgbClr val="000000"/>
              </a:solidFill>
              <a:highlight>
                <a:srgbClr val="FFFF00"/>
              </a:highlight>
              <a:latin typeface="Arial" panose="020B0604020202020204"/>
              <a:ea typeface="微软雅黑" panose="020B0503020204020204" charset="-122"/>
              <a:cs typeface="微软雅黑" panose="020B0503020204020204" charset="-122"/>
            </a:endParaRPr>
          </a:p>
          <a:p>
            <a:pPr algn="ctr">
              <a:defRPr sz="1600" b="0">
                <a:solidFill>
                  <a:srgbClr val="000000"/>
                </a:solidFill>
                <a:latin typeface="Arial" panose="020B0604020202020204"/>
                <a:ea typeface="微软雅黑" panose="020B0503020204020204" charset="-122"/>
                <a:cs typeface="微软雅黑" panose="020B0503020204020204" charset="-122"/>
              </a:defRPr>
            </a:pPr>
            <a:r>
              <a:rPr lang="zh-CN" altLang="en-US" sz="1600" b="1">
                <a:solidFill>
                  <a:srgbClr val="000000"/>
                </a:solidFill>
                <a:highlight>
                  <a:srgbClr val="FFFF00"/>
                </a:highlight>
                <a:latin typeface="Arial" panose="020B0604020202020204"/>
                <a:ea typeface="微软雅黑" panose="020B0503020204020204" charset="-122"/>
                <a:cs typeface="微软雅黑" panose="020B0503020204020204" charset="-122"/>
              </a:rPr>
              <a:t>而自适应阈值则改变 </a:t>
            </a:r>
            <a:r>
              <a:rPr lang="en-US" altLang="zh-CN" sz="1600" b="1">
                <a:solidFill>
                  <a:srgbClr val="000000"/>
                </a:solidFill>
                <a:highlight>
                  <a:srgbClr val="FFFF00"/>
                </a:highlight>
                <a:latin typeface="Arial" panose="020B0604020202020204"/>
                <a:ea typeface="微软雅黑" panose="020B0503020204020204" charset="-122"/>
                <a:cs typeface="微软雅黑" panose="020B0503020204020204" charset="-122"/>
              </a:rPr>
              <a:t>E、I </a:t>
            </a:r>
            <a:r>
              <a:rPr lang="zh-CN" altLang="en-US" sz="1600" b="1">
                <a:solidFill>
                  <a:srgbClr val="000000"/>
                </a:solidFill>
                <a:highlight>
                  <a:srgbClr val="FFFF00"/>
                </a:highlight>
                <a:latin typeface="Arial" panose="020B0604020202020204"/>
                <a:ea typeface="微软雅黑" panose="020B0503020204020204" charset="-122"/>
                <a:cs typeface="微软雅黑" panose="020B0503020204020204" charset="-122"/>
              </a:rPr>
              <a:t>神经元的放电时序，从而影响相关峰的位置。</a:t>
            </a:r>
            <a:endParaRPr lang="zh-CN" altLang="en-US" sz="1600" b="1">
              <a:solidFill>
                <a:srgbClr val="000000"/>
              </a:solidFill>
              <a:highlight>
                <a:srgbClr val="FFFF00"/>
              </a:highlight>
              <a:latin typeface="Arial" panose="020B0604020202020204"/>
              <a:ea typeface="微软雅黑" panose="020B0503020204020204" charset="-122"/>
              <a:cs typeface="微软雅黑" panose="020B0503020204020204" charset="-122"/>
            </a:endParaRPr>
          </a:p>
        </p:txBody>
      </p:sp>
      <p:sp>
        <p:nvSpPr>
          <p:cNvPr id="19" name="AD（完整机制）"/>
          <p:cNvSpPr>
            <a:spLocks noGrp="1"/>
          </p:cNvSpPr>
          <p:nvPr/>
        </p:nvSpPr>
        <p:spPr>
          <a:xfrm>
            <a:off x="457200" y="876300"/>
            <a:ext cx="3048000" cy="266700"/>
          </a:xfrm>
          <a:prstGeom prst="rect">
            <a:avLst/>
          </a:prstGeom>
          <a:noFill/>
          <a:ln w="0">
            <a:noFill/>
          </a:ln>
        </p:spPr>
        <p:txBody>
          <a:bodyPr wrap="square" lIns="0" tIns="0" rIns="0" bIns="0" anchor="t">
            <a:noAutofit/>
          </a:bodyPr>
          <a:lstStyle>
            <a:defPPr>
              <a:defRPr sz="1350" b="1">
                <a:solidFill>
                  <a:srgbClr val="000000"/>
                </a:solidFill>
                <a:latin typeface="Arial" panose="020B0604020202020204"/>
                <a:ea typeface="微软雅黑" panose="020B0503020204020204" charset="-122"/>
                <a:cs typeface="微软雅黑" panose="020B0503020204020204" charset="-122"/>
              </a:defRPr>
            </a:defPPr>
            <a:lvl1pPr>
              <a:defRPr sz="1350" b="1">
                <a:solidFill>
                  <a:srgbClr val="000000"/>
                </a:solidFill>
                <a:latin typeface="Arial" panose="020B0604020202020204"/>
                <a:ea typeface="微软雅黑" panose="020B0503020204020204" charset="-122"/>
                <a:cs typeface="微软雅黑" panose="020B0503020204020204" charset="-122"/>
              </a:defRPr>
            </a:lvl1pPr>
            <a:lvl2pPr>
              <a:defRPr sz="1350" b="1">
                <a:solidFill>
                  <a:srgbClr val="000000"/>
                </a:solidFill>
                <a:latin typeface="Arial" panose="020B0604020202020204"/>
                <a:ea typeface="微软雅黑" panose="020B0503020204020204" charset="-122"/>
                <a:cs typeface="微软雅黑" panose="020B0503020204020204" charset="-122"/>
              </a:defRPr>
            </a:lvl2pPr>
            <a:lvl3pPr>
              <a:defRPr sz="1350" b="1">
                <a:solidFill>
                  <a:srgbClr val="000000"/>
                </a:solidFill>
                <a:latin typeface="Arial" panose="020B0604020202020204"/>
                <a:ea typeface="微软雅黑" panose="020B0503020204020204" charset="-122"/>
                <a:cs typeface="微软雅黑" panose="020B0503020204020204" charset="-122"/>
              </a:defRPr>
            </a:lvl3pPr>
            <a:lvl4pPr>
              <a:defRPr sz="1350" b="1">
                <a:solidFill>
                  <a:srgbClr val="000000"/>
                </a:solidFill>
                <a:latin typeface="Arial" panose="020B0604020202020204"/>
                <a:ea typeface="微软雅黑" panose="020B0503020204020204" charset="-122"/>
                <a:cs typeface="微软雅黑" panose="020B0503020204020204" charset="-122"/>
              </a:defRPr>
            </a:lvl4pPr>
            <a:lvl5pPr>
              <a:defRPr sz="1350" b="1">
                <a:solidFill>
                  <a:srgbClr val="000000"/>
                </a:solidFill>
                <a:latin typeface="Arial" panose="020B0604020202020204"/>
                <a:ea typeface="微软雅黑" panose="020B0503020204020204" charset="-122"/>
                <a:cs typeface="微软雅黑" panose="020B0503020204020204" charset="-122"/>
              </a:defRPr>
            </a:lvl5pPr>
            <a:lvl6pPr>
              <a:defRPr sz="1350" b="1">
                <a:solidFill>
                  <a:srgbClr val="000000"/>
                </a:solidFill>
                <a:latin typeface="Arial" panose="020B0604020202020204"/>
                <a:ea typeface="微软雅黑" panose="020B0503020204020204" charset="-122"/>
                <a:cs typeface="微软雅黑" panose="020B0503020204020204" charset="-122"/>
              </a:defRPr>
            </a:lvl6pPr>
            <a:lvl7pPr>
              <a:defRPr sz="1350" b="1">
                <a:solidFill>
                  <a:srgbClr val="000000"/>
                </a:solidFill>
                <a:latin typeface="Arial" panose="020B0604020202020204"/>
                <a:ea typeface="微软雅黑" panose="020B0503020204020204" charset="-122"/>
                <a:cs typeface="微软雅黑" panose="020B0503020204020204" charset="-122"/>
              </a:defRPr>
            </a:lvl7pPr>
            <a:lvl8pPr>
              <a:defRPr sz="1350" b="1">
                <a:solidFill>
                  <a:srgbClr val="000000"/>
                </a:solidFill>
                <a:latin typeface="Arial" panose="020B0604020202020204"/>
                <a:ea typeface="微软雅黑" panose="020B0503020204020204" charset="-122"/>
                <a:cs typeface="微软雅黑" panose="020B0503020204020204" charset="-122"/>
              </a:defRPr>
            </a:lvl8pPr>
            <a:lvl9pPr>
              <a:defRPr sz="1350" b="1">
                <a:solidFill>
                  <a:srgbClr val="000000"/>
                </a:solidFill>
                <a:latin typeface="Arial" panose="020B0604020202020204"/>
                <a:ea typeface="微软雅黑" panose="020B0503020204020204" charset="-122"/>
                <a:cs typeface="微软雅黑" panose="020B0503020204020204" charset="-122"/>
              </a:defRPr>
            </a:lvl9pPr>
          </a:lstStyle>
          <a:p>
            <a:pPr>
              <a:defRPr sz="1350" b="1">
                <a:solidFill>
                  <a:srgbClr val="000000"/>
                </a:solidFill>
                <a:latin typeface="Arial" panose="020B0604020202020204"/>
                <a:ea typeface="微软雅黑" panose="020B0503020204020204" charset="-122"/>
                <a:cs typeface="微软雅黑" panose="020B0503020204020204" charset="-122"/>
              </a:defRPr>
            </a:pPr>
            <a:r>
              <a:rPr sz="1350" b="1">
                <a:solidFill>
                  <a:srgbClr val="000000"/>
                </a:solidFill>
                <a:latin typeface="Arial" panose="020B0604020202020204"/>
                <a:ea typeface="微软雅黑" panose="020B0503020204020204" charset="-122"/>
                <a:cs typeface="微软雅黑" panose="020B0503020204020204" charset="-122"/>
              </a:rPr>
              <a:t>AD（</a:t>
            </a:r>
            <a:r>
              <a:rPr lang="en-US" sz="1350" b="1">
                <a:solidFill>
                  <a:srgbClr val="000000"/>
                </a:solidFill>
                <a:latin typeface="Arial" panose="020B0604020202020204"/>
                <a:ea typeface="微软雅黑" panose="020B0503020204020204" charset="-122"/>
                <a:cs typeface="微软雅黑" panose="020B0503020204020204" charset="-122"/>
              </a:rPr>
              <a:t>Baseline</a:t>
            </a:r>
            <a:r>
              <a:rPr sz="1350" b="1">
                <a:solidFill>
                  <a:srgbClr val="000000"/>
                </a:solidFill>
                <a:latin typeface="Arial" panose="020B0604020202020204"/>
                <a:ea typeface="微软雅黑" panose="020B0503020204020204" charset="-122"/>
                <a:cs typeface="微软雅黑" panose="020B0503020204020204" charset="-122"/>
              </a:rPr>
              <a:t>）</a:t>
            </a:r>
            <a:endParaRPr sz="1350" b="1">
              <a:solidFill>
                <a:srgbClr val="000000"/>
              </a:solidFill>
              <a:latin typeface="Arial" panose="020B0604020202020204"/>
              <a:ea typeface="微软雅黑" panose="020B0503020204020204" charset="-122"/>
              <a:cs typeface="微软雅黑" panose="020B0503020204020204" charset="-122"/>
            </a:endParaRPr>
          </a:p>
        </p:txBody>
      </p:sp>
      <p:sp>
        <p:nvSpPr>
          <p:cNvPr id="20" name="AE（L1 off）"/>
          <p:cNvSpPr>
            <a:spLocks noGrp="1"/>
          </p:cNvSpPr>
          <p:nvPr/>
        </p:nvSpPr>
        <p:spPr>
          <a:xfrm>
            <a:off x="3600450" y="876300"/>
            <a:ext cx="3048000" cy="266700"/>
          </a:xfrm>
          <a:prstGeom prst="rect">
            <a:avLst/>
          </a:prstGeom>
          <a:noFill/>
          <a:ln w="0">
            <a:noFill/>
          </a:ln>
        </p:spPr>
        <p:txBody>
          <a:bodyPr wrap="square" lIns="0" tIns="0" rIns="0" bIns="0" anchor="t">
            <a:noAutofit/>
          </a:bodyPr>
          <a:lstStyle>
            <a:defPPr>
              <a:defRPr sz="1350" b="1">
                <a:solidFill>
                  <a:srgbClr val="000000"/>
                </a:solidFill>
                <a:latin typeface="Arial" panose="020B0604020202020204"/>
                <a:ea typeface="微软雅黑" panose="020B0503020204020204" charset="-122"/>
                <a:cs typeface="微软雅黑" panose="020B0503020204020204" charset="-122"/>
              </a:defRPr>
            </a:defPPr>
            <a:lvl1pPr>
              <a:defRPr sz="1350" b="1">
                <a:solidFill>
                  <a:srgbClr val="000000"/>
                </a:solidFill>
                <a:latin typeface="Arial" panose="020B0604020202020204"/>
                <a:ea typeface="微软雅黑" panose="020B0503020204020204" charset="-122"/>
                <a:cs typeface="微软雅黑" panose="020B0503020204020204" charset="-122"/>
              </a:defRPr>
            </a:lvl1pPr>
            <a:lvl2pPr>
              <a:defRPr sz="1350" b="1">
                <a:solidFill>
                  <a:srgbClr val="000000"/>
                </a:solidFill>
                <a:latin typeface="Arial" panose="020B0604020202020204"/>
                <a:ea typeface="微软雅黑" panose="020B0503020204020204" charset="-122"/>
                <a:cs typeface="微软雅黑" panose="020B0503020204020204" charset="-122"/>
              </a:defRPr>
            </a:lvl2pPr>
            <a:lvl3pPr>
              <a:defRPr sz="1350" b="1">
                <a:solidFill>
                  <a:srgbClr val="000000"/>
                </a:solidFill>
                <a:latin typeface="Arial" panose="020B0604020202020204"/>
                <a:ea typeface="微软雅黑" panose="020B0503020204020204" charset="-122"/>
                <a:cs typeface="微软雅黑" panose="020B0503020204020204" charset="-122"/>
              </a:defRPr>
            </a:lvl3pPr>
            <a:lvl4pPr>
              <a:defRPr sz="1350" b="1">
                <a:solidFill>
                  <a:srgbClr val="000000"/>
                </a:solidFill>
                <a:latin typeface="Arial" panose="020B0604020202020204"/>
                <a:ea typeface="微软雅黑" panose="020B0503020204020204" charset="-122"/>
                <a:cs typeface="微软雅黑" panose="020B0503020204020204" charset="-122"/>
              </a:defRPr>
            </a:lvl4pPr>
            <a:lvl5pPr>
              <a:defRPr sz="1350" b="1">
                <a:solidFill>
                  <a:srgbClr val="000000"/>
                </a:solidFill>
                <a:latin typeface="Arial" panose="020B0604020202020204"/>
                <a:ea typeface="微软雅黑" panose="020B0503020204020204" charset="-122"/>
                <a:cs typeface="微软雅黑" panose="020B0503020204020204" charset="-122"/>
              </a:defRPr>
            </a:lvl5pPr>
            <a:lvl6pPr>
              <a:defRPr sz="1350" b="1">
                <a:solidFill>
                  <a:srgbClr val="000000"/>
                </a:solidFill>
                <a:latin typeface="Arial" panose="020B0604020202020204"/>
                <a:ea typeface="微软雅黑" panose="020B0503020204020204" charset="-122"/>
                <a:cs typeface="微软雅黑" panose="020B0503020204020204" charset="-122"/>
              </a:defRPr>
            </a:lvl6pPr>
            <a:lvl7pPr>
              <a:defRPr sz="1350" b="1">
                <a:solidFill>
                  <a:srgbClr val="000000"/>
                </a:solidFill>
                <a:latin typeface="Arial" panose="020B0604020202020204"/>
                <a:ea typeface="微软雅黑" panose="020B0503020204020204" charset="-122"/>
                <a:cs typeface="微软雅黑" panose="020B0503020204020204" charset="-122"/>
              </a:defRPr>
            </a:lvl7pPr>
            <a:lvl8pPr>
              <a:defRPr sz="1350" b="1">
                <a:solidFill>
                  <a:srgbClr val="000000"/>
                </a:solidFill>
                <a:latin typeface="Arial" panose="020B0604020202020204"/>
                <a:ea typeface="微软雅黑" panose="020B0503020204020204" charset="-122"/>
                <a:cs typeface="微软雅黑" panose="020B0503020204020204" charset="-122"/>
              </a:defRPr>
            </a:lvl8pPr>
            <a:lvl9pPr>
              <a:defRPr sz="1350" b="1">
                <a:solidFill>
                  <a:srgbClr val="000000"/>
                </a:solidFill>
                <a:latin typeface="Arial" panose="020B0604020202020204"/>
                <a:ea typeface="微软雅黑" panose="020B0503020204020204" charset="-122"/>
                <a:cs typeface="微软雅黑" panose="020B0503020204020204" charset="-122"/>
              </a:defRPr>
            </a:lvl9pPr>
          </a:lstStyle>
          <a:p>
            <a:pPr>
              <a:defRPr sz="1350" b="1">
                <a:solidFill>
                  <a:srgbClr val="000000"/>
                </a:solidFill>
                <a:latin typeface="Arial" panose="020B0604020202020204"/>
                <a:ea typeface="微软雅黑" panose="020B0503020204020204" charset="-122"/>
                <a:cs typeface="微软雅黑" panose="020B0503020204020204" charset="-122"/>
              </a:defRPr>
            </a:pPr>
            <a:r>
              <a:rPr sz="1350" b="1">
                <a:solidFill>
                  <a:srgbClr val="000000"/>
                </a:solidFill>
                <a:latin typeface="Arial" panose="020B0604020202020204"/>
                <a:ea typeface="微软雅黑" panose="020B0503020204020204" charset="-122"/>
                <a:cs typeface="微软雅黑" panose="020B0503020204020204" charset="-122"/>
              </a:rPr>
              <a:t>AE（L1 off）</a:t>
            </a:r>
            <a:endParaRPr sz="1350" b="1">
              <a:solidFill>
                <a:srgbClr val="000000"/>
              </a:solidFill>
              <a:latin typeface="Arial" panose="020B0604020202020204"/>
              <a:ea typeface="微软雅黑" panose="020B0503020204020204" charset="-122"/>
              <a:cs typeface="微软雅黑" panose="020B0503020204020204" charset="-122"/>
            </a:endParaRPr>
          </a:p>
        </p:txBody>
      </p:sp>
      <p:sp>
        <p:nvSpPr>
          <p:cNvPr id="21" name="AF（阈值适应 off）"/>
          <p:cNvSpPr>
            <a:spLocks noGrp="1"/>
          </p:cNvSpPr>
          <p:nvPr/>
        </p:nvSpPr>
        <p:spPr>
          <a:xfrm>
            <a:off x="457200" y="3590925"/>
            <a:ext cx="3048000" cy="266700"/>
          </a:xfrm>
          <a:prstGeom prst="rect">
            <a:avLst/>
          </a:prstGeom>
          <a:noFill/>
          <a:ln w="0">
            <a:noFill/>
          </a:ln>
        </p:spPr>
        <p:txBody>
          <a:bodyPr wrap="square" lIns="0" tIns="0" rIns="0" bIns="0" anchor="t">
            <a:noAutofit/>
          </a:bodyPr>
          <a:lstStyle>
            <a:defPPr>
              <a:defRPr sz="1350" b="1">
                <a:solidFill>
                  <a:srgbClr val="000000"/>
                </a:solidFill>
                <a:latin typeface="Arial" panose="020B0604020202020204"/>
                <a:ea typeface="微软雅黑" panose="020B0503020204020204" charset="-122"/>
                <a:cs typeface="微软雅黑" panose="020B0503020204020204" charset="-122"/>
              </a:defRPr>
            </a:defPPr>
            <a:lvl1pPr>
              <a:defRPr sz="1350" b="1">
                <a:solidFill>
                  <a:srgbClr val="000000"/>
                </a:solidFill>
                <a:latin typeface="Arial" panose="020B0604020202020204"/>
                <a:ea typeface="微软雅黑" panose="020B0503020204020204" charset="-122"/>
                <a:cs typeface="微软雅黑" panose="020B0503020204020204" charset="-122"/>
              </a:defRPr>
            </a:lvl1pPr>
            <a:lvl2pPr>
              <a:defRPr sz="1350" b="1">
                <a:solidFill>
                  <a:srgbClr val="000000"/>
                </a:solidFill>
                <a:latin typeface="Arial" panose="020B0604020202020204"/>
                <a:ea typeface="微软雅黑" panose="020B0503020204020204" charset="-122"/>
                <a:cs typeface="微软雅黑" panose="020B0503020204020204" charset="-122"/>
              </a:defRPr>
            </a:lvl2pPr>
            <a:lvl3pPr>
              <a:defRPr sz="1350" b="1">
                <a:solidFill>
                  <a:srgbClr val="000000"/>
                </a:solidFill>
                <a:latin typeface="Arial" panose="020B0604020202020204"/>
                <a:ea typeface="微软雅黑" panose="020B0503020204020204" charset="-122"/>
                <a:cs typeface="微软雅黑" panose="020B0503020204020204" charset="-122"/>
              </a:defRPr>
            </a:lvl3pPr>
            <a:lvl4pPr>
              <a:defRPr sz="1350" b="1">
                <a:solidFill>
                  <a:srgbClr val="000000"/>
                </a:solidFill>
                <a:latin typeface="Arial" panose="020B0604020202020204"/>
                <a:ea typeface="微软雅黑" panose="020B0503020204020204" charset="-122"/>
                <a:cs typeface="微软雅黑" panose="020B0503020204020204" charset="-122"/>
              </a:defRPr>
            </a:lvl4pPr>
            <a:lvl5pPr>
              <a:defRPr sz="1350" b="1">
                <a:solidFill>
                  <a:srgbClr val="000000"/>
                </a:solidFill>
                <a:latin typeface="Arial" panose="020B0604020202020204"/>
                <a:ea typeface="微软雅黑" panose="020B0503020204020204" charset="-122"/>
                <a:cs typeface="微软雅黑" panose="020B0503020204020204" charset="-122"/>
              </a:defRPr>
            </a:lvl5pPr>
            <a:lvl6pPr>
              <a:defRPr sz="1350" b="1">
                <a:solidFill>
                  <a:srgbClr val="000000"/>
                </a:solidFill>
                <a:latin typeface="Arial" panose="020B0604020202020204"/>
                <a:ea typeface="微软雅黑" panose="020B0503020204020204" charset="-122"/>
                <a:cs typeface="微软雅黑" panose="020B0503020204020204" charset="-122"/>
              </a:defRPr>
            </a:lvl6pPr>
            <a:lvl7pPr>
              <a:defRPr sz="1350" b="1">
                <a:solidFill>
                  <a:srgbClr val="000000"/>
                </a:solidFill>
                <a:latin typeface="Arial" panose="020B0604020202020204"/>
                <a:ea typeface="微软雅黑" panose="020B0503020204020204" charset="-122"/>
                <a:cs typeface="微软雅黑" panose="020B0503020204020204" charset="-122"/>
              </a:defRPr>
            </a:lvl7pPr>
            <a:lvl8pPr>
              <a:defRPr sz="1350" b="1">
                <a:solidFill>
                  <a:srgbClr val="000000"/>
                </a:solidFill>
                <a:latin typeface="Arial" panose="020B0604020202020204"/>
                <a:ea typeface="微软雅黑" panose="020B0503020204020204" charset="-122"/>
                <a:cs typeface="微软雅黑" panose="020B0503020204020204" charset="-122"/>
              </a:defRPr>
            </a:lvl8pPr>
            <a:lvl9pPr>
              <a:defRPr sz="1350" b="1">
                <a:solidFill>
                  <a:srgbClr val="000000"/>
                </a:solidFill>
                <a:latin typeface="Arial" panose="020B0604020202020204"/>
                <a:ea typeface="微软雅黑" panose="020B0503020204020204" charset="-122"/>
                <a:cs typeface="微软雅黑" panose="020B0503020204020204" charset="-122"/>
              </a:defRPr>
            </a:lvl9pPr>
          </a:lstStyle>
          <a:p>
            <a:pPr>
              <a:defRPr sz="1350" b="1">
                <a:solidFill>
                  <a:srgbClr val="000000"/>
                </a:solidFill>
                <a:latin typeface="Arial" panose="020B0604020202020204"/>
                <a:ea typeface="微软雅黑" panose="020B0503020204020204" charset="-122"/>
                <a:cs typeface="微软雅黑" panose="020B0503020204020204" charset="-122"/>
              </a:defRPr>
            </a:pPr>
            <a:r>
              <a:rPr sz="1350" b="1">
                <a:solidFill>
                  <a:srgbClr val="000000"/>
                </a:solidFill>
                <a:latin typeface="Arial" panose="020B0604020202020204"/>
                <a:ea typeface="微软雅黑" panose="020B0503020204020204" charset="-122"/>
                <a:cs typeface="微软雅黑" panose="020B0503020204020204" charset="-122"/>
              </a:rPr>
              <a:t>AF</a:t>
            </a:r>
            <a:r>
              <a:rPr>
                <a:sym typeface="+mn-ea"/>
              </a:rPr>
              <a:t>（</a:t>
            </a:r>
            <a:r>
              <a:rPr lang="en-US">
                <a:sym typeface="+mn-ea"/>
              </a:rPr>
              <a:t>Adaptive threshold</a:t>
            </a:r>
            <a:r>
              <a:rPr>
                <a:sym typeface="+mn-ea"/>
              </a:rPr>
              <a:t> off</a:t>
            </a:r>
            <a:r>
              <a:rPr sz="1350" b="1">
                <a:solidFill>
                  <a:srgbClr val="000000"/>
                </a:solidFill>
                <a:latin typeface="Arial" panose="020B0604020202020204"/>
                <a:ea typeface="微软雅黑" panose="020B0503020204020204" charset="-122"/>
                <a:cs typeface="微软雅黑" panose="020B0503020204020204" charset="-122"/>
              </a:rPr>
              <a:t>）</a:t>
            </a:r>
            <a:endParaRPr sz="1350" b="1">
              <a:solidFill>
                <a:srgbClr val="000000"/>
              </a:solidFill>
              <a:latin typeface="Arial" panose="020B0604020202020204"/>
              <a:ea typeface="微软雅黑" panose="020B0503020204020204" charset="-122"/>
              <a:cs typeface="微软雅黑" panose="020B0503020204020204" charset="-122"/>
            </a:endParaRPr>
          </a:p>
        </p:txBody>
      </p:sp>
      <p:sp>
        <p:nvSpPr>
          <p:cNvPr id="22" name="AG（两种稳态机制 off）"/>
          <p:cNvSpPr>
            <a:spLocks noGrp="1"/>
          </p:cNvSpPr>
          <p:nvPr/>
        </p:nvSpPr>
        <p:spPr>
          <a:xfrm>
            <a:off x="3600450" y="3590925"/>
            <a:ext cx="3048000" cy="266700"/>
          </a:xfrm>
          <a:prstGeom prst="rect">
            <a:avLst/>
          </a:prstGeom>
          <a:noFill/>
          <a:ln w="0">
            <a:noFill/>
          </a:ln>
        </p:spPr>
        <p:txBody>
          <a:bodyPr wrap="square" lIns="0" tIns="0" rIns="0" bIns="0" anchor="t">
            <a:noAutofit/>
          </a:bodyPr>
          <a:lstStyle>
            <a:defPPr>
              <a:defRPr sz="1350" b="1">
                <a:solidFill>
                  <a:srgbClr val="000000"/>
                </a:solidFill>
                <a:latin typeface="Arial" panose="020B0604020202020204"/>
                <a:ea typeface="微软雅黑" panose="020B0503020204020204" charset="-122"/>
                <a:cs typeface="微软雅黑" panose="020B0503020204020204" charset="-122"/>
              </a:defRPr>
            </a:defPPr>
            <a:lvl1pPr>
              <a:defRPr sz="1350" b="1">
                <a:solidFill>
                  <a:srgbClr val="000000"/>
                </a:solidFill>
                <a:latin typeface="Arial" panose="020B0604020202020204"/>
                <a:ea typeface="微软雅黑" panose="020B0503020204020204" charset="-122"/>
                <a:cs typeface="微软雅黑" panose="020B0503020204020204" charset="-122"/>
              </a:defRPr>
            </a:lvl1pPr>
            <a:lvl2pPr>
              <a:defRPr sz="1350" b="1">
                <a:solidFill>
                  <a:srgbClr val="000000"/>
                </a:solidFill>
                <a:latin typeface="Arial" panose="020B0604020202020204"/>
                <a:ea typeface="微软雅黑" panose="020B0503020204020204" charset="-122"/>
                <a:cs typeface="微软雅黑" panose="020B0503020204020204" charset="-122"/>
              </a:defRPr>
            </a:lvl2pPr>
            <a:lvl3pPr>
              <a:defRPr sz="1350" b="1">
                <a:solidFill>
                  <a:srgbClr val="000000"/>
                </a:solidFill>
                <a:latin typeface="Arial" panose="020B0604020202020204"/>
                <a:ea typeface="微软雅黑" panose="020B0503020204020204" charset="-122"/>
                <a:cs typeface="微软雅黑" panose="020B0503020204020204" charset="-122"/>
              </a:defRPr>
            </a:lvl3pPr>
            <a:lvl4pPr>
              <a:defRPr sz="1350" b="1">
                <a:solidFill>
                  <a:srgbClr val="000000"/>
                </a:solidFill>
                <a:latin typeface="Arial" panose="020B0604020202020204"/>
                <a:ea typeface="微软雅黑" panose="020B0503020204020204" charset="-122"/>
                <a:cs typeface="微软雅黑" panose="020B0503020204020204" charset="-122"/>
              </a:defRPr>
            </a:lvl4pPr>
            <a:lvl5pPr>
              <a:defRPr sz="1350" b="1">
                <a:solidFill>
                  <a:srgbClr val="000000"/>
                </a:solidFill>
                <a:latin typeface="Arial" panose="020B0604020202020204"/>
                <a:ea typeface="微软雅黑" panose="020B0503020204020204" charset="-122"/>
                <a:cs typeface="微软雅黑" panose="020B0503020204020204" charset="-122"/>
              </a:defRPr>
            </a:lvl5pPr>
            <a:lvl6pPr>
              <a:defRPr sz="1350" b="1">
                <a:solidFill>
                  <a:srgbClr val="000000"/>
                </a:solidFill>
                <a:latin typeface="Arial" panose="020B0604020202020204"/>
                <a:ea typeface="微软雅黑" panose="020B0503020204020204" charset="-122"/>
                <a:cs typeface="微软雅黑" panose="020B0503020204020204" charset="-122"/>
              </a:defRPr>
            </a:lvl6pPr>
            <a:lvl7pPr>
              <a:defRPr sz="1350" b="1">
                <a:solidFill>
                  <a:srgbClr val="000000"/>
                </a:solidFill>
                <a:latin typeface="Arial" panose="020B0604020202020204"/>
                <a:ea typeface="微软雅黑" panose="020B0503020204020204" charset="-122"/>
                <a:cs typeface="微软雅黑" panose="020B0503020204020204" charset="-122"/>
              </a:defRPr>
            </a:lvl7pPr>
            <a:lvl8pPr>
              <a:defRPr sz="1350" b="1">
                <a:solidFill>
                  <a:srgbClr val="000000"/>
                </a:solidFill>
                <a:latin typeface="Arial" panose="020B0604020202020204"/>
                <a:ea typeface="微软雅黑" panose="020B0503020204020204" charset="-122"/>
                <a:cs typeface="微软雅黑" panose="020B0503020204020204" charset="-122"/>
              </a:defRPr>
            </a:lvl8pPr>
            <a:lvl9pPr>
              <a:defRPr sz="1350" b="1">
                <a:solidFill>
                  <a:srgbClr val="000000"/>
                </a:solidFill>
                <a:latin typeface="Arial" panose="020B0604020202020204"/>
                <a:ea typeface="微软雅黑" panose="020B0503020204020204" charset="-122"/>
                <a:cs typeface="微软雅黑" panose="020B0503020204020204" charset="-122"/>
              </a:defRPr>
            </a:lvl9pPr>
          </a:lstStyle>
          <a:p>
            <a:pPr>
              <a:defRPr sz="1350" b="1">
                <a:solidFill>
                  <a:srgbClr val="000000"/>
                </a:solidFill>
                <a:latin typeface="Arial" panose="020B0604020202020204"/>
                <a:ea typeface="微软雅黑" panose="020B0503020204020204" charset="-122"/>
                <a:cs typeface="微软雅黑" panose="020B0503020204020204" charset="-122"/>
              </a:defRPr>
            </a:pPr>
            <a:r>
              <a:rPr sz="1350" b="1">
                <a:solidFill>
                  <a:srgbClr val="000000"/>
                </a:solidFill>
                <a:latin typeface="Arial" panose="020B0604020202020204"/>
                <a:ea typeface="微软雅黑" panose="020B0503020204020204" charset="-122"/>
                <a:cs typeface="微软雅黑" panose="020B0503020204020204" charset="-122"/>
              </a:rPr>
              <a:t>AG</a:t>
            </a:r>
            <a:r>
              <a:rPr>
                <a:sym typeface="+mn-ea"/>
              </a:rPr>
              <a:t>（</a:t>
            </a:r>
            <a:r>
              <a:rPr lang="en-US">
                <a:sym typeface="+mn-ea"/>
              </a:rPr>
              <a:t>L1 &amp;</a:t>
            </a:r>
            <a:r>
              <a:rPr>
                <a:sym typeface="+mn-ea"/>
              </a:rPr>
              <a:t> </a:t>
            </a:r>
            <a:r>
              <a:rPr lang="en-US">
                <a:sym typeface="+mn-ea"/>
              </a:rPr>
              <a:t>Adaptive threshold </a:t>
            </a:r>
            <a:r>
              <a:rPr>
                <a:sym typeface="+mn-ea"/>
              </a:rPr>
              <a:t>off）</a:t>
            </a:r>
            <a:endParaRPr b="1">
              <a:solidFill>
                <a:srgbClr val="000000"/>
              </a:solidFill>
              <a:latin typeface="Arial" panose="020B0604020202020204"/>
              <a:ea typeface="微软雅黑" panose="020B0503020204020204" charset="-122"/>
              <a:cs typeface="微软雅黑" panose="020B0503020204020204" charset="-122"/>
            </a:endParaRPr>
          </a:p>
          <a:p>
            <a:pPr>
              <a:defRPr sz="1350" b="1">
                <a:solidFill>
                  <a:srgbClr val="000000"/>
                </a:solidFill>
                <a:latin typeface="Arial" panose="020B0604020202020204"/>
                <a:ea typeface="微软雅黑" panose="020B0503020204020204" charset="-122"/>
                <a:cs typeface="微软雅黑" panose="020B0503020204020204" charset="-122"/>
              </a:defRPr>
            </a:pPr>
            <a:endParaRPr sz="1350" b="1">
              <a:solidFill>
                <a:srgbClr val="000000"/>
              </a:solidFill>
              <a:latin typeface="Arial" panose="020B0604020202020204"/>
              <a:ea typeface="微软雅黑" panose="020B0503020204020204" charset="-122"/>
              <a:cs typeface="微软雅黑" panose="020B0503020204020204" charset="-122"/>
            </a:endParaRPr>
          </a:p>
        </p:txBody>
      </p:sp>
      <p:sp>
        <p:nvSpPr>
          <p:cNvPr id="23" name="文本框 22"/>
          <p:cNvSpPr txBox="1"/>
          <p:nvPr/>
        </p:nvSpPr>
        <p:spPr>
          <a:xfrm>
            <a:off x="6581140" y="3824605"/>
            <a:ext cx="5394960" cy="506730"/>
          </a:xfrm>
          <a:prstGeom prst="rect">
            <a:avLst/>
          </a:prstGeom>
          <a:noFill/>
        </p:spPr>
        <p:txBody>
          <a:bodyPr wrap="square" rtlCol="0" anchor="t">
            <a:spAutoFit/>
          </a:bodyPr>
          <a:p>
            <a:pPr marL="101600" indent="-76200">
              <a:buChar char="·"/>
              <a:defRPr sz="1350" b="0">
                <a:solidFill>
                  <a:srgbClr val="000000"/>
                </a:solidFill>
                <a:latin typeface="Arial" panose="020B0604020202020204"/>
                <a:ea typeface="微软雅黑" panose="020B0503020204020204" charset="-122"/>
                <a:cs typeface="微软雅黑" panose="020B0503020204020204" charset="-122"/>
              </a:defRPr>
            </a:pPr>
            <a:r>
              <a:rPr lang="en-US">
                <a:sym typeface="+mn-ea"/>
              </a:rPr>
              <a:t> AE,AG:</a:t>
            </a:r>
            <a:r>
              <a:rPr lang="zh-CN" altLang="en-US">
                <a:sym typeface="+mn-ea"/>
              </a:rPr>
              <a:t>两种</a:t>
            </a:r>
            <a:r>
              <a:rPr lang="zh-CN" altLang="en-US">
                <a:sym typeface="+mn-ea"/>
              </a:rPr>
              <a:t>情况下相关系数的平均值在任何时间延迟下都未超过</a:t>
            </a:r>
            <a:r>
              <a:rPr lang="en-US" altLang="zh-CN">
                <a:sym typeface="+mn-ea"/>
              </a:rPr>
              <a:t>0.02</a:t>
            </a:r>
            <a:r>
              <a:rPr lang="zh-CN" altLang="en-US">
                <a:sym typeface="+mn-ea"/>
              </a:rPr>
              <a:t>，表明网络没有训练出</a:t>
            </a:r>
            <a:r>
              <a:rPr lang="en-US" altLang="zh-CN">
                <a:sym typeface="+mn-ea"/>
              </a:rPr>
              <a:t>tight balance</a:t>
            </a:r>
            <a:endParaRPr lang="zh-CN" altLang="en-US">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p:nvPr/>
        </p:nvPicPr>
        <p:blipFill>
          <a:blip r:embed="rId1"/>
          <a:stretch>
            <a:fillRect/>
          </a:stretch>
        </p:blipFill>
        <p:spPr>
          <a:xfrm>
            <a:off x="10922000" y="0"/>
            <a:ext cx="1270000" cy="1270000"/>
          </a:xfrm>
          <a:prstGeom prst="rect">
            <a:avLst/>
          </a:prstGeom>
        </p:spPr>
      </p:pic>
      <p:sp>
        <p:nvSpPr>
          <p:cNvPr id="16" name="标题 1"/>
          <p:cNvSpPr txBox="1"/>
          <p:nvPr/>
        </p:nvSpPr>
        <p:spPr>
          <a:xfrm>
            <a:off x="0" y="241300"/>
            <a:ext cx="5914390" cy="46609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a:ea typeface="微软雅黑" panose="020B0503020204020204" charset="-122"/>
                <a:cs typeface="Arial" panose="020B0604020202020204"/>
              </a:defRPr>
            </a:lvl1pPr>
          </a:lstStyle>
          <a:p>
            <a:r>
              <a:rPr lang="zh-CN" altLang="en-US" sz="2400" b="1" dirty="0">
                <a:latin typeface="Arial" panose="020B0604020202020204"/>
                <a:ea typeface="微软雅黑" panose="020B0503020204020204" charset="-122"/>
                <a:cs typeface="Arial" panose="020B0604020202020204"/>
              </a:rPr>
              <a:t>保留完整稳态机制时的抑制机制比较</a:t>
            </a:r>
            <a:endParaRPr lang="zh-CN" altLang="en-US" sz="2400" b="1" dirty="0">
              <a:latin typeface="Arial" panose="020B0604020202020204"/>
              <a:ea typeface="微软雅黑" panose="020B0503020204020204" charset="-122"/>
              <a:cs typeface="Arial" panose="020B0604020202020204"/>
            </a:endParaRPr>
          </a:p>
        </p:txBody>
      </p:sp>
      <p:sp>
        <p:nvSpPr>
          <p:cNvPr id="8" name="文本框 7"/>
          <p:cNvSpPr txBox="1"/>
          <p:nvPr/>
        </p:nvSpPr>
        <p:spPr>
          <a:xfrm>
            <a:off x="271145" y="4478655"/>
            <a:ext cx="11328400" cy="1383665"/>
          </a:xfrm>
          <a:prstGeom prst="rect">
            <a:avLst/>
          </a:prstGeom>
        </p:spPr>
        <p:txBody>
          <a:bodyPr wrap="square">
            <a:spAutoFit/>
          </a:bodyPr>
          <a:lstStyle/>
          <a:p>
            <a:r>
              <a:rPr lang="en-US" altLang="zh-CN" sz="1200">
                <a:latin typeface="Arial" panose="020B0604020202020204"/>
                <a:ea typeface="微软雅黑" panose="020B0503020204020204" charset="-122"/>
                <a:cs typeface="Arial" panose="020B0604020202020204"/>
              </a:rPr>
              <a:t>· AD(</a:t>
            </a:r>
            <a:r>
              <a:rPr lang="zh-CN" altLang="en-US" sz="1200">
                <a:latin typeface="Arial" panose="020B0604020202020204"/>
                <a:ea typeface="微软雅黑" panose="020B0503020204020204" charset="-122"/>
                <a:cs typeface="Arial" panose="020B0604020202020204"/>
              </a:rPr>
              <a:t>完整抑制机制</a:t>
            </a:r>
            <a:r>
              <a:rPr lang="en-US" altLang="zh-CN" sz="1200">
                <a:latin typeface="Arial" panose="020B0604020202020204"/>
                <a:ea typeface="微软雅黑" panose="020B0503020204020204" charset="-122"/>
                <a:cs typeface="Arial" panose="020B0604020202020204"/>
              </a:rPr>
              <a:t>):</a:t>
            </a:r>
            <a:r>
              <a:rPr lang="zh-CN" altLang="en-US" sz="1200">
                <a:latin typeface="Arial" panose="020B0604020202020204"/>
                <a:ea typeface="微软雅黑" panose="020B0503020204020204" charset="-122"/>
                <a:cs typeface="Arial" panose="020B0604020202020204"/>
              </a:rPr>
              <a:t>群体稀疏性和时间稀疏性均保持较高水平，感受野相关性系数</a:t>
            </a:r>
            <a:r>
              <a:rPr lang="en-US" altLang="zh-CN" sz="1200">
                <a:latin typeface="Arial" panose="020B0604020202020204"/>
                <a:ea typeface="微软雅黑" panose="020B0503020204020204" charset="-122"/>
                <a:cs typeface="Arial" panose="020B0604020202020204"/>
              </a:rPr>
              <a:t>RMS</a:t>
            </a:r>
            <a:r>
              <a:rPr lang="zh-CN" altLang="en-US" sz="1200">
                <a:latin typeface="Arial" panose="020B0604020202020204"/>
                <a:ea typeface="微软雅黑" panose="020B0503020204020204" charset="-122"/>
                <a:cs typeface="Arial" panose="020B0604020202020204"/>
              </a:rPr>
              <a:t>较低，并且随网络规模变化较小，说明网络能够形成稀疏且多样的表征。</a:t>
            </a:r>
            <a:endParaRPr lang="zh-CN" altLang="en-US" sz="1200">
              <a:latin typeface="Arial" panose="020B0604020202020204"/>
              <a:ea typeface="微软雅黑" panose="020B0503020204020204" charset="-122"/>
              <a:cs typeface="Arial" panose="020B0604020202020204"/>
            </a:endParaRPr>
          </a:p>
          <a:p>
            <a:endParaRPr lang="en-US" altLang="zh-CN" sz="1200">
              <a:latin typeface="Arial" panose="020B0604020202020204"/>
              <a:ea typeface="微软雅黑" panose="020B0503020204020204" charset="-122"/>
              <a:cs typeface="Arial" panose="020B0604020202020204"/>
            </a:endParaRPr>
          </a:p>
          <a:p>
            <a:r>
              <a:rPr lang="en-US" altLang="zh-CN" sz="1200">
                <a:latin typeface="Arial" panose="020B0604020202020204"/>
                <a:ea typeface="微软雅黑" panose="020B0503020204020204" charset="-122"/>
                <a:cs typeface="Arial" panose="020B0604020202020204"/>
              </a:rPr>
              <a:t>· BD(</a:t>
            </a:r>
            <a:r>
              <a:rPr lang="zh-CN" altLang="en-US" sz="1200">
                <a:latin typeface="Arial" panose="020B0604020202020204"/>
                <a:ea typeface="微软雅黑" panose="020B0503020204020204" charset="-122"/>
                <a:cs typeface="Arial" panose="020B0604020202020204"/>
              </a:rPr>
              <a:t>关闭</a:t>
            </a:r>
            <a:r>
              <a:rPr lang="en-US" altLang="zh-CN" sz="1200">
                <a:latin typeface="Arial" panose="020B0604020202020204"/>
                <a:ea typeface="微软雅黑" panose="020B0503020204020204" charset="-122"/>
                <a:cs typeface="Arial" panose="020B0604020202020204"/>
              </a:rPr>
              <a:t>I→E</a:t>
            </a:r>
            <a:r>
              <a:rPr lang="zh-CN" altLang="en-US" sz="1200">
                <a:latin typeface="Arial" panose="020B0604020202020204"/>
                <a:ea typeface="微软雅黑" panose="020B0503020204020204" charset="-122"/>
                <a:cs typeface="Arial" panose="020B0604020202020204"/>
              </a:rPr>
              <a:t>可塑性</a:t>
            </a:r>
            <a:r>
              <a:rPr lang="en-US" altLang="zh-CN" sz="1200">
                <a:latin typeface="Arial" panose="020B0604020202020204"/>
                <a:ea typeface="微软雅黑" panose="020B0503020204020204" charset="-122"/>
                <a:cs typeface="Arial" panose="020B0604020202020204"/>
              </a:rPr>
              <a:t>):</a:t>
            </a:r>
            <a:r>
              <a:rPr lang="zh-CN" altLang="en-US" sz="1200">
                <a:latin typeface="Arial" panose="020B0604020202020204"/>
                <a:ea typeface="微软雅黑" panose="020B0503020204020204" charset="-122"/>
                <a:cs typeface="Arial" panose="020B0604020202020204"/>
              </a:rPr>
              <a:t>群体稀疏性基本保持，时间稀疏性甚至略有升高，但感受野相关性系数</a:t>
            </a:r>
            <a:r>
              <a:rPr lang="en-US" altLang="zh-CN" sz="1200">
                <a:latin typeface="Arial" panose="020B0604020202020204"/>
                <a:ea typeface="微软雅黑" panose="020B0503020204020204" charset="-122"/>
                <a:cs typeface="Arial" panose="020B0604020202020204"/>
              </a:rPr>
              <a:t>RMS</a:t>
            </a:r>
            <a:r>
              <a:rPr lang="zh-CN" altLang="en-US" sz="1200">
                <a:latin typeface="Arial" panose="020B0604020202020204"/>
                <a:ea typeface="微软雅黑" panose="020B0503020204020204" charset="-122"/>
                <a:cs typeface="Arial" panose="020B0604020202020204"/>
              </a:rPr>
              <a:t>由</a:t>
            </a:r>
            <a:r>
              <a:rPr lang="en-US" altLang="zh-CN" sz="1200">
                <a:latin typeface="Arial" panose="020B0604020202020204"/>
                <a:ea typeface="微软雅黑" panose="020B0503020204020204" charset="-122"/>
                <a:cs typeface="Arial" panose="020B0604020202020204"/>
              </a:rPr>
              <a:t>AD</a:t>
            </a:r>
            <a:r>
              <a:rPr lang="zh-CN" altLang="en-US" sz="1200">
                <a:latin typeface="Arial" panose="020B0604020202020204"/>
                <a:ea typeface="微软雅黑" panose="020B0503020204020204" charset="-122"/>
                <a:cs typeface="Arial" panose="020B0604020202020204"/>
              </a:rPr>
              <a:t>的约0.18升高至约0.38–0.40。说明网络仍然稀疏，但不同</a:t>
            </a:r>
            <a:r>
              <a:rPr lang="en-US" altLang="zh-CN" sz="1200">
                <a:latin typeface="Arial" panose="020B0604020202020204"/>
                <a:ea typeface="微软雅黑" panose="020B0503020204020204" charset="-122"/>
                <a:cs typeface="Arial" panose="020B0604020202020204"/>
              </a:rPr>
              <a:t>E</a:t>
            </a:r>
            <a:r>
              <a:rPr lang="zh-CN" altLang="en-US" sz="1200">
                <a:latin typeface="Arial" panose="020B0604020202020204"/>
                <a:ea typeface="微软雅黑" panose="020B0503020204020204" charset="-122"/>
                <a:cs typeface="Arial" panose="020B0604020202020204"/>
              </a:rPr>
              <a:t>神经元学到的特征更加重复。同时</a:t>
            </a:r>
            <a:r>
              <a:rPr lang="zh-CN" altLang="en-US" sz="1200">
                <a:latin typeface="Arial" panose="020B0604020202020204"/>
                <a:ea typeface="微软雅黑" panose="020B0503020204020204" charset="-122"/>
                <a:cs typeface="Arial" panose="020B0604020202020204"/>
                <a:sym typeface="+mn-ea"/>
              </a:rPr>
              <a:t>且不受网络规模明显影响</a:t>
            </a:r>
            <a:endParaRPr lang="zh-CN" altLang="en-US" sz="1200">
              <a:latin typeface="Arial" panose="020B0604020202020204"/>
              <a:ea typeface="微软雅黑" panose="020B0503020204020204" charset="-122"/>
              <a:cs typeface="Arial" panose="020B0604020202020204"/>
            </a:endParaRPr>
          </a:p>
          <a:p>
            <a:endParaRPr lang="en-US" altLang="zh-CN" sz="1200">
              <a:latin typeface="Arial" panose="020B0604020202020204"/>
              <a:ea typeface="微软雅黑" panose="020B0503020204020204" charset="-122"/>
              <a:cs typeface="Arial" panose="020B0604020202020204"/>
            </a:endParaRPr>
          </a:p>
          <a:p>
            <a:r>
              <a:rPr lang="en-US" altLang="zh-CN" sz="1200">
                <a:latin typeface="Arial" panose="020B0604020202020204"/>
                <a:ea typeface="微软雅黑" panose="020B0503020204020204" charset="-122"/>
                <a:cs typeface="Arial" panose="020B0604020202020204"/>
              </a:rPr>
              <a:t>· CD(</a:t>
            </a:r>
            <a:r>
              <a:rPr lang="zh-CN" altLang="en-US" sz="1200">
                <a:latin typeface="Arial" panose="020B0604020202020204"/>
                <a:ea typeface="微软雅黑" panose="020B0503020204020204" charset="-122"/>
                <a:cs typeface="Arial" panose="020B0604020202020204"/>
              </a:rPr>
              <a:t>关闭</a:t>
            </a:r>
            <a:r>
              <a:rPr lang="en-US" altLang="zh-CN" sz="1200">
                <a:latin typeface="Arial" panose="020B0604020202020204"/>
                <a:ea typeface="微软雅黑" panose="020B0503020204020204" charset="-122"/>
                <a:cs typeface="Arial" panose="020B0604020202020204"/>
              </a:rPr>
              <a:t>I→E</a:t>
            </a:r>
            <a:r>
              <a:rPr lang="zh-CN" altLang="en-US" sz="1200">
                <a:latin typeface="Arial" panose="020B0604020202020204"/>
                <a:ea typeface="微软雅黑" panose="020B0503020204020204" charset="-122"/>
                <a:cs typeface="Arial" panose="020B0604020202020204"/>
              </a:rPr>
              <a:t>传递和可塑性</a:t>
            </a:r>
            <a:r>
              <a:rPr lang="en-US" altLang="zh-CN" sz="1200">
                <a:latin typeface="Arial" panose="020B0604020202020204"/>
                <a:ea typeface="微软雅黑" panose="020B0503020204020204" charset="-122"/>
                <a:cs typeface="Arial" panose="020B0604020202020204"/>
              </a:rPr>
              <a:t>):</a:t>
            </a:r>
            <a:r>
              <a:rPr lang="zh-CN" altLang="en-US" sz="1200">
                <a:latin typeface="Arial" panose="020B0604020202020204"/>
                <a:ea typeface="微软雅黑" panose="020B0503020204020204" charset="-122"/>
                <a:cs typeface="Arial" panose="020B0604020202020204"/>
              </a:rPr>
              <a:t>时间稀疏性仍然较高，但群体稀疏性明显下降，感受野相关性系数</a:t>
            </a:r>
            <a:r>
              <a:rPr lang="en-US" altLang="zh-CN" sz="1200">
                <a:latin typeface="Arial" panose="020B0604020202020204"/>
                <a:ea typeface="微软雅黑" panose="020B0503020204020204" charset="-122"/>
                <a:cs typeface="Arial" panose="020B0604020202020204"/>
              </a:rPr>
              <a:t>RMS</a:t>
            </a:r>
            <a:r>
              <a:rPr lang="zh-CN" altLang="en-US" sz="1200">
                <a:latin typeface="Arial" panose="020B0604020202020204"/>
                <a:ea typeface="微软雅黑" panose="020B0503020204020204" charset="-122"/>
                <a:cs typeface="Arial" panose="020B0604020202020204"/>
              </a:rPr>
              <a:t>接近1。说明单个神经元虽然只对少数刺激响应，但大量神经同时响应相似刺激。</a:t>
            </a:r>
            <a:endParaRPr lang="zh-CN" altLang="en-US" sz="1200">
              <a:latin typeface="Arial" panose="020B0604020202020204"/>
              <a:ea typeface="微软雅黑" panose="020B0503020204020204" charset="-122"/>
              <a:cs typeface="Arial" panose="020B0604020202020204"/>
            </a:endParaRPr>
          </a:p>
        </p:txBody>
      </p:sp>
      <p:sp>
        <p:nvSpPr>
          <p:cNvPr id="6" name="文本框 5"/>
          <p:cNvSpPr txBox="1"/>
          <p:nvPr/>
        </p:nvSpPr>
        <p:spPr>
          <a:xfrm>
            <a:off x="2566035" y="6028055"/>
            <a:ext cx="8020050" cy="583565"/>
          </a:xfrm>
          <a:prstGeom prst="rect">
            <a:avLst/>
          </a:prstGeom>
        </p:spPr>
        <p:txBody>
          <a:bodyPr wrap="square">
            <a:spAutoFit/>
          </a:bodyPr>
          <a:lstStyle/>
          <a:p>
            <a:pPr algn="ctr"/>
            <a:r>
              <a:rPr lang="zh-CN" altLang="en-US" sz="1600" b="1">
                <a:highlight>
                  <a:srgbClr val="FFFF00"/>
                </a:highlight>
                <a:latin typeface="Arial" panose="020B0604020202020204"/>
                <a:ea typeface="微软雅黑" panose="020B0503020204020204" charset="-122"/>
                <a:cs typeface="Arial" panose="020B0604020202020204"/>
              </a:rPr>
              <a:t>完整稳态机制可以维持突触强度和神经元兴奋性，但不能替代抑制机制。</a:t>
            </a:r>
            <a:endParaRPr lang="zh-CN" altLang="en-US" sz="1600" b="1">
              <a:highlight>
                <a:srgbClr val="FFFF00"/>
              </a:highlight>
              <a:latin typeface="Arial" panose="020B0604020202020204"/>
              <a:ea typeface="微软雅黑" panose="020B0503020204020204" charset="-122"/>
              <a:cs typeface="Arial" panose="020B0604020202020204"/>
            </a:endParaRPr>
          </a:p>
          <a:p>
            <a:pPr algn="ctr"/>
            <a:r>
              <a:rPr lang="en-US" altLang="zh-CN" sz="1600" b="1">
                <a:highlight>
                  <a:srgbClr val="FFFF00"/>
                </a:highlight>
                <a:latin typeface="Arial" panose="020B0604020202020204"/>
                <a:ea typeface="微软雅黑" panose="020B0503020204020204" charset="-122"/>
                <a:cs typeface="Arial" panose="020B0604020202020204"/>
              </a:rPr>
              <a:t>I→E</a:t>
            </a:r>
            <a:r>
              <a:rPr lang="zh-CN" altLang="en-US" sz="1600" b="1">
                <a:highlight>
                  <a:srgbClr val="FFFF00"/>
                </a:highlight>
                <a:latin typeface="Arial" panose="020B0604020202020204"/>
                <a:ea typeface="微软雅黑" panose="020B0503020204020204" charset="-122"/>
                <a:cs typeface="Arial" panose="020B0604020202020204"/>
              </a:rPr>
              <a:t>传递负责建立</a:t>
            </a:r>
            <a:r>
              <a:rPr lang="en-US" altLang="zh-CN" sz="1600" b="1">
                <a:highlight>
                  <a:srgbClr val="FFFF00"/>
                </a:highlight>
                <a:latin typeface="Arial" panose="020B0604020202020204"/>
                <a:ea typeface="微软雅黑" panose="020B0503020204020204" charset="-122"/>
                <a:cs typeface="Arial" panose="020B0604020202020204"/>
              </a:rPr>
              <a:t>E</a:t>
            </a:r>
            <a:r>
              <a:rPr lang="zh-CN" altLang="en-US" sz="1600" b="1">
                <a:highlight>
                  <a:srgbClr val="FFFF00"/>
                </a:highlight>
                <a:latin typeface="Arial" panose="020B0604020202020204"/>
                <a:ea typeface="微软雅黑" panose="020B0503020204020204" charset="-122"/>
                <a:cs typeface="Arial" panose="020B0604020202020204"/>
              </a:rPr>
              <a:t>神经元群体间</a:t>
            </a:r>
            <a:r>
              <a:rPr lang="zh-CN" altLang="en-US" sz="1600" b="1">
                <a:highlight>
                  <a:srgbClr val="FFFF00"/>
                </a:highlight>
                <a:latin typeface="Arial" panose="020B0604020202020204"/>
                <a:ea typeface="微软雅黑" panose="020B0503020204020204" charset="-122"/>
                <a:cs typeface="Arial" panose="020B0604020202020204"/>
              </a:rPr>
              <a:t>的竞争，</a:t>
            </a:r>
            <a:r>
              <a:rPr lang="en-US" altLang="zh-CN" sz="1600" b="1">
                <a:highlight>
                  <a:srgbClr val="FFFF00"/>
                </a:highlight>
                <a:latin typeface="Arial" panose="020B0604020202020204"/>
                <a:ea typeface="微软雅黑" panose="020B0503020204020204" charset="-122"/>
                <a:cs typeface="Arial" panose="020B0604020202020204"/>
              </a:rPr>
              <a:t>I→E</a:t>
            </a:r>
            <a:r>
              <a:rPr lang="zh-CN" altLang="en-US" sz="1600" b="1">
                <a:highlight>
                  <a:srgbClr val="FFFF00"/>
                </a:highlight>
                <a:latin typeface="Arial" panose="020B0604020202020204"/>
                <a:ea typeface="微软雅黑" panose="020B0503020204020204" charset="-122"/>
                <a:cs typeface="Arial" panose="020B0604020202020204"/>
              </a:rPr>
              <a:t>可塑性进一步减少神经元之间的表征冗余。</a:t>
            </a:r>
            <a:endParaRPr lang="zh-CN" altLang="en-US" sz="1600" b="1">
              <a:highlight>
                <a:srgbClr val="FFFF00"/>
              </a:highlight>
              <a:latin typeface="Arial" panose="020B0604020202020204"/>
              <a:ea typeface="微软雅黑" panose="020B0503020204020204" charset="-122"/>
              <a:cs typeface="Arial" panose="020B0604020202020204"/>
            </a:endParaRPr>
          </a:p>
        </p:txBody>
      </p:sp>
      <p:pic>
        <p:nvPicPr>
          <p:cNvPr id="7" name="图片 6"/>
          <p:cNvPicPr/>
          <p:nvPr/>
        </p:nvPicPr>
        <p:blipFill>
          <a:blip r:embed="rId2"/>
          <a:stretch>
            <a:fillRect/>
          </a:stretch>
        </p:blipFill>
        <p:spPr>
          <a:xfrm>
            <a:off x="0" y="1153160"/>
            <a:ext cx="3960000" cy="2880000"/>
          </a:xfrm>
          <a:prstGeom prst="rect">
            <a:avLst/>
          </a:prstGeom>
        </p:spPr>
      </p:pic>
      <p:pic>
        <p:nvPicPr>
          <p:cNvPr id="9" name="图片 8"/>
          <p:cNvPicPr/>
          <p:nvPr/>
        </p:nvPicPr>
        <p:blipFill>
          <a:blip r:embed="rId3"/>
          <a:stretch>
            <a:fillRect/>
          </a:stretch>
        </p:blipFill>
        <p:spPr>
          <a:xfrm>
            <a:off x="3959860" y="1153160"/>
            <a:ext cx="3960000" cy="2880000"/>
          </a:xfrm>
          <a:prstGeom prst="rect">
            <a:avLst/>
          </a:prstGeom>
        </p:spPr>
      </p:pic>
      <p:pic>
        <p:nvPicPr>
          <p:cNvPr id="10" name="图片 9"/>
          <p:cNvPicPr/>
          <p:nvPr/>
        </p:nvPicPr>
        <p:blipFill>
          <a:blip r:embed="rId4"/>
          <a:stretch>
            <a:fillRect/>
          </a:stretch>
        </p:blipFill>
        <p:spPr>
          <a:xfrm>
            <a:off x="7919720" y="1153160"/>
            <a:ext cx="3960000" cy="2880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p:cNvSpPr>
            <a:spLocks noGrp="1"/>
          </p:cNvSpPr>
          <p:nvPr/>
        </p:nvSpPr>
        <p:spPr>
          <a:xfrm>
            <a:off x="457200" y="266700"/>
            <a:ext cx="10334625" cy="523875"/>
          </a:xfrm>
          <a:prstGeom prst="rect">
            <a:avLst/>
          </a:prstGeom>
          <a:noFill/>
          <a:ln w="0">
            <a:noFill/>
          </a:ln>
        </p:spPr>
        <p:txBody>
          <a:bodyPr wrap="square" lIns="0" tIns="0" rIns="0" bIns="0" anchor="t">
            <a:noAutofit/>
          </a:bodyPr>
          <a:lstStyle>
            <a:defPPr>
              <a:defRPr sz="2400" b="1">
                <a:solidFill>
                  <a:srgbClr val="000000"/>
                </a:solidFill>
                <a:latin typeface="Arial" panose="020B0604020202020204"/>
                <a:ea typeface="微软雅黑" panose="020B0503020204020204" charset="-122"/>
                <a:cs typeface="微软雅黑" panose="020B0503020204020204" charset="-122"/>
              </a:defRPr>
            </a:defPPr>
            <a:lvl1pPr>
              <a:defRPr sz="2400" b="1">
                <a:solidFill>
                  <a:srgbClr val="000000"/>
                </a:solidFill>
                <a:latin typeface="Arial" panose="020B0604020202020204"/>
                <a:ea typeface="微软雅黑" panose="020B0503020204020204" charset="-122"/>
                <a:cs typeface="微软雅黑" panose="020B0503020204020204" charset="-122"/>
              </a:defRPr>
            </a:lvl1pPr>
            <a:lvl2pPr>
              <a:defRPr sz="2400" b="1">
                <a:solidFill>
                  <a:srgbClr val="000000"/>
                </a:solidFill>
                <a:latin typeface="Arial" panose="020B0604020202020204"/>
                <a:ea typeface="微软雅黑" panose="020B0503020204020204" charset="-122"/>
                <a:cs typeface="微软雅黑" panose="020B0503020204020204" charset="-122"/>
              </a:defRPr>
            </a:lvl2pPr>
            <a:lvl3pPr>
              <a:defRPr sz="2400" b="1">
                <a:solidFill>
                  <a:srgbClr val="000000"/>
                </a:solidFill>
                <a:latin typeface="Arial" panose="020B0604020202020204"/>
                <a:ea typeface="微软雅黑" panose="020B0503020204020204" charset="-122"/>
                <a:cs typeface="微软雅黑" panose="020B0503020204020204" charset="-122"/>
              </a:defRPr>
            </a:lvl3pPr>
            <a:lvl4pPr>
              <a:defRPr sz="2400" b="1">
                <a:solidFill>
                  <a:srgbClr val="000000"/>
                </a:solidFill>
                <a:latin typeface="Arial" panose="020B0604020202020204"/>
                <a:ea typeface="微软雅黑" panose="020B0503020204020204" charset="-122"/>
                <a:cs typeface="微软雅黑" panose="020B0503020204020204" charset="-122"/>
              </a:defRPr>
            </a:lvl4pPr>
            <a:lvl5pPr>
              <a:defRPr sz="2400" b="1">
                <a:solidFill>
                  <a:srgbClr val="000000"/>
                </a:solidFill>
                <a:latin typeface="Arial" panose="020B0604020202020204"/>
                <a:ea typeface="微软雅黑" panose="020B0503020204020204" charset="-122"/>
                <a:cs typeface="微软雅黑" panose="020B0503020204020204" charset="-122"/>
              </a:defRPr>
            </a:lvl5pPr>
            <a:lvl6pPr>
              <a:defRPr sz="2400" b="1">
                <a:solidFill>
                  <a:srgbClr val="000000"/>
                </a:solidFill>
                <a:latin typeface="Arial" panose="020B0604020202020204"/>
                <a:ea typeface="微软雅黑" panose="020B0503020204020204" charset="-122"/>
                <a:cs typeface="微软雅黑" panose="020B0503020204020204" charset="-122"/>
              </a:defRPr>
            </a:lvl6pPr>
            <a:lvl7pPr>
              <a:defRPr sz="2400" b="1">
                <a:solidFill>
                  <a:srgbClr val="000000"/>
                </a:solidFill>
                <a:latin typeface="Arial" panose="020B0604020202020204"/>
                <a:ea typeface="微软雅黑" panose="020B0503020204020204" charset="-122"/>
                <a:cs typeface="微软雅黑" panose="020B0503020204020204" charset="-122"/>
              </a:defRPr>
            </a:lvl7pPr>
            <a:lvl8pPr>
              <a:defRPr sz="2400" b="1">
                <a:solidFill>
                  <a:srgbClr val="000000"/>
                </a:solidFill>
                <a:latin typeface="Arial" panose="020B0604020202020204"/>
                <a:ea typeface="微软雅黑" panose="020B0503020204020204" charset="-122"/>
                <a:cs typeface="微软雅黑" panose="020B0503020204020204" charset="-122"/>
              </a:defRPr>
            </a:lvl8pPr>
            <a:lvl9pPr>
              <a:defRPr sz="2400" b="1">
                <a:solidFill>
                  <a:srgbClr val="000000"/>
                </a:solidFill>
                <a:latin typeface="Arial" panose="020B0604020202020204"/>
                <a:ea typeface="微软雅黑" panose="020B0503020204020204" charset="-122"/>
                <a:cs typeface="微软雅黑" panose="020B0503020204020204" charset="-122"/>
              </a:defRPr>
            </a:lvl9pPr>
          </a:lstStyle>
          <a:p>
            <a:pPr>
              <a:defRPr sz="2400" b="1">
                <a:solidFill>
                  <a:srgbClr val="000000"/>
                </a:solidFill>
                <a:latin typeface="Arial" panose="020B0604020202020204"/>
                <a:ea typeface="微软雅黑" panose="020B0503020204020204" charset="-122"/>
                <a:cs typeface="微软雅黑" panose="020B0503020204020204" charset="-122"/>
              </a:defRPr>
            </a:pPr>
            <a:r>
              <a:rPr sz="2400" b="1">
                <a:solidFill>
                  <a:srgbClr val="000000"/>
                </a:solidFill>
                <a:latin typeface="Arial" panose="020B0604020202020204"/>
                <a:ea typeface="微软雅黑" panose="020B0503020204020204" charset="-122"/>
                <a:cs typeface="微软雅黑" panose="020B0503020204020204" charset="-122"/>
              </a:rPr>
              <a:t>保留完整稳态机制时的感受野比较</a:t>
            </a:r>
            <a:endParaRPr sz="2400" b="1">
              <a:solidFill>
                <a:srgbClr val="000000"/>
              </a:solidFill>
              <a:latin typeface="Arial" panose="020B0604020202020204"/>
              <a:ea typeface="微软雅黑" panose="020B0503020204020204" charset="-122"/>
              <a:cs typeface="微软雅黑" panose="020B0503020204020204" charset="-122"/>
            </a:endParaRPr>
          </a:p>
        </p:txBody>
      </p:sp>
      <p:pic>
        <p:nvPicPr>
          <p:cNvPr id="2" name="图片 1"/>
          <p:cNvPicPr>
            <a:picLocks noChangeAspect="1"/>
          </p:cNvPicPr>
          <p:nvPr/>
        </p:nvPicPr>
        <p:blipFill>
          <a:blip r:embed="rId1"/>
          <a:stretch>
            <a:fillRect/>
          </a:stretch>
        </p:blipFill>
        <p:spPr>
          <a:xfrm>
            <a:off x="10921365" y="0"/>
            <a:ext cx="1270635" cy="1270635"/>
          </a:xfrm>
          <a:prstGeom prst="rect">
            <a:avLst/>
          </a:prstGeom>
        </p:spPr>
      </p:pic>
      <p:sp>
        <p:nvSpPr>
          <p:cNvPr id="3" name="AD（完整机制）"/>
          <p:cNvSpPr>
            <a:spLocks noGrp="1"/>
          </p:cNvSpPr>
          <p:nvPr/>
        </p:nvSpPr>
        <p:spPr>
          <a:xfrm>
            <a:off x="180975" y="933450"/>
            <a:ext cx="3829050" cy="266700"/>
          </a:xfrm>
          <a:prstGeom prst="rect">
            <a:avLst/>
          </a:prstGeom>
          <a:noFill/>
          <a:ln w="0">
            <a:noFill/>
          </a:ln>
        </p:spPr>
        <p:txBody>
          <a:bodyPr wrap="square" lIns="0" tIns="0" rIns="0" bIns="0" anchor="t">
            <a:noAutofit/>
          </a:bodyPr>
          <a:lstStyle>
            <a:defPPr>
              <a:defRPr sz="1350" b="1">
                <a:solidFill>
                  <a:srgbClr val="000000"/>
                </a:solidFill>
                <a:latin typeface="Arial" panose="020B0604020202020204"/>
                <a:ea typeface="微软雅黑" panose="020B0503020204020204" charset="-122"/>
                <a:cs typeface="微软雅黑" panose="020B0503020204020204" charset="-122"/>
              </a:defRPr>
            </a:defPPr>
            <a:lvl1pPr>
              <a:defRPr sz="1350" b="1">
                <a:solidFill>
                  <a:srgbClr val="000000"/>
                </a:solidFill>
                <a:latin typeface="Arial" panose="020B0604020202020204"/>
                <a:ea typeface="微软雅黑" panose="020B0503020204020204" charset="-122"/>
                <a:cs typeface="微软雅黑" panose="020B0503020204020204" charset="-122"/>
              </a:defRPr>
            </a:lvl1pPr>
            <a:lvl2pPr>
              <a:defRPr sz="1350" b="1">
                <a:solidFill>
                  <a:srgbClr val="000000"/>
                </a:solidFill>
                <a:latin typeface="Arial" panose="020B0604020202020204"/>
                <a:ea typeface="微软雅黑" panose="020B0503020204020204" charset="-122"/>
                <a:cs typeface="微软雅黑" panose="020B0503020204020204" charset="-122"/>
              </a:defRPr>
            </a:lvl2pPr>
            <a:lvl3pPr>
              <a:defRPr sz="1350" b="1">
                <a:solidFill>
                  <a:srgbClr val="000000"/>
                </a:solidFill>
                <a:latin typeface="Arial" panose="020B0604020202020204"/>
                <a:ea typeface="微软雅黑" panose="020B0503020204020204" charset="-122"/>
                <a:cs typeface="微软雅黑" panose="020B0503020204020204" charset="-122"/>
              </a:defRPr>
            </a:lvl3pPr>
            <a:lvl4pPr>
              <a:defRPr sz="1350" b="1">
                <a:solidFill>
                  <a:srgbClr val="000000"/>
                </a:solidFill>
                <a:latin typeface="Arial" panose="020B0604020202020204"/>
                <a:ea typeface="微软雅黑" panose="020B0503020204020204" charset="-122"/>
                <a:cs typeface="微软雅黑" panose="020B0503020204020204" charset="-122"/>
              </a:defRPr>
            </a:lvl4pPr>
            <a:lvl5pPr>
              <a:defRPr sz="1350" b="1">
                <a:solidFill>
                  <a:srgbClr val="000000"/>
                </a:solidFill>
                <a:latin typeface="Arial" panose="020B0604020202020204"/>
                <a:ea typeface="微软雅黑" panose="020B0503020204020204" charset="-122"/>
                <a:cs typeface="微软雅黑" panose="020B0503020204020204" charset="-122"/>
              </a:defRPr>
            </a:lvl5pPr>
            <a:lvl6pPr>
              <a:defRPr sz="1350" b="1">
                <a:solidFill>
                  <a:srgbClr val="000000"/>
                </a:solidFill>
                <a:latin typeface="Arial" panose="020B0604020202020204"/>
                <a:ea typeface="微软雅黑" panose="020B0503020204020204" charset="-122"/>
                <a:cs typeface="微软雅黑" panose="020B0503020204020204" charset="-122"/>
              </a:defRPr>
            </a:lvl6pPr>
            <a:lvl7pPr>
              <a:defRPr sz="1350" b="1">
                <a:solidFill>
                  <a:srgbClr val="000000"/>
                </a:solidFill>
                <a:latin typeface="Arial" panose="020B0604020202020204"/>
                <a:ea typeface="微软雅黑" panose="020B0503020204020204" charset="-122"/>
                <a:cs typeface="微软雅黑" panose="020B0503020204020204" charset="-122"/>
              </a:defRPr>
            </a:lvl7pPr>
            <a:lvl8pPr>
              <a:defRPr sz="1350" b="1">
                <a:solidFill>
                  <a:srgbClr val="000000"/>
                </a:solidFill>
                <a:latin typeface="Arial" panose="020B0604020202020204"/>
                <a:ea typeface="微软雅黑" panose="020B0503020204020204" charset="-122"/>
                <a:cs typeface="微软雅黑" panose="020B0503020204020204" charset="-122"/>
              </a:defRPr>
            </a:lvl8pPr>
            <a:lvl9pPr>
              <a:defRPr sz="1350" b="1">
                <a:solidFill>
                  <a:srgbClr val="000000"/>
                </a:solidFill>
                <a:latin typeface="Arial" panose="020B0604020202020204"/>
                <a:ea typeface="微软雅黑" panose="020B0503020204020204" charset="-122"/>
                <a:cs typeface="微软雅黑" panose="020B0503020204020204" charset="-122"/>
              </a:defRPr>
            </a:lvl9pPr>
          </a:lstStyle>
          <a:p>
            <a:pPr>
              <a:defRPr sz="1350" b="1">
                <a:solidFill>
                  <a:srgbClr val="000000"/>
                </a:solidFill>
                <a:latin typeface="Arial" panose="020B0604020202020204"/>
                <a:ea typeface="微软雅黑" panose="020B0503020204020204" charset="-122"/>
                <a:cs typeface="微软雅黑" panose="020B0503020204020204" charset="-122"/>
              </a:defRPr>
            </a:pPr>
            <a:r>
              <a:rPr sz="1350" b="1">
                <a:solidFill>
                  <a:srgbClr val="000000"/>
                </a:solidFill>
                <a:latin typeface="Arial" panose="020B0604020202020204"/>
                <a:ea typeface="微软雅黑" panose="020B0503020204020204" charset="-122"/>
                <a:cs typeface="微软雅黑" panose="020B0503020204020204" charset="-122"/>
              </a:rPr>
              <a:t>AD（</a:t>
            </a:r>
            <a:r>
              <a:rPr lang="en-US" sz="1350" b="1">
                <a:solidFill>
                  <a:srgbClr val="000000"/>
                </a:solidFill>
                <a:latin typeface="Arial" panose="020B0604020202020204"/>
                <a:ea typeface="微软雅黑" panose="020B0503020204020204" charset="-122"/>
                <a:cs typeface="微软雅黑" panose="020B0503020204020204" charset="-122"/>
              </a:rPr>
              <a:t>Baseline</a:t>
            </a:r>
            <a:r>
              <a:rPr sz="1350" b="1">
                <a:solidFill>
                  <a:srgbClr val="000000"/>
                </a:solidFill>
                <a:latin typeface="Arial" panose="020B0604020202020204"/>
                <a:ea typeface="微软雅黑" panose="020B0503020204020204" charset="-122"/>
                <a:cs typeface="微软雅黑" panose="020B0503020204020204" charset="-122"/>
              </a:rPr>
              <a:t>）</a:t>
            </a:r>
            <a:endParaRPr sz="1350" b="1">
              <a:solidFill>
                <a:srgbClr val="000000"/>
              </a:solidFill>
              <a:latin typeface="Arial" panose="020B0604020202020204"/>
              <a:ea typeface="微软雅黑" panose="020B0503020204020204" charset="-122"/>
              <a:cs typeface="微软雅黑" panose="020B0503020204020204" charset="-122"/>
            </a:endParaRPr>
          </a:p>
        </p:txBody>
      </p:sp>
      <p:pic>
        <p:nvPicPr>
          <p:cNvPr id="4" name="图片 3"/>
          <p:cNvPicPr>
            <a:picLocks noChangeAspect="1"/>
          </p:cNvPicPr>
          <p:nvPr/>
        </p:nvPicPr>
        <p:blipFill>
          <a:blip r:embed="rId2"/>
          <a:stretch>
            <a:fillRect/>
          </a:stretch>
        </p:blipFill>
        <p:spPr>
          <a:xfrm>
            <a:off x="228445" y="1285875"/>
            <a:ext cx="3600760" cy="3333750"/>
          </a:xfrm>
          <a:prstGeom prst="rect">
            <a:avLst/>
          </a:prstGeom>
        </p:spPr>
      </p:pic>
      <p:sp>
        <p:nvSpPr>
          <p:cNvPr id="5" name="BD（I→E可塑性 off）"/>
          <p:cNvSpPr>
            <a:spLocks noGrp="1"/>
          </p:cNvSpPr>
          <p:nvPr/>
        </p:nvSpPr>
        <p:spPr>
          <a:xfrm>
            <a:off x="4238625" y="933450"/>
            <a:ext cx="3829050" cy="266700"/>
          </a:xfrm>
          <a:prstGeom prst="rect">
            <a:avLst/>
          </a:prstGeom>
          <a:noFill/>
          <a:ln w="0">
            <a:noFill/>
          </a:ln>
        </p:spPr>
        <p:txBody>
          <a:bodyPr wrap="square" lIns="0" tIns="0" rIns="0" bIns="0" anchor="t">
            <a:noAutofit/>
          </a:bodyPr>
          <a:lstStyle>
            <a:defPPr>
              <a:defRPr sz="1350" b="1">
                <a:solidFill>
                  <a:srgbClr val="000000"/>
                </a:solidFill>
                <a:latin typeface="Arial" panose="020B0604020202020204"/>
                <a:ea typeface="微软雅黑" panose="020B0503020204020204" charset="-122"/>
                <a:cs typeface="微软雅黑" panose="020B0503020204020204" charset="-122"/>
              </a:defRPr>
            </a:defPPr>
            <a:lvl1pPr>
              <a:defRPr sz="1350" b="1">
                <a:solidFill>
                  <a:srgbClr val="000000"/>
                </a:solidFill>
                <a:latin typeface="Arial" panose="020B0604020202020204"/>
                <a:ea typeface="微软雅黑" panose="020B0503020204020204" charset="-122"/>
                <a:cs typeface="微软雅黑" panose="020B0503020204020204" charset="-122"/>
              </a:defRPr>
            </a:lvl1pPr>
            <a:lvl2pPr>
              <a:defRPr sz="1350" b="1">
                <a:solidFill>
                  <a:srgbClr val="000000"/>
                </a:solidFill>
                <a:latin typeface="Arial" panose="020B0604020202020204"/>
                <a:ea typeface="微软雅黑" panose="020B0503020204020204" charset="-122"/>
                <a:cs typeface="微软雅黑" panose="020B0503020204020204" charset="-122"/>
              </a:defRPr>
            </a:lvl2pPr>
            <a:lvl3pPr>
              <a:defRPr sz="1350" b="1">
                <a:solidFill>
                  <a:srgbClr val="000000"/>
                </a:solidFill>
                <a:latin typeface="Arial" panose="020B0604020202020204"/>
                <a:ea typeface="微软雅黑" panose="020B0503020204020204" charset="-122"/>
                <a:cs typeface="微软雅黑" panose="020B0503020204020204" charset="-122"/>
              </a:defRPr>
            </a:lvl3pPr>
            <a:lvl4pPr>
              <a:defRPr sz="1350" b="1">
                <a:solidFill>
                  <a:srgbClr val="000000"/>
                </a:solidFill>
                <a:latin typeface="Arial" panose="020B0604020202020204"/>
                <a:ea typeface="微软雅黑" panose="020B0503020204020204" charset="-122"/>
                <a:cs typeface="微软雅黑" panose="020B0503020204020204" charset="-122"/>
              </a:defRPr>
            </a:lvl4pPr>
            <a:lvl5pPr>
              <a:defRPr sz="1350" b="1">
                <a:solidFill>
                  <a:srgbClr val="000000"/>
                </a:solidFill>
                <a:latin typeface="Arial" panose="020B0604020202020204"/>
                <a:ea typeface="微软雅黑" panose="020B0503020204020204" charset="-122"/>
                <a:cs typeface="微软雅黑" panose="020B0503020204020204" charset="-122"/>
              </a:defRPr>
            </a:lvl5pPr>
            <a:lvl6pPr>
              <a:defRPr sz="1350" b="1">
                <a:solidFill>
                  <a:srgbClr val="000000"/>
                </a:solidFill>
                <a:latin typeface="Arial" panose="020B0604020202020204"/>
                <a:ea typeface="微软雅黑" panose="020B0503020204020204" charset="-122"/>
                <a:cs typeface="微软雅黑" panose="020B0503020204020204" charset="-122"/>
              </a:defRPr>
            </a:lvl6pPr>
            <a:lvl7pPr>
              <a:defRPr sz="1350" b="1">
                <a:solidFill>
                  <a:srgbClr val="000000"/>
                </a:solidFill>
                <a:latin typeface="Arial" panose="020B0604020202020204"/>
                <a:ea typeface="微软雅黑" panose="020B0503020204020204" charset="-122"/>
                <a:cs typeface="微软雅黑" panose="020B0503020204020204" charset="-122"/>
              </a:defRPr>
            </a:lvl7pPr>
            <a:lvl8pPr>
              <a:defRPr sz="1350" b="1">
                <a:solidFill>
                  <a:srgbClr val="000000"/>
                </a:solidFill>
                <a:latin typeface="Arial" panose="020B0604020202020204"/>
                <a:ea typeface="微软雅黑" panose="020B0503020204020204" charset="-122"/>
                <a:cs typeface="微软雅黑" panose="020B0503020204020204" charset="-122"/>
              </a:defRPr>
            </a:lvl8pPr>
            <a:lvl9pPr>
              <a:defRPr sz="1350" b="1">
                <a:solidFill>
                  <a:srgbClr val="000000"/>
                </a:solidFill>
                <a:latin typeface="Arial" panose="020B0604020202020204"/>
                <a:ea typeface="微软雅黑" panose="020B0503020204020204" charset="-122"/>
                <a:cs typeface="微软雅黑" panose="020B0503020204020204" charset="-122"/>
              </a:defRPr>
            </a:lvl9pPr>
          </a:lstStyle>
          <a:p>
            <a:pPr>
              <a:defRPr sz="1350" b="1">
                <a:solidFill>
                  <a:srgbClr val="000000"/>
                </a:solidFill>
                <a:latin typeface="Arial" panose="020B0604020202020204"/>
                <a:ea typeface="微软雅黑" panose="020B0503020204020204" charset="-122"/>
                <a:cs typeface="微软雅黑" panose="020B0503020204020204" charset="-122"/>
              </a:defRPr>
            </a:pPr>
            <a:r>
              <a:rPr sz="1350" b="1">
                <a:solidFill>
                  <a:srgbClr val="000000"/>
                </a:solidFill>
                <a:latin typeface="Arial" panose="020B0604020202020204"/>
                <a:ea typeface="微软雅黑" panose="020B0503020204020204" charset="-122"/>
                <a:cs typeface="微软雅黑" panose="020B0503020204020204" charset="-122"/>
              </a:rPr>
              <a:t>BD（I→E可塑性 off）</a:t>
            </a:r>
            <a:endParaRPr sz="1350" b="1">
              <a:solidFill>
                <a:srgbClr val="000000"/>
              </a:solidFill>
              <a:latin typeface="Arial" panose="020B0604020202020204"/>
              <a:ea typeface="微软雅黑" panose="020B0503020204020204" charset="-122"/>
              <a:cs typeface="微软雅黑" panose="020B0503020204020204" charset="-122"/>
            </a:endParaRPr>
          </a:p>
        </p:txBody>
      </p:sp>
      <p:pic>
        <p:nvPicPr>
          <p:cNvPr id="6" name="图片 5"/>
          <p:cNvPicPr>
            <a:picLocks noChangeAspect="1"/>
          </p:cNvPicPr>
          <p:nvPr/>
        </p:nvPicPr>
        <p:blipFill>
          <a:blip r:embed="rId3"/>
          <a:stretch>
            <a:fillRect/>
          </a:stretch>
        </p:blipFill>
        <p:spPr>
          <a:xfrm>
            <a:off x="4286095" y="1285875"/>
            <a:ext cx="3600760" cy="3333750"/>
          </a:xfrm>
          <a:prstGeom prst="rect">
            <a:avLst/>
          </a:prstGeom>
        </p:spPr>
      </p:pic>
      <p:sp>
        <p:nvSpPr>
          <p:cNvPr id="7" name="CD（I→E传递 off）"/>
          <p:cNvSpPr>
            <a:spLocks noGrp="1"/>
          </p:cNvSpPr>
          <p:nvPr/>
        </p:nvSpPr>
        <p:spPr>
          <a:xfrm>
            <a:off x="8296275" y="933450"/>
            <a:ext cx="3829050" cy="266700"/>
          </a:xfrm>
          <a:prstGeom prst="rect">
            <a:avLst/>
          </a:prstGeom>
          <a:noFill/>
          <a:ln w="0">
            <a:noFill/>
          </a:ln>
        </p:spPr>
        <p:txBody>
          <a:bodyPr wrap="square" lIns="0" tIns="0" rIns="0" bIns="0" anchor="t">
            <a:noAutofit/>
          </a:bodyPr>
          <a:lstStyle>
            <a:defPPr>
              <a:defRPr sz="1350" b="1">
                <a:solidFill>
                  <a:srgbClr val="000000"/>
                </a:solidFill>
                <a:latin typeface="Arial" panose="020B0604020202020204"/>
                <a:ea typeface="微软雅黑" panose="020B0503020204020204" charset="-122"/>
                <a:cs typeface="微软雅黑" panose="020B0503020204020204" charset="-122"/>
              </a:defRPr>
            </a:defPPr>
            <a:lvl1pPr>
              <a:defRPr sz="1350" b="1">
                <a:solidFill>
                  <a:srgbClr val="000000"/>
                </a:solidFill>
                <a:latin typeface="Arial" panose="020B0604020202020204"/>
                <a:ea typeface="微软雅黑" panose="020B0503020204020204" charset="-122"/>
                <a:cs typeface="微软雅黑" panose="020B0503020204020204" charset="-122"/>
              </a:defRPr>
            </a:lvl1pPr>
            <a:lvl2pPr>
              <a:defRPr sz="1350" b="1">
                <a:solidFill>
                  <a:srgbClr val="000000"/>
                </a:solidFill>
                <a:latin typeface="Arial" panose="020B0604020202020204"/>
                <a:ea typeface="微软雅黑" panose="020B0503020204020204" charset="-122"/>
                <a:cs typeface="微软雅黑" panose="020B0503020204020204" charset="-122"/>
              </a:defRPr>
            </a:lvl2pPr>
            <a:lvl3pPr>
              <a:defRPr sz="1350" b="1">
                <a:solidFill>
                  <a:srgbClr val="000000"/>
                </a:solidFill>
                <a:latin typeface="Arial" panose="020B0604020202020204"/>
                <a:ea typeface="微软雅黑" panose="020B0503020204020204" charset="-122"/>
                <a:cs typeface="微软雅黑" panose="020B0503020204020204" charset="-122"/>
              </a:defRPr>
            </a:lvl3pPr>
            <a:lvl4pPr>
              <a:defRPr sz="1350" b="1">
                <a:solidFill>
                  <a:srgbClr val="000000"/>
                </a:solidFill>
                <a:latin typeface="Arial" panose="020B0604020202020204"/>
                <a:ea typeface="微软雅黑" panose="020B0503020204020204" charset="-122"/>
                <a:cs typeface="微软雅黑" panose="020B0503020204020204" charset="-122"/>
              </a:defRPr>
            </a:lvl4pPr>
            <a:lvl5pPr>
              <a:defRPr sz="1350" b="1">
                <a:solidFill>
                  <a:srgbClr val="000000"/>
                </a:solidFill>
                <a:latin typeface="Arial" panose="020B0604020202020204"/>
                <a:ea typeface="微软雅黑" panose="020B0503020204020204" charset="-122"/>
                <a:cs typeface="微软雅黑" panose="020B0503020204020204" charset="-122"/>
              </a:defRPr>
            </a:lvl5pPr>
            <a:lvl6pPr>
              <a:defRPr sz="1350" b="1">
                <a:solidFill>
                  <a:srgbClr val="000000"/>
                </a:solidFill>
                <a:latin typeface="Arial" panose="020B0604020202020204"/>
                <a:ea typeface="微软雅黑" panose="020B0503020204020204" charset="-122"/>
                <a:cs typeface="微软雅黑" panose="020B0503020204020204" charset="-122"/>
              </a:defRPr>
            </a:lvl6pPr>
            <a:lvl7pPr>
              <a:defRPr sz="1350" b="1">
                <a:solidFill>
                  <a:srgbClr val="000000"/>
                </a:solidFill>
                <a:latin typeface="Arial" panose="020B0604020202020204"/>
                <a:ea typeface="微软雅黑" panose="020B0503020204020204" charset="-122"/>
                <a:cs typeface="微软雅黑" panose="020B0503020204020204" charset="-122"/>
              </a:defRPr>
            </a:lvl7pPr>
            <a:lvl8pPr>
              <a:defRPr sz="1350" b="1">
                <a:solidFill>
                  <a:srgbClr val="000000"/>
                </a:solidFill>
                <a:latin typeface="Arial" panose="020B0604020202020204"/>
                <a:ea typeface="微软雅黑" panose="020B0503020204020204" charset="-122"/>
                <a:cs typeface="微软雅黑" panose="020B0503020204020204" charset="-122"/>
              </a:defRPr>
            </a:lvl8pPr>
            <a:lvl9pPr>
              <a:defRPr sz="1350" b="1">
                <a:solidFill>
                  <a:srgbClr val="000000"/>
                </a:solidFill>
                <a:latin typeface="Arial" panose="020B0604020202020204"/>
                <a:ea typeface="微软雅黑" panose="020B0503020204020204" charset="-122"/>
                <a:cs typeface="微软雅黑" panose="020B0503020204020204" charset="-122"/>
              </a:defRPr>
            </a:lvl9pPr>
          </a:lstStyle>
          <a:p>
            <a:pPr>
              <a:defRPr sz="1350" b="1">
                <a:solidFill>
                  <a:srgbClr val="000000"/>
                </a:solidFill>
                <a:latin typeface="Arial" panose="020B0604020202020204"/>
                <a:ea typeface="微软雅黑" panose="020B0503020204020204" charset="-122"/>
                <a:cs typeface="微软雅黑" panose="020B0503020204020204" charset="-122"/>
              </a:defRPr>
            </a:pPr>
            <a:r>
              <a:rPr sz="1350" b="1">
                <a:solidFill>
                  <a:srgbClr val="000000"/>
                </a:solidFill>
                <a:latin typeface="Arial" panose="020B0604020202020204"/>
                <a:ea typeface="微软雅黑" panose="020B0503020204020204" charset="-122"/>
                <a:cs typeface="微软雅黑" panose="020B0503020204020204" charset="-122"/>
              </a:rPr>
              <a:t>CD（I→E传递 off）</a:t>
            </a:r>
            <a:endParaRPr sz="1350" b="1">
              <a:solidFill>
                <a:srgbClr val="000000"/>
              </a:solidFill>
              <a:latin typeface="Arial" panose="020B0604020202020204"/>
              <a:ea typeface="微软雅黑" panose="020B0503020204020204" charset="-122"/>
              <a:cs typeface="微软雅黑" panose="020B0503020204020204" charset="-122"/>
            </a:endParaRPr>
          </a:p>
        </p:txBody>
      </p:sp>
      <p:pic>
        <p:nvPicPr>
          <p:cNvPr id="8" name="图片 7"/>
          <p:cNvPicPr>
            <a:picLocks noChangeAspect="1"/>
          </p:cNvPicPr>
          <p:nvPr/>
        </p:nvPicPr>
        <p:blipFill>
          <a:blip r:embed="rId4"/>
          <a:stretch>
            <a:fillRect/>
          </a:stretch>
        </p:blipFill>
        <p:spPr>
          <a:xfrm>
            <a:off x="8343745" y="1285875"/>
            <a:ext cx="3600760" cy="3333750"/>
          </a:xfrm>
          <a:prstGeom prst="rect">
            <a:avLst/>
          </a:prstGeom>
        </p:spPr>
      </p:pic>
      <p:sp>
        <p:nvSpPr>
          <p:cNvPr id="10" name="AD：条带结构清晰，感受野形态和朝向较多样。"/>
          <p:cNvSpPr>
            <a:spLocks noGrp="1"/>
          </p:cNvSpPr>
          <p:nvPr/>
        </p:nvSpPr>
        <p:spPr>
          <a:xfrm>
            <a:off x="333375" y="5124450"/>
            <a:ext cx="11477625" cy="265176"/>
          </a:xfrm>
          <a:prstGeom prst="rect">
            <a:avLst/>
          </a:prstGeom>
          <a:noFill/>
          <a:ln w="0">
            <a:noFill/>
          </a:ln>
        </p:spPr>
        <p:txBody>
          <a:bodyPr wrap="square" lIns="0" tIns="0" rIns="0" bIns="0" anchor="t">
            <a:noAutofit/>
          </a:bodyPr>
          <a:lstStyle>
            <a:defPPr>
              <a:defRPr sz="1350" b="0">
                <a:solidFill>
                  <a:srgbClr val="000000"/>
                </a:solidFill>
                <a:latin typeface="Arial" panose="020B0604020202020204"/>
                <a:ea typeface="微软雅黑" panose="020B0503020204020204" charset="-122"/>
                <a:cs typeface="微软雅黑" panose="020B0503020204020204" charset="-122"/>
              </a:defRPr>
            </a:defPPr>
            <a:lvl1pPr>
              <a:defRPr sz="1350" b="0">
                <a:solidFill>
                  <a:srgbClr val="000000"/>
                </a:solidFill>
                <a:latin typeface="Arial" panose="020B0604020202020204"/>
                <a:ea typeface="微软雅黑" panose="020B0503020204020204" charset="-122"/>
                <a:cs typeface="微软雅黑" panose="020B0503020204020204" charset="-122"/>
              </a:defRPr>
            </a:lvl1pPr>
            <a:lvl2pPr>
              <a:defRPr sz="1350" b="0">
                <a:solidFill>
                  <a:srgbClr val="000000"/>
                </a:solidFill>
                <a:latin typeface="Arial" panose="020B0604020202020204"/>
                <a:ea typeface="微软雅黑" panose="020B0503020204020204" charset="-122"/>
                <a:cs typeface="微软雅黑" panose="020B0503020204020204" charset="-122"/>
              </a:defRPr>
            </a:lvl2pPr>
            <a:lvl3pPr>
              <a:defRPr sz="1350" b="0">
                <a:solidFill>
                  <a:srgbClr val="000000"/>
                </a:solidFill>
                <a:latin typeface="Arial" panose="020B0604020202020204"/>
                <a:ea typeface="微软雅黑" panose="020B0503020204020204" charset="-122"/>
                <a:cs typeface="微软雅黑" panose="020B0503020204020204" charset="-122"/>
              </a:defRPr>
            </a:lvl3pPr>
            <a:lvl4pPr>
              <a:defRPr sz="1350" b="0">
                <a:solidFill>
                  <a:srgbClr val="000000"/>
                </a:solidFill>
                <a:latin typeface="Arial" panose="020B0604020202020204"/>
                <a:ea typeface="微软雅黑" panose="020B0503020204020204" charset="-122"/>
                <a:cs typeface="微软雅黑" panose="020B0503020204020204" charset="-122"/>
              </a:defRPr>
            </a:lvl4pPr>
            <a:lvl5pPr>
              <a:defRPr sz="1350" b="0">
                <a:solidFill>
                  <a:srgbClr val="000000"/>
                </a:solidFill>
                <a:latin typeface="Arial" panose="020B0604020202020204"/>
                <a:ea typeface="微软雅黑" panose="020B0503020204020204" charset="-122"/>
                <a:cs typeface="微软雅黑" panose="020B0503020204020204" charset="-122"/>
              </a:defRPr>
            </a:lvl5pPr>
            <a:lvl6pPr>
              <a:defRPr sz="1350" b="0">
                <a:solidFill>
                  <a:srgbClr val="000000"/>
                </a:solidFill>
                <a:latin typeface="Arial" panose="020B0604020202020204"/>
                <a:ea typeface="微软雅黑" panose="020B0503020204020204" charset="-122"/>
                <a:cs typeface="微软雅黑" panose="020B0503020204020204" charset="-122"/>
              </a:defRPr>
            </a:lvl6pPr>
            <a:lvl7pPr>
              <a:defRPr sz="1350" b="0">
                <a:solidFill>
                  <a:srgbClr val="000000"/>
                </a:solidFill>
                <a:latin typeface="Arial" panose="020B0604020202020204"/>
                <a:ea typeface="微软雅黑" panose="020B0503020204020204" charset="-122"/>
                <a:cs typeface="微软雅黑" panose="020B0503020204020204" charset="-122"/>
              </a:defRPr>
            </a:lvl7pPr>
            <a:lvl8pPr>
              <a:defRPr sz="1350" b="0">
                <a:solidFill>
                  <a:srgbClr val="000000"/>
                </a:solidFill>
                <a:latin typeface="Arial" panose="020B0604020202020204"/>
                <a:ea typeface="微软雅黑" panose="020B0503020204020204" charset="-122"/>
                <a:cs typeface="微软雅黑" panose="020B0503020204020204" charset="-122"/>
              </a:defRPr>
            </a:lvl8pPr>
            <a:lvl9pPr>
              <a:defRPr sz="1350" b="0">
                <a:solidFill>
                  <a:srgbClr val="000000"/>
                </a:solidFill>
                <a:latin typeface="Arial" panose="020B0604020202020204"/>
                <a:ea typeface="微软雅黑" panose="020B0503020204020204" charset="-122"/>
                <a:cs typeface="微软雅黑" panose="020B0503020204020204" charset="-122"/>
              </a:defRPr>
            </a:lvl9pPr>
          </a:lstStyle>
          <a:p>
            <a:pPr marL="101600" indent="-76200">
              <a:buChar char="·"/>
              <a:defRPr sz="1350" b="0">
                <a:solidFill>
                  <a:srgbClr val="000000"/>
                </a:solidFill>
                <a:latin typeface="Arial" panose="020B0604020202020204"/>
                <a:ea typeface="微软雅黑" panose="020B0503020204020204" charset="-122"/>
                <a:cs typeface="微软雅黑" panose="020B0503020204020204" charset="-122"/>
              </a:defRPr>
            </a:pPr>
            <a:r>
              <a:t>AD：条带结构清晰，感受野形态和朝向较多样。</a:t>
            </a:r>
          </a:p>
        </p:txBody>
      </p:sp>
      <p:sp>
        <p:nvSpPr>
          <p:cNvPr id="11" name="BD：仍能形成清晰条带，但水平、垂直结构重复较多。关闭抑制可"/>
          <p:cNvSpPr>
            <a:spLocks noGrp="1"/>
          </p:cNvSpPr>
          <p:nvPr/>
        </p:nvSpPr>
        <p:spPr>
          <a:xfrm>
            <a:off x="333375" y="5465826"/>
            <a:ext cx="11477625" cy="265176"/>
          </a:xfrm>
          <a:prstGeom prst="rect">
            <a:avLst/>
          </a:prstGeom>
          <a:noFill/>
          <a:ln w="0">
            <a:noFill/>
          </a:ln>
        </p:spPr>
        <p:txBody>
          <a:bodyPr wrap="square" lIns="0" tIns="0" rIns="0" bIns="0" anchor="t">
            <a:noAutofit/>
          </a:bodyPr>
          <a:lstStyle>
            <a:defPPr>
              <a:defRPr sz="1350" b="0">
                <a:solidFill>
                  <a:srgbClr val="000000"/>
                </a:solidFill>
                <a:latin typeface="Arial" panose="020B0604020202020204"/>
                <a:ea typeface="微软雅黑" panose="020B0503020204020204" charset="-122"/>
                <a:cs typeface="微软雅黑" panose="020B0503020204020204" charset="-122"/>
              </a:defRPr>
            </a:defPPr>
            <a:lvl1pPr>
              <a:defRPr sz="1350" b="0">
                <a:solidFill>
                  <a:srgbClr val="000000"/>
                </a:solidFill>
                <a:latin typeface="Arial" panose="020B0604020202020204"/>
                <a:ea typeface="微软雅黑" panose="020B0503020204020204" charset="-122"/>
                <a:cs typeface="微软雅黑" panose="020B0503020204020204" charset="-122"/>
              </a:defRPr>
            </a:lvl1pPr>
            <a:lvl2pPr>
              <a:defRPr sz="1350" b="0">
                <a:solidFill>
                  <a:srgbClr val="000000"/>
                </a:solidFill>
                <a:latin typeface="Arial" panose="020B0604020202020204"/>
                <a:ea typeface="微软雅黑" panose="020B0503020204020204" charset="-122"/>
                <a:cs typeface="微软雅黑" panose="020B0503020204020204" charset="-122"/>
              </a:defRPr>
            </a:lvl2pPr>
            <a:lvl3pPr>
              <a:defRPr sz="1350" b="0">
                <a:solidFill>
                  <a:srgbClr val="000000"/>
                </a:solidFill>
                <a:latin typeface="Arial" panose="020B0604020202020204"/>
                <a:ea typeface="微软雅黑" panose="020B0503020204020204" charset="-122"/>
                <a:cs typeface="微软雅黑" panose="020B0503020204020204" charset="-122"/>
              </a:defRPr>
            </a:lvl3pPr>
            <a:lvl4pPr>
              <a:defRPr sz="1350" b="0">
                <a:solidFill>
                  <a:srgbClr val="000000"/>
                </a:solidFill>
                <a:latin typeface="Arial" panose="020B0604020202020204"/>
                <a:ea typeface="微软雅黑" panose="020B0503020204020204" charset="-122"/>
                <a:cs typeface="微软雅黑" panose="020B0503020204020204" charset="-122"/>
              </a:defRPr>
            </a:lvl4pPr>
            <a:lvl5pPr>
              <a:defRPr sz="1350" b="0">
                <a:solidFill>
                  <a:srgbClr val="000000"/>
                </a:solidFill>
                <a:latin typeface="Arial" panose="020B0604020202020204"/>
                <a:ea typeface="微软雅黑" panose="020B0503020204020204" charset="-122"/>
                <a:cs typeface="微软雅黑" panose="020B0503020204020204" charset="-122"/>
              </a:defRPr>
            </a:lvl5pPr>
            <a:lvl6pPr>
              <a:defRPr sz="1350" b="0">
                <a:solidFill>
                  <a:srgbClr val="000000"/>
                </a:solidFill>
                <a:latin typeface="Arial" panose="020B0604020202020204"/>
                <a:ea typeface="微软雅黑" panose="020B0503020204020204" charset="-122"/>
                <a:cs typeface="微软雅黑" panose="020B0503020204020204" charset="-122"/>
              </a:defRPr>
            </a:lvl6pPr>
            <a:lvl7pPr>
              <a:defRPr sz="1350" b="0">
                <a:solidFill>
                  <a:srgbClr val="000000"/>
                </a:solidFill>
                <a:latin typeface="Arial" panose="020B0604020202020204"/>
                <a:ea typeface="微软雅黑" panose="020B0503020204020204" charset="-122"/>
                <a:cs typeface="微软雅黑" panose="020B0503020204020204" charset="-122"/>
              </a:defRPr>
            </a:lvl7pPr>
            <a:lvl8pPr>
              <a:defRPr sz="1350" b="0">
                <a:solidFill>
                  <a:srgbClr val="000000"/>
                </a:solidFill>
                <a:latin typeface="Arial" panose="020B0604020202020204"/>
                <a:ea typeface="微软雅黑" panose="020B0503020204020204" charset="-122"/>
                <a:cs typeface="微软雅黑" panose="020B0503020204020204" charset="-122"/>
              </a:defRPr>
            </a:lvl8pPr>
            <a:lvl9pPr>
              <a:defRPr sz="1350" b="0">
                <a:solidFill>
                  <a:srgbClr val="000000"/>
                </a:solidFill>
                <a:latin typeface="Arial" panose="020B0604020202020204"/>
                <a:ea typeface="微软雅黑" panose="020B0503020204020204" charset="-122"/>
                <a:cs typeface="微软雅黑" panose="020B0503020204020204" charset="-122"/>
              </a:defRPr>
            </a:lvl9pPr>
          </a:lstStyle>
          <a:p>
            <a:pPr marL="101600" indent="-76200">
              <a:buChar char="·"/>
              <a:defRPr sz="1350" b="0">
                <a:solidFill>
                  <a:srgbClr val="000000"/>
                </a:solidFill>
                <a:latin typeface="Arial" panose="020B0604020202020204"/>
                <a:ea typeface="微软雅黑" panose="020B0503020204020204" charset="-122"/>
                <a:cs typeface="微软雅黑" panose="020B0503020204020204" charset="-122"/>
              </a:defRPr>
            </a:pPr>
            <a:r>
              <a:t>BD：仍能形成清晰条</a:t>
            </a:r>
            <a:r>
              <a:rPr lang="zh-CN"/>
              <a:t>状结构</a:t>
            </a:r>
            <a:r>
              <a:t>，但水平、垂直结构重复较多</a:t>
            </a:r>
            <a:r>
              <a:rPr lang="zh-CN"/>
              <a:t>，同时</a:t>
            </a:r>
            <a:r>
              <a:rPr lang="en-US" altLang="zh-CN"/>
              <a:t>Gabor</a:t>
            </a:r>
            <a:r>
              <a:rPr lang="zh-CN" altLang="en-US"/>
              <a:t>函数的拟合误差</a:t>
            </a:r>
            <a:r>
              <a:rPr lang="zh-CN" altLang="en-US"/>
              <a:t>上升</a:t>
            </a:r>
            <a:endParaRPr lang="zh-CN" altLang="en-US"/>
          </a:p>
        </p:txBody>
      </p:sp>
      <p:sp>
        <p:nvSpPr>
          <p:cNvPr id="12" name="CD：当前测试未得到可辨认的稳定条带。保留L1与阈值适应，未"/>
          <p:cNvSpPr>
            <a:spLocks noGrp="1"/>
          </p:cNvSpPr>
          <p:nvPr/>
        </p:nvSpPr>
        <p:spPr>
          <a:xfrm>
            <a:off x="333375" y="5807202"/>
            <a:ext cx="11477625" cy="265176"/>
          </a:xfrm>
          <a:prstGeom prst="rect">
            <a:avLst/>
          </a:prstGeom>
          <a:noFill/>
          <a:ln w="0">
            <a:noFill/>
          </a:ln>
        </p:spPr>
        <p:txBody>
          <a:bodyPr wrap="square" lIns="0" tIns="0" rIns="0" bIns="0" anchor="t">
            <a:noAutofit/>
          </a:bodyPr>
          <a:lstStyle>
            <a:defPPr>
              <a:defRPr sz="1350" b="0">
                <a:solidFill>
                  <a:srgbClr val="000000"/>
                </a:solidFill>
                <a:latin typeface="Arial" panose="020B0604020202020204"/>
                <a:ea typeface="微软雅黑" panose="020B0503020204020204" charset="-122"/>
                <a:cs typeface="微软雅黑" panose="020B0503020204020204" charset="-122"/>
              </a:defRPr>
            </a:defPPr>
            <a:lvl1pPr>
              <a:defRPr sz="1350" b="0">
                <a:solidFill>
                  <a:srgbClr val="000000"/>
                </a:solidFill>
                <a:latin typeface="Arial" panose="020B0604020202020204"/>
                <a:ea typeface="微软雅黑" panose="020B0503020204020204" charset="-122"/>
                <a:cs typeface="微软雅黑" panose="020B0503020204020204" charset="-122"/>
              </a:defRPr>
            </a:lvl1pPr>
            <a:lvl2pPr>
              <a:defRPr sz="1350" b="0">
                <a:solidFill>
                  <a:srgbClr val="000000"/>
                </a:solidFill>
                <a:latin typeface="Arial" panose="020B0604020202020204"/>
                <a:ea typeface="微软雅黑" panose="020B0503020204020204" charset="-122"/>
                <a:cs typeface="微软雅黑" panose="020B0503020204020204" charset="-122"/>
              </a:defRPr>
            </a:lvl2pPr>
            <a:lvl3pPr>
              <a:defRPr sz="1350" b="0">
                <a:solidFill>
                  <a:srgbClr val="000000"/>
                </a:solidFill>
                <a:latin typeface="Arial" panose="020B0604020202020204"/>
                <a:ea typeface="微软雅黑" panose="020B0503020204020204" charset="-122"/>
                <a:cs typeface="微软雅黑" panose="020B0503020204020204" charset="-122"/>
              </a:defRPr>
            </a:lvl3pPr>
            <a:lvl4pPr>
              <a:defRPr sz="1350" b="0">
                <a:solidFill>
                  <a:srgbClr val="000000"/>
                </a:solidFill>
                <a:latin typeface="Arial" panose="020B0604020202020204"/>
                <a:ea typeface="微软雅黑" panose="020B0503020204020204" charset="-122"/>
                <a:cs typeface="微软雅黑" panose="020B0503020204020204" charset="-122"/>
              </a:defRPr>
            </a:lvl4pPr>
            <a:lvl5pPr>
              <a:defRPr sz="1350" b="0">
                <a:solidFill>
                  <a:srgbClr val="000000"/>
                </a:solidFill>
                <a:latin typeface="Arial" panose="020B0604020202020204"/>
                <a:ea typeface="微软雅黑" panose="020B0503020204020204" charset="-122"/>
                <a:cs typeface="微软雅黑" panose="020B0503020204020204" charset="-122"/>
              </a:defRPr>
            </a:lvl5pPr>
            <a:lvl6pPr>
              <a:defRPr sz="1350" b="0">
                <a:solidFill>
                  <a:srgbClr val="000000"/>
                </a:solidFill>
                <a:latin typeface="Arial" panose="020B0604020202020204"/>
                <a:ea typeface="微软雅黑" panose="020B0503020204020204" charset="-122"/>
                <a:cs typeface="微软雅黑" panose="020B0503020204020204" charset="-122"/>
              </a:defRPr>
            </a:lvl6pPr>
            <a:lvl7pPr>
              <a:defRPr sz="1350" b="0">
                <a:solidFill>
                  <a:srgbClr val="000000"/>
                </a:solidFill>
                <a:latin typeface="Arial" panose="020B0604020202020204"/>
                <a:ea typeface="微软雅黑" panose="020B0503020204020204" charset="-122"/>
                <a:cs typeface="微软雅黑" panose="020B0503020204020204" charset="-122"/>
              </a:defRPr>
            </a:lvl7pPr>
            <a:lvl8pPr>
              <a:defRPr sz="1350" b="0">
                <a:solidFill>
                  <a:srgbClr val="000000"/>
                </a:solidFill>
                <a:latin typeface="Arial" panose="020B0604020202020204"/>
                <a:ea typeface="微软雅黑" panose="020B0503020204020204" charset="-122"/>
                <a:cs typeface="微软雅黑" panose="020B0503020204020204" charset="-122"/>
              </a:defRPr>
            </a:lvl8pPr>
            <a:lvl9pPr>
              <a:defRPr sz="1350" b="0">
                <a:solidFill>
                  <a:srgbClr val="000000"/>
                </a:solidFill>
                <a:latin typeface="Arial" panose="020B0604020202020204"/>
                <a:ea typeface="微软雅黑" panose="020B0503020204020204" charset="-122"/>
                <a:cs typeface="微软雅黑" panose="020B0503020204020204" charset="-122"/>
              </a:defRPr>
            </a:lvl9pPr>
          </a:lstStyle>
          <a:p>
            <a:pPr marL="101600" indent="-76200">
              <a:buChar char="·"/>
              <a:defRPr sz="1350" b="0">
                <a:solidFill>
                  <a:srgbClr val="000000"/>
                </a:solidFill>
                <a:latin typeface="Arial" panose="020B0604020202020204"/>
                <a:ea typeface="微软雅黑" panose="020B0503020204020204" charset="-122"/>
                <a:cs typeface="微软雅黑" panose="020B0503020204020204" charset="-122"/>
              </a:defRPr>
            </a:pPr>
            <a:r>
              <a:t>CD：</a:t>
            </a:r>
            <a:r>
              <a:rPr lang="zh-CN" altLang="en-US">
                <a:cs typeface="Arial" panose="020B0604020202020204"/>
                <a:sym typeface="+mn-ea"/>
              </a:rPr>
              <a:t>感受野整体模糊且噪声较多，无法观察到稳定的方向性条纹，也没有神经元达到良好</a:t>
            </a:r>
            <a:r>
              <a:rPr lang="en-US" altLang="zh-CN">
                <a:cs typeface="Arial" panose="020B0604020202020204"/>
                <a:sym typeface="+mn-ea"/>
              </a:rPr>
              <a:t>Gabor</a:t>
            </a:r>
            <a:r>
              <a:rPr lang="zh-CN" altLang="en-US">
                <a:cs typeface="Arial" panose="020B0604020202020204"/>
                <a:sym typeface="+mn-ea"/>
              </a:rPr>
              <a:t>拟合标准。</a:t>
            </a:r>
          </a:p>
        </p:txBody>
      </p:sp>
      <p:sp>
        <p:nvSpPr>
          <p:cNvPr id="13" name="TAKEAWAY_HIGHLIGHT"/>
          <p:cNvSpPr>
            <a:spLocks noGrp="1"/>
          </p:cNvSpPr>
          <p:nvPr/>
        </p:nvSpPr>
        <p:spPr>
          <a:xfrm>
            <a:off x="876300" y="6238875"/>
            <a:ext cx="10439400" cy="485775"/>
          </a:xfrm>
          <a:prstGeom prst="rect">
            <a:avLst/>
          </a:prstGeom>
          <a:noFill/>
          <a:ln w="0">
            <a:noFill/>
          </a:ln>
        </p:spPr>
        <p:txBody>
          <a:bodyPr wrap="square" lIns="0" tIns="0" rIns="0" bIns="0" anchor="t">
            <a:noAutofit/>
          </a:bodyPr>
          <a:lstStyle>
            <a:defPPr>
              <a:defRPr sz="1600" b="0">
                <a:solidFill>
                  <a:srgbClr val="000000"/>
                </a:solidFill>
                <a:latin typeface="Arial" panose="020B0604020202020204"/>
                <a:ea typeface="微软雅黑" panose="020B0503020204020204" charset="-122"/>
                <a:cs typeface="微软雅黑" panose="020B0503020204020204" charset="-122"/>
              </a:defRPr>
            </a:defPPr>
            <a:lvl1pPr>
              <a:defRPr sz="1600" b="0">
                <a:solidFill>
                  <a:srgbClr val="000000"/>
                </a:solidFill>
                <a:latin typeface="Arial" panose="020B0604020202020204"/>
                <a:ea typeface="微软雅黑" panose="020B0503020204020204" charset="-122"/>
                <a:cs typeface="微软雅黑" panose="020B0503020204020204" charset="-122"/>
              </a:defRPr>
            </a:lvl1pPr>
            <a:lvl2pPr>
              <a:defRPr sz="1600" b="0">
                <a:solidFill>
                  <a:srgbClr val="000000"/>
                </a:solidFill>
                <a:latin typeface="Arial" panose="020B0604020202020204"/>
                <a:ea typeface="微软雅黑" panose="020B0503020204020204" charset="-122"/>
                <a:cs typeface="微软雅黑" panose="020B0503020204020204" charset="-122"/>
              </a:defRPr>
            </a:lvl2pPr>
            <a:lvl3pPr>
              <a:defRPr sz="1600" b="0">
                <a:solidFill>
                  <a:srgbClr val="000000"/>
                </a:solidFill>
                <a:latin typeface="Arial" panose="020B0604020202020204"/>
                <a:ea typeface="微软雅黑" panose="020B0503020204020204" charset="-122"/>
                <a:cs typeface="微软雅黑" panose="020B0503020204020204" charset="-122"/>
              </a:defRPr>
            </a:lvl3pPr>
            <a:lvl4pPr>
              <a:defRPr sz="1600" b="0">
                <a:solidFill>
                  <a:srgbClr val="000000"/>
                </a:solidFill>
                <a:latin typeface="Arial" panose="020B0604020202020204"/>
                <a:ea typeface="微软雅黑" panose="020B0503020204020204" charset="-122"/>
                <a:cs typeface="微软雅黑" panose="020B0503020204020204" charset="-122"/>
              </a:defRPr>
            </a:lvl4pPr>
            <a:lvl5pPr>
              <a:defRPr sz="1600" b="0">
                <a:solidFill>
                  <a:srgbClr val="000000"/>
                </a:solidFill>
                <a:latin typeface="Arial" panose="020B0604020202020204"/>
                <a:ea typeface="微软雅黑" panose="020B0503020204020204" charset="-122"/>
                <a:cs typeface="微软雅黑" panose="020B0503020204020204" charset="-122"/>
              </a:defRPr>
            </a:lvl5pPr>
            <a:lvl6pPr>
              <a:defRPr sz="1600" b="0">
                <a:solidFill>
                  <a:srgbClr val="000000"/>
                </a:solidFill>
                <a:latin typeface="Arial" panose="020B0604020202020204"/>
                <a:ea typeface="微软雅黑" panose="020B0503020204020204" charset="-122"/>
                <a:cs typeface="微软雅黑" panose="020B0503020204020204" charset="-122"/>
              </a:defRPr>
            </a:lvl6pPr>
            <a:lvl7pPr>
              <a:defRPr sz="1600" b="0">
                <a:solidFill>
                  <a:srgbClr val="000000"/>
                </a:solidFill>
                <a:latin typeface="Arial" panose="020B0604020202020204"/>
                <a:ea typeface="微软雅黑" panose="020B0503020204020204" charset="-122"/>
                <a:cs typeface="微软雅黑" panose="020B0503020204020204" charset="-122"/>
              </a:defRPr>
            </a:lvl7pPr>
            <a:lvl8pPr>
              <a:defRPr sz="1600" b="0">
                <a:solidFill>
                  <a:srgbClr val="000000"/>
                </a:solidFill>
                <a:latin typeface="Arial" panose="020B0604020202020204"/>
                <a:ea typeface="微软雅黑" panose="020B0503020204020204" charset="-122"/>
                <a:cs typeface="微软雅黑" panose="020B0503020204020204" charset="-122"/>
              </a:defRPr>
            </a:lvl8pPr>
            <a:lvl9pPr>
              <a:defRPr sz="1600" b="0">
                <a:solidFill>
                  <a:srgbClr val="000000"/>
                </a:solidFill>
                <a:latin typeface="Arial" panose="020B0604020202020204"/>
                <a:ea typeface="微软雅黑" panose="020B0503020204020204" charset="-122"/>
                <a:cs typeface="微软雅黑" panose="020B0503020204020204" charset="-122"/>
              </a:defRPr>
            </a:lvl9pPr>
          </a:lstStyle>
          <a:p>
            <a:pPr algn="ctr">
              <a:defRPr sz="1600" b="0">
                <a:solidFill>
                  <a:srgbClr val="000000"/>
                </a:solidFill>
                <a:latin typeface="Arial" panose="020B0604020202020204"/>
                <a:ea typeface="微软雅黑" panose="020B0503020204020204" charset="-122"/>
                <a:cs typeface="微软雅黑" panose="020B0503020204020204" charset="-122"/>
              </a:defRPr>
            </a:pPr>
            <a:r>
              <a:rPr lang="en-US" sz="1600" b="1">
                <a:solidFill>
                  <a:srgbClr val="000000"/>
                </a:solidFill>
                <a:highlight>
                  <a:srgbClr val="FFFF00"/>
                </a:highlight>
                <a:latin typeface="Arial" panose="020B0604020202020204"/>
                <a:ea typeface="微软雅黑" panose="020B0503020204020204" charset="-122"/>
                <a:cs typeface="微软雅黑" panose="020B0503020204020204" charset="-122"/>
              </a:rPr>
              <a:t>I→E</a:t>
            </a:r>
            <a:r>
              <a:rPr lang="zh-CN" altLang="en-US" sz="1600" b="1">
                <a:solidFill>
                  <a:srgbClr val="000000"/>
                </a:solidFill>
                <a:highlight>
                  <a:srgbClr val="FFFF00"/>
                </a:highlight>
                <a:latin typeface="Arial" panose="020B0604020202020204"/>
                <a:ea typeface="微软雅黑" panose="020B0503020204020204" charset="-122"/>
                <a:cs typeface="微软雅黑" panose="020B0503020204020204" charset="-122"/>
              </a:rPr>
              <a:t>的</a:t>
            </a:r>
            <a:r>
              <a:rPr sz="1600" b="1">
                <a:solidFill>
                  <a:srgbClr val="000000"/>
                </a:solidFill>
                <a:highlight>
                  <a:srgbClr val="FFFF00"/>
                </a:highlight>
                <a:latin typeface="Arial" panose="020B0604020202020204"/>
                <a:ea typeface="微软雅黑" panose="020B0503020204020204" charset="-122"/>
                <a:cs typeface="微软雅黑" panose="020B0503020204020204" charset="-122"/>
              </a:rPr>
              <a:t>抑制可塑性</a:t>
            </a:r>
            <a:r>
              <a:rPr lang="zh-CN" sz="1600" b="1">
                <a:solidFill>
                  <a:srgbClr val="000000"/>
                </a:solidFill>
                <a:highlight>
                  <a:srgbClr val="FFFF00"/>
                </a:highlight>
                <a:latin typeface="Arial" panose="020B0604020202020204"/>
                <a:ea typeface="微软雅黑" panose="020B0503020204020204" charset="-122"/>
                <a:cs typeface="微软雅黑" panose="020B0503020204020204" charset="-122"/>
              </a:rPr>
              <a:t>机制能够加强网络神经元的去相关能力，增强神经元感受野的多样性</a:t>
            </a:r>
            <a:r>
              <a:rPr sz="1600" b="1">
                <a:solidFill>
                  <a:srgbClr val="000000"/>
                </a:solidFill>
                <a:highlight>
                  <a:srgbClr val="FFFF00"/>
                </a:highlight>
                <a:latin typeface="Arial" panose="020B0604020202020204"/>
                <a:ea typeface="微软雅黑" panose="020B0503020204020204" charset="-122"/>
                <a:cs typeface="微软雅黑" panose="020B0503020204020204" charset="-122"/>
              </a:rPr>
              <a:t>。</a:t>
            </a:r>
            <a:endParaRPr sz="1600" b="1">
              <a:solidFill>
                <a:srgbClr val="000000"/>
              </a:solidFill>
              <a:highlight>
                <a:srgbClr val="FFFF00"/>
              </a:highlight>
              <a:latin typeface="Arial" panose="020B0604020202020204"/>
              <a:ea typeface="微软雅黑" panose="020B0503020204020204" charset="-122"/>
              <a:cs typeface="微软雅黑" panose="020B0503020204020204" charset="-122"/>
            </a:endParaRPr>
          </a:p>
          <a:p>
            <a:pPr algn="ctr">
              <a:buClrTx/>
              <a:buSzTx/>
              <a:buFontTx/>
              <a:buNone/>
            </a:pPr>
            <a:r>
              <a:rPr lang="en-US" b="1">
                <a:highlight>
                  <a:srgbClr val="FFFF00"/>
                </a:highlight>
                <a:cs typeface="Arial" panose="020B0604020202020204"/>
                <a:sym typeface="+mn-ea"/>
              </a:rPr>
              <a:t>I</a:t>
            </a:r>
            <a:r>
              <a:rPr b="1">
                <a:highlight>
                  <a:srgbClr val="FFFF00"/>
                </a:highlight>
                <a:cs typeface="Arial" panose="020B0604020202020204"/>
                <a:sym typeface="+mn-ea"/>
              </a:rPr>
              <a:t>→E抑制</a:t>
            </a:r>
            <a:r>
              <a:rPr lang="zh-CN" b="1">
                <a:highlight>
                  <a:srgbClr val="FFFF00"/>
                </a:highlight>
                <a:cs typeface="Arial" panose="020B0604020202020204"/>
                <a:sym typeface="+mn-ea"/>
              </a:rPr>
              <a:t>的连接则是神经元能够形成感受野的必要条件</a:t>
            </a:r>
            <a:r>
              <a:rPr b="1">
                <a:highlight>
                  <a:srgbClr val="FFFF00"/>
                </a:highlight>
                <a:cs typeface="Arial" panose="020B0604020202020204"/>
                <a:sym typeface="+mn-ea"/>
              </a:rPr>
              <a:t>；</a:t>
            </a:r>
            <a:endParaRPr sz="1600" b="1">
              <a:solidFill>
                <a:srgbClr val="000000"/>
              </a:solidFill>
              <a:highlight>
                <a:srgbClr val="FFFF00"/>
              </a:highlight>
              <a:latin typeface="Arial" panose="020B0604020202020204"/>
              <a:ea typeface="微软雅黑" panose="020B0503020204020204" charset="-122"/>
              <a:cs typeface="微软雅黑" panose="020B050302020402020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p:cNvSpPr>
            <a:spLocks noGrp="1"/>
          </p:cNvSpPr>
          <p:nvPr/>
        </p:nvSpPr>
        <p:spPr>
          <a:xfrm>
            <a:off x="457200" y="266700"/>
            <a:ext cx="10334625" cy="523875"/>
          </a:xfrm>
          <a:prstGeom prst="rect">
            <a:avLst/>
          </a:prstGeom>
          <a:noFill/>
          <a:ln w="0">
            <a:noFill/>
          </a:ln>
        </p:spPr>
        <p:txBody>
          <a:bodyPr wrap="square" lIns="0" tIns="0" rIns="0" bIns="0" anchor="t">
            <a:noAutofit/>
          </a:bodyPr>
          <a:lstStyle>
            <a:defPPr>
              <a:defRPr sz="2400" b="1">
                <a:solidFill>
                  <a:srgbClr val="000000"/>
                </a:solidFill>
                <a:latin typeface="Arial" panose="020B0604020202020204"/>
                <a:ea typeface="微软雅黑" panose="020B0503020204020204" charset="-122"/>
                <a:cs typeface="微软雅黑" panose="020B0503020204020204" charset="-122"/>
              </a:defRPr>
            </a:defPPr>
            <a:lvl1pPr>
              <a:defRPr sz="2400" b="1">
                <a:solidFill>
                  <a:srgbClr val="000000"/>
                </a:solidFill>
                <a:latin typeface="Arial" panose="020B0604020202020204"/>
                <a:ea typeface="微软雅黑" panose="020B0503020204020204" charset="-122"/>
                <a:cs typeface="微软雅黑" panose="020B0503020204020204" charset="-122"/>
              </a:defRPr>
            </a:lvl1pPr>
            <a:lvl2pPr>
              <a:defRPr sz="2400" b="1">
                <a:solidFill>
                  <a:srgbClr val="000000"/>
                </a:solidFill>
                <a:latin typeface="Arial" panose="020B0604020202020204"/>
                <a:ea typeface="微软雅黑" panose="020B0503020204020204" charset="-122"/>
                <a:cs typeface="微软雅黑" panose="020B0503020204020204" charset="-122"/>
              </a:defRPr>
            </a:lvl2pPr>
            <a:lvl3pPr>
              <a:defRPr sz="2400" b="1">
                <a:solidFill>
                  <a:srgbClr val="000000"/>
                </a:solidFill>
                <a:latin typeface="Arial" panose="020B0604020202020204"/>
                <a:ea typeface="微软雅黑" panose="020B0503020204020204" charset="-122"/>
                <a:cs typeface="微软雅黑" panose="020B0503020204020204" charset="-122"/>
              </a:defRPr>
            </a:lvl3pPr>
            <a:lvl4pPr>
              <a:defRPr sz="2400" b="1">
                <a:solidFill>
                  <a:srgbClr val="000000"/>
                </a:solidFill>
                <a:latin typeface="Arial" panose="020B0604020202020204"/>
                <a:ea typeface="微软雅黑" panose="020B0503020204020204" charset="-122"/>
                <a:cs typeface="微软雅黑" panose="020B0503020204020204" charset="-122"/>
              </a:defRPr>
            </a:lvl4pPr>
            <a:lvl5pPr>
              <a:defRPr sz="2400" b="1">
                <a:solidFill>
                  <a:srgbClr val="000000"/>
                </a:solidFill>
                <a:latin typeface="Arial" panose="020B0604020202020204"/>
                <a:ea typeface="微软雅黑" panose="020B0503020204020204" charset="-122"/>
                <a:cs typeface="微软雅黑" panose="020B0503020204020204" charset="-122"/>
              </a:defRPr>
            </a:lvl5pPr>
            <a:lvl6pPr>
              <a:defRPr sz="2400" b="1">
                <a:solidFill>
                  <a:srgbClr val="000000"/>
                </a:solidFill>
                <a:latin typeface="Arial" panose="020B0604020202020204"/>
                <a:ea typeface="微软雅黑" panose="020B0503020204020204" charset="-122"/>
                <a:cs typeface="微软雅黑" panose="020B0503020204020204" charset="-122"/>
              </a:defRPr>
            </a:lvl6pPr>
            <a:lvl7pPr>
              <a:defRPr sz="2400" b="1">
                <a:solidFill>
                  <a:srgbClr val="000000"/>
                </a:solidFill>
                <a:latin typeface="Arial" panose="020B0604020202020204"/>
                <a:ea typeface="微软雅黑" panose="020B0503020204020204" charset="-122"/>
                <a:cs typeface="微软雅黑" panose="020B0503020204020204" charset="-122"/>
              </a:defRPr>
            </a:lvl7pPr>
            <a:lvl8pPr>
              <a:defRPr sz="2400" b="1">
                <a:solidFill>
                  <a:srgbClr val="000000"/>
                </a:solidFill>
                <a:latin typeface="Arial" panose="020B0604020202020204"/>
                <a:ea typeface="微软雅黑" panose="020B0503020204020204" charset="-122"/>
                <a:cs typeface="微软雅黑" panose="020B0503020204020204" charset="-122"/>
              </a:defRPr>
            </a:lvl8pPr>
            <a:lvl9pPr>
              <a:defRPr sz="2400" b="1">
                <a:solidFill>
                  <a:srgbClr val="000000"/>
                </a:solidFill>
                <a:latin typeface="Arial" panose="020B0604020202020204"/>
                <a:ea typeface="微软雅黑" panose="020B0503020204020204" charset="-122"/>
                <a:cs typeface="微软雅黑" panose="020B0503020204020204" charset="-122"/>
              </a:defRPr>
            </a:lvl9pPr>
          </a:lstStyle>
          <a:p>
            <a:pPr>
              <a:defRPr sz="2400" b="1">
                <a:solidFill>
                  <a:srgbClr val="000000"/>
                </a:solidFill>
                <a:latin typeface="Arial" panose="020B0604020202020204"/>
                <a:ea typeface="微软雅黑" panose="020B0503020204020204" charset="-122"/>
                <a:cs typeface="微软雅黑" panose="020B0503020204020204" charset="-122"/>
              </a:defRPr>
            </a:pPr>
            <a:r>
              <a:rPr sz="2400" b="1">
                <a:solidFill>
                  <a:srgbClr val="000000"/>
                </a:solidFill>
                <a:latin typeface="Arial" panose="020B0604020202020204"/>
                <a:ea typeface="微软雅黑" panose="020B0503020204020204" charset="-122"/>
                <a:cs typeface="微软雅黑" panose="020B0503020204020204" charset="-122"/>
              </a:rPr>
              <a:t>保留完整稳态机制时的偏好朝向与</a:t>
            </a:r>
            <a:r>
              <a:rPr lang="zh-CN" sz="2400" b="1">
                <a:solidFill>
                  <a:srgbClr val="000000"/>
                </a:solidFill>
                <a:latin typeface="Arial" panose="020B0604020202020204"/>
                <a:ea typeface="微软雅黑" panose="020B0503020204020204" charset="-122"/>
                <a:cs typeface="微软雅黑" panose="020B0503020204020204" charset="-122"/>
              </a:rPr>
              <a:t>偏好</a:t>
            </a:r>
            <a:r>
              <a:rPr sz="2400" b="1">
                <a:solidFill>
                  <a:srgbClr val="000000"/>
                </a:solidFill>
                <a:latin typeface="Arial" panose="020B0604020202020204"/>
                <a:ea typeface="微软雅黑" panose="020B0503020204020204" charset="-122"/>
                <a:cs typeface="微软雅黑" panose="020B0503020204020204" charset="-122"/>
              </a:rPr>
              <a:t>空间频率</a:t>
            </a:r>
            <a:endParaRPr sz="2400" b="1">
              <a:solidFill>
                <a:srgbClr val="000000"/>
              </a:solidFill>
              <a:latin typeface="Arial" panose="020B0604020202020204"/>
              <a:ea typeface="微软雅黑" panose="020B0503020204020204" charset="-122"/>
              <a:cs typeface="微软雅黑" panose="020B0503020204020204" charset="-122"/>
            </a:endParaRPr>
          </a:p>
        </p:txBody>
      </p:sp>
      <p:pic>
        <p:nvPicPr>
          <p:cNvPr id="2" name="图片 1"/>
          <p:cNvPicPr>
            <a:picLocks noChangeAspect="1"/>
          </p:cNvPicPr>
          <p:nvPr/>
        </p:nvPicPr>
        <p:blipFill>
          <a:blip r:embed="rId1"/>
          <a:stretch>
            <a:fillRect/>
          </a:stretch>
        </p:blipFill>
        <p:spPr>
          <a:xfrm>
            <a:off x="10921365" y="0"/>
            <a:ext cx="1270635" cy="1270635"/>
          </a:xfrm>
          <a:prstGeom prst="rect">
            <a:avLst/>
          </a:prstGeom>
        </p:spPr>
      </p:pic>
      <p:sp>
        <p:nvSpPr>
          <p:cNvPr id="3" name="AD（完整机制）"/>
          <p:cNvSpPr>
            <a:spLocks noGrp="1"/>
          </p:cNvSpPr>
          <p:nvPr/>
        </p:nvSpPr>
        <p:spPr>
          <a:xfrm>
            <a:off x="85725" y="914400"/>
            <a:ext cx="2822575" cy="266700"/>
          </a:xfrm>
          <a:prstGeom prst="rect">
            <a:avLst/>
          </a:prstGeom>
          <a:noFill/>
          <a:ln w="0">
            <a:noFill/>
          </a:ln>
        </p:spPr>
        <p:txBody>
          <a:bodyPr wrap="square" lIns="0" tIns="0" rIns="0" bIns="0" anchor="t">
            <a:noAutofit/>
          </a:bodyPr>
          <a:lstStyle>
            <a:defPPr>
              <a:defRPr sz="1350" b="1">
                <a:solidFill>
                  <a:srgbClr val="000000"/>
                </a:solidFill>
                <a:latin typeface="Arial" panose="020B0604020202020204"/>
                <a:ea typeface="微软雅黑" panose="020B0503020204020204" charset="-122"/>
                <a:cs typeface="微软雅黑" panose="020B0503020204020204" charset="-122"/>
              </a:defRPr>
            </a:defPPr>
            <a:lvl1pPr>
              <a:defRPr sz="1350" b="1">
                <a:solidFill>
                  <a:srgbClr val="000000"/>
                </a:solidFill>
                <a:latin typeface="Arial" panose="020B0604020202020204"/>
                <a:ea typeface="微软雅黑" panose="020B0503020204020204" charset="-122"/>
                <a:cs typeface="微软雅黑" panose="020B0503020204020204" charset="-122"/>
              </a:defRPr>
            </a:lvl1pPr>
            <a:lvl2pPr>
              <a:defRPr sz="1350" b="1">
                <a:solidFill>
                  <a:srgbClr val="000000"/>
                </a:solidFill>
                <a:latin typeface="Arial" panose="020B0604020202020204"/>
                <a:ea typeface="微软雅黑" panose="020B0503020204020204" charset="-122"/>
                <a:cs typeface="微软雅黑" panose="020B0503020204020204" charset="-122"/>
              </a:defRPr>
            </a:lvl2pPr>
            <a:lvl3pPr>
              <a:defRPr sz="1350" b="1">
                <a:solidFill>
                  <a:srgbClr val="000000"/>
                </a:solidFill>
                <a:latin typeface="Arial" panose="020B0604020202020204"/>
                <a:ea typeface="微软雅黑" panose="020B0503020204020204" charset="-122"/>
                <a:cs typeface="微软雅黑" panose="020B0503020204020204" charset="-122"/>
              </a:defRPr>
            </a:lvl3pPr>
            <a:lvl4pPr>
              <a:defRPr sz="1350" b="1">
                <a:solidFill>
                  <a:srgbClr val="000000"/>
                </a:solidFill>
                <a:latin typeface="Arial" panose="020B0604020202020204"/>
                <a:ea typeface="微软雅黑" panose="020B0503020204020204" charset="-122"/>
                <a:cs typeface="微软雅黑" panose="020B0503020204020204" charset="-122"/>
              </a:defRPr>
            </a:lvl4pPr>
            <a:lvl5pPr>
              <a:defRPr sz="1350" b="1">
                <a:solidFill>
                  <a:srgbClr val="000000"/>
                </a:solidFill>
                <a:latin typeface="Arial" panose="020B0604020202020204"/>
                <a:ea typeface="微软雅黑" panose="020B0503020204020204" charset="-122"/>
                <a:cs typeface="微软雅黑" panose="020B0503020204020204" charset="-122"/>
              </a:defRPr>
            </a:lvl5pPr>
            <a:lvl6pPr>
              <a:defRPr sz="1350" b="1">
                <a:solidFill>
                  <a:srgbClr val="000000"/>
                </a:solidFill>
                <a:latin typeface="Arial" panose="020B0604020202020204"/>
                <a:ea typeface="微软雅黑" panose="020B0503020204020204" charset="-122"/>
                <a:cs typeface="微软雅黑" panose="020B0503020204020204" charset="-122"/>
              </a:defRPr>
            </a:lvl6pPr>
            <a:lvl7pPr>
              <a:defRPr sz="1350" b="1">
                <a:solidFill>
                  <a:srgbClr val="000000"/>
                </a:solidFill>
                <a:latin typeface="Arial" panose="020B0604020202020204"/>
                <a:ea typeface="微软雅黑" panose="020B0503020204020204" charset="-122"/>
                <a:cs typeface="微软雅黑" panose="020B0503020204020204" charset="-122"/>
              </a:defRPr>
            </a:lvl7pPr>
            <a:lvl8pPr>
              <a:defRPr sz="1350" b="1">
                <a:solidFill>
                  <a:srgbClr val="000000"/>
                </a:solidFill>
                <a:latin typeface="Arial" panose="020B0604020202020204"/>
                <a:ea typeface="微软雅黑" panose="020B0503020204020204" charset="-122"/>
                <a:cs typeface="微软雅黑" panose="020B0503020204020204" charset="-122"/>
              </a:defRPr>
            </a:lvl8pPr>
            <a:lvl9pPr>
              <a:defRPr sz="1350" b="1">
                <a:solidFill>
                  <a:srgbClr val="000000"/>
                </a:solidFill>
                <a:latin typeface="Arial" panose="020B0604020202020204"/>
                <a:ea typeface="微软雅黑" panose="020B0503020204020204" charset="-122"/>
                <a:cs typeface="微软雅黑" panose="020B0503020204020204" charset="-122"/>
              </a:defRPr>
            </a:lvl9pPr>
          </a:lstStyle>
          <a:p>
            <a:pPr>
              <a:defRPr sz="1350" b="1">
                <a:solidFill>
                  <a:srgbClr val="000000"/>
                </a:solidFill>
                <a:latin typeface="Arial" panose="020B0604020202020204"/>
                <a:ea typeface="微软雅黑" panose="020B0503020204020204" charset="-122"/>
                <a:cs typeface="微软雅黑" panose="020B0503020204020204" charset="-122"/>
              </a:defRPr>
            </a:pPr>
            <a:r>
              <a:rPr sz="1350" b="1">
                <a:solidFill>
                  <a:srgbClr val="000000"/>
                </a:solidFill>
                <a:latin typeface="Arial" panose="020B0604020202020204"/>
                <a:ea typeface="微软雅黑" panose="020B0503020204020204" charset="-122"/>
                <a:cs typeface="微软雅黑" panose="020B0503020204020204" charset="-122"/>
              </a:rPr>
              <a:t>AD</a:t>
            </a:r>
            <a:r>
              <a:rPr>
                <a:sym typeface="+mn-ea"/>
              </a:rPr>
              <a:t>（</a:t>
            </a:r>
            <a:r>
              <a:rPr lang="en-US">
                <a:sym typeface="+mn-ea"/>
              </a:rPr>
              <a:t>Baseline</a:t>
            </a:r>
            <a:r>
              <a:rPr>
                <a:sym typeface="+mn-ea"/>
              </a:rPr>
              <a:t>）</a:t>
            </a:r>
            <a:endParaRPr sz="1350" b="1">
              <a:solidFill>
                <a:srgbClr val="000000"/>
              </a:solidFill>
              <a:latin typeface="Arial" panose="020B0604020202020204"/>
              <a:ea typeface="微软雅黑" panose="020B0503020204020204" charset="-122"/>
              <a:cs typeface="微软雅黑" panose="020B0503020204020204" charset="-122"/>
            </a:endParaRPr>
          </a:p>
        </p:txBody>
      </p:sp>
      <p:pic>
        <p:nvPicPr>
          <p:cNvPr id="4" name="图片 3"/>
          <p:cNvPicPr>
            <a:picLocks noChangeAspect="1"/>
          </p:cNvPicPr>
          <p:nvPr/>
        </p:nvPicPr>
        <p:blipFill>
          <a:blip r:embed="rId2"/>
          <a:stretch>
            <a:fillRect/>
          </a:stretch>
        </p:blipFill>
        <p:spPr>
          <a:xfrm>
            <a:off x="236118" y="1228725"/>
            <a:ext cx="2483688" cy="2076450"/>
          </a:xfrm>
          <a:prstGeom prst="rect">
            <a:avLst/>
          </a:prstGeom>
        </p:spPr>
      </p:pic>
      <p:pic>
        <p:nvPicPr>
          <p:cNvPr id="5" name="图片 4"/>
          <p:cNvPicPr>
            <a:picLocks noChangeAspect="1"/>
          </p:cNvPicPr>
          <p:nvPr/>
        </p:nvPicPr>
        <p:blipFill>
          <a:blip r:embed="rId3"/>
          <a:stretch>
            <a:fillRect/>
          </a:stretch>
        </p:blipFill>
        <p:spPr>
          <a:xfrm>
            <a:off x="222957" y="3533775"/>
            <a:ext cx="2510012" cy="2076450"/>
          </a:xfrm>
          <a:prstGeom prst="rect">
            <a:avLst/>
          </a:prstGeom>
        </p:spPr>
      </p:pic>
      <p:sp>
        <p:nvSpPr>
          <p:cNvPr id="6" name="BD（I→E可塑性 off）"/>
          <p:cNvSpPr>
            <a:spLocks noGrp="1"/>
          </p:cNvSpPr>
          <p:nvPr/>
        </p:nvSpPr>
        <p:spPr>
          <a:xfrm>
            <a:off x="3022600" y="914400"/>
            <a:ext cx="2822575" cy="266700"/>
          </a:xfrm>
          <a:prstGeom prst="rect">
            <a:avLst/>
          </a:prstGeom>
          <a:noFill/>
          <a:ln w="0">
            <a:noFill/>
          </a:ln>
        </p:spPr>
        <p:txBody>
          <a:bodyPr wrap="square" lIns="0" tIns="0" rIns="0" bIns="0" anchor="t">
            <a:noAutofit/>
          </a:bodyPr>
          <a:lstStyle>
            <a:defPPr>
              <a:defRPr sz="1350" b="1">
                <a:solidFill>
                  <a:srgbClr val="000000"/>
                </a:solidFill>
                <a:latin typeface="Arial" panose="020B0604020202020204"/>
                <a:ea typeface="微软雅黑" panose="020B0503020204020204" charset="-122"/>
                <a:cs typeface="微软雅黑" panose="020B0503020204020204" charset="-122"/>
              </a:defRPr>
            </a:defPPr>
            <a:lvl1pPr>
              <a:defRPr sz="1350" b="1">
                <a:solidFill>
                  <a:srgbClr val="000000"/>
                </a:solidFill>
                <a:latin typeface="Arial" panose="020B0604020202020204"/>
                <a:ea typeface="微软雅黑" panose="020B0503020204020204" charset="-122"/>
                <a:cs typeface="微软雅黑" panose="020B0503020204020204" charset="-122"/>
              </a:defRPr>
            </a:lvl1pPr>
            <a:lvl2pPr>
              <a:defRPr sz="1350" b="1">
                <a:solidFill>
                  <a:srgbClr val="000000"/>
                </a:solidFill>
                <a:latin typeface="Arial" panose="020B0604020202020204"/>
                <a:ea typeface="微软雅黑" panose="020B0503020204020204" charset="-122"/>
                <a:cs typeface="微软雅黑" panose="020B0503020204020204" charset="-122"/>
              </a:defRPr>
            </a:lvl2pPr>
            <a:lvl3pPr>
              <a:defRPr sz="1350" b="1">
                <a:solidFill>
                  <a:srgbClr val="000000"/>
                </a:solidFill>
                <a:latin typeface="Arial" panose="020B0604020202020204"/>
                <a:ea typeface="微软雅黑" panose="020B0503020204020204" charset="-122"/>
                <a:cs typeface="微软雅黑" panose="020B0503020204020204" charset="-122"/>
              </a:defRPr>
            </a:lvl3pPr>
            <a:lvl4pPr>
              <a:defRPr sz="1350" b="1">
                <a:solidFill>
                  <a:srgbClr val="000000"/>
                </a:solidFill>
                <a:latin typeface="Arial" panose="020B0604020202020204"/>
                <a:ea typeface="微软雅黑" panose="020B0503020204020204" charset="-122"/>
                <a:cs typeface="微软雅黑" panose="020B0503020204020204" charset="-122"/>
              </a:defRPr>
            </a:lvl4pPr>
            <a:lvl5pPr>
              <a:defRPr sz="1350" b="1">
                <a:solidFill>
                  <a:srgbClr val="000000"/>
                </a:solidFill>
                <a:latin typeface="Arial" panose="020B0604020202020204"/>
                <a:ea typeface="微软雅黑" panose="020B0503020204020204" charset="-122"/>
                <a:cs typeface="微软雅黑" panose="020B0503020204020204" charset="-122"/>
              </a:defRPr>
            </a:lvl5pPr>
            <a:lvl6pPr>
              <a:defRPr sz="1350" b="1">
                <a:solidFill>
                  <a:srgbClr val="000000"/>
                </a:solidFill>
                <a:latin typeface="Arial" panose="020B0604020202020204"/>
                <a:ea typeface="微软雅黑" panose="020B0503020204020204" charset="-122"/>
                <a:cs typeface="微软雅黑" panose="020B0503020204020204" charset="-122"/>
              </a:defRPr>
            </a:lvl6pPr>
            <a:lvl7pPr>
              <a:defRPr sz="1350" b="1">
                <a:solidFill>
                  <a:srgbClr val="000000"/>
                </a:solidFill>
                <a:latin typeface="Arial" panose="020B0604020202020204"/>
                <a:ea typeface="微软雅黑" panose="020B0503020204020204" charset="-122"/>
                <a:cs typeface="微软雅黑" panose="020B0503020204020204" charset="-122"/>
              </a:defRPr>
            </a:lvl7pPr>
            <a:lvl8pPr>
              <a:defRPr sz="1350" b="1">
                <a:solidFill>
                  <a:srgbClr val="000000"/>
                </a:solidFill>
                <a:latin typeface="Arial" panose="020B0604020202020204"/>
                <a:ea typeface="微软雅黑" panose="020B0503020204020204" charset="-122"/>
                <a:cs typeface="微软雅黑" panose="020B0503020204020204" charset="-122"/>
              </a:defRPr>
            </a:lvl8pPr>
            <a:lvl9pPr>
              <a:defRPr sz="1350" b="1">
                <a:solidFill>
                  <a:srgbClr val="000000"/>
                </a:solidFill>
                <a:latin typeface="Arial" panose="020B0604020202020204"/>
                <a:ea typeface="微软雅黑" panose="020B0503020204020204" charset="-122"/>
                <a:cs typeface="微软雅黑" panose="020B0503020204020204" charset="-122"/>
              </a:defRPr>
            </a:lvl9pPr>
          </a:lstStyle>
          <a:p>
            <a:pPr>
              <a:defRPr sz="1350" b="1">
                <a:solidFill>
                  <a:srgbClr val="000000"/>
                </a:solidFill>
                <a:latin typeface="Arial" panose="020B0604020202020204"/>
                <a:ea typeface="微软雅黑" panose="020B0503020204020204" charset="-122"/>
                <a:cs typeface="微软雅黑" panose="020B0503020204020204" charset="-122"/>
              </a:defRPr>
            </a:pPr>
            <a:r>
              <a:rPr sz="1350" b="1">
                <a:solidFill>
                  <a:srgbClr val="000000"/>
                </a:solidFill>
                <a:latin typeface="Arial" panose="020B0604020202020204"/>
                <a:ea typeface="微软雅黑" panose="020B0503020204020204" charset="-122"/>
                <a:cs typeface="微软雅黑" panose="020B0503020204020204" charset="-122"/>
              </a:rPr>
              <a:t>BD（I→E可塑性 off）</a:t>
            </a:r>
            <a:endParaRPr sz="1350" b="1">
              <a:solidFill>
                <a:srgbClr val="000000"/>
              </a:solidFill>
              <a:latin typeface="Arial" panose="020B0604020202020204"/>
              <a:ea typeface="微软雅黑" panose="020B0503020204020204" charset="-122"/>
              <a:cs typeface="微软雅黑" panose="020B0503020204020204" charset="-122"/>
            </a:endParaRPr>
          </a:p>
        </p:txBody>
      </p:sp>
      <p:pic>
        <p:nvPicPr>
          <p:cNvPr id="7" name="图片 6"/>
          <p:cNvPicPr>
            <a:picLocks noChangeAspect="1"/>
          </p:cNvPicPr>
          <p:nvPr/>
        </p:nvPicPr>
        <p:blipFill>
          <a:blip r:embed="rId4"/>
          <a:stretch>
            <a:fillRect/>
          </a:stretch>
        </p:blipFill>
        <p:spPr>
          <a:xfrm>
            <a:off x="3159832" y="1228725"/>
            <a:ext cx="2510012" cy="2076450"/>
          </a:xfrm>
          <a:prstGeom prst="rect">
            <a:avLst/>
          </a:prstGeom>
        </p:spPr>
      </p:pic>
      <p:pic>
        <p:nvPicPr>
          <p:cNvPr id="8" name="图片 7"/>
          <p:cNvPicPr>
            <a:picLocks noChangeAspect="1"/>
          </p:cNvPicPr>
          <p:nvPr/>
        </p:nvPicPr>
        <p:blipFill>
          <a:blip r:embed="rId5"/>
          <a:stretch>
            <a:fillRect/>
          </a:stretch>
        </p:blipFill>
        <p:spPr>
          <a:xfrm>
            <a:off x="3172993" y="3533775"/>
            <a:ext cx="2483688" cy="2076450"/>
          </a:xfrm>
          <a:prstGeom prst="rect">
            <a:avLst/>
          </a:prstGeom>
        </p:spPr>
      </p:pic>
      <p:sp>
        <p:nvSpPr>
          <p:cNvPr id="9" name="CD（I→E传递 off）"/>
          <p:cNvSpPr>
            <a:spLocks noGrp="1"/>
          </p:cNvSpPr>
          <p:nvPr/>
        </p:nvSpPr>
        <p:spPr>
          <a:xfrm>
            <a:off x="5959475" y="914400"/>
            <a:ext cx="2822575" cy="266700"/>
          </a:xfrm>
          <a:prstGeom prst="rect">
            <a:avLst/>
          </a:prstGeom>
          <a:noFill/>
          <a:ln w="0">
            <a:noFill/>
          </a:ln>
        </p:spPr>
        <p:txBody>
          <a:bodyPr wrap="square" lIns="0" tIns="0" rIns="0" bIns="0" anchor="t">
            <a:noAutofit/>
          </a:bodyPr>
          <a:lstStyle>
            <a:defPPr>
              <a:defRPr sz="1350" b="1">
                <a:solidFill>
                  <a:srgbClr val="000000"/>
                </a:solidFill>
                <a:latin typeface="Arial" panose="020B0604020202020204"/>
                <a:ea typeface="微软雅黑" panose="020B0503020204020204" charset="-122"/>
                <a:cs typeface="微软雅黑" panose="020B0503020204020204" charset="-122"/>
              </a:defRPr>
            </a:defPPr>
            <a:lvl1pPr>
              <a:defRPr sz="1350" b="1">
                <a:solidFill>
                  <a:srgbClr val="000000"/>
                </a:solidFill>
                <a:latin typeface="Arial" panose="020B0604020202020204"/>
                <a:ea typeface="微软雅黑" panose="020B0503020204020204" charset="-122"/>
                <a:cs typeface="微软雅黑" panose="020B0503020204020204" charset="-122"/>
              </a:defRPr>
            </a:lvl1pPr>
            <a:lvl2pPr>
              <a:defRPr sz="1350" b="1">
                <a:solidFill>
                  <a:srgbClr val="000000"/>
                </a:solidFill>
                <a:latin typeface="Arial" panose="020B0604020202020204"/>
                <a:ea typeface="微软雅黑" panose="020B0503020204020204" charset="-122"/>
                <a:cs typeface="微软雅黑" panose="020B0503020204020204" charset="-122"/>
              </a:defRPr>
            </a:lvl2pPr>
            <a:lvl3pPr>
              <a:defRPr sz="1350" b="1">
                <a:solidFill>
                  <a:srgbClr val="000000"/>
                </a:solidFill>
                <a:latin typeface="Arial" panose="020B0604020202020204"/>
                <a:ea typeface="微软雅黑" panose="020B0503020204020204" charset="-122"/>
                <a:cs typeface="微软雅黑" panose="020B0503020204020204" charset="-122"/>
              </a:defRPr>
            </a:lvl3pPr>
            <a:lvl4pPr>
              <a:defRPr sz="1350" b="1">
                <a:solidFill>
                  <a:srgbClr val="000000"/>
                </a:solidFill>
                <a:latin typeface="Arial" panose="020B0604020202020204"/>
                <a:ea typeface="微软雅黑" panose="020B0503020204020204" charset="-122"/>
                <a:cs typeface="微软雅黑" panose="020B0503020204020204" charset="-122"/>
              </a:defRPr>
            </a:lvl4pPr>
            <a:lvl5pPr>
              <a:defRPr sz="1350" b="1">
                <a:solidFill>
                  <a:srgbClr val="000000"/>
                </a:solidFill>
                <a:latin typeface="Arial" panose="020B0604020202020204"/>
                <a:ea typeface="微软雅黑" panose="020B0503020204020204" charset="-122"/>
                <a:cs typeface="微软雅黑" panose="020B0503020204020204" charset="-122"/>
              </a:defRPr>
            </a:lvl5pPr>
            <a:lvl6pPr>
              <a:defRPr sz="1350" b="1">
                <a:solidFill>
                  <a:srgbClr val="000000"/>
                </a:solidFill>
                <a:latin typeface="Arial" panose="020B0604020202020204"/>
                <a:ea typeface="微软雅黑" panose="020B0503020204020204" charset="-122"/>
                <a:cs typeface="微软雅黑" panose="020B0503020204020204" charset="-122"/>
              </a:defRPr>
            </a:lvl6pPr>
            <a:lvl7pPr>
              <a:defRPr sz="1350" b="1">
                <a:solidFill>
                  <a:srgbClr val="000000"/>
                </a:solidFill>
                <a:latin typeface="Arial" panose="020B0604020202020204"/>
                <a:ea typeface="微软雅黑" panose="020B0503020204020204" charset="-122"/>
                <a:cs typeface="微软雅黑" panose="020B0503020204020204" charset="-122"/>
              </a:defRPr>
            </a:lvl7pPr>
            <a:lvl8pPr>
              <a:defRPr sz="1350" b="1">
                <a:solidFill>
                  <a:srgbClr val="000000"/>
                </a:solidFill>
                <a:latin typeface="Arial" panose="020B0604020202020204"/>
                <a:ea typeface="微软雅黑" panose="020B0503020204020204" charset="-122"/>
                <a:cs typeface="微软雅黑" panose="020B0503020204020204" charset="-122"/>
              </a:defRPr>
            </a:lvl8pPr>
            <a:lvl9pPr>
              <a:defRPr sz="1350" b="1">
                <a:solidFill>
                  <a:srgbClr val="000000"/>
                </a:solidFill>
                <a:latin typeface="Arial" panose="020B0604020202020204"/>
                <a:ea typeface="微软雅黑" panose="020B0503020204020204" charset="-122"/>
                <a:cs typeface="微软雅黑" panose="020B0503020204020204" charset="-122"/>
              </a:defRPr>
            </a:lvl9pPr>
          </a:lstStyle>
          <a:p>
            <a:pPr>
              <a:defRPr sz="1350" b="1">
                <a:solidFill>
                  <a:srgbClr val="000000"/>
                </a:solidFill>
                <a:latin typeface="Arial" panose="020B0604020202020204"/>
                <a:ea typeface="微软雅黑" panose="020B0503020204020204" charset="-122"/>
                <a:cs typeface="微软雅黑" panose="020B0503020204020204" charset="-122"/>
              </a:defRPr>
            </a:pPr>
            <a:r>
              <a:rPr sz="1350" b="1">
                <a:solidFill>
                  <a:srgbClr val="000000"/>
                </a:solidFill>
                <a:latin typeface="Arial" panose="020B0604020202020204"/>
                <a:ea typeface="微软雅黑" panose="020B0503020204020204" charset="-122"/>
                <a:cs typeface="微软雅黑" panose="020B0503020204020204" charset="-122"/>
              </a:rPr>
              <a:t>CD（I→E传递 off）</a:t>
            </a:r>
            <a:endParaRPr sz="1350" b="1">
              <a:solidFill>
                <a:srgbClr val="000000"/>
              </a:solidFill>
              <a:latin typeface="Arial" panose="020B0604020202020204"/>
              <a:ea typeface="微软雅黑" panose="020B0503020204020204" charset="-122"/>
              <a:cs typeface="微软雅黑" panose="020B0503020204020204" charset="-122"/>
            </a:endParaRPr>
          </a:p>
        </p:txBody>
      </p:sp>
      <p:pic>
        <p:nvPicPr>
          <p:cNvPr id="10" name="图片 9"/>
          <p:cNvPicPr>
            <a:picLocks noChangeAspect="1"/>
          </p:cNvPicPr>
          <p:nvPr/>
        </p:nvPicPr>
        <p:blipFill>
          <a:blip r:embed="rId6"/>
          <a:stretch>
            <a:fillRect/>
          </a:stretch>
        </p:blipFill>
        <p:spPr>
          <a:xfrm>
            <a:off x="6096707" y="1228725"/>
            <a:ext cx="2510012" cy="2076450"/>
          </a:xfrm>
          <a:prstGeom prst="rect">
            <a:avLst/>
          </a:prstGeom>
        </p:spPr>
      </p:pic>
      <p:pic>
        <p:nvPicPr>
          <p:cNvPr id="11" name="图片 10"/>
          <p:cNvPicPr>
            <a:picLocks noChangeAspect="1"/>
          </p:cNvPicPr>
          <p:nvPr/>
        </p:nvPicPr>
        <p:blipFill>
          <a:blip r:embed="rId7"/>
          <a:stretch>
            <a:fillRect/>
          </a:stretch>
        </p:blipFill>
        <p:spPr>
          <a:xfrm>
            <a:off x="6102900" y="3533775"/>
            <a:ext cx="2497624" cy="2076450"/>
          </a:xfrm>
          <a:prstGeom prst="rect">
            <a:avLst/>
          </a:prstGeom>
        </p:spPr>
      </p:pic>
      <p:sp>
        <p:nvSpPr>
          <p:cNvPr id="15" name="BD的朝向主要集中于水平、垂直附近，群体偏好比AD更重复。&#10;"/>
          <p:cNvSpPr>
            <a:spLocks noGrp="1"/>
          </p:cNvSpPr>
          <p:nvPr/>
        </p:nvSpPr>
        <p:spPr>
          <a:xfrm>
            <a:off x="9033510" y="2505075"/>
            <a:ext cx="3010535" cy="1743075"/>
          </a:xfrm>
          <a:prstGeom prst="rect">
            <a:avLst/>
          </a:prstGeom>
          <a:noFill/>
          <a:ln w="0">
            <a:noFill/>
          </a:ln>
        </p:spPr>
        <p:txBody>
          <a:bodyPr wrap="square" lIns="0" tIns="0" rIns="0" bIns="0" anchor="t">
            <a:noAutofit/>
          </a:bodyPr>
          <a:lstStyle>
            <a:defPPr>
              <a:defRPr sz="1200" b="0">
                <a:solidFill>
                  <a:srgbClr val="000000"/>
                </a:solidFill>
                <a:latin typeface="Arial" panose="020B0604020202020204"/>
                <a:ea typeface="微软雅黑" panose="020B0503020204020204" charset="-122"/>
                <a:cs typeface="微软雅黑" panose="020B0503020204020204" charset="-122"/>
              </a:defRPr>
            </a:defPPr>
            <a:lvl1pPr>
              <a:defRPr sz="1200" b="0">
                <a:solidFill>
                  <a:srgbClr val="000000"/>
                </a:solidFill>
                <a:latin typeface="Arial" panose="020B0604020202020204"/>
                <a:ea typeface="微软雅黑" panose="020B0503020204020204" charset="-122"/>
                <a:cs typeface="微软雅黑" panose="020B0503020204020204" charset="-122"/>
              </a:defRPr>
            </a:lvl1pPr>
            <a:lvl2pPr>
              <a:defRPr sz="1200" b="0">
                <a:solidFill>
                  <a:srgbClr val="000000"/>
                </a:solidFill>
                <a:latin typeface="Arial" panose="020B0604020202020204"/>
                <a:ea typeface="微软雅黑" panose="020B0503020204020204" charset="-122"/>
                <a:cs typeface="微软雅黑" panose="020B0503020204020204" charset="-122"/>
              </a:defRPr>
            </a:lvl2pPr>
            <a:lvl3pPr>
              <a:defRPr sz="1200" b="0">
                <a:solidFill>
                  <a:srgbClr val="000000"/>
                </a:solidFill>
                <a:latin typeface="Arial" panose="020B0604020202020204"/>
                <a:ea typeface="微软雅黑" panose="020B0503020204020204" charset="-122"/>
                <a:cs typeface="微软雅黑" panose="020B0503020204020204" charset="-122"/>
              </a:defRPr>
            </a:lvl3pPr>
            <a:lvl4pPr>
              <a:defRPr sz="1200" b="0">
                <a:solidFill>
                  <a:srgbClr val="000000"/>
                </a:solidFill>
                <a:latin typeface="Arial" panose="020B0604020202020204"/>
                <a:ea typeface="微软雅黑" panose="020B0503020204020204" charset="-122"/>
                <a:cs typeface="微软雅黑" panose="020B0503020204020204" charset="-122"/>
              </a:defRPr>
            </a:lvl4pPr>
            <a:lvl5pPr>
              <a:defRPr sz="1200" b="0">
                <a:solidFill>
                  <a:srgbClr val="000000"/>
                </a:solidFill>
                <a:latin typeface="Arial" panose="020B0604020202020204"/>
                <a:ea typeface="微软雅黑" panose="020B0503020204020204" charset="-122"/>
                <a:cs typeface="微软雅黑" panose="020B0503020204020204" charset="-122"/>
              </a:defRPr>
            </a:lvl5pPr>
            <a:lvl6pPr>
              <a:defRPr sz="1200" b="0">
                <a:solidFill>
                  <a:srgbClr val="000000"/>
                </a:solidFill>
                <a:latin typeface="Arial" panose="020B0604020202020204"/>
                <a:ea typeface="微软雅黑" panose="020B0503020204020204" charset="-122"/>
                <a:cs typeface="微软雅黑" panose="020B0503020204020204" charset="-122"/>
              </a:defRPr>
            </a:lvl6pPr>
            <a:lvl7pPr>
              <a:defRPr sz="1200" b="0">
                <a:solidFill>
                  <a:srgbClr val="000000"/>
                </a:solidFill>
                <a:latin typeface="Arial" panose="020B0604020202020204"/>
                <a:ea typeface="微软雅黑" panose="020B0503020204020204" charset="-122"/>
                <a:cs typeface="微软雅黑" panose="020B0503020204020204" charset="-122"/>
              </a:defRPr>
            </a:lvl7pPr>
            <a:lvl8pPr>
              <a:defRPr sz="1200" b="0">
                <a:solidFill>
                  <a:srgbClr val="000000"/>
                </a:solidFill>
                <a:latin typeface="Arial" panose="020B0604020202020204"/>
                <a:ea typeface="微软雅黑" panose="020B0503020204020204" charset="-122"/>
                <a:cs typeface="微软雅黑" panose="020B0503020204020204" charset="-122"/>
              </a:defRPr>
            </a:lvl8pPr>
            <a:lvl9pPr>
              <a:defRPr sz="1200" b="0">
                <a:solidFill>
                  <a:srgbClr val="000000"/>
                </a:solidFill>
                <a:latin typeface="Arial" panose="020B0604020202020204"/>
                <a:ea typeface="微软雅黑" panose="020B0503020204020204" charset="-122"/>
                <a:cs typeface="微软雅黑" panose="020B0503020204020204" charset="-122"/>
              </a:defRPr>
            </a:lvl9pPr>
          </a:lstStyle>
          <a:p>
            <a:pPr>
              <a:defRPr sz="1200" b="0">
                <a:solidFill>
                  <a:srgbClr val="000000"/>
                </a:solidFill>
                <a:latin typeface="Arial" panose="020B0604020202020204"/>
                <a:ea typeface="微软雅黑" panose="020B0503020204020204" charset="-122"/>
                <a:cs typeface="微软雅黑" panose="020B0503020204020204" charset="-122"/>
              </a:defRPr>
            </a:pPr>
            <a:r>
              <a:rPr>
                <a:sym typeface="+mn-ea"/>
              </a:rPr>
              <a:t>AD</a:t>
            </a:r>
            <a:r>
              <a:rPr lang="zh-CN">
                <a:sym typeface="+mn-ea"/>
              </a:rPr>
              <a:t>情况下</a:t>
            </a:r>
            <a:r>
              <a:rPr lang="zh-CN" altLang="en-US">
                <a:sym typeface="+mn-ea"/>
              </a:rPr>
              <a:t>神经元的偏好朝向均匀覆盖了</a:t>
            </a:r>
            <a:r>
              <a:rPr lang="en-US" altLang="zh-CN">
                <a:sym typeface="+mn-ea"/>
              </a:rPr>
              <a:t>0-180</a:t>
            </a:r>
            <a:r>
              <a:rPr lang="zh-CN" altLang="en-US">
                <a:sym typeface="+mn-ea"/>
              </a:rPr>
              <a:t>°，而偏好空间频率页较均匀地覆盖</a:t>
            </a:r>
            <a:r>
              <a:rPr lang="en-US" altLang="zh-CN">
                <a:sym typeface="+mn-ea"/>
              </a:rPr>
              <a:t>0.05-0.3 cycles/pixel</a:t>
            </a:r>
            <a:endParaRPr lang="en-US" altLang="zh-CN" b="0">
              <a:solidFill>
                <a:srgbClr val="000000"/>
              </a:solidFill>
              <a:latin typeface="Arial" panose="020B0604020202020204"/>
              <a:ea typeface="微软雅黑" panose="020B0503020204020204" charset="-122"/>
              <a:cs typeface="微软雅黑" panose="020B0503020204020204" charset="-122"/>
            </a:endParaRPr>
          </a:p>
          <a:p>
            <a:pPr>
              <a:defRPr sz="1200" b="0">
                <a:solidFill>
                  <a:srgbClr val="000000"/>
                </a:solidFill>
                <a:latin typeface="Arial" panose="020B0604020202020204"/>
                <a:ea typeface="微软雅黑" panose="020B0503020204020204" charset="-122"/>
                <a:cs typeface="微软雅黑" panose="020B0503020204020204" charset="-122"/>
              </a:defRPr>
            </a:pPr>
            <a:endParaRPr sz="1200" b="0">
              <a:solidFill>
                <a:srgbClr val="000000"/>
              </a:solidFill>
              <a:latin typeface="Arial" panose="020B0604020202020204"/>
              <a:ea typeface="微软雅黑" panose="020B0503020204020204" charset="-122"/>
              <a:cs typeface="微软雅黑" panose="020B0503020204020204" charset="-122"/>
            </a:endParaRPr>
          </a:p>
          <a:p>
            <a:pPr>
              <a:defRPr sz="1200" b="0">
                <a:solidFill>
                  <a:srgbClr val="000000"/>
                </a:solidFill>
                <a:latin typeface="Arial" panose="020B0604020202020204"/>
                <a:ea typeface="微软雅黑" panose="020B0503020204020204" charset="-122"/>
                <a:cs typeface="微软雅黑" panose="020B0503020204020204" charset="-122"/>
              </a:defRPr>
            </a:pPr>
            <a:r>
              <a:rPr sz="1200" b="0">
                <a:solidFill>
                  <a:srgbClr val="000000"/>
                </a:solidFill>
                <a:latin typeface="Arial" panose="020B0604020202020204"/>
                <a:ea typeface="微软雅黑" panose="020B0503020204020204" charset="-122"/>
                <a:cs typeface="微软雅黑" panose="020B0503020204020204" charset="-122"/>
              </a:rPr>
              <a:t>BD的朝向主要集中于水平、垂直附近，群体偏好比AD更重复。</a:t>
            </a:r>
            <a:r>
              <a:rPr lang="zh-CN" sz="1200" b="0">
                <a:solidFill>
                  <a:srgbClr val="000000"/>
                </a:solidFill>
                <a:latin typeface="Arial" panose="020B0604020202020204"/>
                <a:ea typeface="微软雅黑" panose="020B0503020204020204" charset="-122"/>
                <a:cs typeface="微软雅黑" panose="020B0503020204020204" charset="-122"/>
              </a:rPr>
              <a:t>同时</a:t>
            </a:r>
            <a:r>
              <a:rPr sz="1200" b="0">
                <a:solidFill>
                  <a:srgbClr val="000000"/>
                </a:solidFill>
                <a:latin typeface="Arial" panose="020B0604020202020204"/>
                <a:ea typeface="微软雅黑" panose="020B0503020204020204" charset="-122"/>
                <a:cs typeface="微软雅黑" panose="020B0503020204020204" charset="-122"/>
              </a:rPr>
              <a:t>BD</a:t>
            </a:r>
            <a:r>
              <a:rPr lang="zh-CN" sz="1200" b="0">
                <a:solidFill>
                  <a:srgbClr val="000000"/>
                </a:solidFill>
                <a:latin typeface="Arial" panose="020B0604020202020204"/>
                <a:ea typeface="微软雅黑" panose="020B0503020204020204" charset="-122"/>
                <a:cs typeface="微软雅黑" panose="020B0503020204020204" charset="-122"/>
              </a:rPr>
              <a:t>的偏好空间频率</a:t>
            </a:r>
            <a:r>
              <a:rPr lang="zh-CN" sz="1200" b="0">
                <a:solidFill>
                  <a:srgbClr val="000000"/>
                </a:solidFill>
                <a:latin typeface="Arial" panose="020B0604020202020204"/>
                <a:ea typeface="微软雅黑" panose="020B0503020204020204" charset="-122"/>
                <a:cs typeface="微软雅黑" panose="020B0503020204020204" charset="-122"/>
              </a:rPr>
              <a:t>也主要集中在</a:t>
            </a:r>
            <a:r>
              <a:rPr lang="en-US" altLang="zh-CN" sz="1200" b="0">
                <a:solidFill>
                  <a:srgbClr val="000000"/>
                </a:solidFill>
                <a:latin typeface="Arial" panose="020B0604020202020204"/>
                <a:ea typeface="微软雅黑" panose="020B0503020204020204" charset="-122"/>
                <a:cs typeface="微软雅黑" panose="020B0503020204020204" charset="-122"/>
              </a:rPr>
              <a:t>0.1-0.2 </a:t>
            </a:r>
            <a:r>
              <a:rPr lang="zh-CN" altLang="en-US" sz="1200" b="0">
                <a:solidFill>
                  <a:srgbClr val="000000"/>
                </a:solidFill>
                <a:latin typeface="Arial" panose="020B0604020202020204"/>
                <a:ea typeface="微软雅黑" panose="020B0503020204020204" charset="-122"/>
                <a:cs typeface="微软雅黑" panose="020B0503020204020204" charset="-122"/>
              </a:rPr>
              <a:t>及</a:t>
            </a:r>
            <a:r>
              <a:rPr lang="en-US" altLang="zh-CN" sz="1200" b="0">
                <a:solidFill>
                  <a:srgbClr val="000000"/>
                </a:solidFill>
                <a:latin typeface="Arial" panose="020B0604020202020204"/>
                <a:ea typeface="微软雅黑" panose="020B0503020204020204" charset="-122"/>
                <a:cs typeface="微软雅黑" panose="020B0503020204020204" charset="-122"/>
              </a:rPr>
              <a:t> 0.3 cycles/pixel</a:t>
            </a:r>
            <a:endParaRPr sz="1200" b="0">
              <a:solidFill>
                <a:srgbClr val="000000"/>
              </a:solidFill>
              <a:latin typeface="Arial" panose="020B0604020202020204"/>
              <a:ea typeface="微软雅黑" panose="020B0503020204020204" charset="-122"/>
              <a:cs typeface="微软雅黑" panose="020B0503020204020204" charset="-122"/>
            </a:endParaRPr>
          </a:p>
          <a:p>
            <a:endParaRPr sz="1200" b="0">
              <a:solidFill>
                <a:srgbClr val="000000"/>
              </a:solidFill>
              <a:latin typeface="Arial" panose="020B0604020202020204"/>
              <a:ea typeface="微软雅黑" panose="020B0503020204020204" charset="-122"/>
              <a:cs typeface="微软雅黑" panose="020B0503020204020204" charset="-122"/>
            </a:endParaRPr>
          </a:p>
          <a:p>
            <a:pPr>
              <a:defRPr sz="1200" b="0">
                <a:solidFill>
                  <a:srgbClr val="000000"/>
                </a:solidFill>
                <a:latin typeface="Arial" panose="020B0604020202020204"/>
                <a:ea typeface="微软雅黑" panose="020B0503020204020204" charset="-122"/>
                <a:cs typeface="微软雅黑" panose="020B0503020204020204" charset="-122"/>
              </a:defRPr>
            </a:pPr>
            <a:r>
              <a:rPr sz="1200" b="0">
                <a:solidFill>
                  <a:srgbClr val="000000"/>
                </a:solidFill>
                <a:latin typeface="Arial" panose="020B0604020202020204"/>
                <a:ea typeface="微软雅黑" panose="020B0503020204020204" charset="-122"/>
                <a:cs typeface="微软雅黑" panose="020B0503020204020204" charset="-122"/>
              </a:rPr>
              <a:t>CD无有效SF拟合，</a:t>
            </a:r>
            <a:r>
              <a:rPr lang="zh-CN" sz="1200" b="0">
                <a:solidFill>
                  <a:srgbClr val="000000"/>
                </a:solidFill>
                <a:latin typeface="Arial" panose="020B0604020202020204"/>
                <a:ea typeface="微软雅黑" panose="020B0503020204020204" charset="-122"/>
                <a:cs typeface="微软雅黑" panose="020B0503020204020204" charset="-122"/>
              </a:rPr>
              <a:t>同时网络中神经元偏好朝向几乎都拥有相同的</a:t>
            </a:r>
            <a:r>
              <a:rPr lang="zh-CN" sz="1200" b="0">
                <a:solidFill>
                  <a:srgbClr val="000000"/>
                </a:solidFill>
                <a:latin typeface="Arial" panose="020B0604020202020204"/>
                <a:ea typeface="微软雅黑" panose="020B0503020204020204" charset="-122"/>
                <a:cs typeface="微软雅黑" panose="020B0503020204020204" charset="-122"/>
              </a:rPr>
              <a:t>偏好朝向</a:t>
            </a:r>
            <a:endParaRPr lang="zh-CN" sz="1200" b="0">
              <a:solidFill>
                <a:srgbClr val="000000"/>
              </a:solidFill>
              <a:latin typeface="Arial" panose="020B0604020202020204"/>
              <a:ea typeface="微软雅黑" panose="020B0503020204020204" charset="-122"/>
              <a:cs typeface="微软雅黑" panose="020B0503020204020204" charset="-122"/>
            </a:endParaRPr>
          </a:p>
        </p:txBody>
      </p:sp>
      <p:sp>
        <p:nvSpPr>
          <p:cNvPr id="17" name="TAKEAWAY_HIGHLIGHT"/>
          <p:cNvSpPr>
            <a:spLocks noGrp="1"/>
          </p:cNvSpPr>
          <p:nvPr/>
        </p:nvSpPr>
        <p:spPr>
          <a:xfrm>
            <a:off x="638175" y="6276975"/>
            <a:ext cx="10858500" cy="409575"/>
          </a:xfrm>
          <a:prstGeom prst="rect">
            <a:avLst/>
          </a:prstGeom>
          <a:noFill/>
          <a:ln w="0">
            <a:noFill/>
          </a:ln>
        </p:spPr>
        <p:txBody>
          <a:bodyPr wrap="square" lIns="0" tIns="0" rIns="0" bIns="0" anchor="t">
            <a:noAutofit/>
          </a:bodyPr>
          <a:lstStyle>
            <a:defPPr>
              <a:defRPr sz="1600" b="0">
                <a:solidFill>
                  <a:srgbClr val="000000"/>
                </a:solidFill>
                <a:latin typeface="Arial" panose="020B0604020202020204"/>
                <a:ea typeface="微软雅黑" panose="020B0503020204020204" charset="-122"/>
                <a:cs typeface="微软雅黑" panose="020B0503020204020204" charset="-122"/>
              </a:defRPr>
            </a:defPPr>
            <a:lvl1pPr>
              <a:defRPr sz="1600" b="0">
                <a:solidFill>
                  <a:srgbClr val="000000"/>
                </a:solidFill>
                <a:latin typeface="Arial" panose="020B0604020202020204"/>
                <a:ea typeface="微软雅黑" panose="020B0503020204020204" charset="-122"/>
                <a:cs typeface="微软雅黑" panose="020B0503020204020204" charset="-122"/>
              </a:defRPr>
            </a:lvl1pPr>
            <a:lvl2pPr>
              <a:defRPr sz="1600" b="0">
                <a:solidFill>
                  <a:srgbClr val="000000"/>
                </a:solidFill>
                <a:latin typeface="Arial" panose="020B0604020202020204"/>
                <a:ea typeface="微软雅黑" panose="020B0503020204020204" charset="-122"/>
                <a:cs typeface="微软雅黑" panose="020B0503020204020204" charset="-122"/>
              </a:defRPr>
            </a:lvl2pPr>
            <a:lvl3pPr>
              <a:defRPr sz="1600" b="0">
                <a:solidFill>
                  <a:srgbClr val="000000"/>
                </a:solidFill>
                <a:latin typeface="Arial" panose="020B0604020202020204"/>
                <a:ea typeface="微软雅黑" panose="020B0503020204020204" charset="-122"/>
                <a:cs typeface="微软雅黑" panose="020B0503020204020204" charset="-122"/>
              </a:defRPr>
            </a:lvl3pPr>
            <a:lvl4pPr>
              <a:defRPr sz="1600" b="0">
                <a:solidFill>
                  <a:srgbClr val="000000"/>
                </a:solidFill>
                <a:latin typeface="Arial" panose="020B0604020202020204"/>
                <a:ea typeface="微软雅黑" panose="020B0503020204020204" charset="-122"/>
                <a:cs typeface="微软雅黑" panose="020B0503020204020204" charset="-122"/>
              </a:defRPr>
            </a:lvl4pPr>
            <a:lvl5pPr>
              <a:defRPr sz="1600" b="0">
                <a:solidFill>
                  <a:srgbClr val="000000"/>
                </a:solidFill>
                <a:latin typeface="Arial" panose="020B0604020202020204"/>
                <a:ea typeface="微软雅黑" panose="020B0503020204020204" charset="-122"/>
                <a:cs typeface="微软雅黑" panose="020B0503020204020204" charset="-122"/>
              </a:defRPr>
            </a:lvl5pPr>
            <a:lvl6pPr>
              <a:defRPr sz="1600" b="0">
                <a:solidFill>
                  <a:srgbClr val="000000"/>
                </a:solidFill>
                <a:latin typeface="Arial" panose="020B0604020202020204"/>
                <a:ea typeface="微软雅黑" panose="020B0503020204020204" charset="-122"/>
                <a:cs typeface="微软雅黑" panose="020B0503020204020204" charset="-122"/>
              </a:defRPr>
            </a:lvl6pPr>
            <a:lvl7pPr>
              <a:defRPr sz="1600" b="0">
                <a:solidFill>
                  <a:srgbClr val="000000"/>
                </a:solidFill>
                <a:latin typeface="Arial" panose="020B0604020202020204"/>
                <a:ea typeface="微软雅黑" panose="020B0503020204020204" charset="-122"/>
                <a:cs typeface="微软雅黑" panose="020B0503020204020204" charset="-122"/>
              </a:defRPr>
            </a:lvl7pPr>
            <a:lvl8pPr>
              <a:defRPr sz="1600" b="0">
                <a:solidFill>
                  <a:srgbClr val="000000"/>
                </a:solidFill>
                <a:latin typeface="Arial" panose="020B0604020202020204"/>
                <a:ea typeface="微软雅黑" panose="020B0503020204020204" charset="-122"/>
                <a:cs typeface="微软雅黑" panose="020B0503020204020204" charset="-122"/>
              </a:defRPr>
            </a:lvl8pPr>
            <a:lvl9pPr>
              <a:defRPr sz="1600" b="0">
                <a:solidFill>
                  <a:srgbClr val="000000"/>
                </a:solidFill>
                <a:latin typeface="Arial" panose="020B0604020202020204"/>
                <a:ea typeface="微软雅黑" panose="020B0503020204020204" charset="-122"/>
                <a:cs typeface="微软雅黑" panose="020B0503020204020204" charset="-122"/>
              </a:defRPr>
            </a:lvl9pPr>
          </a:lstStyle>
          <a:p>
            <a:pPr algn="ctr">
              <a:defRPr sz="1600" b="0">
                <a:solidFill>
                  <a:srgbClr val="000000"/>
                </a:solidFill>
                <a:latin typeface="Arial" panose="020B0604020202020204"/>
                <a:ea typeface="微软雅黑" panose="020B0503020204020204" charset="-122"/>
                <a:cs typeface="微软雅黑" panose="020B0503020204020204" charset="-122"/>
              </a:defRPr>
            </a:pPr>
            <a:r>
              <a:rPr lang="en-US" altLang="zh-CN" sz="1600" b="1">
                <a:solidFill>
                  <a:srgbClr val="000000"/>
                </a:solidFill>
                <a:highlight>
                  <a:srgbClr val="FFFF00"/>
                </a:highlight>
                <a:latin typeface="Arial" panose="020B0604020202020204"/>
                <a:ea typeface="微软雅黑" panose="020B0503020204020204" charset="-122"/>
                <a:cs typeface="微软雅黑" panose="020B0503020204020204" charset="-122"/>
              </a:rPr>
              <a:t>I→E </a:t>
            </a:r>
            <a:r>
              <a:rPr lang="zh-CN" altLang="en-US" sz="1600" b="1">
                <a:solidFill>
                  <a:srgbClr val="000000"/>
                </a:solidFill>
                <a:highlight>
                  <a:srgbClr val="FFFF00"/>
                </a:highlight>
                <a:latin typeface="Arial" panose="020B0604020202020204"/>
                <a:ea typeface="微软雅黑" panose="020B0503020204020204" charset="-122"/>
                <a:cs typeface="微软雅黑" panose="020B0503020204020204" charset="-122"/>
              </a:rPr>
              <a:t>的连接有助于神经元群体相互竞争，</a:t>
            </a:r>
            <a:r>
              <a:rPr lang="zh-CN" altLang="en-US" sz="1600" b="1">
                <a:solidFill>
                  <a:srgbClr val="000000"/>
                </a:solidFill>
                <a:highlight>
                  <a:srgbClr val="FFFF00"/>
                </a:highlight>
                <a:latin typeface="Arial" panose="020B0604020202020204"/>
                <a:ea typeface="微软雅黑" panose="020B0503020204020204" charset="-122"/>
                <a:cs typeface="微软雅黑" panose="020B0503020204020204" charset="-122"/>
              </a:rPr>
              <a:t>避免偏好同一种特征；</a:t>
            </a:r>
            <a:endParaRPr lang="zh-CN" altLang="en-US" sz="1600" b="1">
              <a:solidFill>
                <a:srgbClr val="000000"/>
              </a:solidFill>
              <a:highlight>
                <a:srgbClr val="FFFF00"/>
              </a:highlight>
              <a:latin typeface="Arial" panose="020B0604020202020204"/>
              <a:ea typeface="微软雅黑" panose="020B0503020204020204" charset="-122"/>
              <a:cs typeface="微软雅黑" panose="020B0503020204020204" charset="-122"/>
            </a:endParaRPr>
          </a:p>
          <a:p>
            <a:pPr algn="ctr">
              <a:defRPr sz="1600" b="0">
                <a:solidFill>
                  <a:srgbClr val="000000"/>
                </a:solidFill>
                <a:latin typeface="Arial" panose="020B0604020202020204"/>
                <a:ea typeface="微软雅黑" panose="020B0503020204020204" charset="-122"/>
                <a:cs typeface="微软雅黑" panose="020B0503020204020204" charset="-122"/>
              </a:defRPr>
            </a:pPr>
            <a:r>
              <a:rPr lang="en-US" altLang="zh-CN" sz="1600" b="1">
                <a:solidFill>
                  <a:srgbClr val="000000"/>
                </a:solidFill>
                <a:highlight>
                  <a:srgbClr val="FFFF00"/>
                </a:highlight>
                <a:latin typeface="Arial" panose="020B0604020202020204"/>
                <a:ea typeface="微软雅黑" panose="020B0503020204020204" charset="-122"/>
                <a:cs typeface="微软雅黑" panose="020B0503020204020204" charset="-122"/>
              </a:rPr>
              <a:t>I→E </a:t>
            </a:r>
            <a:r>
              <a:rPr lang="zh-CN" altLang="en-US" sz="1600" b="1">
                <a:solidFill>
                  <a:srgbClr val="000000"/>
                </a:solidFill>
                <a:highlight>
                  <a:srgbClr val="FFFF00"/>
                </a:highlight>
                <a:latin typeface="Arial" panose="020B0604020202020204"/>
                <a:ea typeface="微软雅黑" panose="020B0503020204020204" charset="-122"/>
                <a:cs typeface="微软雅黑" panose="020B0503020204020204" charset="-122"/>
              </a:rPr>
              <a:t>可塑性进一步调整竞争关系，使群体去相关能力进一步</a:t>
            </a:r>
            <a:r>
              <a:rPr lang="zh-CN" altLang="en-US" sz="1600" b="1">
                <a:solidFill>
                  <a:srgbClr val="000000"/>
                </a:solidFill>
                <a:highlight>
                  <a:srgbClr val="FFFF00"/>
                </a:highlight>
                <a:latin typeface="Arial" panose="020B0604020202020204"/>
                <a:ea typeface="微软雅黑" panose="020B0503020204020204" charset="-122"/>
                <a:cs typeface="微软雅黑" panose="020B0503020204020204" charset="-122"/>
              </a:rPr>
              <a:t>提高。</a:t>
            </a:r>
            <a:endParaRPr lang="zh-CN" altLang="en-US" sz="1600" b="1">
              <a:solidFill>
                <a:srgbClr val="000000"/>
              </a:solidFill>
              <a:highlight>
                <a:srgbClr val="FFFF00"/>
              </a:highlight>
              <a:latin typeface="Arial" panose="020B0604020202020204"/>
              <a:ea typeface="微软雅黑" panose="020B0503020204020204" charset="-122"/>
              <a:cs typeface="微软雅黑" panose="020B0503020204020204"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p:cNvSpPr>
            <a:spLocks noGrp="1"/>
          </p:cNvSpPr>
          <p:nvPr/>
        </p:nvSpPr>
        <p:spPr>
          <a:xfrm>
            <a:off x="457200" y="266700"/>
            <a:ext cx="10334625" cy="523875"/>
          </a:xfrm>
          <a:prstGeom prst="rect">
            <a:avLst/>
          </a:prstGeom>
          <a:noFill/>
          <a:ln w="0">
            <a:noFill/>
          </a:ln>
        </p:spPr>
        <p:txBody>
          <a:bodyPr wrap="square" lIns="0" tIns="0" rIns="0" bIns="0" anchor="t">
            <a:noAutofit/>
          </a:bodyPr>
          <a:lstStyle>
            <a:defPPr>
              <a:defRPr sz="2400" b="1">
                <a:solidFill>
                  <a:srgbClr val="000000"/>
                </a:solidFill>
                <a:latin typeface="Arial" panose="020B0604020202020204"/>
                <a:ea typeface="微软雅黑" panose="020B0503020204020204" charset="-122"/>
                <a:cs typeface="微软雅黑" panose="020B0503020204020204" charset="-122"/>
              </a:defRPr>
            </a:defPPr>
            <a:lvl1pPr>
              <a:defRPr sz="2400" b="1">
                <a:solidFill>
                  <a:srgbClr val="000000"/>
                </a:solidFill>
                <a:latin typeface="Arial" panose="020B0604020202020204"/>
                <a:ea typeface="微软雅黑" panose="020B0503020204020204" charset="-122"/>
                <a:cs typeface="微软雅黑" panose="020B0503020204020204" charset="-122"/>
              </a:defRPr>
            </a:lvl1pPr>
            <a:lvl2pPr>
              <a:defRPr sz="2400" b="1">
                <a:solidFill>
                  <a:srgbClr val="000000"/>
                </a:solidFill>
                <a:latin typeface="Arial" panose="020B0604020202020204"/>
                <a:ea typeface="微软雅黑" panose="020B0503020204020204" charset="-122"/>
                <a:cs typeface="微软雅黑" panose="020B0503020204020204" charset="-122"/>
              </a:defRPr>
            </a:lvl2pPr>
            <a:lvl3pPr>
              <a:defRPr sz="2400" b="1">
                <a:solidFill>
                  <a:srgbClr val="000000"/>
                </a:solidFill>
                <a:latin typeface="Arial" panose="020B0604020202020204"/>
                <a:ea typeface="微软雅黑" panose="020B0503020204020204" charset="-122"/>
                <a:cs typeface="微软雅黑" panose="020B0503020204020204" charset="-122"/>
              </a:defRPr>
            </a:lvl3pPr>
            <a:lvl4pPr>
              <a:defRPr sz="2400" b="1">
                <a:solidFill>
                  <a:srgbClr val="000000"/>
                </a:solidFill>
                <a:latin typeface="Arial" panose="020B0604020202020204"/>
                <a:ea typeface="微软雅黑" panose="020B0503020204020204" charset="-122"/>
                <a:cs typeface="微软雅黑" panose="020B0503020204020204" charset="-122"/>
              </a:defRPr>
            </a:lvl4pPr>
            <a:lvl5pPr>
              <a:defRPr sz="2400" b="1">
                <a:solidFill>
                  <a:srgbClr val="000000"/>
                </a:solidFill>
                <a:latin typeface="Arial" panose="020B0604020202020204"/>
                <a:ea typeface="微软雅黑" panose="020B0503020204020204" charset="-122"/>
                <a:cs typeface="微软雅黑" panose="020B0503020204020204" charset="-122"/>
              </a:defRPr>
            </a:lvl5pPr>
            <a:lvl6pPr>
              <a:defRPr sz="2400" b="1">
                <a:solidFill>
                  <a:srgbClr val="000000"/>
                </a:solidFill>
                <a:latin typeface="Arial" panose="020B0604020202020204"/>
                <a:ea typeface="微软雅黑" panose="020B0503020204020204" charset="-122"/>
                <a:cs typeface="微软雅黑" panose="020B0503020204020204" charset="-122"/>
              </a:defRPr>
            </a:lvl6pPr>
            <a:lvl7pPr>
              <a:defRPr sz="2400" b="1">
                <a:solidFill>
                  <a:srgbClr val="000000"/>
                </a:solidFill>
                <a:latin typeface="Arial" panose="020B0604020202020204"/>
                <a:ea typeface="微软雅黑" panose="020B0503020204020204" charset="-122"/>
                <a:cs typeface="微软雅黑" panose="020B0503020204020204" charset="-122"/>
              </a:defRPr>
            </a:lvl7pPr>
            <a:lvl8pPr>
              <a:defRPr sz="2400" b="1">
                <a:solidFill>
                  <a:srgbClr val="000000"/>
                </a:solidFill>
                <a:latin typeface="Arial" panose="020B0604020202020204"/>
                <a:ea typeface="微软雅黑" panose="020B0503020204020204" charset="-122"/>
                <a:cs typeface="微软雅黑" panose="020B0503020204020204" charset="-122"/>
              </a:defRPr>
            </a:lvl8pPr>
            <a:lvl9pPr>
              <a:defRPr sz="2400" b="1">
                <a:solidFill>
                  <a:srgbClr val="000000"/>
                </a:solidFill>
                <a:latin typeface="Arial" panose="020B0604020202020204"/>
                <a:ea typeface="微软雅黑" panose="020B0503020204020204" charset="-122"/>
                <a:cs typeface="微软雅黑" panose="020B0503020204020204" charset="-122"/>
              </a:defRPr>
            </a:lvl9pPr>
          </a:lstStyle>
          <a:p>
            <a:pPr>
              <a:defRPr sz="2400" b="1">
                <a:solidFill>
                  <a:srgbClr val="000000"/>
                </a:solidFill>
                <a:latin typeface="Arial" panose="020B0604020202020204"/>
                <a:ea typeface="微软雅黑" panose="020B0503020204020204" charset="-122"/>
                <a:cs typeface="微软雅黑" panose="020B0503020204020204" charset="-122"/>
              </a:defRPr>
            </a:pPr>
            <a:r>
              <a:rPr sz="2400" b="1">
                <a:solidFill>
                  <a:srgbClr val="000000"/>
                </a:solidFill>
                <a:latin typeface="Arial" panose="020B0604020202020204"/>
                <a:ea typeface="微软雅黑" panose="020B0503020204020204" charset="-122"/>
                <a:cs typeface="微软雅黑" panose="020B0503020204020204" charset="-122"/>
              </a:rPr>
              <a:t>保留完整稳态机制时的Loose balance</a:t>
            </a:r>
            <a:endParaRPr sz="2400" b="1">
              <a:solidFill>
                <a:srgbClr val="000000"/>
              </a:solidFill>
              <a:latin typeface="Arial" panose="020B0604020202020204"/>
              <a:ea typeface="微软雅黑" panose="020B0503020204020204" charset="-122"/>
              <a:cs typeface="微软雅黑" panose="020B0503020204020204" charset="-122"/>
            </a:endParaRPr>
          </a:p>
        </p:txBody>
      </p:sp>
      <p:pic>
        <p:nvPicPr>
          <p:cNvPr id="2" name="图片 1"/>
          <p:cNvPicPr>
            <a:picLocks noChangeAspect="1"/>
          </p:cNvPicPr>
          <p:nvPr/>
        </p:nvPicPr>
        <p:blipFill>
          <a:blip r:embed="rId1"/>
          <a:stretch>
            <a:fillRect/>
          </a:stretch>
        </p:blipFill>
        <p:spPr>
          <a:xfrm>
            <a:off x="10921365" y="0"/>
            <a:ext cx="1270635" cy="1270635"/>
          </a:xfrm>
          <a:prstGeom prst="rect">
            <a:avLst/>
          </a:prstGeom>
        </p:spPr>
      </p:pic>
      <p:sp>
        <p:nvSpPr>
          <p:cNvPr id="3" name="AD（完整机制）"/>
          <p:cNvSpPr>
            <a:spLocks noGrp="1"/>
          </p:cNvSpPr>
          <p:nvPr/>
        </p:nvSpPr>
        <p:spPr>
          <a:xfrm>
            <a:off x="2599690" y="1003935"/>
            <a:ext cx="1271270" cy="266700"/>
          </a:xfrm>
          <a:prstGeom prst="rect">
            <a:avLst/>
          </a:prstGeom>
          <a:noFill/>
          <a:ln w="0">
            <a:noFill/>
          </a:ln>
        </p:spPr>
        <p:txBody>
          <a:bodyPr wrap="square" lIns="0" tIns="0" rIns="0" bIns="0" anchor="t">
            <a:noAutofit/>
          </a:bodyPr>
          <a:lstStyle>
            <a:defPPr>
              <a:defRPr sz="1350" b="1">
                <a:solidFill>
                  <a:srgbClr val="000000"/>
                </a:solidFill>
                <a:latin typeface="Arial" panose="020B0604020202020204"/>
                <a:ea typeface="微软雅黑" panose="020B0503020204020204" charset="-122"/>
                <a:cs typeface="微软雅黑" panose="020B0503020204020204" charset="-122"/>
              </a:defRPr>
            </a:defPPr>
            <a:lvl1pPr>
              <a:defRPr sz="1350" b="1">
                <a:solidFill>
                  <a:srgbClr val="000000"/>
                </a:solidFill>
                <a:latin typeface="Arial" panose="020B0604020202020204"/>
                <a:ea typeface="微软雅黑" panose="020B0503020204020204" charset="-122"/>
                <a:cs typeface="微软雅黑" panose="020B0503020204020204" charset="-122"/>
              </a:defRPr>
            </a:lvl1pPr>
            <a:lvl2pPr>
              <a:defRPr sz="1350" b="1">
                <a:solidFill>
                  <a:srgbClr val="000000"/>
                </a:solidFill>
                <a:latin typeface="Arial" panose="020B0604020202020204"/>
                <a:ea typeface="微软雅黑" panose="020B0503020204020204" charset="-122"/>
                <a:cs typeface="微软雅黑" panose="020B0503020204020204" charset="-122"/>
              </a:defRPr>
            </a:lvl2pPr>
            <a:lvl3pPr>
              <a:defRPr sz="1350" b="1">
                <a:solidFill>
                  <a:srgbClr val="000000"/>
                </a:solidFill>
                <a:latin typeface="Arial" panose="020B0604020202020204"/>
                <a:ea typeface="微软雅黑" panose="020B0503020204020204" charset="-122"/>
                <a:cs typeface="微软雅黑" panose="020B0503020204020204" charset="-122"/>
              </a:defRPr>
            </a:lvl3pPr>
            <a:lvl4pPr>
              <a:defRPr sz="1350" b="1">
                <a:solidFill>
                  <a:srgbClr val="000000"/>
                </a:solidFill>
                <a:latin typeface="Arial" panose="020B0604020202020204"/>
                <a:ea typeface="微软雅黑" panose="020B0503020204020204" charset="-122"/>
                <a:cs typeface="微软雅黑" panose="020B0503020204020204" charset="-122"/>
              </a:defRPr>
            </a:lvl4pPr>
            <a:lvl5pPr>
              <a:defRPr sz="1350" b="1">
                <a:solidFill>
                  <a:srgbClr val="000000"/>
                </a:solidFill>
                <a:latin typeface="Arial" panose="020B0604020202020204"/>
                <a:ea typeface="微软雅黑" panose="020B0503020204020204" charset="-122"/>
                <a:cs typeface="微软雅黑" panose="020B0503020204020204" charset="-122"/>
              </a:defRPr>
            </a:lvl5pPr>
            <a:lvl6pPr>
              <a:defRPr sz="1350" b="1">
                <a:solidFill>
                  <a:srgbClr val="000000"/>
                </a:solidFill>
                <a:latin typeface="Arial" panose="020B0604020202020204"/>
                <a:ea typeface="微软雅黑" panose="020B0503020204020204" charset="-122"/>
                <a:cs typeface="微软雅黑" panose="020B0503020204020204" charset="-122"/>
              </a:defRPr>
            </a:lvl6pPr>
            <a:lvl7pPr>
              <a:defRPr sz="1350" b="1">
                <a:solidFill>
                  <a:srgbClr val="000000"/>
                </a:solidFill>
                <a:latin typeface="Arial" panose="020B0604020202020204"/>
                <a:ea typeface="微软雅黑" panose="020B0503020204020204" charset="-122"/>
                <a:cs typeface="微软雅黑" panose="020B0503020204020204" charset="-122"/>
              </a:defRPr>
            </a:lvl7pPr>
            <a:lvl8pPr>
              <a:defRPr sz="1350" b="1">
                <a:solidFill>
                  <a:srgbClr val="000000"/>
                </a:solidFill>
                <a:latin typeface="Arial" panose="020B0604020202020204"/>
                <a:ea typeface="微软雅黑" panose="020B0503020204020204" charset="-122"/>
                <a:cs typeface="微软雅黑" panose="020B0503020204020204" charset="-122"/>
              </a:defRPr>
            </a:lvl8pPr>
            <a:lvl9pPr>
              <a:defRPr sz="1350" b="1">
                <a:solidFill>
                  <a:srgbClr val="000000"/>
                </a:solidFill>
                <a:latin typeface="Arial" panose="020B0604020202020204"/>
                <a:ea typeface="微软雅黑" panose="020B0503020204020204" charset="-122"/>
                <a:cs typeface="微软雅黑" panose="020B0503020204020204" charset="-122"/>
              </a:defRPr>
            </a:lvl9pPr>
          </a:lstStyle>
          <a:p>
            <a:pPr>
              <a:defRPr sz="1350" b="1">
                <a:solidFill>
                  <a:srgbClr val="000000"/>
                </a:solidFill>
                <a:latin typeface="Arial" panose="020B0604020202020204"/>
                <a:ea typeface="微软雅黑" panose="020B0503020204020204" charset="-122"/>
                <a:cs typeface="微软雅黑" panose="020B0503020204020204" charset="-122"/>
              </a:defRPr>
            </a:pPr>
            <a:r>
              <a:rPr sz="1350" b="1">
                <a:solidFill>
                  <a:srgbClr val="000000"/>
                </a:solidFill>
                <a:latin typeface="Arial" panose="020B0604020202020204"/>
                <a:ea typeface="微软雅黑" panose="020B0503020204020204" charset="-122"/>
                <a:cs typeface="微软雅黑" panose="020B0503020204020204" charset="-122"/>
              </a:rPr>
              <a:t>AD</a:t>
            </a:r>
            <a:r>
              <a:rPr>
                <a:sym typeface="+mn-ea"/>
              </a:rPr>
              <a:t>（</a:t>
            </a:r>
            <a:r>
              <a:rPr lang="en-US">
                <a:sym typeface="+mn-ea"/>
              </a:rPr>
              <a:t>Baseline</a:t>
            </a:r>
            <a:r>
              <a:rPr>
                <a:sym typeface="+mn-ea"/>
              </a:rPr>
              <a:t>）</a:t>
            </a:r>
            <a:endParaRPr sz="1350" b="1">
              <a:solidFill>
                <a:srgbClr val="000000"/>
              </a:solidFill>
              <a:latin typeface="Arial" panose="020B0604020202020204"/>
              <a:ea typeface="微软雅黑" panose="020B0503020204020204" charset="-122"/>
              <a:cs typeface="微软雅黑" panose="020B0503020204020204" charset="-122"/>
            </a:endParaRPr>
          </a:p>
        </p:txBody>
      </p:sp>
      <p:pic>
        <p:nvPicPr>
          <p:cNvPr id="4" name="图片 3"/>
          <p:cNvPicPr>
            <a:picLocks noChangeAspect="1"/>
          </p:cNvPicPr>
          <p:nvPr/>
        </p:nvPicPr>
        <p:blipFill>
          <a:blip r:embed="rId2"/>
          <a:stretch>
            <a:fillRect/>
          </a:stretch>
        </p:blipFill>
        <p:spPr>
          <a:xfrm>
            <a:off x="1452258" y="1390650"/>
            <a:ext cx="3808705" cy="3238500"/>
          </a:xfrm>
          <a:prstGeom prst="rect">
            <a:avLst/>
          </a:prstGeom>
        </p:spPr>
      </p:pic>
      <p:sp>
        <p:nvSpPr>
          <p:cNvPr id="5" name="BD（I→E可塑性 off）"/>
          <p:cNvSpPr>
            <a:spLocks noGrp="1"/>
          </p:cNvSpPr>
          <p:nvPr/>
        </p:nvSpPr>
        <p:spPr>
          <a:xfrm>
            <a:off x="8336915" y="936625"/>
            <a:ext cx="1779905" cy="273685"/>
          </a:xfrm>
          <a:prstGeom prst="rect">
            <a:avLst/>
          </a:prstGeom>
          <a:noFill/>
          <a:ln w="0">
            <a:noFill/>
          </a:ln>
        </p:spPr>
        <p:txBody>
          <a:bodyPr wrap="square" lIns="0" tIns="0" rIns="0" bIns="0" anchor="t">
            <a:noAutofit/>
          </a:bodyPr>
          <a:lstStyle>
            <a:defPPr>
              <a:defRPr sz="1350" b="1">
                <a:solidFill>
                  <a:srgbClr val="000000"/>
                </a:solidFill>
                <a:latin typeface="Arial" panose="020B0604020202020204"/>
                <a:ea typeface="微软雅黑" panose="020B0503020204020204" charset="-122"/>
                <a:cs typeface="微软雅黑" panose="020B0503020204020204" charset="-122"/>
              </a:defRPr>
            </a:defPPr>
            <a:lvl1pPr>
              <a:defRPr sz="1350" b="1">
                <a:solidFill>
                  <a:srgbClr val="000000"/>
                </a:solidFill>
                <a:latin typeface="Arial" panose="020B0604020202020204"/>
                <a:ea typeface="微软雅黑" panose="020B0503020204020204" charset="-122"/>
                <a:cs typeface="微软雅黑" panose="020B0503020204020204" charset="-122"/>
              </a:defRPr>
            </a:lvl1pPr>
            <a:lvl2pPr>
              <a:defRPr sz="1350" b="1">
                <a:solidFill>
                  <a:srgbClr val="000000"/>
                </a:solidFill>
                <a:latin typeface="Arial" panose="020B0604020202020204"/>
                <a:ea typeface="微软雅黑" panose="020B0503020204020204" charset="-122"/>
                <a:cs typeface="微软雅黑" panose="020B0503020204020204" charset="-122"/>
              </a:defRPr>
            </a:lvl2pPr>
            <a:lvl3pPr>
              <a:defRPr sz="1350" b="1">
                <a:solidFill>
                  <a:srgbClr val="000000"/>
                </a:solidFill>
                <a:latin typeface="Arial" panose="020B0604020202020204"/>
                <a:ea typeface="微软雅黑" panose="020B0503020204020204" charset="-122"/>
                <a:cs typeface="微软雅黑" panose="020B0503020204020204" charset="-122"/>
              </a:defRPr>
            </a:lvl3pPr>
            <a:lvl4pPr>
              <a:defRPr sz="1350" b="1">
                <a:solidFill>
                  <a:srgbClr val="000000"/>
                </a:solidFill>
                <a:latin typeface="Arial" panose="020B0604020202020204"/>
                <a:ea typeface="微软雅黑" panose="020B0503020204020204" charset="-122"/>
                <a:cs typeface="微软雅黑" panose="020B0503020204020204" charset="-122"/>
              </a:defRPr>
            </a:lvl4pPr>
            <a:lvl5pPr>
              <a:defRPr sz="1350" b="1">
                <a:solidFill>
                  <a:srgbClr val="000000"/>
                </a:solidFill>
                <a:latin typeface="Arial" panose="020B0604020202020204"/>
                <a:ea typeface="微软雅黑" panose="020B0503020204020204" charset="-122"/>
                <a:cs typeface="微软雅黑" panose="020B0503020204020204" charset="-122"/>
              </a:defRPr>
            </a:lvl5pPr>
            <a:lvl6pPr>
              <a:defRPr sz="1350" b="1">
                <a:solidFill>
                  <a:srgbClr val="000000"/>
                </a:solidFill>
                <a:latin typeface="Arial" panose="020B0604020202020204"/>
                <a:ea typeface="微软雅黑" panose="020B0503020204020204" charset="-122"/>
                <a:cs typeface="微软雅黑" panose="020B0503020204020204" charset="-122"/>
              </a:defRPr>
            </a:lvl6pPr>
            <a:lvl7pPr>
              <a:defRPr sz="1350" b="1">
                <a:solidFill>
                  <a:srgbClr val="000000"/>
                </a:solidFill>
                <a:latin typeface="Arial" panose="020B0604020202020204"/>
                <a:ea typeface="微软雅黑" panose="020B0503020204020204" charset="-122"/>
                <a:cs typeface="微软雅黑" panose="020B0503020204020204" charset="-122"/>
              </a:defRPr>
            </a:lvl7pPr>
            <a:lvl8pPr>
              <a:defRPr sz="1350" b="1">
                <a:solidFill>
                  <a:srgbClr val="000000"/>
                </a:solidFill>
                <a:latin typeface="Arial" panose="020B0604020202020204"/>
                <a:ea typeface="微软雅黑" panose="020B0503020204020204" charset="-122"/>
                <a:cs typeface="微软雅黑" panose="020B0503020204020204" charset="-122"/>
              </a:defRPr>
            </a:lvl8pPr>
            <a:lvl9pPr>
              <a:defRPr sz="1350" b="1">
                <a:solidFill>
                  <a:srgbClr val="000000"/>
                </a:solidFill>
                <a:latin typeface="Arial" panose="020B0604020202020204"/>
                <a:ea typeface="微软雅黑" panose="020B0503020204020204" charset="-122"/>
                <a:cs typeface="微软雅黑" panose="020B0503020204020204" charset="-122"/>
              </a:defRPr>
            </a:lvl9pPr>
          </a:lstStyle>
          <a:p>
            <a:pPr>
              <a:defRPr sz="1350" b="1">
                <a:solidFill>
                  <a:srgbClr val="000000"/>
                </a:solidFill>
                <a:latin typeface="Arial" panose="020B0604020202020204"/>
                <a:ea typeface="微软雅黑" panose="020B0503020204020204" charset="-122"/>
                <a:cs typeface="微软雅黑" panose="020B0503020204020204" charset="-122"/>
              </a:defRPr>
            </a:pPr>
            <a:r>
              <a:rPr sz="1350" b="1">
                <a:solidFill>
                  <a:srgbClr val="000000"/>
                </a:solidFill>
                <a:latin typeface="Arial" panose="020B0604020202020204"/>
                <a:ea typeface="微软雅黑" panose="020B0503020204020204" charset="-122"/>
                <a:cs typeface="微软雅黑" panose="020B0503020204020204" charset="-122"/>
              </a:rPr>
              <a:t>BD（I→E可塑性 off）</a:t>
            </a:r>
            <a:endParaRPr sz="1350" b="1">
              <a:solidFill>
                <a:srgbClr val="000000"/>
              </a:solidFill>
              <a:latin typeface="Arial" panose="020B0604020202020204"/>
              <a:ea typeface="微软雅黑" panose="020B0503020204020204" charset="-122"/>
              <a:cs typeface="微软雅黑" panose="020B0503020204020204" charset="-122"/>
            </a:endParaRPr>
          </a:p>
        </p:txBody>
      </p:sp>
      <p:pic>
        <p:nvPicPr>
          <p:cNvPr id="6" name="图片 5"/>
          <p:cNvPicPr>
            <a:picLocks noChangeAspect="1"/>
          </p:cNvPicPr>
          <p:nvPr/>
        </p:nvPicPr>
        <p:blipFill>
          <a:blip r:embed="rId3"/>
          <a:stretch>
            <a:fillRect/>
          </a:stretch>
        </p:blipFill>
        <p:spPr>
          <a:xfrm>
            <a:off x="7322198" y="1390650"/>
            <a:ext cx="3808705" cy="3238500"/>
          </a:xfrm>
          <a:prstGeom prst="rect">
            <a:avLst/>
          </a:prstGeom>
        </p:spPr>
      </p:pic>
      <p:sp>
        <p:nvSpPr>
          <p:cNvPr id="10" name="AD：输入增强时抑制也增强，总电位比单独兴奋分量更受限。"/>
          <p:cNvSpPr>
            <a:spLocks noGrp="1"/>
          </p:cNvSpPr>
          <p:nvPr/>
        </p:nvSpPr>
        <p:spPr>
          <a:xfrm>
            <a:off x="333375" y="5128260"/>
            <a:ext cx="11487150" cy="252031"/>
          </a:xfrm>
          <a:prstGeom prst="rect">
            <a:avLst/>
          </a:prstGeom>
          <a:noFill/>
          <a:ln w="0">
            <a:noFill/>
          </a:ln>
        </p:spPr>
        <p:txBody>
          <a:bodyPr wrap="square" lIns="0" tIns="0" rIns="0" bIns="0" anchor="t">
            <a:noAutofit/>
          </a:bodyPr>
          <a:lstStyle>
            <a:defPPr>
              <a:defRPr sz="1275" b="0">
                <a:solidFill>
                  <a:srgbClr val="000000"/>
                </a:solidFill>
                <a:latin typeface="Arial" panose="020B0604020202020204"/>
                <a:ea typeface="微软雅黑" panose="020B0503020204020204" charset="-122"/>
                <a:cs typeface="微软雅黑" panose="020B0503020204020204" charset="-122"/>
              </a:defRPr>
            </a:defPPr>
            <a:lvl1pPr>
              <a:defRPr sz="1275" b="0">
                <a:solidFill>
                  <a:srgbClr val="000000"/>
                </a:solidFill>
                <a:latin typeface="Arial" panose="020B0604020202020204"/>
                <a:ea typeface="微软雅黑" panose="020B0503020204020204" charset="-122"/>
                <a:cs typeface="微软雅黑" panose="020B0503020204020204" charset="-122"/>
              </a:defRPr>
            </a:lvl1pPr>
            <a:lvl2pPr>
              <a:defRPr sz="1275" b="0">
                <a:solidFill>
                  <a:srgbClr val="000000"/>
                </a:solidFill>
                <a:latin typeface="Arial" panose="020B0604020202020204"/>
                <a:ea typeface="微软雅黑" panose="020B0503020204020204" charset="-122"/>
                <a:cs typeface="微软雅黑" panose="020B0503020204020204" charset="-122"/>
              </a:defRPr>
            </a:lvl2pPr>
            <a:lvl3pPr>
              <a:defRPr sz="1275" b="0">
                <a:solidFill>
                  <a:srgbClr val="000000"/>
                </a:solidFill>
                <a:latin typeface="Arial" panose="020B0604020202020204"/>
                <a:ea typeface="微软雅黑" panose="020B0503020204020204" charset="-122"/>
                <a:cs typeface="微软雅黑" panose="020B0503020204020204" charset="-122"/>
              </a:defRPr>
            </a:lvl3pPr>
            <a:lvl4pPr>
              <a:defRPr sz="1275" b="0">
                <a:solidFill>
                  <a:srgbClr val="000000"/>
                </a:solidFill>
                <a:latin typeface="Arial" panose="020B0604020202020204"/>
                <a:ea typeface="微软雅黑" panose="020B0503020204020204" charset="-122"/>
                <a:cs typeface="微软雅黑" panose="020B0503020204020204" charset="-122"/>
              </a:defRPr>
            </a:lvl4pPr>
            <a:lvl5pPr>
              <a:defRPr sz="1275" b="0">
                <a:solidFill>
                  <a:srgbClr val="000000"/>
                </a:solidFill>
                <a:latin typeface="Arial" panose="020B0604020202020204"/>
                <a:ea typeface="微软雅黑" panose="020B0503020204020204" charset="-122"/>
                <a:cs typeface="微软雅黑" panose="020B0503020204020204" charset="-122"/>
              </a:defRPr>
            </a:lvl5pPr>
            <a:lvl6pPr>
              <a:defRPr sz="1275" b="0">
                <a:solidFill>
                  <a:srgbClr val="000000"/>
                </a:solidFill>
                <a:latin typeface="Arial" panose="020B0604020202020204"/>
                <a:ea typeface="微软雅黑" panose="020B0503020204020204" charset="-122"/>
                <a:cs typeface="微软雅黑" panose="020B0503020204020204" charset="-122"/>
              </a:defRPr>
            </a:lvl6pPr>
            <a:lvl7pPr>
              <a:defRPr sz="1275" b="0">
                <a:solidFill>
                  <a:srgbClr val="000000"/>
                </a:solidFill>
                <a:latin typeface="Arial" panose="020B0604020202020204"/>
                <a:ea typeface="微软雅黑" panose="020B0503020204020204" charset="-122"/>
                <a:cs typeface="微软雅黑" panose="020B0503020204020204" charset="-122"/>
              </a:defRPr>
            </a:lvl7pPr>
            <a:lvl8pPr>
              <a:defRPr sz="1275" b="0">
                <a:solidFill>
                  <a:srgbClr val="000000"/>
                </a:solidFill>
                <a:latin typeface="Arial" panose="020B0604020202020204"/>
                <a:ea typeface="微软雅黑" panose="020B0503020204020204" charset="-122"/>
                <a:cs typeface="微软雅黑" panose="020B0503020204020204" charset="-122"/>
              </a:defRPr>
            </a:lvl8pPr>
            <a:lvl9pPr>
              <a:defRPr sz="1275" b="0">
                <a:solidFill>
                  <a:srgbClr val="000000"/>
                </a:solidFill>
                <a:latin typeface="Arial" panose="020B0604020202020204"/>
                <a:ea typeface="微软雅黑" panose="020B0503020204020204" charset="-122"/>
                <a:cs typeface="微软雅黑" panose="020B0503020204020204" charset="-122"/>
              </a:defRPr>
            </a:lvl9pPr>
          </a:lstStyle>
          <a:p>
            <a:pPr marL="101600" indent="-76200">
              <a:buChar char="·"/>
              <a:defRPr sz="1350" b="0">
                <a:solidFill>
                  <a:srgbClr val="000000"/>
                </a:solidFill>
                <a:latin typeface="Arial" panose="020B0604020202020204"/>
                <a:ea typeface="微软雅黑" panose="020B0503020204020204" charset="-122"/>
                <a:cs typeface="微软雅黑" panose="020B0503020204020204" charset="-122"/>
              </a:defRPr>
            </a:pPr>
            <a:r>
              <a:t>AD：</a:t>
            </a:r>
            <a:r>
              <a:rPr sz="1275">
                <a:sym typeface="+mn-ea"/>
              </a:rPr>
              <a:t>输入增强时，兴奋和抑制共同增加，总</a:t>
            </a:r>
            <a:r>
              <a:rPr lang="zh-CN" sz="1275">
                <a:sym typeface="+mn-ea"/>
              </a:rPr>
              <a:t>膜</a:t>
            </a:r>
            <a:r>
              <a:rPr sz="1275">
                <a:sym typeface="+mn-ea"/>
              </a:rPr>
              <a:t>电位相对</a:t>
            </a:r>
            <a:r>
              <a:rPr lang="zh-CN" sz="1275">
                <a:sym typeface="+mn-ea"/>
              </a:rPr>
              <a:t>维持在较低水平</a:t>
            </a:r>
            <a:r>
              <a:rPr sz="1275">
                <a:sym typeface="+mn-ea"/>
              </a:rPr>
              <a:t>。</a:t>
            </a:r>
            <a:endParaRPr sz="1275">
              <a:sym typeface="+mn-ea"/>
            </a:endParaRPr>
          </a:p>
          <a:p>
            <a:pPr marL="101600" indent="-76200">
              <a:buChar char="·"/>
              <a:defRPr sz="1350" b="0">
                <a:solidFill>
                  <a:srgbClr val="000000"/>
                </a:solidFill>
                <a:latin typeface="Arial" panose="020B0604020202020204"/>
                <a:ea typeface="微软雅黑" panose="020B0503020204020204" charset="-122"/>
                <a:cs typeface="微软雅黑" panose="020B0503020204020204" charset="-122"/>
              </a:defRPr>
            </a:pPr>
          </a:p>
        </p:txBody>
      </p:sp>
      <p:sp>
        <p:nvSpPr>
          <p:cNvPr id="11" name="BD：高匹配输入下，总电位更接近兴奋分量，抑制抵消弱于AD。"/>
          <p:cNvSpPr>
            <a:spLocks noGrp="1"/>
          </p:cNvSpPr>
          <p:nvPr/>
        </p:nvSpPr>
        <p:spPr>
          <a:xfrm>
            <a:off x="333375" y="5471097"/>
            <a:ext cx="11487150" cy="252031"/>
          </a:xfrm>
          <a:prstGeom prst="rect">
            <a:avLst/>
          </a:prstGeom>
          <a:noFill/>
          <a:ln w="0">
            <a:noFill/>
          </a:ln>
        </p:spPr>
        <p:txBody>
          <a:bodyPr wrap="square" lIns="0" tIns="0" rIns="0" bIns="0" anchor="t">
            <a:noAutofit/>
          </a:bodyPr>
          <a:lstStyle>
            <a:defPPr>
              <a:defRPr sz="1275" b="0">
                <a:solidFill>
                  <a:srgbClr val="000000"/>
                </a:solidFill>
                <a:latin typeface="Arial" panose="020B0604020202020204"/>
                <a:ea typeface="微软雅黑" panose="020B0503020204020204" charset="-122"/>
                <a:cs typeface="微软雅黑" panose="020B0503020204020204" charset="-122"/>
              </a:defRPr>
            </a:defPPr>
            <a:lvl1pPr>
              <a:defRPr sz="1275" b="0">
                <a:solidFill>
                  <a:srgbClr val="000000"/>
                </a:solidFill>
                <a:latin typeface="Arial" panose="020B0604020202020204"/>
                <a:ea typeface="微软雅黑" panose="020B0503020204020204" charset="-122"/>
                <a:cs typeface="微软雅黑" panose="020B0503020204020204" charset="-122"/>
              </a:defRPr>
            </a:lvl1pPr>
            <a:lvl2pPr>
              <a:defRPr sz="1275" b="0">
                <a:solidFill>
                  <a:srgbClr val="000000"/>
                </a:solidFill>
                <a:latin typeface="Arial" panose="020B0604020202020204"/>
                <a:ea typeface="微软雅黑" panose="020B0503020204020204" charset="-122"/>
                <a:cs typeface="微软雅黑" panose="020B0503020204020204" charset="-122"/>
              </a:defRPr>
            </a:lvl2pPr>
            <a:lvl3pPr>
              <a:defRPr sz="1275" b="0">
                <a:solidFill>
                  <a:srgbClr val="000000"/>
                </a:solidFill>
                <a:latin typeface="Arial" panose="020B0604020202020204"/>
                <a:ea typeface="微软雅黑" panose="020B0503020204020204" charset="-122"/>
                <a:cs typeface="微软雅黑" panose="020B0503020204020204" charset="-122"/>
              </a:defRPr>
            </a:lvl3pPr>
            <a:lvl4pPr>
              <a:defRPr sz="1275" b="0">
                <a:solidFill>
                  <a:srgbClr val="000000"/>
                </a:solidFill>
                <a:latin typeface="Arial" panose="020B0604020202020204"/>
                <a:ea typeface="微软雅黑" panose="020B0503020204020204" charset="-122"/>
                <a:cs typeface="微软雅黑" panose="020B0503020204020204" charset="-122"/>
              </a:defRPr>
            </a:lvl4pPr>
            <a:lvl5pPr>
              <a:defRPr sz="1275" b="0">
                <a:solidFill>
                  <a:srgbClr val="000000"/>
                </a:solidFill>
                <a:latin typeface="Arial" panose="020B0604020202020204"/>
                <a:ea typeface="微软雅黑" panose="020B0503020204020204" charset="-122"/>
                <a:cs typeface="微软雅黑" panose="020B0503020204020204" charset="-122"/>
              </a:defRPr>
            </a:lvl5pPr>
            <a:lvl6pPr>
              <a:defRPr sz="1275" b="0">
                <a:solidFill>
                  <a:srgbClr val="000000"/>
                </a:solidFill>
                <a:latin typeface="Arial" panose="020B0604020202020204"/>
                <a:ea typeface="微软雅黑" panose="020B0503020204020204" charset="-122"/>
                <a:cs typeface="微软雅黑" panose="020B0503020204020204" charset="-122"/>
              </a:defRPr>
            </a:lvl6pPr>
            <a:lvl7pPr>
              <a:defRPr sz="1275" b="0">
                <a:solidFill>
                  <a:srgbClr val="000000"/>
                </a:solidFill>
                <a:latin typeface="Arial" panose="020B0604020202020204"/>
                <a:ea typeface="微软雅黑" panose="020B0503020204020204" charset="-122"/>
                <a:cs typeface="微软雅黑" panose="020B0503020204020204" charset="-122"/>
              </a:defRPr>
            </a:lvl7pPr>
            <a:lvl8pPr>
              <a:defRPr sz="1275" b="0">
                <a:solidFill>
                  <a:srgbClr val="000000"/>
                </a:solidFill>
                <a:latin typeface="Arial" panose="020B0604020202020204"/>
                <a:ea typeface="微软雅黑" panose="020B0503020204020204" charset="-122"/>
                <a:cs typeface="微软雅黑" panose="020B0503020204020204" charset="-122"/>
              </a:defRPr>
            </a:lvl8pPr>
            <a:lvl9pPr>
              <a:defRPr sz="1275" b="0">
                <a:solidFill>
                  <a:srgbClr val="000000"/>
                </a:solidFill>
                <a:latin typeface="Arial" panose="020B0604020202020204"/>
                <a:ea typeface="微软雅黑" panose="020B0503020204020204" charset="-122"/>
                <a:cs typeface="微软雅黑" panose="020B0503020204020204" charset="-122"/>
              </a:defRPr>
            </a:lvl9pPr>
          </a:lstStyle>
          <a:p>
            <a:pPr marL="101600" indent="-76200">
              <a:buChar char="·"/>
              <a:defRPr sz="1275" b="0">
                <a:solidFill>
                  <a:srgbClr val="000000"/>
                </a:solidFill>
                <a:latin typeface="Arial" panose="020B0604020202020204"/>
                <a:ea typeface="微软雅黑" panose="020B0503020204020204" charset="-122"/>
                <a:cs typeface="微软雅黑" panose="020B0503020204020204" charset="-122"/>
              </a:defRPr>
            </a:pPr>
            <a:r>
              <a:t>BD：</a:t>
            </a:r>
            <a:r>
              <a:rPr lang="zh-CN"/>
              <a:t>由于关闭了</a:t>
            </a:r>
            <a:r>
              <a:rPr lang="en-US" altLang="zh-CN"/>
              <a:t>I→E</a:t>
            </a:r>
            <a:r>
              <a:rPr lang="zh-CN" altLang="en-US"/>
              <a:t>的突触可塑性规则，这导致神经元的抑制输入始终不变，随着</a:t>
            </a:r>
            <a:r>
              <a:t>输入</a:t>
            </a:r>
            <a:r>
              <a:rPr lang="zh-CN"/>
              <a:t>图片与感受野的相关性不断增大</a:t>
            </a:r>
            <a:r>
              <a:t>，</a:t>
            </a:r>
            <a:r>
              <a:rPr lang="zh-CN"/>
              <a:t>兴奋输入不断增大，而</a:t>
            </a:r>
            <a:r>
              <a:t>总</a:t>
            </a:r>
            <a:r>
              <a:rPr lang="zh-CN"/>
              <a:t>膜</a:t>
            </a:r>
            <a:r>
              <a:t>电位</a:t>
            </a:r>
            <a:r>
              <a:rPr lang="zh-CN"/>
              <a:t>也</a:t>
            </a:r>
            <a:r>
              <a:t>更</a:t>
            </a:r>
            <a:r>
              <a:rPr lang="zh-CN"/>
              <a:t>加受兴奋性输入主导。</a:t>
            </a:r>
            <a:endParaRPr lang="en-US" altLang="zh-CN"/>
          </a:p>
        </p:txBody>
      </p:sp>
      <p:sp>
        <p:nvSpPr>
          <p:cNvPr id="12" name="CD：抑制分量为0，总电位与兴奋分量重合。L1和阈值适应不能"/>
          <p:cNvSpPr>
            <a:spLocks noGrp="1"/>
          </p:cNvSpPr>
          <p:nvPr/>
        </p:nvSpPr>
        <p:spPr>
          <a:xfrm>
            <a:off x="333375" y="5986653"/>
            <a:ext cx="11487150" cy="252031"/>
          </a:xfrm>
          <a:prstGeom prst="rect">
            <a:avLst/>
          </a:prstGeom>
          <a:noFill/>
          <a:ln w="0">
            <a:noFill/>
          </a:ln>
        </p:spPr>
        <p:txBody>
          <a:bodyPr wrap="square" lIns="0" tIns="0" rIns="0" bIns="0" anchor="t">
            <a:noAutofit/>
          </a:bodyPr>
          <a:lstStyle>
            <a:defPPr>
              <a:defRPr sz="1275" b="0">
                <a:solidFill>
                  <a:srgbClr val="000000"/>
                </a:solidFill>
                <a:latin typeface="Arial" panose="020B0604020202020204"/>
                <a:ea typeface="微软雅黑" panose="020B0503020204020204" charset="-122"/>
                <a:cs typeface="微软雅黑" panose="020B0503020204020204" charset="-122"/>
              </a:defRPr>
            </a:defPPr>
            <a:lvl1pPr>
              <a:defRPr sz="1275" b="0">
                <a:solidFill>
                  <a:srgbClr val="000000"/>
                </a:solidFill>
                <a:latin typeface="Arial" panose="020B0604020202020204"/>
                <a:ea typeface="微软雅黑" panose="020B0503020204020204" charset="-122"/>
                <a:cs typeface="微软雅黑" panose="020B0503020204020204" charset="-122"/>
              </a:defRPr>
            </a:lvl1pPr>
            <a:lvl2pPr>
              <a:defRPr sz="1275" b="0">
                <a:solidFill>
                  <a:srgbClr val="000000"/>
                </a:solidFill>
                <a:latin typeface="Arial" panose="020B0604020202020204"/>
                <a:ea typeface="微软雅黑" panose="020B0503020204020204" charset="-122"/>
                <a:cs typeface="微软雅黑" panose="020B0503020204020204" charset="-122"/>
              </a:defRPr>
            </a:lvl2pPr>
            <a:lvl3pPr>
              <a:defRPr sz="1275" b="0">
                <a:solidFill>
                  <a:srgbClr val="000000"/>
                </a:solidFill>
                <a:latin typeface="Arial" panose="020B0604020202020204"/>
                <a:ea typeface="微软雅黑" panose="020B0503020204020204" charset="-122"/>
                <a:cs typeface="微软雅黑" panose="020B0503020204020204" charset="-122"/>
              </a:defRPr>
            </a:lvl3pPr>
            <a:lvl4pPr>
              <a:defRPr sz="1275" b="0">
                <a:solidFill>
                  <a:srgbClr val="000000"/>
                </a:solidFill>
                <a:latin typeface="Arial" panose="020B0604020202020204"/>
                <a:ea typeface="微软雅黑" panose="020B0503020204020204" charset="-122"/>
                <a:cs typeface="微软雅黑" panose="020B0503020204020204" charset="-122"/>
              </a:defRPr>
            </a:lvl4pPr>
            <a:lvl5pPr>
              <a:defRPr sz="1275" b="0">
                <a:solidFill>
                  <a:srgbClr val="000000"/>
                </a:solidFill>
                <a:latin typeface="Arial" panose="020B0604020202020204"/>
                <a:ea typeface="微软雅黑" panose="020B0503020204020204" charset="-122"/>
                <a:cs typeface="微软雅黑" panose="020B0503020204020204" charset="-122"/>
              </a:defRPr>
            </a:lvl5pPr>
            <a:lvl6pPr>
              <a:defRPr sz="1275" b="0">
                <a:solidFill>
                  <a:srgbClr val="000000"/>
                </a:solidFill>
                <a:latin typeface="Arial" panose="020B0604020202020204"/>
                <a:ea typeface="微软雅黑" panose="020B0503020204020204" charset="-122"/>
                <a:cs typeface="微软雅黑" panose="020B0503020204020204" charset="-122"/>
              </a:defRPr>
            </a:lvl6pPr>
            <a:lvl7pPr>
              <a:defRPr sz="1275" b="0">
                <a:solidFill>
                  <a:srgbClr val="000000"/>
                </a:solidFill>
                <a:latin typeface="Arial" panose="020B0604020202020204"/>
                <a:ea typeface="微软雅黑" panose="020B0503020204020204" charset="-122"/>
                <a:cs typeface="微软雅黑" panose="020B0503020204020204" charset="-122"/>
              </a:defRPr>
            </a:lvl7pPr>
            <a:lvl8pPr>
              <a:defRPr sz="1275" b="0">
                <a:solidFill>
                  <a:srgbClr val="000000"/>
                </a:solidFill>
                <a:latin typeface="Arial" panose="020B0604020202020204"/>
                <a:ea typeface="微软雅黑" panose="020B0503020204020204" charset="-122"/>
                <a:cs typeface="微软雅黑" panose="020B0503020204020204" charset="-122"/>
              </a:defRPr>
            </a:lvl8pPr>
            <a:lvl9pPr>
              <a:defRPr sz="1275" b="0">
                <a:solidFill>
                  <a:srgbClr val="000000"/>
                </a:solidFill>
                <a:latin typeface="Arial" panose="020B0604020202020204"/>
                <a:ea typeface="微软雅黑" panose="020B0503020204020204" charset="-122"/>
                <a:cs typeface="微软雅黑" panose="020B0503020204020204" charset="-122"/>
              </a:defRPr>
            </a:lvl9pPr>
          </a:lstStyle>
          <a:p>
            <a:pPr marL="101600" indent="-76200">
              <a:buChar char="·"/>
              <a:defRPr sz="1275" b="0">
                <a:solidFill>
                  <a:srgbClr val="000000"/>
                </a:solidFill>
                <a:latin typeface="Arial" panose="020B0604020202020204"/>
                <a:ea typeface="微软雅黑" panose="020B0503020204020204" charset="-122"/>
                <a:cs typeface="微软雅黑" panose="020B0503020204020204" charset="-122"/>
              </a:defRPr>
            </a:pPr>
            <a:r>
              <a:t>CD：</a:t>
            </a:r>
            <a:r>
              <a:rPr lang="zh-CN"/>
              <a:t>不存在抑制输入，</a:t>
            </a:r>
            <a:r>
              <a:rPr lang="zh-CN" altLang="en-US"/>
              <a:t>因此无法</a:t>
            </a:r>
            <a:r>
              <a:rPr lang="zh-CN" altLang="en-US"/>
              <a:t>作图</a:t>
            </a:r>
            <a:endParaRPr lang="zh-CN" altLang="en-US"/>
          </a:p>
        </p:txBody>
      </p:sp>
      <p:sp>
        <p:nvSpPr>
          <p:cNvPr id="13" name="TAKEAWAY_HIGHLIGHT"/>
          <p:cNvSpPr>
            <a:spLocks noGrp="1"/>
          </p:cNvSpPr>
          <p:nvPr/>
        </p:nvSpPr>
        <p:spPr>
          <a:xfrm>
            <a:off x="876300" y="6238875"/>
            <a:ext cx="10439400" cy="485775"/>
          </a:xfrm>
          <a:prstGeom prst="rect">
            <a:avLst/>
          </a:prstGeom>
          <a:noFill/>
          <a:ln w="0">
            <a:noFill/>
          </a:ln>
        </p:spPr>
        <p:txBody>
          <a:bodyPr wrap="square" lIns="0" tIns="0" rIns="0" bIns="0" anchor="t">
            <a:noAutofit/>
          </a:bodyPr>
          <a:lstStyle>
            <a:defPPr>
              <a:defRPr sz="1600" b="0">
                <a:solidFill>
                  <a:srgbClr val="000000"/>
                </a:solidFill>
                <a:latin typeface="Arial" panose="020B0604020202020204"/>
                <a:ea typeface="微软雅黑" panose="020B0503020204020204" charset="-122"/>
                <a:cs typeface="微软雅黑" panose="020B0503020204020204" charset="-122"/>
              </a:defRPr>
            </a:defPPr>
            <a:lvl1pPr>
              <a:defRPr sz="1600" b="0">
                <a:solidFill>
                  <a:srgbClr val="000000"/>
                </a:solidFill>
                <a:latin typeface="Arial" panose="020B0604020202020204"/>
                <a:ea typeface="微软雅黑" panose="020B0503020204020204" charset="-122"/>
                <a:cs typeface="微软雅黑" panose="020B0503020204020204" charset="-122"/>
              </a:defRPr>
            </a:lvl1pPr>
            <a:lvl2pPr>
              <a:defRPr sz="1600" b="0">
                <a:solidFill>
                  <a:srgbClr val="000000"/>
                </a:solidFill>
                <a:latin typeface="Arial" panose="020B0604020202020204"/>
                <a:ea typeface="微软雅黑" panose="020B0503020204020204" charset="-122"/>
                <a:cs typeface="微软雅黑" panose="020B0503020204020204" charset="-122"/>
              </a:defRPr>
            </a:lvl2pPr>
            <a:lvl3pPr>
              <a:defRPr sz="1600" b="0">
                <a:solidFill>
                  <a:srgbClr val="000000"/>
                </a:solidFill>
                <a:latin typeface="Arial" panose="020B0604020202020204"/>
                <a:ea typeface="微软雅黑" panose="020B0503020204020204" charset="-122"/>
                <a:cs typeface="微软雅黑" panose="020B0503020204020204" charset="-122"/>
              </a:defRPr>
            </a:lvl3pPr>
            <a:lvl4pPr>
              <a:defRPr sz="1600" b="0">
                <a:solidFill>
                  <a:srgbClr val="000000"/>
                </a:solidFill>
                <a:latin typeface="Arial" panose="020B0604020202020204"/>
                <a:ea typeface="微软雅黑" panose="020B0503020204020204" charset="-122"/>
                <a:cs typeface="微软雅黑" panose="020B0503020204020204" charset="-122"/>
              </a:defRPr>
            </a:lvl4pPr>
            <a:lvl5pPr>
              <a:defRPr sz="1600" b="0">
                <a:solidFill>
                  <a:srgbClr val="000000"/>
                </a:solidFill>
                <a:latin typeface="Arial" panose="020B0604020202020204"/>
                <a:ea typeface="微软雅黑" panose="020B0503020204020204" charset="-122"/>
                <a:cs typeface="微软雅黑" panose="020B0503020204020204" charset="-122"/>
              </a:defRPr>
            </a:lvl5pPr>
            <a:lvl6pPr>
              <a:defRPr sz="1600" b="0">
                <a:solidFill>
                  <a:srgbClr val="000000"/>
                </a:solidFill>
                <a:latin typeface="Arial" panose="020B0604020202020204"/>
                <a:ea typeface="微软雅黑" panose="020B0503020204020204" charset="-122"/>
                <a:cs typeface="微软雅黑" panose="020B0503020204020204" charset="-122"/>
              </a:defRPr>
            </a:lvl6pPr>
            <a:lvl7pPr>
              <a:defRPr sz="1600" b="0">
                <a:solidFill>
                  <a:srgbClr val="000000"/>
                </a:solidFill>
                <a:latin typeface="Arial" panose="020B0604020202020204"/>
                <a:ea typeface="微软雅黑" panose="020B0503020204020204" charset="-122"/>
                <a:cs typeface="微软雅黑" panose="020B0503020204020204" charset="-122"/>
              </a:defRPr>
            </a:lvl7pPr>
            <a:lvl8pPr>
              <a:defRPr sz="1600" b="0">
                <a:solidFill>
                  <a:srgbClr val="000000"/>
                </a:solidFill>
                <a:latin typeface="Arial" panose="020B0604020202020204"/>
                <a:ea typeface="微软雅黑" panose="020B0503020204020204" charset="-122"/>
                <a:cs typeface="微软雅黑" panose="020B0503020204020204" charset="-122"/>
              </a:defRPr>
            </a:lvl8pPr>
            <a:lvl9pPr>
              <a:defRPr sz="1600" b="0">
                <a:solidFill>
                  <a:srgbClr val="000000"/>
                </a:solidFill>
                <a:latin typeface="Arial" panose="020B0604020202020204"/>
                <a:ea typeface="微软雅黑" panose="020B0503020204020204" charset="-122"/>
                <a:cs typeface="微软雅黑" panose="020B0503020204020204" charset="-122"/>
              </a:defRPr>
            </a:lvl9pPr>
          </a:lstStyle>
          <a:p>
            <a:pPr algn="ctr">
              <a:defRPr sz="1600" b="0">
                <a:solidFill>
                  <a:srgbClr val="000000"/>
                </a:solidFill>
                <a:latin typeface="Arial" panose="020B0604020202020204"/>
                <a:ea typeface="微软雅黑" panose="020B0503020204020204" charset="-122"/>
                <a:cs typeface="微软雅黑" panose="020B0503020204020204" charset="-122"/>
              </a:defRPr>
            </a:pPr>
            <a:r>
              <a:rPr lang="en-US" sz="1600" b="1">
                <a:solidFill>
                  <a:srgbClr val="000000"/>
                </a:solidFill>
                <a:highlight>
                  <a:srgbClr val="FFFF00"/>
                </a:highlight>
                <a:latin typeface="Arial" panose="020B0604020202020204"/>
                <a:ea typeface="微软雅黑" panose="020B0503020204020204" charset="-122"/>
                <a:cs typeface="微软雅黑" panose="020B0503020204020204" charset="-122"/>
              </a:rPr>
              <a:t>I→E</a:t>
            </a:r>
            <a:r>
              <a:rPr lang="zh-CN" altLang="en-US" sz="1600" b="1">
                <a:solidFill>
                  <a:srgbClr val="000000"/>
                </a:solidFill>
                <a:highlight>
                  <a:srgbClr val="FFFF00"/>
                </a:highlight>
                <a:latin typeface="Arial" panose="020B0604020202020204"/>
                <a:ea typeface="微软雅黑" panose="020B0503020204020204" charset="-122"/>
                <a:cs typeface="微软雅黑" panose="020B0503020204020204" charset="-122"/>
              </a:rPr>
              <a:t>的</a:t>
            </a:r>
            <a:r>
              <a:rPr sz="1600" b="1">
                <a:solidFill>
                  <a:srgbClr val="000000"/>
                </a:solidFill>
                <a:highlight>
                  <a:srgbClr val="FFFF00"/>
                </a:highlight>
                <a:latin typeface="Arial" panose="020B0604020202020204"/>
                <a:ea typeface="微软雅黑" panose="020B0503020204020204" charset="-122"/>
                <a:cs typeface="微软雅黑" panose="020B0503020204020204" charset="-122"/>
              </a:rPr>
              <a:t>可塑性</a:t>
            </a:r>
            <a:r>
              <a:rPr lang="zh-CN" sz="1600" b="1">
                <a:solidFill>
                  <a:srgbClr val="000000"/>
                </a:solidFill>
                <a:highlight>
                  <a:srgbClr val="FFFF00"/>
                </a:highlight>
                <a:latin typeface="Arial" panose="020B0604020202020204"/>
                <a:ea typeface="微软雅黑" panose="020B0503020204020204" charset="-122"/>
                <a:cs typeface="微软雅黑" panose="020B0503020204020204" charset="-122"/>
              </a:rPr>
              <a:t>规则使得抑制输入能更好地</a:t>
            </a:r>
            <a:r>
              <a:rPr sz="1600" b="1">
                <a:solidFill>
                  <a:srgbClr val="000000"/>
                </a:solidFill>
                <a:highlight>
                  <a:srgbClr val="FFFF00"/>
                </a:highlight>
                <a:latin typeface="Arial" panose="020B0604020202020204"/>
                <a:ea typeface="微软雅黑" panose="020B0503020204020204" charset="-122"/>
                <a:cs typeface="微软雅黑" panose="020B0503020204020204" charset="-122"/>
              </a:rPr>
              <a:t>匹配</a:t>
            </a:r>
            <a:r>
              <a:rPr lang="zh-CN" sz="1600" b="1">
                <a:solidFill>
                  <a:srgbClr val="000000"/>
                </a:solidFill>
                <a:highlight>
                  <a:srgbClr val="FFFF00"/>
                </a:highlight>
                <a:latin typeface="Arial" panose="020B0604020202020204"/>
                <a:ea typeface="微软雅黑" panose="020B0503020204020204" charset="-122"/>
                <a:cs typeface="微软雅黑" panose="020B0503020204020204" charset="-122"/>
              </a:rPr>
              <a:t>兴奋</a:t>
            </a:r>
            <a:r>
              <a:rPr sz="1600" b="1">
                <a:solidFill>
                  <a:srgbClr val="000000"/>
                </a:solidFill>
                <a:highlight>
                  <a:srgbClr val="FFFF00"/>
                </a:highlight>
                <a:latin typeface="Arial" panose="020B0604020202020204"/>
                <a:ea typeface="微软雅黑" panose="020B0503020204020204" charset="-122"/>
                <a:cs typeface="微软雅黑" panose="020B0503020204020204" charset="-122"/>
              </a:rPr>
              <a:t>输入</a:t>
            </a:r>
            <a:r>
              <a:rPr lang="zh-CN" sz="1600" b="1">
                <a:solidFill>
                  <a:srgbClr val="000000"/>
                </a:solidFill>
                <a:highlight>
                  <a:srgbClr val="FFFF00"/>
                </a:highlight>
                <a:latin typeface="Arial" panose="020B0604020202020204"/>
                <a:ea typeface="微软雅黑" panose="020B0503020204020204" charset="-122"/>
                <a:cs typeface="微软雅黑" panose="020B0503020204020204" charset="-122"/>
              </a:rPr>
              <a:t>，是</a:t>
            </a:r>
            <a:r>
              <a:rPr lang="en-US" altLang="zh-CN" sz="1600" b="1">
                <a:solidFill>
                  <a:srgbClr val="000000"/>
                </a:solidFill>
                <a:highlight>
                  <a:srgbClr val="FFFF00"/>
                </a:highlight>
                <a:latin typeface="Arial" panose="020B0604020202020204"/>
                <a:ea typeface="微软雅黑" panose="020B0503020204020204" charset="-122"/>
                <a:cs typeface="微软雅黑" panose="020B0503020204020204" charset="-122"/>
              </a:rPr>
              <a:t>loose balance</a:t>
            </a:r>
            <a:r>
              <a:rPr lang="zh-CN" altLang="en-US" sz="1600" b="1">
                <a:solidFill>
                  <a:srgbClr val="000000"/>
                </a:solidFill>
                <a:highlight>
                  <a:srgbClr val="FFFF00"/>
                </a:highlight>
                <a:latin typeface="Arial" panose="020B0604020202020204"/>
                <a:ea typeface="微软雅黑" panose="020B0503020204020204" charset="-122"/>
                <a:cs typeface="微软雅黑" panose="020B0503020204020204" charset="-122"/>
              </a:rPr>
              <a:t>的必要条件</a:t>
            </a:r>
            <a:r>
              <a:rPr sz="1600" b="1">
                <a:solidFill>
                  <a:srgbClr val="000000"/>
                </a:solidFill>
                <a:highlight>
                  <a:srgbClr val="FFFF00"/>
                </a:highlight>
                <a:latin typeface="Arial" panose="020B0604020202020204"/>
                <a:ea typeface="微软雅黑" panose="020B0503020204020204" charset="-122"/>
                <a:cs typeface="微软雅黑" panose="020B0503020204020204" charset="-122"/>
              </a:rPr>
              <a:t>。</a:t>
            </a:r>
            <a:endParaRPr sz="1600" b="1">
              <a:solidFill>
                <a:srgbClr val="000000"/>
              </a:solidFill>
              <a:highlight>
                <a:srgbClr val="FFFF00"/>
              </a:highlight>
              <a:latin typeface="Arial" panose="020B0604020202020204"/>
              <a:ea typeface="微软雅黑" panose="020B0503020204020204" charset="-122"/>
              <a:cs typeface="微软雅黑" panose="020B050302020402020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p:cNvSpPr>
            <a:spLocks noGrp="1"/>
          </p:cNvSpPr>
          <p:nvPr/>
        </p:nvSpPr>
        <p:spPr>
          <a:xfrm>
            <a:off x="457200" y="266700"/>
            <a:ext cx="10334625" cy="523875"/>
          </a:xfrm>
          <a:prstGeom prst="rect">
            <a:avLst/>
          </a:prstGeom>
          <a:noFill/>
          <a:ln w="0">
            <a:noFill/>
          </a:ln>
        </p:spPr>
        <p:txBody>
          <a:bodyPr wrap="square" lIns="0" tIns="0" rIns="0" bIns="0" anchor="t">
            <a:noAutofit/>
          </a:bodyPr>
          <a:lstStyle>
            <a:defPPr>
              <a:defRPr sz="2400" b="1">
                <a:solidFill>
                  <a:srgbClr val="000000"/>
                </a:solidFill>
                <a:latin typeface="Arial" panose="020B0604020202020204"/>
                <a:ea typeface="微软雅黑" panose="020B0503020204020204" charset="-122"/>
                <a:cs typeface="微软雅黑" panose="020B0503020204020204" charset="-122"/>
              </a:defRPr>
            </a:defPPr>
            <a:lvl1pPr>
              <a:defRPr sz="2400" b="1">
                <a:solidFill>
                  <a:srgbClr val="000000"/>
                </a:solidFill>
                <a:latin typeface="Arial" panose="020B0604020202020204"/>
                <a:ea typeface="微软雅黑" panose="020B0503020204020204" charset="-122"/>
                <a:cs typeface="微软雅黑" panose="020B0503020204020204" charset="-122"/>
              </a:defRPr>
            </a:lvl1pPr>
            <a:lvl2pPr>
              <a:defRPr sz="2400" b="1">
                <a:solidFill>
                  <a:srgbClr val="000000"/>
                </a:solidFill>
                <a:latin typeface="Arial" panose="020B0604020202020204"/>
                <a:ea typeface="微软雅黑" panose="020B0503020204020204" charset="-122"/>
                <a:cs typeface="微软雅黑" panose="020B0503020204020204" charset="-122"/>
              </a:defRPr>
            </a:lvl2pPr>
            <a:lvl3pPr>
              <a:defRPr sz="2400" b="1">
                <a:solidFill>
                  <a:srgbClr val="000000"/>
                </a:solidFill>
                <a:latin typeface="Arial" panose="020B0604020202020204"/>
                <a:ea typeface="微软雅黑" panose="020B0503020204020204" charset="-122"/>
                <a:cs typeface="微软雅黑" panose="020B0503020204020204" charset="-122"/>
              </a:defRPr>
            </a:lvl3pPr>
            <a:lvl4pPr>
              <a:defRPr sz="2400" b="1">
                <a:solidFill>
                  <a:srgbClr val="000000"/>
                </a:solidFill>
                <a:latin typeface="Arial" panose="020B0604020202020204"/>
                <a:ea typeface="微软雅黑" panose="020B0503020204020204" charset="-122"/>
                <a:cs typeface="微软雅黑" panose="020B0503020204020204" charset="-122"/>
              </a:defRPr>
            </a:lvl4pPr>
            <a:lvl5pPr>
              <a:defRPr sz="2400" b="1">
                <a:solidFill>
                  <a:srgbClr val="000000"/>
                </a:solidFill>
                <a:latin typeface="Arial" panose="020B0604020202020204"/>
                <a:ea typeface="微软雅黑" panose="020B0503020204020204" charset="-122"/>
                <a:cs typeface="微软雅黑" panose="020B0503020204020204" charset="-122"/>
              </a:defRPr>
            </a:lvl5pPr>
            <a:lvl6pPr>
              <a:defRPr sz="2400" b="1">
                <a:solidFill>
                  <a:srgbClr val="000000"/>
                </a:solidFill>
                <a:latin typeface="Arial" panose="020B0604020202020204"/>
                <a:ea typeface="微软雅黑" panose="020B0503020204020204" charset="-122"/>
                <a:cs typeface="微软雅黑" panose="020B0503020204020204" charset="-122"/>
              </a:defRPr>
            </a:lvl6pPr>
            <a:lvl7pPr>
              <a:defRPr sz="2400" b="1">
                <a:solidFill>
                  <a:srgbClr val="000000"/>
                </a:solidFill>
                <a:latin typeface="Arial" panose="020B0604020202020204"/>
                <a:ea typeface="微软雅黑" panose="020B0503020204020204" charset="-122"/>
                <a:cs typeface="微软雅黑" panose="020B0503020204020204" charset="-122"/>
              </a:defRPr>
            </a:lvl7pPr>
            <a:lvl8pPr>
              <a:defRPr sz="2400" b="1">
                <a:solidFill>
                  <a:srgbClr val="000000"/>
                </a:solidFill>
                <a:latin typeface="Arial" panose="020B0604020202020204"/>
                <a:ea typeface="微软雅黑" panose="020B0503020204020204" charset="-122"/>
                <a:cs typeface="微软雅黑" panose="020B0503020204020204" charset="-122"/>
              </a:defRPr>
            </a:lvl8pPr>
            <a:lvl9pPr>
              <a:defRPr sz="2400" b="1">
                <a:solidFill>
                  <a:srgbClr val="000000"/>
                </a:solidFill>
                <a:latin typeface="Arial" panose="020B0604020202020204"/>
                <a:ea typeface="微软雅黑" panose="020B0503020204020204" charset="-122"/>
                <a:cs typeface="微软雅黑" panose="020B0503020204020204" charset="-122"/>
              </a:defRPr>
            </a:lvl9pPr>
          </a:lstStyle>
          <a:p>
            <a:pPr>
              <a:defRPr sz="2400" b="1">
                <a:solidFill>
                  <a:srgbClr val="000000"/>
                </a:solidFill>
                <a:latin typeface="Arial" panose="020B0604020202020204"/>
                <a:ea typeface="微软雅黑" panose="020B0503020204020204" charset="-122"/>
                <a:cs typeface="微软雅黑" panose="020B0503020204020204" charset="-122"/>
              </a:defRPr>
            </a:pPr>
            <a:r>
              <a:rPr sz="2400" b="1">
                <a:solidFill>
                  <a:srgbClr val="000000"/>
                </a:solidFill>
                <a:latin typeface="Arial" panose="020B0604020202020204"/>
                <a:ea typeface="微软雅黑" panose="020B0503020204020204" charset="-122"/>
                <a:cs typeface="微软雅黑" panose="020B0503020204020204" charset="-122"/>
              </a:rPr>
              <a:t>保留完整稳态机制时的Tight balance</a:t>
            </a:r>
            <a:endParaRPr sz="2400" b="1">
              <a:solidFill>
                <a:srgbClr val="000000"/>
              </a:solidFill>
              <a:latin typeface="Arial" panose="020B0604020202020204"/>
              <a:ea typeface="微软雅黑" panose="020B0503020204020204" charset="-122"/>
              <a:cs typeface="微软雅黑" panose="020B0503020204020204" charset="-122"/>
            </a:endParaRPr>
          </a:p>
        </p:txBody>
      </p:sp>
      <p:pic>
        <p:nvPicPr>
          <p:cNvPr id="2" name="图片 1"/>
          <p:cNvPicPr>
            <a:picLocks noChangeAspect="1"/>
          </p:cNvPicPr>
          <p:nvPr/>
        </p:nvPicPr>
        <p:blipFill>
          <a:blip r:embed="rId1"/>
          <a:stretch>
            <a:fillRect/>
          </a:stretch>
        </p:blipFill>
        <p:spPr>
          <a:xfrm>
            <a:off x="10921365" y="0"/>
            <a:ext cx="1270635" cy="1270635"/>
          </a:xfrm>
          <a:prstGeom prst="rect">
            <a:avLst/>
          </a:prstGeom>
        </p:spPr>
      </p:pic>
      <p:sp>
        <p:nvSpPr>
          <p:cNvPr id="3" name="AD（完整机制）"/>
          <p:cNvSpPr>
            <a:spLocks noGrp="1"/>
          </p:cNvSpPr>
          <p:nvPr/>
        </p:nvSpPr>
        <p:spPr>
          <a:xfrm>
            <a:off x="1248410" y="934085"/>
            <a:ext cx="3829050" cy="266700"/>
          </a:xfrm>
          <a:prstGeom prst="rect">
            <a:avLst/>
          </a:prstGeom>
          <a:noFill/>
          <a:ln w="0">
            <a:noFill/>
          </a:ln>
        </p:spPr>
        <p:txBody>
          <a:bodyPr wrap="square" lIns="0" tIns="0" rIns="0" bIns="0" anchor="t">
            <a:noAutofit/>
          </a:bodyPr>
          <a:lstStyle>
            <a:defPPr>
              <a:defRPr sz="1350" b="1">
                <a:solidFill>
                  <a:srgbClr val="000000"/>
                </a:solidFill>
                <a:latin typeface="Arial" panose="020B0604020202020204"/>
                <a:ea typeface="微软雅黑" panose="020B0503020204020204" charset="-122"/>
                <a:cs typeface="微软雅黑" panose="020B0503020204020204" charset="-122"/>
              </a:defRPr>
            </a:defPPr>
            <a:lvl1pPr>
              <a:defRPr sz="1350" b="1">
                <a:solidFill>
                  <a:srgbClr val="000000"/>
                </a:solidFill>
                <a:latin typeface="Arial" panose="020B0604020202020204"/>
                <a:ea typeface="微软雅黑" panose="020B0503020204020204" charset="-122"/>
                <a:cs typeface="微软雅黑" panose="020B0503020204020204" charset="-122"/>
              </a:defRPr>
            </a:lvl1pPr>
            <a:lvl2pPr>
              <a:defRPr sz="1350" b="1">
                <a:solidFill>
                  <a:srgbClr val="000000"/>
                </a:solidFill>
                <a:latin typeface="Arial" panose="020B0604020202020204"/>
                <a:ea typeface="微软雅黑" panose="020B0503020204020204" charset="-122"/>
                <a:cs typeface="微软雅黑" panose="020B0503020204020204" charset="-122"/>
              </a:defRPr>
            </a:lvl2pPr>
            <a:lvl3pPr>
              <a:defRPr sz="1350" b="1">
                <a:solidFill>
                  <a:srgbClr val="000000"/>
                </a:solidFill>
                <a:latin typeface="Arial" panose="020B0604020202020204"/>
                <a:ea typeface="微软雅黑" panose="020B0503020204020204" charset="-122"/>
                <a:cs typeface="微软雅黑" panose="020B0503020204020204" charset="-122"/>
              </a:defRPr>
            </a:lvl3pPr>
            <a:lvl4pPr>
              <a:defRPr sz="1350" b="1">
                <a:solidFill>
                  <a:srgbClr val="000000"/>
                </a:solidFill>
                <a:latin typeface="Arial" panose="020B0604020202020204"/>
                <a:ea typeface="微软雅黑" panose="020B0503020204020204" charset="-122"/>
                <a:cs typeface="微软雅黑" panose="020B0503020204020204" charset="-122"/>
              </a:defRPr>
            </a:lvl4pPr>
            <a:lvl5pPr>
              <a:defRPr sz="1350" b="1">
                <a:solidFill>
                  <a:srgbClr val="000000"/>
                </a:solidFill>
                <a:latin typeface="Arial" panose="020B0604020202020204"/>
                <a:ea typeface="微软雅黑" panose="020B0503020204020204" charset="-122"/>
                <a:cs typeface="微软雅黑" panose="020B0503020204020204" charset="-122"/>
              </a:defRPr>
            </a:lvl5pPr>
            <a:lvl6pPr>
              <a:defRPr sz="1350" b="1">
                <a:solidFill>
                  <a:srgbClr val="000000"/>
                </a:solidFill>
                <a:latin typeface="Arial" panose="020B0604020202020204"/>
                <a:ea typeface="微软雅黑" panose="020B0503020204020204" charset="-122"/>
                <a:cs typeface="微软雅黑" panose="020B0503020204020204" charset="-122"/>
              </a:defRPr>
            </a:lvl6pPr>
            <a:lvl7pPr>
              <a:defRPr sz="1350" b="1">
                <a:solidFill>
                  <a:srgbClr val="000000"/>
                </a:solidFill>
                <a:latin typeface="Arial" panose="020B0604020202020204"/>
                <a:ea typeface="微软雅黑" panose="020B0503020204020204" charset="-122"/>
                <a:cs typeface="微软雅黑" panose="020B0503020204020204" charset="-122"/>
              </a:defRPr>
            </a:lvl7pPr>
            <a:lvl8pPr>
              <a:defRPr sz="1350" b="1">
                <a:solidFill>
                  <a:srgbClr val="000000"/>
                </a:solidFill>
                <a:latin typeface="Arial" panose="020B0604020202020204"/>
                <a:ea typeface="微软雅黑" panose="020B0503020204020204" charset="-122"/>
                <a:cs typeface="微软雅黑" panose="020B0503020204020204" charset="-122"/>
              </a:defRPr>
            </a:lvl8pPr>
            <a:lvl9pPr>
              <a:defRPr sz="1350" b="1">
                <a:solidFill>
                  <a:srgbClr val="000000"/>
                </a:solidFill>
                <a:latin typeface="Arial" panose="020B0604020202020204"/>
                <a:ea typeface="微软雅黑" panose="020B0503020204020204" charset="-122"/>
                <a:cs typeface="微软雅黑" panose="020B0503020204020204" charset="-122"/>
              </a:defRPr>
            </a:lvl9pPr>
          </a:lstStyle>
          <a:p>
            <a:pPr algn="ctr">
              <a:defRPr sz="1350" b="1">
                <a:solidFill>
                  <a:srgbClr val="000000"/>
                </a:solidFill>
                <a:latin typeface="Arial" panose="020B0604020202020204"/>
                <a:ea typeface="微软雅黑" panose="020B0503020204020204" charset="-122"/>
                <a:cs typeface="微软雅黑" panose="020B0503020204020204" charset="-122"/>
              </a:defRPr>
            </a:pPr>
            <a:r>
              <a:rPr sz="1350" b="1">
                <a:solidFill>
                  <a:srgbClr val="000000"/>
                </a:solidFill>
                <a:latin typeface="Arial" panose="020B0604020202020204"/>
                <a:ea typeface="微软雅黑" panose="020B0503020204020204" charset="-122"/>
                <a:cs typeface="微软雅黑" panose="020B0503020204020204" charset="-122"/>
              </a:rPr>
              <a:t>AD</a:t>
            </a:r>
            <a:r>
              <a:rPr>
                <a:sym typeface="+mn-ea"/>
              </a:rPr>
              <a:t>（</a:t>
            </a:r>
            <a:r>
              <a:rPr lang="en-US">
                <a:sym typeface="+mn-ea"/>
              </a:rPr>
              <a:t>Baseline</a:t>
            </a:r>
            <a:r>
              <a:rPr>
                <a:sym typeface="+mn-ea"/>
              </a:rPr>
              <a:t>）</a:t>
            </a:r>
            <a:endParaRPr sz="1350" b="1">
              <a:solidFill>
                <a:srgbClr val="000000"/>
              </a:solidFill>
              <a:latin typeface="Arial" panose="020B0604020202020204"/>
              <a:ea typeface="微软雅黑" panose="020B0503020204020204" charset="-122"/>
              <a:cs typeface="微软雅黑" panose="020B0503020204020204" charset="-122"/>
            </a:endParaRPr>
          </a:p>
        </p:txBody>
      </p:sp>
      <p:pic>
        <p:nvPicPr>
          <p:cNvPr id="4" name="图片 3"/>
          <p:cNvPicPr>
            <a:picLocks noChangeAspect="1"/>
          </p:cNvPicPr>
          <p:nvPr/>
        </p:nvPicPr>
        <p:blipFill>
          <a:blip r:embed="rId2"/>
          <a:stretch>
            <a:fillRect/>
          </a:stretch>
        </p:blipFill>
        <p:spPr>
          <a:xfrm>
            <a:off x="1186544" y="1329055"/>
            <a:ext cx="3743233" cy="3238500"/>
          </a:xfrm>
          <a:prstGeom prst="rect">
            <a:avLst/>
          </a:prstGeom>
        </p:spPr>
      </p:pic>
      <p:sp>
        <p:nvSpPr>
          <p:cNvPr id="5" name="BD（I→E可塑性 off）"/>
          <p:cNvSpPr>
            <a:spLocks noGrp="1"/>
          </p:cNvSpPr>
          <p:nvPr/>
        </p:nvSpPr>
        <p:spPr>
          <a:xfrm>
            <a:off x="7669530" y="932815"/>
            <a:ext cx="3829050" cy="266700"/>
          </a:xfrm>
          <a:prstGeom prst="rect">
            <a:avLst/>
          </a:prstGeom>
          <a:noFill/>
          <a:ln w="0">
            <a:noFill/>
          </a:ln>
        </p:spPr>
        <p:txBody>
          <a:bodyPr wrap="square" lIns="0" tIns="0" rIns="0" bIns="0" anchor="t">
            <a:noAutofit/>
          </a:bodyPr>
          <a:lstStyle>
            <a:defPPr>
              <a:defRPr sz="1350" b="1">
                <a:solidFill>
                  <a:srgbClr val="000000"/>
                </a:solidFill>
                <a:latin typeface="Arial" panose="020B0604020202020204"/>
                <a:ea typeface="微软雅黑" panose="020B0503020204020204" charset="-122"/>
                <a:cs typeface="微软雅黑" panose="020B0503020204020204" charset="-122"/>
              </a:defRPr>
            </a:defPPr>
            <a:lvl1pPr>
              <a:defRPr sz="1350" b="1">
                <a:solidFill>
                  <a:srgbClr val="000000"/>
                </a:solidFill>
                <a:latin typeface="Arial" panose="020B0604020202020204"/>
                <a:ea typeface="微软雅黑" panose="020B0503020204020204" charset="-122"/>
                <a:cs typeface="微软雅黑" panose="020B0503020204020204" charset="-122"/>
              </a:defRPr>
            </a:lvl1pPr>
            <a:lvl2pPr>
              <a:defRPr sz="1350" b="1">
                <a:solidFill>
                  <a:srgbClr val="000000"/>
                </a:solidFill>
                <a:latin typeface="Arial" panose="020B0604020202020204"/>
                <a:ea typeface="微软雅黑" panose="020B0503020204020204" charset="-122"/>
                <a:cs typeface="微软雅黑" panose="020B0503020204020204" charset="-122"/>
              </a:defRPr>
            </a:lvl2pPr>
            <a:lvl3pPr>
              <a:defRPr sz="1350" b="1">
                <a:solidFill>
                  <a:srgbClr val="000000"/>
                </a:solidFill>
                <a:latin typeface="Arial" panose="020B0604020202020204"/>
                <a:ea typeface="微软雅黑" panose="020B0503020204020204" charset="-122"/>
                <a:cs typeface="微软雅黑" panose="020B0503020204020204" charset="-122"/>
              </a:defRPr>
            </a:lvl3pPr>
            <a:lvl4pPr>
              <a:defRPr sz="1350" b="1">
                <a:solidFill>
                  <a:srgbClr val="000000"/>
                </a:solidFill>
                <a:latin typeface="Arial" panose="020B0604020202020204"/>
                <a:ea typeface="微软雅黑" panose="020B0503020204020204" charset="-122"/>
                <a:cs typeface="微软雅黑" panose="020B0503020204020204" charset="-122"/>
              </a:defRPr>
            </a:lvl4pPr>
            <a:lvl5pPr>
              <a:defRPr sz="1350" b="1">
                <a:solidFill>
                  <a:srgbClr val="000000"/>
                </a:solidFill>
                <a:latin typeface="Arial" panose="020B0604020202020204"/>
                <a:ea typeface="微软雅黑" panose="020B0503020204020204" charset="-122"/>
                <a:cs typeface="微软雅黑" panose="020B0503020204020204" charset="-122"/>
              </a:defRPr>
            </a:lvl5pPr>
            <a:lvl6pPr>
              <a:defRPr sz="1350" b="1">
                <a:solidFill>
                  <a:srgbClr val="000000"/>
                </a:solidFill>
                <a:latin typeface="Arial" panose="020B0604020202020204"/>
                <a:ea typeface="微软雅黑" panose="020B0503020204020204" charset="-122"/>
                <a:cs typeface="微软雅黑" panose="020B0503020204020204" charset="-122"/>
              </a:defRPr>
            </a:lvl6pPr>
            <a:lvl7pPr>
              <a:defRPr sz="1350" b="1">
                <a:solidFill>
                  <a:srgbClr val="000000"/>
                </a:solidFill>
                <a:latin typeface="Arial" panose="020B0604020202020204"/>
                <a:ea typeface="微软雅黑" panose="020B0503020204020204" charset="-122"/>
                <a:cs typeface="微软雅黑" panose="020B0503020204020204" charset="-122"/>
              </a:defRPr>
            </a:lvl7pPr>
            <a:lvl8pPr>
              <a:defRPr sz="1350" b="1">
                <a:solidFill>
                  <a:srgbClr val="000000"/>
                </a:solidFill>
                <a:latin typeface="Arial" panose="020B0604020202020204"/>
                <a:ea typeface="微软雅黑" panose="020B0503020204020204" charset="-122"/>
                <a:cs typeface="微软雅黑" panose="020B0503020204020204" charset="-122"/>
              </a:defRPr>
            </a:lvl8pPr>
            <a:lvl9pPr>
              <a:defRPr sz="1350" b="1">
                <a:solidFill>
                  <a:srgbClr val="000000"/>
                </a:solidFill>
                <a:latin typeface="Arial" panose="020B0604020202020204"/>
                <a:ea typeface="微软雅黑" panose="020B0503020204020204" charset="-122"/>
                <a:cs typeface="微软雅黑" panose="020B0503020204020204" charset="-122"/>
              </a:defRPr>
            </a:lvl9pPr>
          </a:lstStyle>
          <a:p>
            <a:pPr algn="ctr">
              <a:defRPr sz="1350" b="1">
                <a:solidFill>
                  <a:srgbClr val="000000"/>
                </a:solidFill>
                <a:latin typeface="Arial" panose="020B0604020202020204"/>
                <a:ea typeface="微软雅黑" panose="020B0503020204020204" charset="-122"/>
                <a:cs typeface="微软雅黑" panose="020B0503020204020204" charset="-122"/>
              </a:defRPr>
            </a:pPr>
            <a:r>
              <a:rPr sz="1350" b="1">
                <a:solidFill>
                  <a:srgbClr val="000000"/>
                </a:solidFill>
                <a:latin typeface="Arial" panose="020B0604020202020204"/>
                <a:ea typeface="微软雅黑" panose="020B0503020204020204" charset="-122"/>
                <a:cs typeface="微软雅黑" panose="020B0503020204020204" charset="-122"/>
              </a:rPr>
              <a:t>BD（I→E可塑性 off）</a:t>
            </a:r>
            <a:endParaRPr sz="1350" b="1">
              <a:solidFill>
                <a:srgbClr val="000000"/>
              </a:solidFill>
              <a:latin typeface="Arial" panose="020B0604020202020204"/>
              <a:ea typeface="微软雅黑" panose="020B0503020204020204" charset="-122"/>
              <a:cs typeface="微软雅黑" panose="020B0503020204020204" charset="-122"/>
            </a:endParaRPr>
          </a:p>
        </p:txBody>
      </p:sp>
      <p:pic>
        <p:nvPicPr>
          <p:cNvPr id="6" name="图片 5"/>
          <p:cNvPicPr>
            <a:picLocks noChangeAspect="1"/>
          </p:cNvPicPr>
          <p:nvPr/>
        </p:nvPicPr>
        <p:blipFill>
          <a:blip r:embed="rId3"/>
          <a:stretch>
            <a:fillRect/>
          </a:stretch>
        </p:blipFill>
        <p:spPr>
          <a:xfrm>
            <a:off x="7447644" y="1328420"/>
            <a:ext cx="3743233" cy="3238500"/>
          </a:xfrm>
          <a:prstGeom prst="rect">
            <a:avLst/>
          </a:prstGeom>
        </p:spPr>
      </p:pic>
      <p:sp>
        <p:nvSpPr>
          <p:cNvPr id="10" name="AD：零附近出现正相关峰，兴奋和抑制波动具有时间联系。"/>
          <p:cNvSpPr>
            <a:spLocks noGrp="1"/>
          </p:cNvSpPr>
          <p:nvPr/>
        </p:nvSpPr>
        <p:spPr>
          <a:xfrm>
            <a:off x="333375" y="5229225"/>
            <a:ext cx="11487150" cy="252031"/>
          </a:xfrm>
          <a:prstGeom prst="rect">
            <a:avLst/>
          </a:prstGeom>
          <a:noFill/>
          <a:ln w="0">
            <a:noFill/>
          </a:ln>
        </p:spPr>
        <p:txBody>
          <a:bodyPr wrap="square" lIns="0" tIns="0" rIns="0" bIns="0" anchor="t">
            <a:noAutofit/>
          </a:bodyPr>
          <a:lstStyle>
            <a:defPPr>
              <a:defRPr sz="1275" b="0">
                <a:solidFill>
                  <a:srgbClr val="000000"/>
                </a:solidFill>
                <a:latin typeface="Arial" panose="020B0604020202020204"/>
                <a:ea typeface="微软雅黑" panose="020B0503020204020204" charset="-122"/>
                <a:cs typeface="微软雅黑" panose="020B0503020204020204" charset="-122"/>
              </a:defRPr>
            </a:defPPr>
            <a:lvl1pPr>
              <a:defRPr sz="1275" b="0">
                <a:solidFill>
                  <a:srgbClr val="000000"/>
                </a:solidFill>
                <a:latin typeface="Arial" panose="020B0604020202020204"/>
                <a:ea typeface="微软雅黑" panose="020B0503020204020204" charset="-122"/>
                <a:cs typeface="微软雅黑" panose="020B0503020204020204" charset="-122"/>
              </a:defRPr>
            </a:lvl1pPr>
            <a:lvl2pPr>
              <a:defRPr sz="1275" b="0">
                <a:solidFill>
                  <a:srgbClr val="000000"/>
                </a:solidFill>
                <a:latin typeface="Arial" panose="020B0604020202020204"/>
                <a:ea typeface="微软雅黑" panose="020B0503020204020204" charset="-122"/>
                <a:cs typeface="微软雅黑" panose="020B0503020204020204" charset="-122"/>
              </a:defRPr>
            </a:lvl2pPr>
            <a:lvl3pPr>
              <a:defRPr sz="1275" b="0">
                <a:solidFill>
                  <a:srgbClr val="000000"/>
                </a:solidFill>
                <a:latin typeface="Arial" panose="020B0604020202020204"/>
                <a:ea typeface="微软雅黑" panose="020B0503020204020204" charset="-122"/>
                <a:cs typeface="微软雅黑" panose="020B0503020204020204" charset="-122"/>
              </a:defRPr>
            </a:lvl3pPr>
            <a:lvl4pPr>
              <a:defRPr sz="1275" b="0">
                <a:solidFill>
                  <a:srgbClr val="000000"/>
                </a:solidFill>
                <a:latin typeface="Arial" panose="020B0604020202020204"/>
                <a:ea typeface="微软雅黑" panose="020B0503020204020204" charset="-122"/>
                <a:cs typeface="微软雅黑" panose="020B0503020204020204" charset="-122"/>
              </a:defRPr>
            </a:lvl4pPr>
            <a:lvl5pPr>
              <a:defRPr sz="1275" b="0">
                <a:solidFill>
                  <a:srgbClr val="000000"/>
                </a:solidFill>
                <a:latin typeface="Arial" panose="020B0604020202020204"/>
                <a:ea typeface="微软雅黑" panose="020B0503020204020204" charset="-122"/>
                <a:cs typeface="微软雅黑" panose="020B0503020204020204" charset="-122"/>
              </a:defRPr>
            </a:lvl5pPr>
            <a:lvl6pPr>
              <a:defRPr sz="1275" b="0">
                <a:solidFill>
                  <a:srgbClr val="000000"/>
                </a:solidFill>
                <a:latin typeface="Arial" panose="020B0604020202020204"/>
                <a:ea typeface="微软雅黑" panose="020B0503020204020204" charset="-122"/>
                <a:cs typeface="微软雅黑" panose="020B0503020204020204" charset="-122"/>
              </a:defRPr>
            </a:lvl6pPr>
            <a:lvl7pPr>
              <a:defRPr sz="1275" b="0">
                <a:solidFill>
                  <a:srgbClr val="000000"/>
                </a:solidFill>
                <a:latin typeface="Arial" panose="020B0604020202020204"/>
                <a:ea typeface="微软雅黑" panose="020B0503020204020204" charset="-122"/>
                <a:cs typeface="微软雅黑" panose="020B0503020204020204" charset="-122"/>
              </a:defRPr>
            </a:lvl7pPr>
            <a:lvl8pPr>
              <a:defRPr sz="1275" b="0">
                <a:solidFill>
                  <a:srgbClr val="000000"/>
                </a:solidFill>
                <a:latin typeface="Arial" panose="020B0604020202020204"/>
                <a:ea typeface="微软雅黑" panose="020B0503020204020204" charset="-122"/>
                <a:cs typeface="微软雅黑" panose="020B0503020204020204" charset="-122"/>
              </a:defRPr>
            </a:lvl8pPr>
            <a:lvl9pPr>
              <a:defRPr sz="1275" b="0">
                <a:solidFill>
                  <a:srgbClr val="000000"/>
                </a:solidFill>
                <a:latin typeface="Arial" panose="020B0604020202020204"/>
                <a:ea typeface="微软雅黑" panose="020B0503020204020204" charset="-122"/>
                <a:cs typeface="微软雅黑" panose="020B0503020204020204" charset="-122"/>
              </a:defRPr>
            </a:lvl9pPr>
          </a:lstStyle>
          <a:p>
            <a:pPr marL="101600" indent="-76200">
              <a:buChar char="·"/>
              <a:defRPr sz="1350" b="0">
                <a:solidFill>
                  <a:srgbClr val="000000"/>
                </a:solidFill>
                <a:latin typeface="Arial" panose="020B0604020202020204"/>
                <a:ea typeface="微软雅黑" panose="020B0503020204020204" charset="-122"/>
                <a:cs typeface="微软雅黑" panose="020B0503020204020204" charset="-122"/>
              </a:defRPr>
            </a:pPr>
            <a:r>
              <a:t>AD：</a:t>
            </a:r>
            <a:r>
              <a:rPr lang="zh-CN" altLang="en-US" sz="1275">
                <a:sym typeface="+mn-ea"/>
              </a:rPr>
              <a:t>相关系数的峰值为 0.505，对应的时间延迟为 1.676 </a:t>
            </a:r>
            <a:r>
              <a:rPr lang="en-US" altLang="zh-CN" sz="1275">
                <a:sym typeface="+mn-ea"/>
              </a:rPr>
              <a:t>ms，</a:t>
            </a:r>
            <a:r>
              <a:rPr lang="zh-CN" altLang="en-US" sz="1275">
                <a:sym typeface="+mn-ea"/>
              </a:rPr>
              <a:t>表明抑制滞后于兴奋，反应出网络训练出了</a:t>
            </a:r>
            <a:r>
              <a:rPr lang="zh-CN" altLang="en-US" sz="1275">
                <a:sym typeface="+mn-ea"/>
              </a:rPr>
              <a:t>毫秒尺度下的</a:t>
            </a:r>
            <a:r>
              <a:rPr lang="en-US" altLang="zh-CN" sz="1275">
                <a:sym typeface="+mn-ea"/>
              </a:rPr>
              <a:t>tight balance</a:t>
            </a:r>
            <a:r>
              <a:rPr lang="zh-CN" altLang="en-US" sz="1275">
                <a:sym typeface="+mn-ea"/>
              </a:rPr>
              <a:t>。</a:t>
            </a:r>
          </a:p>
        </p:txBody>
      </p:sp>
      <p:sp>
        <p:nvSpPr>
          <p:cNvPr id="11" name="BD：当前所选细胞仍有正峰，不同图片的曲线分散、零延迟误差条"/>
          <p:cNvSpPr>
            <a:spLocks noGrp="1"/>
          </p:cNvSpPr>
          <p:nvPr/>
        </p:nvSpPr>
        <p:spPr>
          <a:xfrm>
            <a:off x="333375" y="5557457"/>
            <a:ext cx="11487150" cy="252031"/>
          </a:xfrm>
          <a:prstGeom prst="rect">
            <a:avLst/>
          </a:prstGeom>
          <a:noFill/>
          <a:ln w="0">
            <a:noFill/>
          </a:ln>
        </p:spPr>
        <p:txBody>
          <a:bodyPr wrap="square" lIns="0" tIns="0" rIns="0" bIns="0" anchor="t">
            <a:noAutofit/>
          </a:bodyPr>
          <a:lstStyle>
            <a:defPPr>
              <a:defRPr sz="1275" b="0">
                <a:solidFill>
                  <a:srgbClr val="000000"/>
                </a:solidFill>
                <a:latin typeface="Arial" panose="020B0604020202020204"/>
                <a:ea typeface="微软雅黑" panose="020B0503020204020204" charset="-122"/>
                <a:cs typeface="微软雅黑" panose="020B0503020204020204" charset="-122"/>
              </a:defRPr>
            </a:defPPr>
            <a:lvl1pPr>
              <a:defRPr sz="1275" b="0">
                <a:solidFill>
                  <a:srgbClr val="000000"/>
                </a:solidFill>
                <a:latin typeface="Arial" panose="020B0604020202020204"/>
                <a:ea typeface="微软雅黑" panose="020B0503020204020204" charset="-122"/>
                <a:cs typeface="微软雅黑" panose="020B0503020204020204" charset="-122"/>
              </a:defRPr>
            </a:lvl1pPr>
            <a:lvl2pPr>
              <a:defRPr sz="1275" b="0">
                <a:solidFill>
                  <a:srgbClr val="000000"/>
                </a:solidFill>
                <a:latin typeface="Arial" panose="020B0604020202020204"/>
                <a:ea typeface="微软雅黑" panose="020B0503020204020204" charset="-122"/>
                <a:cs typeface="微软雅黑" panose="020B0503020204020204" charset="-122"/>
              </a:defRPr>
            </a:lvl2pPr>
            <a:lvl3pPr>
              <a:defRPr sz="1275" b="0">
                <a:solidFill>
                  <a:srgbClr val="000000"/>
                </a:solidFill>
                <a:latin typeface="Arial" panose="020B0604020202020204"/>
                <a:ea typeface="微软雅黑" panose="020B0503020204020204" charset="-122"/>
                <a:cs typeface="微软雅黑" panose="020B0503020204020204" charset="-122"/>
              </a:defRPr>
            </a:lvl3pPr>
            <a:lvl4pPr>
              <a:defRPr sz="1275" b="0">
                <a:solidFill>
                  <a:srgbClr val="000000"/>
                </a:solidFill>
                <a:latin typeface="Arial" panose="020B0604020202020204"/>
                <a:ea typeface="微软雅黑" panose="020B0503020204020204" charset="-122"/>
                <a:cs typeface="微软雅黑" panose="020B0503020204020204" charset="-122"/>
              </a:defRPr>
            </a:lvl4pPr>
            <a:lvl5pPr>
              <a:defRPr sz="1275" b="0">
                <a:solidFill>
                  <a:srgbClr val="000000"/>
                </a:solidFill>
                <a:latin typeface="Arial" panose="020B0604020202020204"/>
                <a:ea typeface="微软雅黑" panose="020B0503020204020204" charset="-122"/>
                <a:cs typeface="微软雅黑" panose="020B0503020204020204" charset="-122"/>
              </a:defRPr>
            </a:lvl5pPr>
            <a:lvl6pPr>
              <a:defRPr sz="1275" b="0">
                <a:solidFill>
                  <a:srgbClr val="000000"/>
                </a:solidFill>
                <a:latin typeface="Arial" panose="020B0604020202020204"/>
                <a:ea typeface="微软雅黑" panose="020B0503020204020204" charset="-122"/>
                <a:cs typeface="微软雅黑" panose="020B0503020204020204" charset="-122"/>
              </a:defRPr>
            </a:lvl6pPr>
            <a:lvl7pPr>
              <a:defRPr sz="1275" b="0">
                <a:solidFill>
                  <a:srgbClr val="000000"/>
                </a:solidFill>
                <a:latin typeface="Arial" panose="020B0604020202020204"/>
                <a:ea typeface="微软雅黑" panose="020B0503020204020204" charset="-122"/>
                <a:cs typeface="微软雅黑" panose="020B0503020204020204" charset="-122"/>
              </a:defRPr>
            </a:lvl7pPr>
            <a:lvl8pPr>
              <a:defRPr sz="1275" b="0">
                <a:solidFill>
                  <a:srgbClr val="000000"/>
                </a:solidFill>
                <a:latin typeface="Arial" panose="020B0604020202020204"/>
                <a:ea typeface="微软雅黑" panose="020B0503020204020204" charset="-122"/>
                <a:cs typeface="微软雅黑" panose="020B0503020204020204" charset="-122"/>
              </a:defRPr>
            </a:lvl8pPr>
            <a:lvl9pPr>
              <a:defRPr sz="1275" b="0">
                <a:solidFill>
                  <a:srgbClr val="000000"/>
                </a:solidFill>
                <a:latin typeface="Arial" panose="020B0604020202020204"/>
                <a:ea typeface="微软雅黑" panose="020B0503020204020204" charset="-122"/>
                <a:cs typeface="微软雅黑" panose="020B0503020204020204" charset="-122"/>
              </a:defRPr>
            </a:lvl9pPr>
          </a:lstStyle>
          <a:p>
            <a:pPr marL="101600" indent="-76200">
              <a:buChar char="·"/>
              <a:defRPr sz="1275" b="0">
                <a:solidFill>
                  <a:srgbClr val="000000"/>
                </a:solidFill>
                <a:latin typeface="Arial" panose="020B0604020202020204"/>
                <a:ea typeface="微软雅黑" panose="020B0503020204020204" charset="-122"/>
                <a:cs typeface="微软雅黑" panose="020B0503020204020204" charset="-122"/>
              </a:defRPr>
            </a:pPr>
            <a:r>
              <a:t>BD：</a:t>
            </a:r>
            <a:r>
              <a:rPr lang="zh-CN"/>
              <a:t>相关系数仍存在峰值约为</a:t>
            </a:r>
            <a:r>
              <a:rPr lang="en-US" altLang="zh-CN"/>
              <a:t> 0.496</a:t>
            </a:r>
            <a:r>
              <a:t>，</a:t>
            </a:r>
            <a:r>
              <a:rPr lang="zh-CN"/>
              <a:t>但</a:t>
            </a:r>
            <a:r>
              <a:t>不同图片的曲线分散、</a:t>
            </a:r>
            <a:r>
              <a:rPr lang="zh-CN"/>
              <a:t>波动</a:t>
            </a:r>
            <a:r>
              <a:t>较大，</a:t>
            </a:r>
            <a:r>
              <a:rPr lang="zh-CN"/>
              <a:t>这</a:t>
            </a:r>
            <a:r>
              <a:rPr lang="zh-CN" b="1">
                <a:highlight>
                  <a:srgbClr val="FFFF00"/>
                </a:highlight>
              </a:rPr>
              <a:t>说明</a:t>
            </a:r>
            <a:r>
              <a:rPr lang="en-US" altLang="zh-CN" b="1">
                <a:highlight>
                  <a:srgbClr val="FFFF00"/>
                </a:highlight>
              </a:rPr>
              <a:t>I→E</a:t>
            </a:r>
            <a:r>
              <a:rPr lang="zh-CN" altLang="en-US" b="1">
                <a:highlight>
                  <a:srgbClr val="FFFF00"/>
                </a:highlight>
              </a:rPr>
              <a:t>的可塑性规则能够让网络形成更稳定的</a:t>
            </a:r>
            <a:r>
              <a:rPr lang="en-US" altLang="zh-CN" b="1">
                <a:highlight>
                  <a:srgbClr val="FFFF00"/>
                </a:highlight>
              </a:rPr>
              <a:t>tight balance</a:t>
            </a:r>
            <a:endParaRPr lang="en-US" altLang="zh-CN" b="1">
              <a:highlight>
                <a:srgbClr val="FFFF00"/>
              </a:highlight>
            </a:endParaRPr>
          </a:p>
        </p:txBody>
      </p:sp>
      <p:sp>
        <p:nvSpPr>
          <p:cNvPr id="12" name="CD：抑制输入为0，因此互相关无法计算，不能写成“相关系数为"/>
          <p:cNvSpPr>
            <a:spLocks noGrp="1"/>
          </p:cNvSpPr>
          <p:nvPr/>
        </p:nvSpPr>
        <p:spPr>
          <a:xfrm>
            <a:off x="333375" y="5885688"/>
            <a:ext cx="11487150" cy="252031"/>
          </a:xfrm>
          <a:prstGeom prst="rect">
            <a:avLst/>
          </a:prstGeom>
          <a:noFill/>
          <a:ln w="0">
            <a:noFill/>
          </a:ln>
        </p:spPr>
        <p:txBody>
          <a:bodyPr wrap="square" lIns="0" tIns="0" rIns="0" bIns="0" anchor="t">
            <a:noAutofit/>
          </a:bodyPr>
          <a:lstStyle>
            <a:defPPr>
              <a:defRPr sz="1275" b="0">
                <a:solidFill>
                  <a:srgbClr val="000000"/>
                </a:solidFill>
                <a:latin typeface="Arial" panose="020B0604020202020204"/>
                <a:ea typeface="微软雅黑" panose="020B0503020204020204" charset="-122"/>
                <a:cs typeface="微软雅黑" panose="020B0503020204020204" charset="-122"/>
              </a:defRPr>
            </a:defPPr>
            <a:lvl1pPr>
              <a:defRPr sz="1275" b="0">
                <a:solidFill>
                  <a:srgbClr val="000000"/>
                </a:solidFill>
                <a:latin typeface="Arial" panose="020B0604020202020204"/>
                <a:ea typeface="微软雅黑" panose="020B0503020204020204" charset="-122"/>
                <a:cs typeface="微软雅黑" panose="020B0503020204020204" charset="-122"/>
              </a:defRPr>
            </a:lvl1pPr>
            <a:lvl2pPr>
              <a:defRPr sz="1275" b="0">
                <a:solidFill>
                  <a:srgbClr val="000000"/>
                </a:solidFill>
                <a:latin typeface="Arial" panose="020B0604020202020204"/>
                <a:ea typeface="微软雅黑" panose="020B0503020204020204" charset="-122"/>
                <a:cs typeface="微软雅黑" panose="020B0503020204020204" charset="-122"/>
              </a:defRPr>
            </a:lvl2pPr>
            <a:lvl3pPr>
              <a:defRPr sz="1275" b="0">
                <a:solidFill>
                  <a:srgbClr val="000000"/>
                </a:solidFill>
                <a:latin typeface="Arial" panose="020B0604020202020204"/>
                <a:ea typeface="微软雅黑" panose="020B0503020204020204" charset="-122"/>
                <a:cs typeface="微软雅黑" panose="020B0503020204020204" charset="-122"/>
              </a:defRPr>
            </a:lvl3pPr>
            <a:lvl4pPr>
              <a:defRPr sz="1275" b="0">
                <a:solidFill>
                  <a:srgbClr val="000000"/>
                </a:solidFill>
                <a:latin typeface="Arial" panose="020B0604020202020204"/>
                <a:ea typeface="微软雅黑" panose="020B0503020204020204" charset="-122"/>
                <a:cs typeface="微软雅黑" panose="020B0503020204020204" charset="-122"/>
              </a:defRPr>
            </a:lvl4pPr>
            <a:lvl5pPr>
              <a:defRPr sz="1275" b="0">
                <a:solidFill>
                  <a:srgbClr val="000000"/>
                </a:solidFill>
                <a:latin typeface="Arial" panose="020B0604020202020204"/>
                <a:ea typeface="微软雅黑" panose="020B0503020204020204" charset="-122"/>
                <a:cs typeface="微软雅黑" panose="020B0503020204020204" charset="-122"/>
              </a:defRPr>
            </a:lvl5pPr>
            <a:lvl6pPr>
              <a:defRPr sz="1275" b="0">
                <a:solidFill>
                  <a:srgbClr val="000000"/>
                </a:solidFill>
                <a:latin typeface="Arial" panose="020B0604020202020204"/>
                <a:ea typeface="微软雅黑" panose="020B0503020204020204" charset="-122"/>
                <a:cs typeface="微软雅黑" panose="020B0503020204020204" charset="-122"/>
              </a:defRPr>
            </a:lvl6pPr>
            <a:lvl7pPr>
              <a:defRPr sz="1275" b="0">
                <a:solidFill>
                  <a:srgbClr val="000000"/>
                </a:solidFill>
                <a:latin typeface="Arial" panose="020B0604020202020204"/>
                <a:ea typeface="微软雅黑" panose="020B0503020204020204" charset="-122"/>
                <a:cs typeface="微软雅黑" panose="020B0503020204020204" charset="-122"/>
              </a:defRPr>
            </a:lvl7pPr>
            <a:lvl8pPr>
              <a:defRPr sz="1275" b="0">
                <a:solidFill>
                  <a:srgbClr val="000000"/>
                </a:solidFill>
                <a:latin typeface="Arial" panose="020B0604020202020204"/>
                <a:ea typeface="微软雅黑" panose="020B0503020204020204" charset="-122"/>
                <a:cs typeface="微软雅黑" panose="020B0503020204020204" charset="-122"/>
              </a:defRPr>
            </a:lvl8pPr>
            <a:lvl9pPr>
              <a:defRPr sz="1275" b="0">
                <a:solidFill>
                  <a:srgbClr val="000000"/>
                </a:solidFill>
                <a:latin typeface="Arial" panose="020B0604020202020204"/>
                <a:ea typeface="微软雅黑" panose="020B0503020204020204" charset="-122"/>
                <a:cs typeface="微软雅黑" panose="020B0503020204020204" charset="-122"/>
              </a:defRPr>
            </a:lvl9pPr>
          </a:lstStyle>
          <a:p>
            <a:pPr marL="101600" indent="-76200">
              <a:buChar char="·"/>
              <a:defRPr sz="1275" b="0">
                <a:solidFill>
                  <a:srgbClr val="000000"/>
                </a:solidFill>
                <a:latin typeface="Arial" panose="020B0604020202020204"/>
                <a:ea typeface="微软雅黑" panose="020B0503020204020204" charset="-122"/>
                <a:cs typeface="微软雅黑" panose="020B0503020204020204" charset="-122"/>
              </a:defRPr>
            </a:pPr>
            <a:r>
              <a:t>CD：</a:t>
            </a:r>
            <a:r>
              <a:rPr lang="zh-CN"/>
              <a:t>由于关闭了</a:t>
            </a:r>
            <a:r>
              <a:rPr lang="en-US" altLang="zh-CN"/>
              <a:t>I→E</a:t>
            </a:r>
            <a:r>
              <a:rPr lang="zh-CN" altLang="en-US"/>
              <a:t>的连接</a:t>
            </a:r>
            <a:r>
              <a:t>，因此相关</a:t>
            </a:r>
            <a:r>
              <a:rPr lang="zh-CN"/>
              <a:t>系数</a:t>
            </a:r>
            <a:r>
              <a:t>无法计算。</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p:nvPr/>
        </p:nvPicPr>
        <p:blipFill>
          <a:blip r:embed="rId1"/>
          <a:stretch>
            <a:fillRect/>
          </a:stretch>
        </p:blipFill>
        <p:spPr>
          <a:xfrm>
            <a:off x="10922000" y="0"/>
            <a:ext cx="1270000" cy="1270000"/>
          </a:xfrm>
          <a:prstGeom prst="rect">
            <a:avLst/>
          </a:prstGeom>
        </p:spPr>
      </p:pic>
      <p:sp>
        <p:nvSpPr>
          <p:cNvPr id="16" name="标题 1"/>
          <p:cNvSpPr txBox="1"/>
          <p:nvPr/>
        </p:nvSpPr>
        <p:spPr>
          <a:xfrm>
            <a:off x="436880" y="401955"/>
            <a:ext cx="7853045" cy="46609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a:ea typeface="微软雅黑" panose="020B0503020204020204" charset="-122"/>
                <a:cs typeface="Arial" panose="020B0604020202020204"/>
              </a:defRPr>
            </a:lvl1pPr>
          </a:lstStyle>
          <a:p>
            <a:pPr algn="l"/>
            <a:r>
              <a:rPr lang="zh-CN" altLang="en-US" sz="2400" b="1" dirty="0">
                <a:latin typeface="Arial" panose="020B0604020202020204"/>
                <a:ea typeface="微软雅黑" panose="020B0503020204020204" charset="-122"/>
                <a:cs typeface="Arial" panose="020B0604020202020204"/>
              </a:rPr>
              <a:t>四种机制</a:t>
            </a:r>
            <a:r>
              <a:rPr lang="zh-CN" altLang="en-US" sz="2400" b="1" dirty="0">
                <a:latin typeface="Arial" panose="020B0604020202020204"/>
                <a:ea typeface="微软雅黑" panose="020B0503020204020204" charset="-122"/>
                <a:cs typeface="Arial" panose="020B0604020202020204"/>
              </a:rPr>
              <a:t>各自作用</a:t>
            </a:r>
            <a:endParaRPr lang="zh-CN" altLang="en-US" sz="2400" b="1" dirty="0">
              <a:latin typeface="Arial" panose="020B0604020202020204"/>
              <a:ea typeface="微软雅黑" panose="020B0503020204020204" charset="-122"/>
              <a:cs typeface="Arial" panose="020B0604020202020204"/>
            </a:endParaRPr>
          </a:p>
        </p:txBody>
      </p:sp>
      <p:graphicFrame>
        <p:nvGraphicFramePr>
          <p:cNvPr id="2" name="表格 1"/>
          <p:cNvGraphicFramePr/>
          <p:nvPr/>
        </p:nvGraphicFramePr>
        <p:xfrm>
          <a:off x="565247" y="963197"/>
          <a:ext cx="10212705" cy="4803140"/>
        </p:xfrm>
        <a:graphic>
          <a:graphicData uri="http://schemas.openxmlformats.org/drawingml/2006/table">
            <a:tbl>
              <a:tblPr firstRow="1">
                <a:tableStyleId>{3C455645-1ED4-4273-A6CF-CCCE495F3097}</a:tableStyleId>
              </a:tblPr>
              <a:tblGrid>
                <a:gridCol w="1402080"/>
                <a:gridCol w="1879600"/>
                <a:gridCol w="4152265"/>
                <a:gridCol w="2778760"/>
              </a:tblGrid>
              <a:tr h="695325">
                <a:tc>
                  <a:txBody>
                    <a:bodyPr/>
                    <a:lstStyle/>
                    <a:p>
                      <a:pPr algn="ctr">
                        <a:lnSpc>
                          <a:spcPct val="120000"/>
                        </a:lnSpc>
                      </a:pPr>
                      <a:r>
                        <a:rPr lang="zh-CN" altLang="en-US" sz="1400" spc="120">
                          <a:latin typeface="Arial" panose="020B0604020202020204"/>
                          <a:ea typeface="微软雅黑" panose="020B0503020204020204" charset="-122"/>
                          <a:cs typeface="Arial" panose="020B0604020202020204"/>
                        </a:rPr>
                        <a:t>机制</a:t>
                      </a:r>
                      <a:endParaRPr lang="zh-CN" altLang="en-US" sz="1400" spc="120">
                        <a:latin typeface="Arial" panose="020B0604020202020204"/>
                        <a:ea typeface="微软雅黑" panose="020B0503020204020204" charset="-122"/>
                        <a:cs typeface="Arial" panose="020B0604020202020204"/>
                      </a:endParaRPr>
                    </a:p>
                  </a:txBody>
                  <a:tcPr marL="254000" marR="254000" marT="177800" marB="177800" anchor="ctr">
                    <a:solidFill>
                      <a:schemeClr val="bg1">
                        <a:lumMod val="85000"/>
                      </a:schemeClr>
                    </a:solidFill>
                  </a:tcPr>
                </a:tc>
                <a:tc>
                  <a:txBody>
                    <a:bodyPr/>
                    <a:lstStyle/>
                    <a:p>
                      <a:pPr algn="ctr">
                        <a:lnSpc>
                          <a:spcPct val="120000"/>
                        </a:lnSpc>
                      </a:pPr>
                      <a:r>
                        <a:rPr lang="zh-CN" altLang="en-US" sz="1400" spc="120">
                          <a:latin typeface="Arial" panose="020B0604020202020204"/>
                          <a:ea typeface="微软雅黑" panose="020B0503020204020204" charset="-122"/>
                          <a:cs typeface="Arial" panose="020B0604020202020204"/>
                        </a:rPr>
                        <a:t>主要控制层面</a:t>
                      </a:r>
                      <a:endParaRPr lang="zh-CN" altLang="en-US" sz="1400" spc="120">
                        <a:latin typeface="Arial" panose="020B0604020202020204"/>
                        <a:ea typeface="微软雅黑" panose="020B0503020204020204" charset="-122"/>
                        <a:cs typeface="Arial" panose="020B0604020202020204"/>
                      </a:endParaRPr>
                    </a:p>
                  </a:txBody>
                  <a:tcPr marL="254000" marR="254000" marT="177800" marB="177800" anchor="ctr">
                    <a:solidFill>
                      <a:schemeClr val="bg1">
                        <a:lumMod val="85000"/>
                      </a:schemeClr>
                    </a:solidFill>
                  </a:tcPr>
                </a:tc>
                <a:tc>
                  <a:txBody>
                    <a:bodyPr/>
                    <a:lstStyle/>
                    <a:p>
                      <a:pPr algn="ctr">
                        <a:lnSpc>
                          <a:spcPct val="120000"/>
                        </a:lnSpc>
                      </a:pPr>
                      <a:r>
                        <a:rPr lang="zh-CN" altLang="en-US" sz="1400" spc="120">
                          <a:latin typeface="Arial" panose="020B0604020202020204"/>
                          <a:ea typeface="微软雅黑" panose="020B0503020204020204" charset="-122"/>
                          <a:cs typeface="Arial" panose="020B0604020202020204"/>
                        </a:rPr>
                        <a:t>具体作用</a:t>
                      </a:r>
                      <a:endParaRPr lang="zh-CN" altLang="en-US" sz="1400" spc="120">
                        <a:latin typeface="Arial" panose="020B0604020202020204"/>
                        <a:ea typeface="微软雅黑" panose="020B0503020204020204" charset="-122"/>
                        <a:cs typeface="Arial" panose="020B0604020202020204"/>
                      </a:endParaRPr>
                    </a:p>
                  </a:txBody>
                  <a:tcPr marL="254000" marR="254000" marT="177800" marB="177800" anchor="ctr">
                    <a:solidFill>
                      <a:schemeClr val="bg1">
                        <a:lumMod val="85000"/>
                      </a:schemeClr>
                    </a:solidFill>
                  </a:tcPr>
                </a:tc>
                <a:tc>
                  <a:txBody>
                    <a:bodyPr/>
                    <a:lstStyle/>
                    <a:p>
                      <a:pPr algn="ctr">
                        <a:lnSpc>
                          <a:spcPct val="120000"/>
                        </a:lnSpc>
                      </a:pPr>
                      <a:r>
                        <a:rPr lang="zh-CN" altLang="en-US" sz="1400" spc="120">
                          <a:latin typeface="Arial" panose="020B0604020202020204"/>
                          <a:ea typeface="微软雅黑" panose="020B0503020204020204" charset="-122"/>
                          <a:cs typeface="Arial" panose="020B0604020202020204"/>
                        </a:rPr>
                        <a:t>实验依据</a:t>
                      </a:r>
                      <a:endParaRPr lang="zh-CN" altLang="en-US" sz="1400" spc="120">
                        <a:latin typeface="Arial" panose="020B0604020202020204"/>
                        <a:ea typeface="微软雅黑" panose="020B0503020204020204" charset="-122"/>
                        <a:cs typeface="Arial" panose="020B0604020202020204"/>
                      </a:endParaRPr>
                    </a:p>
                  </a:txBody>
                  <a:tcPr marL="254000" marR="254000" marT="177800" marB="177800" anchor="ctr">
                    <a:solidFill>
                      <a:schemeClr val="bg1">
                        <a:lumMod val="85000"/>
                      </a:schemeClr>
                    </a:solidFill>
                  </a:tcPr>
                </a:tc>
              </a:tr>
              <a:tr h="902335">
                <a:tc>
                  <a:txBody>
                    <a:bodyPr/>
                    <a:lstStyle/>
                    <a:p>
                      <a:pPr algn="ctr">
                        <a:lnSpc>
                          <a:spcPct val="120000"/>
                        </a:lnSpc>
                      </a:pPr>
                      <a:r>
                        <a:rPr lang="en-US" altLang="zh-CN" sz="1200">
                          <a:latin typeface="Arial" panose="020B0604020202020204"/>
                          <a:ea typeface="微软雅黑" panose="020B0503020204020204" charset="-122"/>
                          <a:cs typeface="Arial" panose="020B0604020202020204"/>
                        </a:rPr>
                        <a:t>L1</a:t>
                      </a:r>
                      <a:r>
                        <a:rPr lang="zh-CN" altLang="en-US" sz="1200">
                          <a:latin typeface="Arial" panose="020B0604020202020204"/>
                          <a:ea typeface="微软雅黑" panose="020B0503020204020204" charset="-122"/>
                          <a:cs typeface="Arial" panose="020B0604020202020204"/>
                        </a:rPr>
                        <a:t>归一化</a:t>
                      </a:r>
                      <a:endParaRPr lang="zh-CN" altLang="en-US" sz="1200">
                        <a:latin typeface="Arial" panose="020B0604020202020204"/>
                        <a:ea typeface="微软雅黑" panose="020B0503020204020204" charset="-122"/>
                        <a:cs typeface="Arial" panose="020B0604020202020204"/>
                      </a:endParaRPr>
                    </a:p>
                  </a:txBody>
                  <a:tcPr marL="254000" marR="254000" marT="177800" marB="177800" anchor="ctr"/>
                </a:tc>
                <a:tc>
                  <a:txBody>
                    <a:bodyPr/>
                    <a:lstStyle/>
                    <a:p>
                      <a:pPr algn="ctr">
                        <a:lnSpc>
                          <a:spcPct val="120000"/>
                        </a:lnSpc>
                      </a:pPr>
                      <a:r>
                        <a:rPr lang="zh-CN" altLang="en-US" sz="1200">
                          <a:latin typeface="Arial" panose="020B0604020202020204"/>
                          <a:ea typeface="微软雅黑" panose="020B0503020204020204" charset="-122"/>
                          <a:cs typeface="Arial" panose="020B0604020202020204"/>
                        </a:rPr>
                        <a:t>突触权重层面</a:t>
                      </a:r>
                      <a:endParaRPr lang="zh-CN" altLang="en-US" sz="1200">
                        <a:latin typeface="Arial" panose="020B0604020202020204"/>
                        <a:ea typeface="微软雅黑" panose="020B0503020204020204" charset="-122"/>
                        <a:cs typeface="Arial" panose="020B0604020202020204"/>
                      </a:endParaRPr>
                    </a:p>
                  </a:txBody>
                  <a:tcPr marL="254000" marR="254000" marT="177800" marB="177800" anchor="ctr"/>
                </a:tc>
                <a:tc>
                  <a:txBody>
                    <a:bodyPr/>
                    <a:lstStyle/>
                    <a:p>
                      <a:pPr algn="l">
                        <a:lnSpc>
                          <a:spcPct val="120000"/>
                        </a:lnSpc>
                      </a:pPr>
                      <a:r>
                        <a:rPr lang="zh-CN" altLang="en-US" sz="1200">
                          <a:latin typeface="Arial" panose="020B0604020202020204"/>
                          <a:ea typeface="微软雅黑" panose="020B0503020204020204" charset="-122"/>
                          <a:cs typeface="Arial" panose="020B0604020202020204"/>
                        </a:rPr>
                        <a:t>限制单个</a:t>
                      </a:r>
                      <a:r>
                        <a:rPr lang="en-US" altLang="zh-CN" sz="1200">
                          <a:latin typeface="Arial" panose="020B0604020202020204"/>
                          <a:ea typeface="微软雅黑" panose="020B0503020204020204" charset="-122"/>
                          <a:cs typeface="Arial" panose="020B0604020202020204"/>
                        </a:rPr>
                        <a:t>E</a:t>
                      </a:r>
                      <a:r>
                        <a:rPr lang="zh-CN" altLang="en-US" sz="1200">
                          <a:latin typeface="Arial" panose="020B0604020202020204"/>
                          <a:ea typeface="微软雅黑" panose="020B0503020204020204" charset="-122"/>
                          <a:cs typeface="Arial" panose="020B0604020202020204"/>
                        </a:rPr>
                        <a:t>神经元接收的前馈突触总强度，使</a:t>
                      </a:r>
                      <a:r>
                        <a:rPr lang="en-US" altLang="zh-CN" sz="1200">
                          <a:latin typeface="Arial" panose="020B0604020202020204"/>
                          <a:ea typeface="微软雅黑" panose="020B0503020204020204" charset="-122"/>
                          <a:cs typeface="Arial" panose="020B0604020202020204"/>
                        </a:rPr>
                        <a:t>LGN</a:t>
                      </a:r>
                      <a:r>
                        <a:rPr lang="zh-CN" altLang="en-US" sz="1200">
                          <a:latin typeface="Arial" panose="020B0604020202020204"/>
                          <a:ea typeface="微软雅黑" panose="020B0503020204020204" charset="-122"/>
                          <a:cs typeface="Arial" panose="020B0604020202020204"/>
                        </a:rPr>
                        <a:t>输入权重稳定竞争，保证感受野能够形成清晰结构</a:t>
                      </a:r>
                      <a:endParaRPr lang="zh-CN" altLang="en-US" sz="1200">
                        <a:latin typeface="Arial" panose="020B0604020202020204"/>
                        <a:ea typeface="微软雅黑" panose="020B0503020204020204" charset="-122"/>
                        <a:cs typeface="Arial" panose="020B0604020202020204"/>
                      </a:endParaRPr>
                    </a:p>
                  </a:txBody>
                  <a:tcPr marL="254000" marR="254000" marT="177800" marB="177800" anchor="ctr"/>
                </a:tc>
                <a:tc>
                  <a:txBody>
                    <a:bodyPr/>
                    <a:lstStyle/>
                    <a:p>
                      <a:pPr algn="l">
                        <a:lnSpc>
                          <a:spcPct val="120000"/>
                        </a:lnSpc>
                      </a:pPr>
                      <a:r>
                        <a:rPr lang="en-US" altLang="zh-CN" sz="1200">
                          <a:latin typeface="Arial" panose="020B0604020202020204"/>
                          <a:ea typeface="微软雅黑" panose="020B0503020204020204" charset="-122"/>
                          <a:cs typeface="Arial" panose="020B0604020202020204"/>
                        </a:rPr>
                        <a:t>E</a:t>
                      </a:r>
                      <a:r>
                        <a:rPr lang="zh-CN" altLang="en-US" sz="1200">
                          <a:latin typeface="Arial" panose="020B0604020202020204"/>
                          <a:ea typeface="微软雅黑" panose="020B0503020204020204" charset="-122"/>
                          <a:cs typeface="Arial" panose="020B0604020202020204"/>
                        </a:rPr>
                        <a:t>类条件关闭</a:t>
                      </a:r>
                      <a:r>
                        <a:rPr lang="en-US" altLang="zh-CN" sz="1200">
                          <a:latin typeface="Arial" panose="020B0604020202020204"/>
                          <a:ea typeface="微软雅黑" panose="020B0503020204020204" charset="-122"/>
                          <a:cs typeface="Arial" panose="020B0604020202020204"/>
                        </a:rPr>
                        <a:t>L1</a:t>
                      </a:r>
                      <a:r>
                        <a:rPr lang="zh-CN" altLang="en-US" sz="1200">
                          <a:latin typeface="Arial" panose="020B0604020202020204"/>
                          <a:ea typeface="微软雅黑" panose="020B0503020204020204" charset="-122"/>
                          <a:cs typeface="Arial" panose="020B0604020202020204"/>
                        </a:rPr>
                        <a:t>后，关闭</a:t>
                      </a:r>
                      <a:r>
                        <a:rPr lang="en-US" altLang="zh-CN" sz="1200">
                          <a:latin typeface="Arial" panose="020B0604020202020204"/>
                          <a:ea typeface="微软雅黑" panose="020B0503020204020204" charset="-122"/>
                          <a:cs typeface="Arial" panose="020B0604020202020204"/>
                        </a:rPr>
                        <a:t>L1</a:t>
                      </a:r>
                      <a:r>
                        <a:rPr lang="zh-CN" altLang="en-US" sz="1200">
                          <a:latin typeface="Arial" panose="020B0604020202020204"/>
                          <a:ea typeface="微软雅黑" panose="020B0503020204020204" charset="-122"/>
                          <a:cs typeface="Arial" panose="020B0604020202020204"/>
                        </a:rPr>
                        <a:t>后，电流由正常的几十膨胀到 10^9</a:t>
                      </a:r>
                      <a:r>
                        <a:rPr lang="zh-CN" altLang="en-US" sz="1200">
                          <a:latin typeface="Arial" panose="020B0604020202020204"/>
                          <a:ea typeface="微软雅黑" panose="020B0503020204020204" charset="-122"/>
                          <a:cs typeface="Arial" panose="020B0604020202020204"/>
                        </a:rPr>
                        <a:t>量级，相差约7个数量级</a:t>
                      </a:r>
                      <a:r>
                        <a:rPr lang="zh-CN" altLang="en-US" sz="1200">
                          <a:highlight>
                            <a:srgbClr val="000000">
                              <a:alpha val="0"/>
                            </a:srgbClr>
                          </a:highlight>
                          <a:latin typeface="Arial" panose="020B0604020202020204"/>
                          <a:ea typeface="微软雅黑" panose="020B0503020204020204" charset="-122"/>
                          <a:cs typeface="Arial" panose="020B0604020202020204"/>
                        </a:rPr>
                        <a:t>、</a:t>
                      </a:r>
                      <a:r>
                        <a:rPr lang="en-US" altLang="zh-CN" sz="1200">
                          <a:latin typeface="Arial" panose="020B0604020202020204"/>
                          <a:ea typeface="微软雅黑" panose="020B0503020204020204" charset="-122"/>
                          <a:cs typeface="Arial" panose="020B0604020202020204"/>
                        </a:rPr>
                        <a:t>LS</a:t>
                      </a:r>
                      <a:r>
                        <a:rPr lang="zh-CN" altLang="en-US" sz="1200">
                          <a:latin typeface="Arial" panose="020B0604020202020204"/>
                          <a:ea typeface="微软雅黑" panose="020B0503020204020204" charset="-122"/>
                          <a:cs typeface="Arial" panose="020B0604020202020204"/>
                        </a:rPr>
                        <a:t>接近</a:t>
                      </a:r>
                      <a:r>
                        <a:rPr lang="en-US" altLang="zh-CN" sz="1200">
                          <a:latin typeface="Arial" panose="020B0604020202020204"/>
                          <a:ea typeface="微软雅黑" panose="020B0503020204020204" charset="-122"/>
                          <a:cs typeface="Arial" panose="020B0604020202020204"/>
                        </a:rPr>
                        <a:t>0</a:t>
                      </a:r>
                      <a:r>
                        <a:rPr lang="zh-CN" altLang="en-US" sz="1200">
                          <a:latin typeface="Arial" panose="020B0604020202020204"/>
                          <a:ea typeface="微软雅黑" panose="020B0503020204020204" charset="-122"/>
                          <a:cs typeface="Arial" panose="020B0604020202020204"/>
                        </a:rPr>
                        <a:t>、感受野高度相关</a:t>
                      </a:r>
                      <a:endParaRPr lang="zh-CN" altLang="en-US" sz="1200">
                        <a:latin typeface="Arial" panose="020B0604020202020204"/>
                        <a:ea typeface="微软雅黑" panose="020B0503020204020204" charset="-122"/>
                        <a:cs typeface="Arial" panose="020B0604020202020204"/>
                      </a:endParaRPr>
                    </a:p>
                  </a:txBody>
                  <a:tcPr marL="254000" marR="254000" marT="177800" marB="177800" anchor="ctr"/>
                </a:tc>
              </a:tr>
              <a:tr h="1151255">
                <a:tc>
                  <a:txBody>
                    <a:bodyPr/>
                    <a:lstStyle/>
                    <a:p>
                      <a:pPr algn="ctr">
                        <a:lnSpc>
                          <a:spcPct val="120000"/>
                        </a:lnSpc>
                      </a:pPr>
                      <a:r>
                        <a:rPr lang="zh-CN" altLang="en-US" sz="1200">
                          <a:latin typeface="Arial" panose="020B0604020202020204"/>
                          <a:ea typeface="微软雅黑" panose="020B0503020204020204" charset="-122"/>
                          <a:cs typeface="Arial" panose="020B0604020202020204"/>
                        </a:rPr>
                        <a:t>自适应阈值</a:t>
                      </a:r>
                      <a:endParaRPr lang="zh-CN" altLang="en-US" sz="1200">
                        <a:latin typeface="Arial" panose="020B0604020202020204"/>
                        <a:ea typeface="微软雅黑" panose="020B0503020204020204" charset="-122"/>
                        <a:cs typeface="Arial" panose="020B0604020202020204"/>
                      </a:endParaRPr>
                    </a:p>
                  </a:txBody>
                  <a:tcPr marL="254000" marR="254000" marT="177800" marB="177800" anchor="ctr"/>
                </a:tc>
                <a:tc>
                  <a:txBody>
                    <a:bodyPr/>
                    <a:lstStyle/>
                    <a:p>
                      <a:pPr algn="ctr">
                        <a:lnSpc>
                          <a:spcPct val="120000"/>
                        </a:lnSpc>
                      </a:pPr>
                      <a:r>
                        <a:rPr lang="zh-CN" altLang="en-US" sz="1200">
                          <a:latin typeface="Arial" panose="020B0604020202020204"/>
                          <a:ea typeface="微软雅黑" panose="020B0503020204020204" charset="-122"/>
                          <a:cs typeface="Arial" panose="020B0604020202020204"/>
                        </a:rPr>
                        <a:t>神经元放电层面</a:t>
                      </a:r>
                      <a:endParaRPr lang="zh-CN" altLang="en-US" sz="1200">
                        <a:latin typeface="Arial" panose="020B0604020202020204"/>
                        <a:ea typeface="微软雅黑" panose="020B0503020204020204" charset="-122"/>
                        <a:cs typeface="Arial" panose="020B0604020202020204"/>
                      </a:endParaRPr>
                    </a:p>
                  </a:txBody>
                  <a:tcPr marL="254000" marR="254000" marT="177800" marB="177800" anchor="ctr"/>
                </a:tc>
                <a:tc>
                  <a:txBody>
                    <a:bodyPr/>
                    <a:lstStyle/>
                    <a:p>
                      <a:pPr algn="l">
                        <a:lnSpc>
                          <a:spcPct val="120000"/>
                        </a:lnSpc>
                      </a:pPr>
                      <a:r>
                        <a:rPr lang="zh-CN" altLang="en-US" sz="1200">
                          <a:latin typeface="Arial" panose="020B0604020202020204"/>
                          <a:ea typeface="微软雅黑" panose="020B0503020204020204" charset="-122"/>
                          <a:cs typeface="Arial" panose="020B0604020202020204"/>
                        </a:rPr>
                        <a:t>根据长期放电情况调整阈值，控制</a:t>
                      </a:r>
                      <a:r>
                        <a:rPr lang="en-US" altLang="zh-CN" sz="1200">
                          <a:latin typeface="Arial" panose="020B0604020202020204"/>
                          <a:ea typeface="微软雅黑" panose="020B0503020204020204" charset="-122"/>
                          <a:cs typeface="Arial" panose="020B0604020202020204"/>
                        </a:rPr>
                        <a:t>E</a:t>
                      </a:r>
                      <a:r>
                        <a:rPr lang="zh-CN" altLang="en-US" sz="1200">
                          <a:latin typeface="Arial" panose="020B0604020202020204"/>
                          <a:ea typeface="微软雅黑" panose="020B0503020204020204" charset="-122"/>
                          <a:cs typeface="Arial" panose="020B0604020202020204"/>
                        </a:rPr>
                        <a:t>神经元的放电水平、响应稀疏性及</a:t>
                      </a:r>
                      <a:r>
                        <a:rPr lang="en-US" altLang="zh-CN" sz="1200">
                          <a:latin typeface="Arial" panose="020B0604020202020204"/>
                          <a:ea typeface="微软雅黑" panose="020B0503020204020204" charset="-122"/>
                          <a:cs typeface="Arial" panose="020B0604020202020204"/>
                        </a:rPr>
                        <a:t>E/I</a:t>
                      </a:r>
                      <a:r>
                        <a:rPr lang="zh-CN" altLang="en-US" sz="1200">
                          <a:latin typeface="Arial" panose="020B0604020202020204"/>
                          <a:ea typeface="微软雅黑" panose="020B0503020204020204" charset="-122"/>
                          <a:cs typeface="Arial" panose="020B0604020202020204"/>
                        </a:rPr>
                        <a:t>相对强度</a:t>
                      </a:r>
                      <a:endParaRPr lang="zh-CN" altLang="en-US" sz="1200">
                        <a:latin typeface="Arial" panose="020B0604020202020204"/>
                        <a:ea typeface="微软雅黑" panose="020B0503020204020204" charset="-122"/>
                        <a:cs typeface="Arial" panose="020B0604020202020204"/>
                      </a:endParaRPr>
                    </a:p>
                  </a:txBody>
                  <a:tcPr marL="254000" marR="254000" marT="177800" marB="177800" anchor="ctr"/>
                </a:tc>
                <a:tc>
                  <a:txBody>
                    <a:bodyPr/>
                    <a:lstStyle/>
                    <a:p>
                      <a:pPr algn="l">
                        <a:lnSpc>
                          <a:spcPct val="120000"/>
                        </a:lnSpc>
                      </a:pPr>
                      <a:r>
                        <a:rPr lang="en-US" altLang="zh-CN" sz="1200">
                          <a:latin typeface="Arial" panose="020B0604020202020204"/>
                          <a:ea typeface="微软雅黑" panose="020B0503020204020204" charset="-122"/>
                          <a:cs typeface="Arial" panose="020B0604020202020204"/>
                        </a:rPr>
                        <a:t>F</a:t>
                      </a:r>
                      <a:r>
                        <a:rPr lang="zh-CN" altLang="en-US" sz="1200">
                          <a:latin typeface="Arial" panose="020B0604020202020204"/>
                          <a:ea typeface="微软雅黑" panose="020B0503020204020204" charset="-122"/>
                          <a:cs typeface="Arial" panose="020B0604020202020204"/>
                        </a:rPr>
                        <a:t>类条件仍能生成感受野，说明它不是感受野形成的必要条件，但会影响网络的稀疏性和兴奋抑制的输入</a:t>
                      </a:r>
                      <a:r>
                        <a:rPr lang="zh-CN" altLang="en-US" sz="1200">
                          <a:latin typeface="Arial" panose="020B0604020202020204"/>
                          <a:ea typeface="微软雅黑" panose="020B0503020204020204" charset="-122"/>
                          <a:cs typeface="Arial" panose="020B0604020202020204"/>
                        </a:rPr>
                        <a:t>比例</a:t>
                      </a:r>
                      <a:endParaRPr lang="zh-CN" altLang="en-US" sz="1200">
                        <a:latin typeface="Arial" panose="020B0604020202020204"/>
                        <a:ea typeface="微软雅黑" panose="020B0503020204020204" charset="-122"/>
                        <a:cs typeface="Arial" panose="020B0604020202020204"/>
                      </a:endParaRPr>
                    </a:p>
                  </a:txBody>
                  <a:tcPr marL="254000" marR="254000" marT="177800" marB="177800" anchor="ctr"/>
                </a:tc>
              </a:tr>
              <a:tr h="902970">
                <a:tc>
                  <a:txBody>
                    <a:bodyPr/>
                    <a:lstStyle/>
                    <a:p>
                      <a:pPr algn="ctr">
                        <a:lnSpc>
                          <a:spcPct val="120000"/>
                        </a:lnSpc>
                      </a:pPr>
                      <a:r>
                        <a:rPr lang="en-US" altLang="zh-CN" sz="1200">
                          <a:latin typeface="Arial" panose="020B0604020202020204"/>
                          <a:ea typeface="微软雅黑" panose="020B0503020204020204" charset="-122"/>
                          <a:cs typeface="Arial" panose="020B0604020202020204"/>
                        </a:rPr>
                        <a:t>I→E</a:t>
                      </a:r>
                      <a:r>
                        <a:rPr lang="zh-CN" altLang="en-US" sz="1200">
                          <a:latin typeface="Arial" panose="020B0604020202020204"/>
                          <a:ea typeface="微软雅黑" panose="020B0503020204020204" charset="-122"/>
                          <a:cs typeface="Arial" panose="020B0604020202020204"/>
                        </a:rPr>
                        <a:t>抑制连接</a:t>
                      </a:r>
                      <a:endParaRPr lang="zh-CN" altLang="en-US" sz="1200">
                        <a:latin typeface="Arial" panose="020B0604020202020204"/>
                        <a:ea typeface="微软雅黑" panose="020B0503020204020204" charset="-122"/>
                        <a:cs typeface="Arial" panose="020B0604020202020204"/>
                      </a:endParaRPr>
                    </a:p>
                  </a:txBody>
                  <a:tcPr marL="254000" marR="254000" marT="177800" marB="177800" anchor="ctr"/>
                </a:tc>
                <a:tc>
                  <a:txBody>
                    <a:bodyPr/>
                    <a:lstStyle/>
                    <a:p>
                      <a:pPr algn="ctr">
                        <a:lnSpc>
                          <a:spcPct val="120000"/>
                        </a:lnSpc>
                      </a:pPr>
                      <a:r>
                        <a:rPr lang="zh-CN" altLang="en-US" sz="1200">
                          <a:latin typeface="Arial" panose="020B0604020202020204"/>
                          <a:ea typeface="微软雅黑" panose="020B0503020204020204" charset="-122"/>
                          <a:cs typeface="Arial" panose="020B0604020202020204"/>
                        </a:rPr>
                        <a:t>神经元群体竞争学习层面</a:t>
                      </a:r>
                      <a:endParaRPr lang="zh-CN" altLang="en-US" sz="1200">
                        <a:latin typeface="Arial" panose="020B0604020202020204"/>
                        <a:ea typeface="微软雅黑" panose="020B0503020204020204" charset="-122"/>
                        <a:cs typeface="Arial" panose="020B0604020202020204"/>
                      </a:endParaRPr>
                    </a:p>
                  </a:txBody>
                  <a:tcPr marL="254000" marR="254000" marT="177800" marB="177800" anchor="ctr"/>
                </a:tc>
                <a:tc>
                  <a:txBody>
                    <a:bodyPr/>
                    <a:lstStyle/>
                    <a:p>
                      <a:pPr algn="l">
                        <a:lnSpc>
                          <a:spcPct val="120000"/>
                        </a:lnSpc>
                      </a:pPr>
                      <a:r>
                        <a:rPr lang="zh-CN" altLang="en-US" sz="1200">
                          <a:latin typeface="Arial" panose="020B0604020202020204"/>
                          <a:ea typeface="微软雅黑" panose="020B0503020204020204" charset="-122"/>
                          <a:cs typeface="Arial" panose="020B0604020202020204"/>
                        </a:rPr>
                        <a:t>将</a:t>
                      </a:r>
                      <a:r>
                        <a:rPr lang="en-US" altLang="zh-CN" sz="1200">
                          <a:latin typeface="Arial" panose="020B0604020202020204"/>
                          <a:ea typeface="微软雅黑" panose="020B0503020204020204" charset="-122"/>
                          <a:cs typeface="Arial" panose="020B0604020202020204"/>
                        </a:rPr>
                        <a:t>I</a:t>
                      </a:r>
                      <a:r>
                        <a:rPr lang="zh-CN" altLang="en-US" sz="1200">
                          <a:latin typeface="Arial" panose="020B0604020202020204"/>
                          <a:ea typeface="微软雅黑" panose="020B0503020204020204" charset="-122"/>
                          <a:cs typeface="Arial" panose="020B0604020202020204"/>
                        </a:rPr>
                        <a:t>神经元的抑制反馈传递给</a:t>
                      </a:r>
                      <a:r>
                        <a:rPr lang="en-US" altLang="zh-CN" sz="1200">
                          <a:latin typeface="Arial" panose="020B0604020202020204"/>
                          <a:ea typeface="微软雅黑" panose="020B0503020204020204" charset="-122"/>
                          <a:cs typeface="Arial" panose="020B0604020202020204"/>
                        </a:rPr>
                        <a:t>E</a:t>
                      </a:r>
                      <a:r>
                        <a:rPr lang="zh-CN" altLang="en-US" sz="1200">
                          <a:latin typeface="Arial" panose="020B0604020202020204"/>
                          <a:ea typeface="微软雅黑" panose="020B0503020204020204" charset="-122"/>
                          <a:cs typeface="Arial" panose="020B0604020202020204"/>
                        </a:rPr>
                        <a:t>神经元，限制大量</a:t>
                      </a:r>
                      <a:r>
                        <a:rPr lang="en-US" altLang="zh-CN" sz="1200">
                          <a:latin typeface="Arial" panose="020B0604020202020204"/>
                          <a:ea typeface="微软雅黑" panose="020B0503020204020204" charset="-122"/>
                          <a:cs typeface="Arial" panose="020B0604020202020204"/>
                        </a:rPr>
                        <a:t>E</a:t>
                      </a:r>
                      <a:r>
                        <a:rPr lang="zh-CN" altLang="en-US" sz="1200">
                          <a:latin typeface="Arial" panose="020B0604020202020204"/>
                          <a:ea typeface="微软雅黑" panose="020B0503020204020204" charset="-122"/>
                          <a:cs typeface="Arial" panose="020B0604020202020204"/>
                        </a:rPr>
                        <a:t>神经元同时响应，建立群体分工</a:t>
                      </a:r>
                      <a:endParaRPr lang="zh-CN" altLang="en-US" sz="1200">
                        <a:latin typeface="Arial" panose="020B0604020202020204"/>
                        <a:ea typeface="微软雅黑" panose="020B0503020204020204" charset="-122"/>
                        <a:cs typeface="Arial" panose="020B0604020202020204"/>
                      </a:endParaRPr>
                    </a:p>
                  </a:txBody>
                  <a:tcPr marL="254000" marR="254000" marT="177800" marB="177800" anchor="ctr"/>
                </a:tc>
                <a:tc>
                  <a:txBody>
                    <a:bodyPr/>
                    <a:lstStyle/>
                    <a:p>
                      <a:pPr algn="l">
                        <a:lnSpc>
                          <a:spcPct val="120000"/>
                        </a:lnSpc>
                      </a:pPr>
                      <a:r>
                        <a:rPr lang="en-US" altLang="zh-CN" sz="1200">
                          <a:latin typeface="Arial" panose="020B0604020202020204"/>
                          <a:ea typeface="微软雅黑" panose="020B0503020204020204" charset="-122"/>
                          <a:cs typeface="Arial" panose="020B0604020202020204"/>
                        </a:rPr>
                        <a:t>C</a:t>
                      </a:r>
                      <a:r>
                        <a:rPr lang="zh-CN" altLang="en-US" sz="1200">
                          <a:latin typeface="Arial" panose="020B0604020202020204"/>
                          <a:ea typeface="微软雅黑" panose="020B0503020204020204" charset="-122"/>
                          <a:cs typeface="Arial" panose="020B0604020202020204"/>
                        </a:rPr>
                        <a:t>组群体稀疏性下降、</a:t>
                      </a:r>
                      <a:r>
                        <a:rPr lang="en-US" altLang="zh-CN" sz="1200">
                          <a:latin typeface="Arial" panose="020B0604020202020204"/>
                          <a:ea typeface="微软雅黑" panose="020B0503020204020204" charset="-122"/>
                          <a:cs typeface="Arial" panose="020B0604020202020204"/>
                        </a:rPr>
                        <a:t>RF RMS</a:t>
                      </a:r>
                      <a:r>
                        <a:rPr lang="zh-CN" altLang="en-US" sz="1200">
                          <a:latin typeface="Arial" panose="020B0604020202020204"/>
                          <a:ea typeface="微软雅黑" panose="020B0503020204020204" charset="-122"/>
                          <a:cs typeface="Arial" panose="020B0604020202020204"/>
                        </a:rPr>
                        <a:t>接近</a:t>
                      </a:r>
                      <a:r>
                        <a:rPr lang="en-US" altLang="zh-CN" sz="1200">
                          <a:latin typeface="Arial" panose="020B0604020202020204"/>
                          <a:ea typeface="微软雅黑" panose="020B0503020204020204" charset="-122"/>
                          <a:cs typeface="Arial" panose="020B0604020202020204"/>
                        </a:rPr>
                        <a:t>1</a:t>
                      </a:r>
                      <a:r>
                        <a:rPr lang="zh-CN" altLang="en-US" sz="1200">
                          <a:latin typeface="Arial" panose="020B0604020202020204"/>
                          <a:ea typeface="微软雅黑" panose="020B0503020204020204" charset="-122"/>
                          <a:cs typeface="Arial" panose="020B0604020202020204"/>
                        </a:rPr>
                        <a:t>，并且不存在有效</a:t>
                      </a:r>
                      <a:r>
                        <a:rPr lang="en-US" altLang="zh-CN" sz="1200">
                          <a:latin typeface="Arial" panose="020B0604020202020204"/>
                          <a:ea typeface="微软雅黑" panose="020B0503020204020204" charset="-122"/>
                          <a:cs typeface="Arial" panose="020B0604020202020204"/>
                        </a:rPr>
                        <a:t>E/I balance</a:t>
                      </a:r>
                      <a:endParaRPr lang="en-US" altLang="zh-CN" sz="1200">
                        <a:latin typeface="Arial" panose="020B0604020202020204"/>
                        <a:ea typeface="微软雅黑" panose="020B0503020204020204" charset="-122"/>
                        <a:cs typeface="Arial" panose="020B0604020202020204"/>
                      </a:endParaRPr>
                    </a:p>
                  </a:txBody>
                  <a:tcPr marL="254000" marR="254000" marT="177800" marB="177800" anchor="ctr"/>
                </a:tc>
              </a:tr>
              <a:tr h="1151255">
                <a:tc>
                  <a:txBody>
                    <a:bodyPr/>
                    <a:lstStyle/>
                    <a:p>
                      <a:pPr algn="ctr">
                        <a:lnSpc>
                          <a:spcPct val="120000"/>
                        </a:lnSpc>
                      </a:pPr>
                      <a:r>
                        <a:rPr lang="en-US" altLang="zh-CN" sz="1200">
                          <a:latin typeface="Arial" panose="020B0604020202020204"/>
                          <a:ea typeface="微软雅黑" panose="020B0503020204020204" charset="-122"/>
                          <a:cs typeface="Arial" panose="020B0604020202020204"/>
                        </a:rPr>
                        <a:t>I→E</a:t>
                      </a:r>
                      <a:r>
                        <a:rPr lang="zh-CN" altLang="en-US" sz="1200">
                          <a:latin typeface="Arial" panose="020B0604020202020204"/>
                          <a:ea typeface="微软雅黑" panose="020B0503020204020204" charset="-122"/>
                          <a:cs typeface="Arial" panose="020B0604020202020204"/>
                        </a:rPr>
                        <a:t>抑制可塑性</a:t>
                      </a:r>
                      <a:endParaRPr lang="zh-CN" altLang="en-US" sz="1200">
                        <a:latin typeface="Arial" panose="020B0604020202020204"/>
                        <a:ea typeface="微软雅黑" panose="020B0503020204020204" charset="-122"/>
                        <a:cs typeface="Arial" panose="020B0604020202020204"/>
                      </a:endParaRPr>
                    </a:p>
                  </a:txBody>
                  <a:tcPr marL="254000" marR="254000" marT="177800" marB="177800" anchor="ctr"/>
                </a:tc>
                <a:tc>
                  <a:txBody>
                    <a:bodyPr/>
                    <a:lstStyle/>
                    <a:p>
                      <a:pPr algn="ctr">
                        <a:lnSpc>
                          <a:spcPct val="120000"/>
                        </a:lnSpc>
                      </a:pPr>
                      <a:r>
                        <a:rPr lang="zh-CN" altLang="en-US" sz="1200">
                          <a:latin typeface="Arial" panose="020B0604020202020204"/>
                          <a:ea typeface="微软雅黑" panose="020B0503020204020204" charset="-122"/>
                          <a:cs typeface="Arial" panose="020B0604020202020204"/>
                        </a:rPr>
                        <a:t>抑制动态调节层面</a:t>
                      </a:r>
                      <a:endParaRPr lang="zh-CN" altLang="en-US" sz="1200">
                        <a:latin typeface="Arial" panose="020B0604020202020204"/>
                        <a:ea typeface="微软雅黑" panose="020B0503020204020204" charset="-122"/>
                        <a:cs typeface="Arial" panose="020B0604020202020204"/>
                      </a:endParaRPr>
                    </a:p>
                  </a:txBody>
                  <a:tcPr marL="254000" marR="254000" marT="177800" marB="177800" anchor="ctr"/>
                </a:tc>
                <a:tc>
                  <a:txBody>
                    <a:bodyPr/>
                    <a:lstStyle/>
                    <a:p>
                      <a:pPr algn="l">
                        <a:lnSpc>
                          <a:spcPct val="120000"/>
                        </a:lnSpc>
                      </a:pPr>
                      <a:r>
                        <a:rPr lang="zh-CN" altLang="en-US" sz="1200">
                          <a:latin typeface="Arial" panose="020B0604020202020204"/>
                          <a:ea typeface="微软雅黑" panose="020B0503020204020204" charset="-122"/>
                          <a:cs typeface="Arial" panose="020B0604020202020204"/>
                        </a:rPr>
                        <a:t>根据</a:t>
                      </a:r>
                      <a:r>
                        <a:rPr lang="en-US" altLang="zh-CN" sz="1200">
                          <a:latin typeface="Arial" panose="020B0604020202020204"/>
                          <a:ea typeface="微软雅黑" panose="020B0503020204020204" charset="-122"/>
                          <a:cs typeface="Arial" panose="020B0604020202020204"/>
                        </a:rPr>
                        <a:t>E</a:t>
                      </a:r>
                      <a:r>
                        <a:rPr lang="zh-CN" altLang="en-US" sz="1200">
                          <a:latin typeface="Arial" panose="020B0604020202020204"/>
                          <a:ea typeface="微软雅黑" panose="020B0503020204020204" charset="-122"/>
                          <a:cs typeface="Arial" panose="020B0604020202020204"/>
                        </a:rPr>
                        <a:t>神经元活动调整抑制强度，使抑制在幅度和时间上匹配兴奋输入，并减少感受野重复</a:t>
                      </a:r>
                      <a:endParaRPr lang="zh-CN" altLang="en-US" sz="1200">
                        <a:latin typeface="Arial" panose="020B0604020202020204"/>
                        <a:ea typeface="微软雅黑" panose="020B0503020204020204" charset="-122"/>
                        <a:cs typeface="Arial" panose="020B0604020202020204"/>
                      </a:endParaRPr>
                    </a:p>
                  </a:txBody>
                  <a:tcPr marL="254000" marR="254000" marT="177800" marB="177800" anchor="ctr"/>
                </a:tc>
                <a:tc>
                  <a:txBody>
                    <a:bodyPr/>
                    <a:lstStyle/>
                    <a:p>
                      <a:pPr algn="l">
                        <a:lnSpc>
                          <a:spcPct val="120000"/>
                        </a:lnSpc>
                      </a:pPr>
                      <a:r>
                        <a:rPr lang="en-US" altLang="zh-CN" sz="1200">
                          <a:latin typeface="Arial" panose="020B0604020202020204"/>
                          <a:ea typeface="微软雅黑" panose="020B0503020204020204" charset="-122"/>
                          <a:cs typeface="Arial" panose="020B0604020202020204"/>
                        </a:rPr>
                        <a:t>B</a:t>
                      </a:r>
                      <a:r>
                        <a:rPr lang="zh-CN" altLang="en-US" sz="1200">
                          <a:latin typeface="Arial" panose="020B0604020202020204"/>
                          <a:ea typeface="微软雅黑" panose="020B0503020204020204" charset="-122"/>
                          <a:cs typeface="Arial" panose="020B0604020202020204"/>
                        </a:rPr>
                        <a:t>组仍能形成感受野，但</a:t>
                      </a:r>
                      <a:r>
                        <a:rPr lang="en-US" altLang="zh-CN" sz="1200">
                          <a:latin typeface="Arial" panose="020B0604020202020204"/>
                          <a:ea typeface="微软雅黑" panose="020B0503020204020204" charset="-122"/>
                          <a:cs typeface="Arial" panose="020B0604020202020204"/>
                        </a:rPr>
                        <a:t>RF RMS</a:t>
                      </a:r>
                      <a:r>
                        <a:rPr lang="zh-CN" altLang="en-US" sz="1200">
                          <a:latin typeface="Arial" panose="020B0604020202020204"/>
                          <a:ea typeface="微软雅黑" panose="020B0503020204020204" charset="-122"/>
                          <a:cs typeface="Arial" panose="020B0604020202020204"/>
                        </a:rPr>
                        <a:t>升高，</a:t>
                      </a:r>
                      <a:r>
                        <a:rPr lang="en-US" altLang="zh-CN" sz="1200">
                          <a:latin typeface="Arial" panose="020B0604020202020204"/>
                          <a:ea typeface="微软雅黑" panose="020B0503020204020204" charset="-122"/>
                          <a:cs typeface="Arial" panose="020B0604020202020204"/>
                        </a:rPr>
                        <a:t>Loose</a:t>
                      </a:r>
                      <a:r>
                        <a:rPr lang="zh-CN" altLang="en-US" sz="1200">
                          <a:latin typeface="Arial" panose="020B0604020202020204"/>
                          <a:ea typeface="微软雅黑" panose="020B0503020204020204" charset="-122"/>
                          <a:cs typeface="Arial" panose="020B0604020202020204"/>
                        </a:rPr>
                        <a:t>和</a:t>
                      </a:r>
                      <a:r>
                        <a:rPr lang="en-US" altLang="zh-CN" sz="1200">
                          <a:latin typeface="Arial" panose="020B0604020202020204"/>
                          <a:ea typeface="微软雅黑" panose="020B0503020204020204" charset="-122"/>
                          <a:cs typeface="Arial" panose="020B0604020202020204"/>
                        </a:rPr>
                        <a:t>Tight balance</a:t>
                      </a:r>
                      <a:r>
                        <a:rPr lang="zh-CN" altLang="en-US" sz="1200">
                          <a:latin typeface="Arial" panose="020B0604020202020204"/>
                          <a:ea typeface="微软雅黑" panose="020B0503020204020204" charset="-122"/>
                          <a:cs typeface="Arial" panose="020B0604020202020204"/>
                        </a:rPr>
                        <a:t>的稳定性下降</a:t>
                      </a:r>
                      <a:endParaRPr lang="zh-CN" altLang="en-US" sz="1200">
                        <a:latin typeface="Arial" panose="020B0604020202020204"/>
                        <a:ea typeface="微软雅黑" panose="020B0503020204020204" charset="-122"/>
                        <a:cs typeface="Arial" panose="020B0604020202020204"/>
                      </a:endParaRPr>
                    </a:p>
                  </a:txBody>
                  <a:tcPr marL="254000" marR="254000" marT="177800" marB="177800" anchor="ct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标题 1"/>
          <p:cNvSpPr>
            <a:spLocks noGrp="1"/>
          </p:cNvSpPr>
          <p:nvPr/>
        </p:nvSpPr>
        <p:spPr>
          <a:xfrm>
            <a:off x="469265" y="168275"/>
            <a:ext cx="6711950" cy="466090"/>
          </a:xfrm>
          <a:prstGeom prst="rect">
            <a:avLst/>
          </a:prstGeom>
        </p:spPr>
        <p:txBody>
          <a:bodyPr vert="horz" lIns="91440" tIns="45720" rIns="91440" bIns="45720" anchor="b">
            <a:noAutofit/>
          </a:bodyPr>
          <a:lstStyle>
            <a:lvl1pPr algn="ctr" defTabSz="914400">
              <a:lnSpc>
                <a:spcPct val="90000"/>
              </a:lnSpc>
              <a:spcBef>
                <a:spcPct val="0"/>
              </a:spcBef>
              <a:buNone/>
              <a:defRPr sz="6000" kern="1200">
                <a:solidFill>
                  <a:schemeClr val="tx1"/>
                </a:solidFill>
                <a:latin typeface="Arial" panose="020B0604020202020204"/>
                <a:ea typeface="微软雅黑" panose="020B0503020204020204" charset="-122"/>
                <a:cs typeface="Arial" panose="020B0604020202020204"/>
              </a:defRPr>
            </a:lvl1pPr>
          </a:lstStyle>
          <a:p>
            <a:pPr algn="l"/>
            <a:r>
              <a:rPr lang="zh-CN" altLang="en-US" sz="2400" b="1">
                <a:latin typeface="Arial" panose="020B0604020202020204"/>
                <a:ea typeface="微软雅黑" panose="020B0503020204020204" charset="-122"/>
                <a:cs typeface="Arial" panose="020B0604020202020204"/>
              </a:rPr>
              <a:t>大模型的使用情况</a:t>
            </a:r>
            <a:endParaRPr lang="zh-CN" altLang="en-US" sz="2400" b="1">
              <a:latin typeface="Arial" panose="020B0604020202020204"/>
              <a:ea typeface="微软雅黑" panose="020B0503020204020204" charset="-122"/>
              <a:cs typeface="Arial" panose="020B0604020202020204"/>
            </a:endParaRPr>
          </a:p>
        </p:txBody>
      </p:sp>
      <p:pic>
        <p:nvPicPr>
          <p:cNvPr id="19" name="图片 3"/>
          <p:cNvPicPr>
            <a:picLocks noChangeAspect="1"/>
          </p:cNvPicPr>
          <p:nvPr/>
        </p:nvPicPr>
        <p:blipFill>
          <a:blip r:embed="rId1"/>
          <a:stretch>
            <a:fillRect/>
          </a:stretch>
        </p:blipFill>
        <p:spPr>
          <a:xfrm>
            <a:off x="10922000" y="0"/>
            <a:ext cx="1270000" cy="1270000"/>
          </a:xfrm>
          <a:prstGeom prst="rect">
            <a:avLst/>
          </a:prstGeom>
        </p:spPr>
      </p:pic>
      <p:sp>
        <p:nvSpPr>
          <p:cNvPr id="4" name="文本框 3"/>
          <p:cNvSpPr txBox="1"/>
          <p:nvPr/>
        </p:nvSpPr>
        <p:spPr>
          <a:xfrm>
            <a:off x="1097915" y="844550"/>
            <a:ext cx="9886950" cy="3138170"/>
          </a:xfrm>
          <a:prstGeom prst="rect">
            <a:avLst/>
          </a:prstGeom>
          <a:noFill/>
        </p:spPr>
        <p:txBody>
          <a:bodyPr wrap="square" rtlCol="0">
            <a:spAutoFit/>
          </a:bodyPr>
          <a:lstStyle/>
          <a:p>
            <a:r>
              <a:rPr lang="en-US" altLang="zh-CN">
                <a:latin typeface="Arial" panose="020B0604020202020204"/>
                <a:ea typeface="微软雅黑" panose="020B0503020204020204" charset="-122"/>
                <a:cs typeface="Arial" panose="020B0604020202020204"/>
              </a:rPr>
              <a:t>· </a:t>
            </a:r>
            <a:r>
              <a:rPr lang="zh-CN" altLang="en-US">
                <a:latin typeface="Arial" panose="020B0604020202020204"/>
                <a:ea typeface="微软雅黑" panose="020B0503020204020204" charset="-122"/>
                <a:cs typeface="Arial" panose="020B0604020202020204"/>
              </a:rPr>
              <a:t>调研文献，调研在稀疏编码方向前人的所作的论文与实验</a:t>
            </a:r>
            <a:r>
              <a:rPr lang="en-US" altLang="zh-CN">
                <a:latin typeface="Arial" panose="020B0604020202020204"/>
                <a:ea typeface="微软雅黑" panose="020B0503020204020204" charset="-122"/>
                <a:cs typeface="Arial" panose="020B0604020202020204"/>
              </a:rPr>
              <a:t>(</a:t>
            </a:r>
            <a:r>
              <a:rPr lang="zh-CN" altLang="en-US">
                <a:latin typeface="Arial" panose="020B0604020202020204"/>
                <a:ea typeface="微软雅黑" panose="020B0503020204020204" charset="-122"/>
                <a:cs typeface="Arial" panose="020B0604020202020204"/>
              </a:rPr>
              <a:t>已人为查阅核对</a:t>
            </a:r>
            <a:r>
              <a:rPr lang="en-US" altLang="zh-CN">
                <a:latin typeface="Arial" panose="020B0604020202020204"/>
                <a:ea typeface="微软雅黑" panose="020B0503020204020204" charset="-122"/>
                <a:cs typeface="Arial" panose="020B0604020202020204"/>
              </a:rPr>
              <a:t>)</a:t>
            </a:r>
            <a:endParaRPr lang="en-US" altLang="zh-CN">
              <a:latin typeface="Arial" panose="020B0604020202020204"/>
              <a:ea typeface="微软雅黑" panose="020B0503020204020204" charset="-122"/>
              <a:cs typeface="Arial" panose="020B0604020202020204"/>
            </a:endParaRPr>
          </a:p>
          <a:p>
            <a:endParaRPr lang="en-US" altLang="zh-CN">
              <a:latin typeface="Arial" panose="020B0604020202020204"/>
              <a:ea typeface="微软雅黑" panose="020B0503020204020204" charset="-122"/>
              <a:cs typeface="Arial" panose="020B0604020202020204"/>
            </a:endParaRPr>
          </a:p>
          <a:p>
            <a:r>
              <a:rPr lang="en-US" altLang="zh-CN">
                <a:latin typeface="Arial" panose="020B0604020202020204"/>
                <a:ea typeface="微软雅黑" panose="020B0503020204020204" charset="-122"/>
                <a:cs typeface="Arial" panose="020B0604020202020204"/>
              </a:rPr>
              <a:t>· </a:t>
            </a:r>
            <a:r>
              <a:rPr lang="zh-CN" altLang="en-US">
                <a:latin typeface="Arial" panose="020B0604020202020204"/>
                <a:ea typeface="微软雅黑" panose="020B0503020204020204" charset="-122"/>
                <a:cs typeface="Arial" panose="020B0604020202020204"/>
              </a:rPr>
              <a:t>制作程序，完善相关消融实验</a:t>
            </a:r>
            <a:r>
              <a:rPr lang="en-US" altLang="zh-CN">
                <a:latin typeface="Arial" panose="020B0604020202020204"/>
                <a:ea typeface="微软雅黑" panose="020B0503020204020204" charset="-122"/>
                <a:cs typeface="Arial" panose="020B0604020202020204"/>
              </a:rPr>
              <a:t>/</a:t>
            </a:r>
            <a:r>
              <a:rPr lang="zh-CN" altLang="en-US">
                <a:latin typeface="Arial" panose="020B0604020202020204"/>
                <a:ea typeface="微软雅黑" panose="020B0503020204020204" charset="-122"/>
                <a:cs typeface="Arial" panose="020B0604020202020204"/>
              </a:rPr>
              <a:t>光栅实验的代码并制作关于结果的可视化图表</a:t>
            </a:r>
            <a:r>
              <a:rPr lang="en-US" altLang="zh-CN">
                <a:latin typeface="Arial" panose="020B0604020202020204"/>
                <a:ea typeface="微软雅黑" panose="020B0503020204020204" charset="-122"/>
                <a:cs typeface="Arial" panose="020B0604020202020204"/>
              </a:rPr>
              <a:t>(</a:t>
            </a:r>
            <a:r>
              <a:rPr lang="zh-CN" altLang="en-US">
                <a:latin typeface="Arial" panose="020B0604020202020204"/>
                <a:ea typeface="微软雅黑" panose="020B0503020204020204" charset="-122"/>
                <a:cs typeface="Arial" panose="020B0604020202020204"/>
              </a:rPr>
              <a:t>程序代码已人工核对</a:t>
            </a:r>
            <a:r>
              <a:rPr lang="en-US" altLang="zh-CN">
                <a:latin typeface="Arial" panose="020B0604020202020204"/>
                <a:ea typeface="微软雅黑" panose="020B0503020204020204" charset="-122"/>
                <a:cs typeface="Arial" panose="020B0604020202020204"/>
              </a:rPr>
              <a:t>)</a:t>
            </a:r>
            <a:br>
              <a:rPr lang="en-US" altLang="zh-CN">
                <a:latin typeface="Arial" panose="020B0604020202020204"/>
                <a:ea typeface="微软雅黑" panose="020B0503020204020204" charset="-122"/>
                <a:cs typeface="Arial" panose="020B0604020202020204"/>
              </a:rPr>
            </a:br>
            <a:endParaRPr lang="en-US" altLang="zh-CN">
              <a:latin typeface="Arial" panose="020B0604020202020204"/>
              <a:ea typeface="微软雅黑" panose="020B0503020204020204" charset="-122"/>
              <a:cs typeface="Arial" panose="020B0604020202020204"/>
            </a:endParaRPr>
          </a:p>
          <a:p>
            <a:pPr algn="l">
              <a:buClrTx/>
              <a:buSzTx/>
              <a:buFontTx/>
            </a:pPr>
            <a:r>
              <a:rPr lang="zh-CN" altLang="en-US">
                <a:latin typeface="Arial" panose="020B0604020202020204"/>
                <a:ea typeface="微软雅黑" panose="020B0503020204020204" charset="-122"/>
                <a:cs typeface="Arial" panose="020B0604020202020204"/>
              </a:rPr>
              <a:t>· 查阅相关教材/权威期刊，阐述相关概念如“</a:t>
            </a:r>
            <a:r>
              <a:rPr lang="zh-CN" altLang="en-US">
                <a:latin typeface="Arial" panose="020B0604020202020204"/>
                <a:ea typeface="微软雅黑" panose="020B0503020204020204" charset="-122"/>
                <a:cs typeface="Arial" panose="020B0604020202020204"/>
                <a:sym typeface="+mn-ea"/>
              </a:rPr>
              <a:t>特征选择性”等</a:t>
            </a:r>
            <a:br>
              <a:rPr lang="zh-CN" altLang="en-US">
                <a:latin typeface="Arial" panose="020B0604020202020204"/>
                <a:ea typeface="微软雅黑" panose="020B0503020204020204" charset="-122"/>
                <a:cs typeface="Arial" panose="020B0604020202020204"/>
                <a:sym typeface="+mn-ea"/>
              </a:rPr>
            </a:br>
            <a:br>
              <a:rPr lang="zh-CN" altLang="en-US">
                <a:latin typeface="Arial" panose="020B0604020202020204"/>
                <a:ea typeface="微软雅黑" panose="020B0503020204020204" charset="-122"/>
                <a:cs typeface="Arial" panose="020B0604020202020204"/>
                <a:sym typeface="+mn-ea"/>
              </a:rPr>
            </a:br>
            <a:r>
              <a:rPr lang="en-US" altLang="zh-CN">
                <a:latin typeface="Arial" panose="020B0604020202020204"/>
                <a:ea typeface="微软雅黑" panose="020B0503020204020204" charset="-122"/>
                <a:cs typeface="Arial" panose="020B0604020202020204"/>
                <a:sym typeface="+mn-ea"/>
              </a:rPr>
              <a:t>· </a:t>
            </a:r>
            <a:r>
              <a:rPr lang="zh-CN" altLang="en-US">
                <a:latin typeface="Arial" panose="020B0604020202020204"/>
                <a:ea typeface="微软雅黑" panose="020B0503020204020204" charset="-122"/>
                <a:cs typeface="Arial" panose="020B0604020202020204"/>
                <a:sym typeface="+mn-ea"/>
              </a:rPr>
              <a:t>制作自然图像经过</a:t>
            </a:r>
            <a:r>
              <a:rPr lang="en-US" altLang="zh-CN">
                <a:latin typeface="Arial" panose="020B0604020202020204"/>
                <a:ea typeface="微软雅黑" panose="020B0503020204020204" charset="-122"/>
                <a:cs typeface="Arial" panose="020B0604020202020204"/>
                <a:sym typeface="+mn-ea"/>
              </a:rPr>
              <a:t>LGN</a:t>
            </a:r>
            <a:r>
              <a:rPr lang="zh-CN" altLang="en-US">
                <a:latin typeface="Arial" panose="020B0604020202020204"/>
                <a:ea typeface="微软雅黑" panose="020B0503020204020204" charset="-122"/>
                <a:cs typeface="Arial" panose="020B0604020202020204"/>
                <a:sym typeface="+mn-ea"/>
              </a:rPr>
              <a:t>中心–周围滤波并分解为</a:t>
            </a:r>
            <a:r>
              <a:rPr lang="en-US" altLang="zh-CN">
                <a:latin typeface="Arial" panose="020B0604020202020204"/>
                <a:ea typeface="微软雅黑" panose="020B0503020204020204" charset="-122"/>
                <a:cs typeface="Arial" panose="020B0604020202020204"/>
                <a:sym typeface="+mn-ea"/>
              </a:rPr>
              <a:t>ON/OFF</a:t>
            </a:r>
            <a:r>
              <a:rPr lang="zh-CN" altLang="en-US">
                <a:latin typeface="Arial" panose="020B0604020202020204"/>
                <a:ea typeface="微软雅黑" panose="020B0503020204020204" charset="-122"/>
                <a:cs typeface="Arial" panose="020B0604020202020204"/>
                <a:sym typeface="+mn-ea"/>
              </a:rPr>
              <a:t>通道的示意图。</a:t>
            </a:r>
            <a:r>
              <a:rPr lang="en-US" altLang="zh-CN">
                <a:latin typeface="Arial" panose="020B0604020202020204"/>
                <a:ea typeface="微软雅黑" panose="020B0503020204020204" charset="-122"/>
                <a:cs typeface="Arial" panose="020B0604020202020204"/>
                <a:sym typeface="+mn-ea"/>
              </a:rPr>
              <a:t>(</a:t>
            </a:r>
            <a:r>
              <a:rPr lang="zh-CN" altLang="en-US">
                <a:latin typeface="Arial" panose="020B0604020202020204"/>
                <a:ea typeface="微软雅黑" panose="020B0503020204020204" charset="-122"/>
                <a:cs typeface="Arial" panose="020B0604020202020204"/>
                <a:sym typeface="+mn-ea"/>
              </a:rPr>
              <a:t>程序代码已人工核对</a:t>
            </a:r>
            <a:r>
              <a:rPr lang="en-US" altLang="zh-CN">
                <a:latin typeface="Arial" panose="020B0604020202020204"/>
                <a:ea typeface="微软雅黑" panose="020B0503020204020204" charset="-122"/>
                <a:cs typeface="Arial" panose="020B0604020202020204"/>
                <a:sym typeface="+mn-ea"/>
              </a:rPr>
              <a:t>)</a:t>
            </a:r>
            <a:endParaRPr lang="en-US" altLang="zh-CN">
              <a:latin typeface="Arial" panose="020B0604020202020204"/>
              <a:ea typeface="微软雅黑" panose="020B0503020204020204" charset="-122"/>
              <a:cs typeface="Arial" panose="020B0604020202020204"/>
              <a:sym typeface="+mn-ea"/>
            </a:endParaRPr>
          </a:p>
          <a:p>
            <a:pPr algn="l">
              <a:buClrTx/>
              <a:buSzTx/>
              <a:buFontTx/>
            </a:pPr>
            <a:endParaRPr lang="en-US" altLang="zh-CN">
              <a:latin typeface="Arial" panose="020B0604020202020204"/>
              <a:ea typeface="微软雅黑" panose="020B0503020204020204" charset="-122"/>
              <a:cs typeface="Arial" panose="020B0604020202020204"/>
              <a:sym typeface="+mn-ea"/>
            </a:endParaRPr>
          </a:p>
          <a:p>
            <a:pPr algn="l">
              <a:buClrTx/>
              <a:buSzTx/>
              <a:buFontTx/>
            </a:pPr>
            <a:r>
              <a:rPr lang="en-US" altLang="zh-CN">
                <a:latin typeface="Arial" panose="020B0604020202020204"/>
                <a:ea typeface="微软雅黑" panose="020B0503020204020204" charset="-122"/>
                <a:cs typeface="Arial" panose="020B0604020202020204"/>
                <a:sym typeface="+mn-ea"/>
              </a:rPr>
              <a:t>·</a:t>
            </a:r>
            <a:r>
              <a:rPr lang="zh-CN" altLang="en-US">
                <a:latin typeface="Arial" panose="020B0604020202020204"/>
                <a:ea typeface="微软雅黑" panose="020B0503020204020204" charset="-122"/>
                <a:cs typeface="Arial" panose="020B0604020202020204"/>
                <a:sym typeface="+mn-ea"/>
              </a:rPr>
              <a:t>美化</a:t>
            </a:r>
            <a:r>
              <a:rPr lang="en-US" altLang="zh-CN">
                <a:latin typeface="Arial" panose="020B0604020202020204"/>
                <a:ea typeface="微软雅黑" panose="020B0503020204020204" charset="-122"/>
                <a:cs typeface="Arial" panose="020B0604020202020204"/>
                <a:sym typeface="+mn-ea"/>
              </a:rPr>
              <a:t>PPT</a:t>
            </a:r>
            <a:r>
              <a:rPr lang="zh-CN" altLang="en-US">
                <a:latin typeface="Arial" panose="020B0604020202020204"/>
                <a:ea typeface="微软雅黑" panose="020B0503020204020204" charset="-122"/>
                <a:cs typeface="Arial" panose="020B0604020202020204"/>
                <a:sym typeface="+mn-ea"/>
              </a:rPr>
              <a:t>，包括排版，字体修改等</a:t>
            </a:r>
            <a:br>
              <a:rPr lang="en-US" altLang="zh-CN">
                <a:latin typeface="Arial" panose="020B0604020202020204"/>
                <a:ea typeface="微软雅黑" panose="020B0503020204020204" charset="-122"/>
                <a:cs typeface="Arial" panose="020B0604020202020204"/>
                <a:sym typeface="+mn-ea"/>
              </a:rPr>
            </a:br>
            <a:endParaRPr lang="zh-CN" altLang="en-US">
              <a:latin typeface="Arial" panose="020B0604020202020204"/>
              <a:ea typeface="微软雅黑" panose="020B0503020204020204" charset="-122"/>
              <a:cs typeface="Arial" panose="020B0604020202020204"/>
              <a:sym typeface="+mn-ea"/>
            </a:endParaRPr>
          </a:p>
        </p:txBody>
      </p:sp>
    </p:spTree>
  </p:cSld>
  <p:clrMapOvr>
    <a:masterClrMapping/>
  </p:clrMapOvr>
</p:sld>
</file>

<file path=ppt/tags/tag1.xml><?xml version="1.0" encoding="utf-8"?>
<p:tagLst xmlns:p="http://schemas.openxmlformats.org/presentationml/2006/main">
  <p:tag name="KSO_WM_DIAGRAM_VIRTUALLY_FRAME" val="{&quot;height&quot;:121.5,&quot;left&quot;:84,&quot;top&quot;:139.5,&quot;width&quot;:787.5}"/>
</p:tagLst>
</file>

<file path=ppt/tags/tag2.xml><?xml version="1.0" encoding="utf-8"?>
<p:tagLst xmlns:p="http://schemas.openxmlformats.org/presentationml/2006/main">
  <p:tag name="KSO_WM_DIAGRAM_VIRTUALLY_FRAME" val="{&quot;height&quot;:121.5,&quot;left&quot;:84,&quot;top&quot;:139.5,&quot;width&quot;:787.5}"/>
</p:tagLst>
</file>

<file path=ppt/tags/tag3.xml><?xml version="1.0" encoding="utf-8"?>
<p:tagLst xmlns:p="http://schemas.openxmlformats.org/presentationml/2006/main">
  <p:tag name="KSO_WM_DIAGRAM_VIRTUALLY_FRAME" val="{&quot;height&quot;:121.5,&quot;left&quot;:84,&quot;top&quot;:139.5,&quot;width&quot;:787.5}"/>
</p:tagLst>
</file>

<file path=ppt/tags/tag4.xml><?xml version="1.0" encoding="utf-8"?>
<p:tagLst xmlns:p="http://schemas.openxmlformats.org/presentationml/2006/main">
  <p:tag name="KSO_WM_DIAGRAM_VIRTUALLY_FRAME" val="{&quot;height&quot;:202.9,&quot;left&quot;:84,&quot;top&quot;:139.5,&quot;width&quot;:787.5}"/>
</p:tagLst>
</file>

<file path=ppt/tags/tag5.xml><?xml version="1.0" encoding="utf-8"?>
<p:tagLst xmlns:p="http://schemas.openxmlformats.org/presentationml/2006/main">
  <p:tag name="KSO_WM_DIAGRAM_VIRTUALLY_FRAME" val="{&quot;height&quot;:202.9,&quot;left&quot;:84,&quot;top&quot;:139.5,&quot;width&quot;:787.5}"/>
</p:tagLst>
</file>

<file path=ppt/tags/tag6.xml><?xml version="1.0" encoding="utf-8"?>
<p:tagLst xmlns:p="http://schemas.openxmlformats.org/presentationml/2006/main">
  <p:tag name="KSO_WM_DIAGRAM_VIRTUALLY_FRAME" val="{&quot;height&quot;:202.9,&quot;left&quot;:84,&quot;top&quot;:139.5,&quot;width&quot;:787.5}"/>
</p:tagLst>
</file>

<file path=ppt/tags/tag7.xml><?xml version="1.0" encoding="utf-8"?>
<p:tagLst xmlns:p="http://schemas.openxmlformats.org/presentationml/2006/main">
  <p:tag name="KSO_WM_DIAGRAM_VIRTUALLY_FRAME" val="{&quot;height&quot;:121.5,&quot;left&quot;:84,&quot;top&quot;:139.5,&quot;width&quot;:787.5}"/>
</p:tagLst>
</file>

<file path=ppt/tags/tag8.xml><?xml version="1.0" encoding="utf-8"?>
<p:tagLst xmlns:p="http://schemas.openxmlformats.org/presentationml/2006/main">
  <p:tag name="KSO_WM_DIAGRAM_VIRTUALLY_FRAME" val="{&quot;height&quot;:121.5,&quot;left&quot;:84,&quot;top&quot;:139.5,&quot;width&quot;:787.5}"/>
</p:tagLst>
</file>

<file path=ppt/tags/tag9.xml><?xml version="1.0" encoding="utf-8"?>
<p:tagLst xmlns:p="http://schemas.openxmlformats.org/presentationml/2006/main">
  <p:tag name="KSO_WM_DIAGRAM_VIRTUALLY_FRAME" val="{&quot;height&quot;:121.5,&quot;left&quot;:84,&quot;top&quot;:139.5,&quot;width&quot;:787.5}"/>
</p:tagLst>
</file>

<file path=ppt/tags/tag10.xml><?xml version="1.0" encoding="utf-8"?>
<p:tagLst xmlns:p="http://schemas.openxmlformats.org/presentationml/2006/main">
  <p:tag name="KSO_WM_DIAGRAM_VIRTUALLY_FRAME" val="{&quot;height&quot;:202.9,&quot;left&quot;:84,&quot;top&quot;:139.5,&quot;width&quot;:787.5}"/>
</p:tagLst>
</file>

<file path=ppt/tags/tag11.xml><?xml version="1.0" encoding="utf-8"?>
<p:tagLst xmlns:p="http://schemas.openxmlformats.org/presentationml/2006/main">
  <p:tag name="KSO_WM_DIAGRAM_VIRTUALLY_FRAME" val="{&quot;height&quot;:202.9,&quot;left&quot;:84,&quot;top&quot;:139.5,&quot;width&quot;:787.5}"/>
</p:tagLst>
</file>

<file path=ppt/tags/tag12.xml><?xml version="1.0" encoding="utf-8"?>
<p:tagLst xmlns:p="http://schemas.openxmlformats.org/presentationml/2006/main">
  <p:tag name="KSO_WM_DIAGRAM_VIRTUALLY_FRAME" val="{&quot;height&quot;:395.5,&quot;left&quot;:84,&quot;top&quot;:29.35,&quot;width&quot;:787.5}"/>
</p:tagLst>
</file>

<file path=ppt/tags/tag13.xml><?xml version="1.0" encoding="utf-8"?>
<p:tagLst xmlns:p="http://schemas.openxmlformats.org/presentationml/2006/main">
  <p:tag name="KSO_WM_DIAGRAM_VIRTUALLY_FRAME" val="{&quot;height&quot;:395.5,&quot;left&quot;:84,&quot;top&quot;:29.35,&quot;width&quot;:787.5}"/>
</p:tagLst>
</file>

<file path=ppt/tags/tag14.xml><?xml version="1.0" encoding="utf-8"?>
<p:tagLst xmlns:p="http://schemas.openxmlformats.org/presentationml/2006/main">
  <p:tag name="KSO_WM_DIAGRAM_VIRTUALLY_FRAME" val="{&quot;height&quot;:395.5,&quot;left&quot;:84,&quot;top&quot;:29.35,&quot;width&quot;:787.5}"/>
</p:tagLst>
</file>

<file path=ppt/tags/tag15.xml><?xml version="1.0" encoding="utf-8"?>
<p:tagLst xmlns:p="http://schemas.openxmlformats.org/presentationml/2006/main">
  <p:tag name="KSO_WM_DIAGRAM_VIRTUALLY_FRAME" val="{&quot;height&quot;:395.5,&quot;left&quot;:84,&quot;top&quot;:29.35,&quot;width&quot;:787.5}"/>
</p:tagLst>
</file>

<file path=ppt/tags/tag16.xml><?xml version="1.0" encoding="utf-8"?>
<p:tagLst xmlns:p="http://schemas.openxmlformats.org/presentationml/2006/main">
  <p:tag name="KSO_WM_DIAGRAM_VIRTUALLY_FRAME" val="{&quot;height&quot;:121.5,&quot;left&quot;:84,&quot;top&quot;:139.5,&quot;width&quot;:787.5}"/>
</p:tagLst>
</file>

<file path=ppt/tags/tag17.xml><?xml version="1.0" encoding="utf-8"?>
<p:tagLst xmlns:p="http://schemas.openxmlformats.org/presentationml/2006/main">
  <p:tag name="KSO_WM_DIAGRAM_VIRTUALLY_FRAME" val="{&quot;height&quot;:395.5,&quot;left&quot;:84,&quot;top&quot;:29.35,&quot;width&quot;:787.5}"/>
</p:tagLst>
</file>

<file path=ppt/tags/tag18.xml><?xml version="1.0" encoding="utf-8"?>
<p:tagLst xmlns:p="http://schemas.openxmlformats.org/presentationml/2006/main">
  <p:tag name="KSO_WM_DIAGRAM_VIRTUALLY_FRAME" val="{&quot;height&quot;:395.5,&quot;left&quot;:84,&quot;top&quot;:29.35,&quot;width&quot;:787.5}"/>
</p:tagLst>
</file>

<file path=ppt/tags/tag19.xml><?xml version="1.0" encoding="utf-8"?>
<p:tagLst xmlns:p="http://schemas.openxmlformats.org/presentationml/2006/main">
  <p:tag name="KSO_WM_DIAGRAM_VIRTUALLY_FRAME" val="{&quot;height&quot;:395.5,&quot;left&quot;:84,&quot;top&quot;:29.35,&quot;width&quot;:787.5}"/>
</p:tagLst>
</file>

<file path=ppt/tags/tag20.xml><?xml version="1.0" encoding="utf-8"?>
<p:tagLst xmlns:p="http://schemas.openxmlformats.org/presentationml/2006/main">
  <p:tag name="KSO_WM_DIAGRAM_VIRTUALLY_FRAME" val="{&quot;height&quot;:395.5,&quot;left&quot;:84,&quot;top&quot;:29.35,&quot;width&quot;:787.5}"/>
</p:tagLst>
</file>

<file path=ppt/tags/tag21.xml><?xml version="1.0" encoding="utf-8"?>
<p:tagLst xmlns:p="http://schemas.openxmlformats.org/presentationml/2006/main">
  <p:tag name="KSO_WM_DIAGRAM_VIRTUALLY_FRAME" val="{&quot;height&quot;:395.5,&quot;left&quot;:84,&quot;top&quot;:29.35,&quot;width&quot;:787.5}"/>
</p:tagLst>
</file>

<file path=ppt/tags/tag22.xml><?xml version="1.0" encoding="utf-8"?>
<p:tagLst xmlns:p="http://schemas.openxmlformats.org/presentationml/2006/main">
  <p:tag name="TABLE_ENDDRAG_ORIGIN_RECT" val="634*373"/>
  <p:tag name="TABLE_ENDDRAG_RECT" val="193*131*634*373"/>
</p:tagLst>
</file>

<file path=ppt/tags/tag23.xml><?xml version="1.0" encoding="utf-8"?>
<p:tagLst xmlns:p="http://schemas.openxmlformats.org/presentationml/2006/main">
  <p:tag name="KSO_WM_DIAGRAM_VIRTUALLY_FRAME" val="{&quot;height&quot;:121.5,&quot;left&quot;:84,&quot;top&quot;:139.5,&quot;width&quot;:787.5}"/>
</p:tagLst>
</file>

<file path=ppt/tags/tag24.xml><?xml version="1.0" encoding="utf-8"?>
<p:tagLst xmlns:p="http://schemas.openxmlformats.org/presentationml/2006/main">
  <p:tag name="KSO_WM_DIAGRAM_VIRTUALLY_FRAME" val="{&quot;height&quot;:395.5,&quot;left&quot;:84,&quot;top&quot;:29.35,&quot;width&quot;:787.5}"/>
</p:tagLst>
</file>

<file path=ppt/tags/tag25.xml><?xml version="1.0" encoding="utf-8"?>
<p:tagLst xmlns:p="http://schemas.openxmlformats.org/presentationml/2006/main">
  <p:tag name="KSO_WM_DIAGRAM_VIRTUALLY_FRAME" val="{&quot;height&quot;:395.5,&quot;left&quot;:84,&quot;top&quot;:29.35,&quot;width&quot;:787.5}"/>
</p:tagLst>
</file>

<file path=ppt/tags/tag26.xml><?xml version="1.0" encoding="utf-8"?>
<p:tagLst xmlns:p="http://schemas.openxmlformats.org/presentationml/2006/main">
  <p:tag name="KSO_WM_DIAGRAM_VIRTUALLY_FRAME" val="{&quot;height&quot;:395.5,&quot;left&quot;:84,&quot;top&quot;:29.35,&quot;width&quot;:787.5}"/>
</p:tagLst>
</file>

<file path=ppt/tags/tag27.xml><?xml version="1.0" encoding="utf-8"?>
<p:tagLst xmlns:p="http://schemas.openxmlformats.org/presentationml/2006/main">
  <p:tag name="KSO_WM_DIAGRAM_VIRTUALLY_FRAME" val="{&quot;height&quot;:395.5,&quot;left&quot;:84,&quot;top&quot;:29.35,&quot;width&quot;:787.5}"/>
</p:tagLst>
</file>

<file path=ppt/tags/tag28.xml><?xml version="1.0" encoding="utf-8"?>
<p:tagLst xmlns:p="http://schemas.openxmlformats.org/presentationml/2006/main">
  <p:tag name="KSO_WM_DIAGRAM_VIRTUALLY_FRAME" val="{&quot;height&quot;:395.5,&quot;left&quot;:84,&quot;top&quot;:29.35,&quot;width&quot;:787.5}"/>
</p:tagLst>
</file>

<file path=ppt/tags/tag29.xml><?xml version="1.0" encoding="utf-8"?>
<p:tagLst xmlns:p="http://schemas.openxmlformats.org/presentationml/2006/main">
  <p:tag name="TABLE_ENDDRAG_ORIGIN_RECT" val="529*248"/>
  <p:tag name="TABLE_ENDDRAG_RECT" val="21*99*529*248"/>
</p:tagLst>
</file>

<file path=ppt/tags/tag30.xml><?xml version="1.0" encoding="utf-8"?>
<p:tagLst xmlns:p="http://schemas.openxmlformats.org/presentationml/2006/main">
  <p:tag name="RESOURCE_RECORD_KEY" val="{&quot;29&quot;:[50000283]}"/>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tailEnd type="arrow"/>
        </a:ln>
      </a:spPr>
      <a:bodyPr/>
      <a:lstStyle/>
      <a:style>
        <a:lnRef idx="2">
          <a:schemeClr val="accent1"/>
        </a:lnRef>
        <a:fillRef idx="0">
          <a:srgbClr val="FFFFFF"/>
        </a:fillRef>
        <a:effectRef idx="0">
          <a:srgbClr val="FFFFFF"/>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10424</Words>
  <Application>WPS 演示</Application>
  <PresentationFormat>Widescreen</PresentationFormat>
  <Paragraphs>773</Paragraphs>
  <Slides>29</Slides>
  <Notes>6</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29</vt:i4>
      </vt:variant>
    </vt:vector>
  </HeadingPairs>
  <TitlesOfParts>
    <vt:vector size="42" baseType="lpstr">
      <vt:lpstr>Arial</vt:lpstr>
      <vt:lpstr>宋体</vt:lpstr>
      <vt:lpstr>Wingdings</vt:lpstr>
      <vt:lpstr>微软雅黑</vt:lpstr>
      <vt:lpstr>Arial</vt:lpstr>
      <vt:lpstr>Calibri</vt:lpstr>
      <vt:lpstr>Arial Unicode MS</vt:lpstr>
      <vt:lpstr>MS PGothic</vt:lpstr>
      <vt:lpstr>Cambria Math</vt:lpstr>
      <vt:lpstr>BatangChe</vt:lpstr>
      <vt:lpstr>ESRI AMFM Electric</vt:lpstr>
      <vt:lpstr>Cambria Math</vt:lpstr>
      <vt:lpstr>WPS</vt:lpstr>
      <vt:lpstr>抑制性回路与稳态机制如何共同塑造视觉皮层的稀疏表征</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Anrycan</cp:lastModifiedBy>
  <cp:revision>29</cp:revision>
  <dcterms:created xsi:type="dcterms:W3CDTF">2023-08-09T12:44:00Z</dcterms:created>
  <dcterms:modified xsi:type="dcterms:W3CDTF">2026-10-19T04:48:56Z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2052-12.1.0.29161</vt:lpwstr>
  </property>
  <property fmtid="{D5CDD505-2E9C-101B-9397-08002B2CF9AE}" pid="3" name="ICV">
    <vt:lpwstr>16762961596C4A5086EAEC2395257820_12</vt:lpwstr>
  </property>
</Properties>
</file>